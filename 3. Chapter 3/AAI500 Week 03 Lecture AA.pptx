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4.xml" ContentType="application/vnd.openxmlformats-officedocument.drawingml.chart+xml"/>
  <Override PartName="/ppt/notesSlides/notesSlide2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7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8.xml" ContentType="application/vnd.openxmlformats-officedocument.drawingml.chart+xml"/>
  <Override PartName="/ppt/notesSlides/notesSlide4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03" d="100"/>
          <a:sy n="103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Population</c:v>
          </c:tx>
          <c:spPr>
            <a:ln w="28575">
              <a:solidFill>
                <a:srgbClr val="00A4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-4</c:v>
              </c:pt>
              <c:pt idx="1">
                <c:v>-3.8</c:v>
              </c:pt>
              <c:pt idx="2">
                <c:v>-3.6</c:v>
              </c:pt>
              <c:pt idx="3">
                <c:v>-3.4</c:v>
              </c:pt>
              <c:pt idx="4">
                <c:v>-3.2</c:v>
              </c:pt>
              <c:pt idx="5">
                <c:v>-3</c:v>
              </c:pt>
              <c:pt idx="6">
                <c:v>-2.8</c:v>
              </c:pt>
              <c:pt idx="7">
                <c:v>-2.6</c:v>
              </c:pt>
              <c:pt idx="8">
                <c:v>-2.4</c:v>
              </c:pt>
              <c:pt idx="9">
                <c:v>-2.2000000000000002</c:v>
              </c:pt>
              <c:pt idx="10">
                <c:v>-2</c:v>
              </c:pt>
              <c:pt idx="11">
                <c:v>-1.8</c:v>
              </c:pt>
              <c:pt idx="12">
                <c:v>-1.6</c:v>
              </c:pt>
              <c:pt idx="13">
                <c:v>-1.4</c:v>
              </c:pt>
              <c:pt idx="14">
                <c:v>-1.2</c:v>
              </c:pt>
              <c:pt idx="15">
                <c:v>-1</c:v>
              </c:pt>
              <c:pt idx="16">
                <c:v>-0.8</c:v>
              </c:pt>
              <c:pt idx="17">
                <c:v>-0.6</c:v>
              </c:pt>
              <c:pt idx="18">
                <c:v>-0.4</c:v>
              </c:pt>
              <c:pt idx="19">
                <c:v>-0.2</c:v>
              </c:pt>
              <c:pt idx="20">
                <c:v>0</c:v>
              </c:pt>
              <c:pt idx="21">
                <c:v>0.2</c:v>
              </c:pt>
              <c:pt idx="22">
                <c:v>0.4</c:v>
              </c:pt>
              <c:pt idx="23">
                <c:v>0.6</c:v>
              </c:pt>
              <c:pt idx="24">
                <c:v>0.8</c:v>
              </c:pt>
              <c:pt idx="25">
                <c:v>1</c:v>
              </c:pt>
              <c:pt idx="26">
                <c:v>1.2</c:v>
              </c:pt>
              <c:pt idx="27">
                <c:v>1.4</c:v>
              </c:pt>
              <c:pt idx="28">
                <c:v>1.6</c:v>
              </c:pt>
              <c:pt idx="29">
                <c:v>1.8</c:v>
              </c:pt>
              <c:pt idx="30">
                <c:v>2</c:v>
              </c:pt>
              <c:pt idx="31">
                <c:v>2.2000000000000002</c:v>
              </c:pt>
              <c:pt idx="32">
                <c:v>2.4</c:v>
              </c:pt>
              <c:pt idx="33">
                <c:v>2.6</c:v>
              </c:pt>
              <c:pt idx="34">
                <c:v>2.8</c:v>
              </c:pt>
              <c:pt idx="35">
                <c:v>3</c:v>
              </c:pt>
              <c:pt idx="36">
                <c:v>3.2</c:v>
              </c:pt>
              <c:pt idx="37">
                <c:v>3.4</c:v>
              </c:pt>
              <c:pt idx="38">
                <c:v>3.6</c:v>
              </c:pt>
              <c:pt idx="39">
                <c:v>3.8</c:v>
              </c:pt>
              <c:pt idx="40">
                <c:v>4</c:v>
              </c:pt>
            </c:numLit>
          </c:cat>
          <c:val>
            <c:numLit>
              <c:formatCode>General</c:formatCode>
              <c:ptCount val="41"/>
              <c:pt idx="0">
                <c:v>1.2999999999999999E-4</c:v>
              </c:pt>
              <c:pt idx="1">
                <c:v>2.9E-4</c:v>
              </c:pt>
              <c:pt idx="2">
                <c:v>6.0999999999999997E-4</c:v>
              </c:pt>
              <c:pt idx="3">
                <c:v>1.23E-3</c:v>
              </c:pt>
              <c:pt idx="4">
                <c:v>2.3800000000000002E-3</c:v>
              </c:pt>
              <c:pt idx="5">
                <c:v>4.4299999999999999E-3</c:v>
              </c:pt>
              <c:pt idx="6">
                <c:v>7.92E-3</c:v>
              </c:pt>
              <c:pt idx="7">
                <c:v>1.358E-2</c:v>
              </c:pt>
              <c:pt idx="8">
                <c:v>2.239E-2</c:v>
              </c:pt>
              <c:pt idx="9">
                <c:v>3.5470000000000002E-2</c:v>
              </c:pt>
              <c:pt idx="10">
                <c:v>5.3990000000000003E-2</c:v>
              </c:pt>
              <c:pt idx="11">
                <c:v>7.8950000000000006E-2</c:v>
              </c:pt>
              <c:pt idx="12">
                <c:v>0.11092</c:v>
              </c:pt>
              <c:pt idx="13">
                <c:v>0.14973</c:v>
              </c:pt>
              <c:pt idx="14">
                <c:v>0.19419</c:v>
              </c:pt>
              <c:pt idx="15">
                <c:v>0.24196999999999999</c:v>
              </c:pt>
              <c:pt idx="16">
                <c:v>0.28969</c:v>
              </c:pt>
              <c:pt idx="17">
                <c:v>0.33322000000000002</c:v>
              </c:pt>
              <c:pt idx="18">
                <c:v>0.36826999999999999</c:v>
              </c:pt>
              <c:pt idx="19">
                <c:v>0.39104</c:v>
              </c:pt>
              <c:pt idx="20">
                <c:v>0.39894000000000002</c:v>
              </c:pt>
              <c:pt idx="21">
                <c:v>0.39104</c:v>
              </c:pt>
              <c:pt idx="22">
                <c:v>0.36826999999999999</c:v>
              </c:pt>
              <c:pt idx="23">
                <c:v>0.33322000000000002</c:v>
              </c:pt>
              <c:pt idx="24">
                <c:v>0.28969</c:v>
              </c:pt>
              <c:pt idx="25">
                <c:v>0.24196999999999999</c:v>
              </c:pt>
              <c:pt idx="26">
                <c:v>0.19419</c:v>
              </c:pt>
              <c:pt idx="27">
                <c:v>0.14973</c:v>
              </c:pt>
              <c:pt idx="28">
                <c:v>0.11092</c:v>
              </c:pt>
              <c:pt idx="29">
                <c:v>7.8950000000000006E-2</c:v>
              </c:pt>
              <c:pt idx="30">
                <c:v>5.3990000000000003E-2</c:v>
              </c:pt>
              <c:pt idx="31">
                <c:v>3.5470000000000002E-2</c:v>
              </c:pt>
              <c:pt idx="32">
                <c:v>2.239E-2</c:v>
              </c:pt>
              <c:pt idx="33">
                <c:v>1.358E-2</c:v>
              </c:pt>
              <c:pt idx="34">
                <c:v>7.92E-3</c:v>
              </c:pt>
              <c:pt idx="35">
                <c:v>4.4299999999999999E-3</c:v>
              </c:pt>
              <c:pt idx="36">
                <c:v>2.3800000000000002E-3</c:v>
              </c:pt>
              <c:pt idx="37">
                <c:v>1.23E-3</c:v>
              </c:pt>
              <c:pt idx="38">
                <c:v>6.0999999999999997E-4</c:v>
              </c:pt>
              <c:pt idx="39">
                <c:v>2.9E-4</c:v>
              </c:pt>
              <c:pt idx="40">
                <c:v>1.2999999999999999E-4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B965-7E45-9DB5-F9D0D4B4E31E}"/>
            </c:ext>
          </c:extLst>
        </c:ser>
        <c:ser>
          <c:idx val="1"/>
          <c:order val="1"/>
          <c:tx>
            <c:v>Sample means</c:v>
          </c:tx>
          <c:spPr>
            <a:ln w="38100">
              <a:solidFill>
                <a:srgbClr val="75BEE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-4</c:v>
              </c:pt>
              <c:pt idx="1">
                <c:v>-3.8</c:v>
              </c:pt>
              <c:pt idx="2">
                <c:v>-3.6</c:v>
              </c:pt>
              <c:pt idx="3">
                <c:v>-3.4</c:v>
              </c:pt>
              <c:pt idx="4">
                <c:v>-3.2</c:v>
              </c:pt>
              <c:pt idx="5">
                <c:v>-3</c:v>
              </c:pt>
              <c:pt idx="6">
                <c:v>-2.8</c:v>
              </c:pt>
              <c:pt idx="7">
                <c:v>-2.6</c:v>
              </c:pt>
              <c:pt idx="8">
                <c:v>-2.4</c:v>
              </c:pt>
              <c:pt idx="9">
                <c:v>-2.2000000000000002</c:v>
              </c:pt>
              <c:pt idx="10">
                <c:v>-2</c:v>
              </c:pt>
              <c:pt idx="11">
                <c:v>-1.8</c:v>
              </c:pt>
              <c:pt idx="12">
                <c:v>-1.6</c:v>
              </c:pt>
              <c:pt idx="13">
                <c:v>-1.4</c:v>
              </c:pt>
              <c:pt idx="14">
                <c:v>-1.2</c:v>
              </c:pt>
              <c:pt idx="15">
                <c:v>-1</c:v>
              </c:pt>
              <c:pt idx="16">
                <c:v>-0.8</c:v>
              </c:pt>
              <c:pt idx="17">
                <c:v>-0.6</c:v>
              </c:pt>
              <c:pt idx="18">
                <c:v>-0.4</c:v>
              </c:pt>
              <c:pt idx="19">
                <c:v>-0.2</c:v>
              </c:pt>
              <c:pt idx="20">
                <c:v>0</c:v>
              </c:pt>
              <c:pt idx="21">
                <c:v>0.2</c:v>
              </c:pt>
              <c:pt idx="22">
                <c:v>0.4</c:v>
              </c:pt>
              <c:pt idx="23">
                <c:v>0.6</c:v>
              </c:pt>
              <c:pt idx="24">
                <c:v>0.8</c:v>
              </c:pt>
              <c:pt idx="25">
                <c:v>1</c:v>
              </c:pt>
              <c:pt idx="26">
                <c:v>1.2</c:v>
              </c:pt>
              <c:pt idx="27">
                <c:v>1.4</c:v>
              </c:pt>
              <c:pt idx="28">
                <c:v>1.6</c:v>
              </c:pt>
              <c:pt idx="29">
                <c:v>1.8</c:v>
              </c:pt>
              <c:pt idx="30">
                <c:v>2</c:v>
              </c:pt>
              <c:pt idx="31">
                <c:v>2.2000000000000002</c:v>
              </c:pt>
              <c:pt idx="32">
                <c:v>2.4</c:v>
              </c:pt>
              <c:pt idx="33">
                <c:v>2.6</c:v>
              </c:pt>
              <c:pt idx="34">
                <c:v>2.8</c:v>
              </c:pt>
              <c:pt idx="35">
                <c:v>3</c:v>
              </c:pt>
              <c:pt idx="36">
                <c:v>3.2</c:v>
              </c:pt>
              <c:pt idx="37">
                <c:v>3.4</c:v>
              </c:pt>
              <c:pt idx="38">
                <c:v>3.6</c:v>
              </c:pt>
              <c:pt idx="39">
                <c:v>3.8</c:v>
              </c:pt>
              <c:pt idx="40">
                <c:v>4</c:v>
              </c:pt>
            </c:numLit>
          </c:cat>
          <c:val>
            <c:numLit>
              <c:formatCode>General</c:formatCode>
              <c:ptCount val="4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3.0000000000000001E-5</c:v>
              </c:pt>
              <c:pt idx="13">
                <c:v>3.8000000000000002E-4</c:v>
              </c:pt>
              <c:pt idx="14">
                <c:v>3.1900000000000001E-3</c:v>
              </c:pt>
              <c:pt idx="15">
                <c:v>1.924E-2</c:v>
              </c:pt>
              <c:pt idx="16">
                <c:v>8.3629999999999996E-2</c:v>
              </c:pt>
              <c:pt idx="17">
                <c:v>0.26223999999999997</c:v>
              </c:pt>
              <c:pt idx="18">
                <c:v>0.59323000000000004</c:v>
              </c:pt>
              <c:pt idx="19">
                <c:v>0.96814</c:v>
              </c:pt>
              <c:pt idx="20">
                <c:v>1.13984</c:v>
              </c:pt>
              <c:pt idx="21">
                <c:v>0.96814</c:v>
              </c:pt>
              <c:pt idx="22">
                <c:v>0.59323000000000004</c:v>
              </c:pt>
              <c:pt idx="23">
                <c:v>0.26223999999999997</c:v>
              </c:pt>
              <c:pt idx="24">
                <c:v>8.3629999999999996E-2</c:v>
              </c:pt>
              <c:pt idx="25">
                <c:v>1.924E-2</c:v>
              </c:pt>
              <c:pt idx="26">
                <c:v>3.1900000000000001E-3</c:v>
              </c:pt>
              <c:pt idx="27">
                <c:v>3.8000000000000002E-4</c:v>
              </c:pt>
              <c:pt idx="28">
                <c:v>3.0000000000000001E-5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B965-7E45-9DB5-F9D0D4B4E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8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 = 1</c:v>
          </c:tx>
          <c:spPr>
            <a:ln w="28575">
              <a:solidFill>
                <a:srgbClr val="F2650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0.63</c:v>
              </c:pt>
              <c:pt idx="1">
                <c:v>0.88</c:v>
              </c:pt>
              <c:pt idx="2">
                <c:v>1.1299999999999999</c:v>
              </c:pt>
              <c:pt idx="3">
                <c:v>1.38</c:v>
              </c:pt>
              <c:pt idx="4">
                <c:v>1.63</c:v>
              </c:pt>
              <c:pt idx="5">
                <c:v>1.88</c:v>
              </c:pt>
              <c:pt idx="6">
                <c:v>2.13</c:v>
              </c:pt>
              <c:pt idx="7">
                <c:v>2.38</c:v>
              </c:pt>
              <c:pt idx="8">
                <c:v>2.63</c:v>
              </c:pt>
              <c:pt idx="9">
                <c:v>2.88</c:v>
              </c:pt>
              <c:pt idx="10">
                <c:v>3.13</c:v>
              </c:pt>
              <c:pt idx="11">
                <c:v>3.38</c:v>
              </c:pt>
              <c:pt idx="12">
                <c:v>3.63</c:v>
              </c:pt>
              <c:pt idx="13">
                <c:v>3.88</c:v>
              </c:pt>
              <c:pt idx="14">
                <c:v>4.13</c:v>
              </c:pt>
              <c:pt idx="15">
                <c:v>4.38</c:v>
              </c:pt>
              <c:pt idx="16">
                <c:v>4.63</c:v>
              </c:pt>
              <c:pt idx="17">
                <c:v>4.88</c:v>
              </c:pt>
              <c:pt idx="18">
                <c:v>5.13</c:v>
              </c:pt>
              <c:pt idx="19">
                <c:v>5.38</c:v>
              </c:pt>
              <c:pt idx="20">
                <c:v>5.63</c:v>
              </c:pt>
              <c:pt idx="21">
                <c:v>5.88</c:v>
              </c:pt>
              <c:pt idx="22">
                <c:v>6.13</c:v>
              </c:pt>
              <c:pt idx="23">
                <c:v>6.38</c:v>
              </c:pt>
            </c:numLit>
          </c:cat>
          <c:val>
            <c:numLit>
              <c:formatCode>General</c:formatCode>
              <c:ptCount val="24"/>
              <c:pt idx="0">
                <c:v>0</c:v>
              </c:pt>
              <c:pt idx="1">
                <c:v>0</c:v>
              </c:pt>
              <c:pt idx="2">
                <c:v>0.1605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0.16266666666666665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0.17150000000000001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0.16883333333333334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0.17316666666666666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0.16333333333333333</c:v>
              </c:pt>
              <c:pt idx="23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E06-434C-9F21-667EE7F3E17B}"/>
            </c:ext>
          </c:extLst>
        </c:ser>
        <c:ser>
          <c:idx val="1"/>
          <c:order val="1"/>
          <c:tx>
            <c:v>n = 5</c:v>
          </c:tx>
          <c:spPr>
            <a:ln w="28575">
              <a:solidFill>
                <a:srgbClr val="00A4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0.63</c:v>
              </c:pt>
              <c:pt idx="1">
                <c:v>0.88</c:v>
              </c:pt>
              <c:pt idx="2">
                <c:v>1.1299999999999999</c:v>
              </c:pt>
              <c:pt idx="3">
                <c:v>1.38</c:v>
              </c:pt>
              <c:pt idx="4">
                <c:v>1.63</c:v>
              </c:pt>
              <c:pt idx="5">
                <c:v>1.88</c:v>
              </c:pt>
              <c:pt idx="6">
                <c:v>2.13</c:v>
              </c:pt>
              <c:pt idx="7">
                <c:v>2.38</c:v>
              </c:pt>
              <c:pt idx="8">
                <c:v>2.63</c:v>
              </c:pt>
              <c:pt idx="9">
                <c:v>2.88</c:v>
              </c:pt>
              <c:pt idx="10">
                <c:v>3.13</c:v>
              </c:pt>
              <c:pt idx="11">
                <c:v>3.38</c:v>
              </c:pt>
              <c:pt idx="12">
                <c:v>3.63</c:v>
              </c:pt>
              <c:pt idx="13">
                <c:v>3.88</c:v>
              </c:pt>
              <c:pt idx="14">
                <c:v>4.13</c:v>
              </c:pt>
              <c:pt idx="15">
                <c:v>4.38</c:v>
              </c:pt>
              <c:pt idx="16">
                <c:v>4.63</c:v>
              </c:pt>
              <c:pt idx="17">
                <c:v>4.88</c:v>
              </c:pt>
              <c:pt idx="18">
                <c:v>5.13</c:v>
              </c:pt>
              <c:pt idx="19">
                <c:v>5.38</c:v>
              </c:pt>
              <c:pt idx="20">
                <c:v>5.63</c:v>
              </c:pt>
              <c:pt idx="21">
                <c:v>5.88</c:v>
              </c:pt>
              <c:pt idx="22">
                <c:v>6.13</c:v>
              </c:pt>
              <c:pt idx="23">
                <c:v>6.38</c:v>
              </c:pt>
            </c:numLit>
          </c:cat>
          <c:val>
            <c:numLit>
              <c:formatCode>General</c:formatCode>
              <c:ptCount val="24"/>
              <c:pt idx="0">
                <c:v>0</c:v>
              </c:pt>
              <c:pt idx="1">
                <c:v>0</c:v>
              </c:pt>
              <c:pt idx="2">
                <c:v>1.1666666666666668E-3</c:v>
              </c:pt>
              <c:pt idx="3">
                <c:v>1.3333333333333333E-3</c:v>
              </c:pt>
              <c:pt idx="4">
                <c:v>4.0000000000000001E-3</c:v>
              </c:pt>
              <c:pt idx="5">
                <c:v>9.4999999999999998E-3</c:v>
              </c:pt>
              <c:pt idx="6">
                <c:v>4.3333333333333335E-2</c:v>
              </c:pt>
              <c:pt idx="7">
                <c:v>4.0333333333333332E-2</c:v>
              </c:pt>
              <c:pt idx="8">
                <c:v>5.0999999999999997E-2</c:v>
              </c:pt>
              <c:pt idx="9">
                <c:v>6.9666666666666668E-2</c:v>
              </c:pt>
              <c:pt idx="10">
                <c:v>0.17183333333333334</c:v>
              </c:pt>
              <c:pt idx="11">
                <c:v>0.10233333333333333</c:v>
              </c:pt>
              <c:pt idx="12">
                <c:v>9.7166666666666665E-2</c:v>
              </c:pt>
              <c:pt idx="13">
                <c:v>9.5000000000000001E-2</c:v>
              </c:pt>
              <c:pt idx="14">
                <c:v>0.15883333333333333</c:v>
              </c:pt>
              <c:pt idx="15">
                <c:v>5.4166666666666669E-2</c:v>
              </c:pt>
              <c:pt idx="16">
                <c:v>4.2833333333333334E-2</c:v>
              </c:pt>
              <c:pt idx="17">
                <c:v>2.8000000000000001E-2</c:v>
              </c:pt>
              <c:pt idx="18">
                <c:v>2.4500000000000001E-2</c:v>
              </c:pt>
              <c:pt idx="19">
                <c:v>2.6666666666666666E-3</c:v>
              </c:pt>
              <c:pt idx="20">
                <c:v>1.8333333333333333E-3</c:v>
              </c:pt>
              <c:pt idx="21">
                <c:v>5.0000000000000001E-4</c:v>
              </c:pt>
              <c:pt idx="22">
                <c:v>0</c:v>
              </c:pt>
              <c:pt idx="23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5E06-434C-9F21-667EE7F3E17B}"/>
            </c:ext>
          </c:extLst>
        </c:ser>
        <c:ser>
          <c:idx val="2"/>
          <c:order val="2"/>
          <c:tx>
            <c:v>n = 30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0.63</c:v>
              </c:pt>
              <c:pt idx="1">
                <c:v>0.88</c:v>
              </c:pt>
              <c:pt idx="2">
                <c:v>1.1299999999999999</c:v>
              </c:pt>
              <c:pt idx="3">
                <c:v>1.38</c:v>
              </c:pt>
              <c:pt idx="4">
                <c:v>1.63</c:v>
              </c:pt>
              <c:pt idx="5">
                <c:v>1.88</c:v>
              </c:pt>
              <c:pt idx="6">
                <c:v>2.13</c:v>
              </c:pt>
              <c:pt idx="7">
                <c:v>2.38</c:v>
              </c:pt>
              <c:pt idx="8">
                <c:v>2.63</c:v>
              </c:pt>
              <c:pt idx="9">
                <c:v>2.88</c:v>
              </c:pt>
              <c:pt idx="10">
                <c:v>3.13</c:v>
              </c:pt>
              <c:pt idx="11">
                <c:v>3.38</c:v>
              </c:pt>
              <c:pt idx="12">
                <c:v>3.63</c:v>
              </c:pt>
              <c:pt idx="13">
                <c:v>3.88</c:v>
              </c:pt>
              <c:pt idx="14">
                <c:v>4.13</c:v>
              </c:pt>
              <c:pt idx="15">
                <c:v>4.38</c:v>
              </c:pt>
              <c:pt idx="16">
                <c:v>4.63</c:v>
              </c:pt>
              <c:pt idx="17">
                <c:v>4.88</c:v>
              </c:pt>
              <c:pt idx="18">
                <c:v>5.13</c:v>
              </c:pt>
              <c:pt idx="19">
                <c:v>5.38</c:v>
              </c:pt>
              <c:pt idx="20">
                <c:v>5.63</c:v>
              </c:pt>
              <c:pt idx="21">
                <c:v>5.88</c:v>
              </c:pt>
              <c:pt idx="22">
                <c:v>6.13</c:v>
              </c:pt>
              <c:pt idx="23">
                <c:v>6.38</c:v>
              </c:pt>
            </c:numLit>
          </c:cat>
          <c:val>
            <c:numLit>
              <c:formatCode>General</c:formatCode>
              <c:ptCount val="2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3.3333333333333332E-4</c:v>
              </c:pt>
              <c:pt idx="8">
                <c:v>7.8333333333333328E-3</c:v>
              </c:pt>
              <c:pt idx="9">
                <c:v>4.1500000000000002E-2</c:v>
              </c:pt>
              <c:pt idx="10">
                <c:v>0.16283333333333333</c:v>
              </c:pt>
              <c:pt idx="11">
                <c:v>0.26750000000000002</c:v>
              </c:pt>
              <c:pt idx="12">
                <c:v>0.32333333333333331</c:v>
              </c:pt>
              <c:pt idx="13">
                <c:v>0.14399999999999999</c:v>
              </c:pt>
              <c:pt idx="14">
                <c:v>4.7166666666666669E-2</c:v>
              </c:pt>
              <c:pt idx="15">
                <c:v>5.0000000000000001E-3</c:v>
              </c:pt>
              <c:pt idx="16">
                <c:v>5.0000000000000001E-4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5E06-434C-9F21-667EE7F3E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Sample mean of die rolls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6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Simulated proportion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Gamma observations</c:v>
          </c:tx>
          <c:spPr>
            <a:ln w="38100">
              <a:solidFill>
                <a:srgbClr val="F2650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</c:numLit>
          </c:cat>
          <c:val>
            <c:numLit>
              <c:formatCode>General</c:formatCode>
              <c:ptCount val="61"/>
              <c:pt idx="0">
                <c:v>0</c:v>
              </c:pt>
              <c:pt idx="1">
                <c:v>3.2500000000000001E-2</c:v>
              </c:pt>
              <c:pt idx="2">
                <c:v>4.7419999999999997E-2</c:v>
              </c:pt>
              <c:pt idx="3">
                <c:v>5.713E-2</c:v>
              </c:pt>
              <c:pt idx="4">
                <c:v>6.3649999999999998E-2</c:v>
              </c:pt>
              <c:pt idx="5">
                <c:v>6.7930000000000004E-2</c:v>
              </c:pt>
              <c:pt idx="6">
                <c:v>7.0559999999999998E-2</c:v>
              </c:pt>
              <c:pt idx="7">
                <c:v>7.1940000000000004E-2</c:v>
              </c:pt>
              <c:pt idx="8">
                <c:v>7.2340000000000002E-2</c:v>
              </c:pt>
              <c:pt idx="9">
                <c:v>7.1980000000000002E-2</c:v>
              </c:pt>
              <c:pt idx="10">
                <c:v>7.1040000000000006E-2</c:v>
              </c:pt>
              <c:pt idx="11">
                <c:v>6.9639999999999994E-2</c:v>
              </c:pt>
              <c:pt idx="12">
                <c:v>6.7890000000000006E-2</c:v>
              </c:pt>
              <c:pt idx="13">
                <c:v>6.5879999999999994E-2</c:v>
              </c:pt>
              <c:pt idx="14">
                <c:v>6.368E-2</c:v>
              </c:pt>
              <c:pt idx="15">
                <c:v>6.1350000000000002E-2</c:v>
              </c:pt>
              <c:pt idx="16">
                <c:v>5.892E-2</c:v>
              </c:pt>
              <c:pt idx="17">
                <c:v>5.645E-2</c:v>
              </c:pt>
              <c:pt idx="18">
                <c:v>5.3949999999999998E-2</c:v>
              </c:pt>
              <c:pt idx="19">
                <c:v>5.1459999999999999E-2</c:v>
              </c:pt>
              <c:pt idx="20">
                <c:v>4.8989999999999999E-2</c:v>
              </c:pt>
              <c:pt idx="21">
                <c:v>4.6559999999999997E-2</c:v>
              </c:pt>
              <c:pt idx="22">
                <c:v>4.419E-2</c:v>
              </c:pt>
              <c:pt idx="23">
                <c:v>4.1880000000000001E-2</c:v>
              </c:pt>
              <c:pt idx="24">
                <c:v>3.9640000000000002E-2</c:v>
              </c:pt>
              <c:pt idx="25">
                <c:v>3.7479999999999999E-2</c:v>
              </c:pt>
              <c:pt idx="26">
                <c:v>3.5400000000000001E-2</c:v>
              </c:pt>
              <c:pt idx="27">
                <c:v>3.3399999999999999E-2</c:v>
              </c:pt>
              <c:pt idx="28">
                <c:v>3.1480000000000001E-2</c:v>
              </c:pt>
              <c:pt idx="29">
                <c:v>2.9649999999999999E-2</c:v>
              </c:pt>
              <c:pt idx="30">
                <c:v>2.7900000000000001E-2</c:v>
              </c:pt>
              <c:pt idx="31">
                <c:v>2.6239999999999999E-2</c:v>
              </c:pt>
              <c:pt idx="32">
                <c:v>2.4660000000000001E-2</c:v>
              </c:pt>
              <c:pt idx="33">
                <c:v>2.316E-2</c:v>
              </c:pt>
              <c:pt idx="34">
                <c:v>2.1739999999999999E-2</c:v>
              </c:pt>
              <c:pt idx="35">
                <c:v>2.0389999999999998E-2</c:v>
              </c:pt>
              <c:pt idx="36">
                <c:v>1.9120000000000002E-2</c:v>
              </c:pt>
              <c:pt idx="37">
                <c:v>1.7909999999999999E-2</c:v>
              </c:pt>
              <c:pt idx="38">
                <c:v>1.678E-2</c:v>
              </c:pt>
              <c:pt idx="39">
                <c:v>1.5709999999999998E-2</c:v>
              </c:pt>
              <c:pt idx="40">
                <c:v>1.47E-2</c:v>
              </c:pt>
              <c:pt idx="41">
                <c:v>1.375E-2</c:v>
              </c:pt>
              <c:pt idx="42">
                <c:v>1.285E-2</c:v>
              </c:pt>
              <c:pt idx="43">
                <c:v>1.201E-2</c:v>
              </c:pt>
              <c:pt idx="44">
                <c:v>1.1220000000000001E-2</c:v>
              </c:pt>
              <c:pt idx="45">
                <c:v>1.048E-2</c:v>
              </c:pt>
              <c:pt idx="46">
                <c:v>9.7900000000000001E-3</c:v>
              </c:pt>
              <c:pt idx="47">
                <c:v>9.1299999999999992E-3</c:v>
              </c:pt>
              <c:pt idx="48">
                <c:v>8.5199999999999998E-3</c:v>
              </c:pt>
              <c:pt idx="49">
                <c:v>7.9500000000000005E-3</c:v>
              </c:pt>
              <c:pt idx="50">
                <c:v>7.4099999999999999E-3</c:v>
              </c:pt>
              <c:pt idx="51">
                <c:v>6.9100000000000003E-3</c:v>
              </c:pt>
              <c:pt idx="52">
                <c:v>6.4400000000000004E-3</c:v>
              </c:pt>
              <c:pt idx="53">
                <c:v>6.0000000000000001E-3</c:v>
              </c:pt>
              <c:pt idx="54">
                <c:v>5.5900000000000004E-3</c:v>
              </c:pt>
              <c:pt idx="55">
                <c:v>5.2100000000000002E-3</c:v>
              </c:pt>
              <c:pt idx="56">
                <c:v>4.8500000000000001E-3</c:v>
              </c:pt>
              <c:pt idx="57">
                <c:v>4.5199999999999997E-3</c:v>
              </c:pt>
              <c:pt idx="58">
                <c:v>4.1999999999999997E-3</c:v>
              </c:pt>
              <c:pt idx="59">
                <c:v>3.9100000000000003E-3</c:v>
              </c:pt>
              <c:pt idx="60">
                <c:v>3.64E-3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04B-CB48-9C84-D283D259FF66}"/>
            </c:ext>
          </c:extLst>
        </c:ser>
        <c:ser>
          <c:idx val="1"/>
          <c:order val="1"/>
          <c:tx>
            <c:v>Means, n = 200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</c:numLit>
          </c:cat>
          <c:val>
            <c:numLit>
              <c:formatCode>General</c:formatCode>
              <c:ptCount val="6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2.0000000000000002E-5</c:v>
              </c:pt>
              <c:pt idx="16">
                <c:v>9.3000000000000005E-4</c:v>
              </c:pt>
              <c:pt idx="17">
                <c:v>1.719E-2</c:v>
              </c:pt>
              <c:pt idx="18">
                <c:v>0.13774</c:v>
              </c:pt>
              <c:pt idx="19">
                <c:v>0.48013</c:v>
              </c:pt>
              <c:pt idx="20">
                <c:v>0.72799000000000003</c:v>
              </c:pt>
              <c:pt idx="21">
                <c:v>0.48013</c:v>
              </c:pt>
              <c:pt idx="22">
                <c:v>0.13774</c:v>
              </c:pt>
              <c:pt idx="23">
                <c:v>1.719E-2</c:v>
              </c:pt>
              <c:pt idx="24">
                <c:v>9.3000000000000005E-4</c:v>
              </c:pt>
              <c:pt idx="25">
                <c:v>2.0000000000000002E-5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804B-CB48-9C84-D283D259F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Value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2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 = 10</c:v>
          </c:tx>
          <c:spPr>
            <a:ln w="28575">
              <a:solidFill>
                <a:srgbClr val="F2650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40</c:v>
              </c:pt>
              <c:pt idx="1">
                <c:v>40.299999999999997</c:v>
              </c:pt>
              <c:pt idx="2">
                <c:v>40.700000000000003</c:v>
              </c:pt>
              <c:pt idx="3">
                <c:v>41</c:v>
              </c:pt>
              <c:pt idx="4">
                <c:v>41.3</c:v>
              </c:pt>
              <c:pt idx="5">
                <c:v>41.7</c:v>
              </c:pt>
              <c:pt idx="6">
                <c:v>42</c:v>
              </c:pt>
              <c:pt idx="7">
                <c:v>42.3</c:v>
              </c:pt>
              <c:pt idx="8">
                <c:v>42.7</c:v>
              </c:pt>
              <c:pt idx="9">
                <c:v>43</c:v>
              </c:pt>
              <c:pt idx="10">
                <c:v>43.3</c:v>
              </c:pt>
              <c:pt idx="11">
                <c:v>43.7</c:v>
              </c:pt>
              <c:pt idx="12">
                <c:v>44</c:v>
              </c:pt>
              <c:pt idx="13">
                <c:v>44.3</c:v>
              </c:pt>
              <c:pt idx="14">
                <c:v>44.7</c:v>
              </c:pt>
              <c:pt idx="15">
                <c:v>45</c:v>
              </c:pt>
              <c:pt idx="16">
                <c:v>45.3</c:v>
              </c:pt>
              <c:pt idx="17">
                <c:v>45.7</c:v>
              </c:pt>
              <c:pt idx="18">
                <c:v>46</c:v>
              </c:pt>
              <c:pt idx="19">
                <c:v>46.3</c:v>
              </c:pt>
              <c:pt idx="20">
                <c:v>46.7</c:v>
              </c:pt>
              <c:pt idx="21">
                <c:v>47</c:v>
              </c:pt>
              <c:pt idx="22">
                <c:v>47.3</c:v>
              </c:pt>
              <c:pt idx="23">
                <c:v>47.7</c:v>
              </c:pt>
              <c:pt idx="24">
                <c:v>48</c:v>
              </c:pt>
              <c:pt idx="25">
                <c:v>48.3</c:v>
              </c:pt>
              <c:pt idx="26">
                <c:v>48.7</c:v>
              </c:pt>
              <c:pt idx="27">
                <c:v>49</c:v>
              </c:pt>
              <c:pt idx="28">
                <c:v>49.3</c:v>
              </c:pt>
              <c:pt idx="29">
                <c:v>49.7</c:v>
              </c:pt>
              <c:pt idx="30">
                <c:v>50</c:v>
              </c:pt>
              <c:pt idx="31">
                <c:v>50.3</c:v>
              </c:pt>
              <c:pt idx="32">
                <c:v>50.7</c:v>
              </c:pt>
              <c:pt idx="33">
                <c:v>51</c:v>
              </c:pt>
              <c:pt idx="34">
                <c:v>51.3</c:v>
              </c:pt>
              <c:pt idx="35">
                <c:v>51.7</c:v>
              </c:pt>
              <c:pt idx="36">
                <c:v>52</c:v>
              </c:pt>
              <c:pt idx="37">
                <c:v>52.3</c:v>
              </c:pt>
              <c:pt idx="38">
                <c:v>52.7</c:v>
              </c:pt>
              <c:pt idx="39">
                <c:v>53</c:v>
              </c:pt>
              <c:pt idx="40">
                <c:v>53.3</c:v>
              </c:pt>
              <c:pt idx="41">
                <c:v>53.7</c:v>
              </c:pt>
              <c:pt idx="42">
                <c:v>54</c:v>
              </c:pt>
              <c:pt idx="43">
                <c:v>54.3</c:v>
              </c:pt>
              <c:pt idx="44">
                <c:v>54.7</c:v>
              </c:pt>
              <c:pt idx="45">
                <c:v>55</c:v>
              </c:pt>
              <c:pt idx="46">
                <c:v>55.3</c:v>
              </c:pt>
              <c:pt idx="47">
                <c:v>55.7</c:v>
              </c:pt>
              <c:pt idx="48">
                <c:v>56</c:v>
              </c:pt>
              <c:pt idx="49">
                <c:v>56.3</c:v>
              </c:pt>
              <c:pt idx="50">
                <c:v>56.7</c:v>
              </c:pt>
              <c:pt idx="51">
                <c:v>57</c:v>
              </c:pt>
              <c:pt idx="52">
                <c:v>57.3</c:v>
              </c:pt>
              <c:pt idx="53">
                <c:v>57.7</c:v>
              </c:pt>
              <c:pt idx="54">
                <c:v>58</c:v>
              </c:pt>
              <c:pt idx="55">
                <c:v>58.3</c:v>
              </c:pt>
              <c:pt idx="56">
                <c:v>58.7</c:v>
              </c:pt>
              <c:pt idx="57">
                <c:v>59</c:v>
              </c:pt>
              <c:pt idx="58">
                <c:v>59.3</c:v>
              </c:pt>
              <c:pt idx="59">
                <c:v>59.7</c:v>
              </c:pt>
              <c:pt idx="60">
                <c:v>60</c:v>
              </c:pt>
            </c:numLit>
          </c:cat>
          <c:val>
            <c:numLit>
              <c:formatCode>General</c:formatCode>
              <c:ptCount val="61"/>
              <c:pt idx="0">
                <c:v>3.2599999999999999E-3</c:v>
              </c:pt>
              <c:pt idx="1">
                <c:v>4.1000000000000003E-3</c:v>
              </c:pt>
              <c:pt idx="2">
                <c:v>5.11E-3</c:v>
              </c:pt>
              <c:pt idx="3">
                <c:v>6.3099999999999996E-3</c:v>
              </c:pt>
              <c:pt idx="4">
                <c:v>7.7499999999999999E-3</c:v>
              </c:pt>
              <c:pt idx="5">
                <c:v>9.4299999999999991E-3</c:v>
              </c:pt>
              <c:pt idx="6">
                <c:v>1.1390000000000001E-2</c:v>
              </c:pt>
              <c:pt idx="7">
                <c:v>1.366E-2</c:v>
              </c:pt>
              <c:pt idx="8">
                <c:v>1.6250000000000001E-2</c:v>
              </c:pt>
              <c:pt idx="9">
                <c:v>1.9179999999999999E-2</c:v>
              </c:pt>
              <c:pt idx="10">
                <c:v>2.247E-2</c:v>
              </c:pt>
              <c:pt idx="11">
                <c:v>2.6110000000000001E-2</c:v>
              </c:pt>
              <c:pt idx="12">
                <c:v>3.0120000000000001E-2</c:v>
              </c:pt>
              <c:pt idx="13">
                <c:v>3.4470000000000001E-2</c:v>
              </c:pt>
              <c:pt idx="14">
                <c:v>3.916E-2</c:v>
              </c:pt>
              <c:pt idx="15">
                <c:v>4.4130000000000003E-2</c:v>
              </c:pt>
              <c:pt idx="16">
                <c:v>4.9349999999999998E-2</c:v>
              </c:pt>
              <c:pt idx="17">
                <c:v>5.4769999999999999E-2</c:v>
              </c:pt>
              <c:pt idx="18">
                <c:v>6.0319999999999999E-2</c:v>
              </c:pt>
              <c:pt idx="19">
                <c:v>6.5920000000000006E-2</c:v>
              </c:pt>
              <c:pt idx="20">
                <c:v>7.1480000000000002E-2</c:v>
              </c:pt>
              <c:pt idx="21">
                <c:v>7.6920000000000002E-2</c:v>
              </c:pt>
              <c:pt idx="22">
                <c:v>8.2129999999999995E-2</c:v>
              </c:pt>
              <c:pt idx="23">
                <c:v>8.702E-2</c:v>
              </c:pt>
              <c:pt idx="24">
                <c:v>9.1499999999999998E-2</c:v>
              </c:pt>
              <c:pt idx="25">
                <c:v>9.5460000000000003E-2</c:v>
              </c:pt>
              <c:pt idx="26">
                <c:v>9.8839999999999997E-2</c:v>
              </c:pt>
              <c:pt idx="27">
                <c:v>0.10154000000000001</c:v>
              </c:pt>
              <c:pt idx="28">
                <c:v>0.10352</c:v>
              </c:pt>
              <c:pt idx="29">
                <c:v>0.10473</c:v>
              </c:pt>
              <c:pt idx="30">
                <c:v>0.10513</c:v>
              </c:pt>
              <c:pt idx="31">
                <c:v>0.10473</c:v>
              </c:pt>
              <c:pt idx="32">
                <c:v>0.10352</c:v>
              </c:pt>
              <c:pt idx="33">
                <c:v>0.10154000000000001</c:v>
              </c:pt>
              <c:pt idx="34">
                <c:v>9.8839999999999997E-2</c:v>
              </c:pt>
              <c:pt idx="35">
                <c:v>9.5460000000000003E-2</c:v>
              </c:pt>
              <c:pt idx="36">
                <c:v>9.1499999999999998E-2</c:v>
              </c:pt>
              <c:pt idx="37">
                <c:v>8.702E-2</c:v>
              </c:pt>
              <c:pt idx="38">
                <c:v>8.2129999999999995E-2</c:v>
              </c:pt>
              <c:pt idx="39">
                <c:v>7.6920000000000002E-2</c:v>
              </c:pt>
              <c:pt idx="40">
                <c:v>7.1480000000000002E-2</c:v>
              </c:pt>
              <c:pt idx="41">
                <c:v>6.5920000000000006E-2</c:v>
              </c:pt>
              <c:pt idx="42">
                <c:v>6.0319999999999999E-2</c:v>
              </c:pt>
              <c:pt idx="43">
                <c:v>5.4769999999999999E-2</c:v>
              </c:pt>
              <c:pt idx="44">
                <c:v>4.9349999999999998E-2</c:v>
              </c:pt>
              <c:pt idx="45">
                <c:v>4.4130000000000003E-2</c:v>
              </c:pt>
              <c:pt idx="46">
                <c:v>3.916E-2</c:v>
              </c:pt>
              <c:pt idx="47">
                <c:v>3.4470000000000001E-2</c:v>
              </c:pt>
              <c:pt idx="48">
                <c:v>3.0120000000000001E-2</c:v>
              </c:pt>
              <c:pt idx="49">
                <c:v>2.6110000000000001E-2</c:v>
              </c:pt>
              <c:pt idx="50">
                <c:v>2.247E-2</c:v>
              </c:pt>
              <c:pt idx="51">
                <c:v>1.9179999999999999E-2</c:v>
              </c:pt>
              <c:pt idx="52">
                <c:v>1.6250000000000001E-2</c:v>
              </c:pt>
              <c:pt idx="53">
                <c:v>1.366E-2</c:v>
              </c:pt>
              <c:pt idx="54">
                <c:v>1.1390000000000001E-2</c:v>
              </c:pt>
              <c:pt idx="55">
                <c:v>9.4299999999999991E-3</c:v>
              </c:pt>
              <c:pt idx="56">
                <c:v>7.7499999999999999E-3</c:v>
              </c:pt>
              <c:pt idx="57">
                <c:v>6.3099999999999996E-3</c:v>
              </c:pt>
              <c:pt idx="58">
                <c:v>5.11E-3</c:v>
              </c:pt>
              <c:pt idx="59">
                <c:v>4.1000000000000003E-3</c:v>
              </c:pt>
              <c:pt idx="60">
                <c:v>3.2599999999999999E-3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192A-B543-A852-2AB326792E16}"/>
            </c:ext>
          </c:extLst>
        </c:ser>
        <c:ser>
          <c:idx val="1"/>
          <c:order val="1"/>
          <c:tx>
            <c:v>n = 40</c:v>
          </c:tx>
          <c:spPr>
            <a:ln w="28575">
              <a:solidFill>
                <a:srgbClr val="00A4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40</c:v>
              </c:pt>
              <c:pt idx="1">
                <c:v>40.299999999999997</c:v>
              </c:pt>
              <c:pt idx="2">
                <c:v>40.700000000000003</c:v>
              </c:pt>
              <c:pt idx="3">
                <c:v>41</c:v>
              </c:pt>
              <c:pt idx="4">
                <c:v>41.3</c:v>
              </c:pt>
              <c:pt idx="5">
                <c:v>41.7</c:v>
              </c:pt>
              <c:pt idx="6">
                <c:v>42</c:v>
              </c:pt>
              <c:pt idx="7">
                <c:v>42.3</c:v>
              </c:pt>
              <c:pt idx="8">
                <c:v>42.7</c:v>
              </c:pt>
              <c:pt idx="9">
                <c:v>43</c:v>
              </c:pt>
              <c:pt idx="10">
                <c:v>43.3</c:v>
              </c:pt>
              <c:pt idx="11">
                <c:v>43.7</c:v>
              </c:pt>
              <c:pt idx="12">
                <c:v>44</c:v>
              </c:pt>
              <c:pt idx="13">
                <c:v>44.3</c:v>
              </c:pt>
              <c:pt idx="14">
                <c:v>44.7</c:v>
              </c:pt>
              <c:pt idx="15">
                <c:v>45</c:v>
              </c:pt>
              <c:pt idx="16">
                <c:v>45.3</c:v>
              </c:pt>
              <c:pt idx="17">
                <c:v>45.7</c:v>
              </c:pt>
              <c:pt idx="18">
                <c:v>46</c:v>
              </c:pt>
              <c:pt idx="19">
                <c:v>46.3</c:v>
              </c:pt>
              <c:pt idx="20">
                <c:v>46.7</c:v>
              </c:pt>
              <c:pt idx="21">
                <c:v>47</c:v>
              </c:pt>
              <c:pt idx="22">
                <c:v>47.3</c:v>
              </c:pt>
              <c:pt idx="23">
                <c:v>47.7</c:v>
              </c:pt>
              <c:pt idx="24">
                <c:v>48</c:v>
              </c:pt>
              <c:pt idx="25">
                <c:v>48.3</c:v>
              </c:pt>
              <c:pt idx="26">
                <c:v>48.7</c:v>
              </c:pt>
              <c:pt idx="27">
                <c:v>49</c:v>
              </c:pt>
              <c:pt idx="28">
                <c:v>49.3</c:v>
              </c:pt>
              <c:pt idx="29">
                <c:v>49.7</c:v>
              </c:pt>
              <c:pt idx="30">
                <c:v>50</c:v>
              </c:pt>
              <c:pt idx="31">
                <c:v>50.3</c:v>
              </c:pt>
              <c:pt idx="32">
                <c:v>50.7</c:v>
              </c:pt>
              <c:pt idx="33">
                <c:v>51</c:v>
              </c:pt>
              <c:pt idx="34">
                <c:v>51.3</c:v>
              </c:pt>
              <c:pt idx="35">
                <c:v>51.7</c:v>
              </c:pt>
              <c:pt idx="36">
                <c:v>52</c:v>
              </c:pt>
              <c:pt idx="37">
                <c:v>52.3</c:v>
              </c:pt>
              <c:pt idx="38">
                <c:v>52.7</c:v>
              </c:pt>
              <c:pt idx="39">
                <c:v>53</c:v>
              </c:pt>
              <c:pt idx="40">
                <c:v>53.3</c:v>
              </c:pt>
              <c:pt idx="41">
                <c:v>53.7</c:v>
              </c:pt>
              <c:pt idx="42">
                <c:v>54</c:v>
              </c:pt>
              <c:pt idx="43">
                <c:v>54.3</c:v>
              </c:pt>
              <c:pt idx="44">
                <c:v>54.7</c:v>
              </c:pt>
              <c:pt idx="45">
                <c:v>55</c:v>
              </c:pt>
              <c:pt idx="46">
                <c:v>55.3</c:v>
              </c:pt>
              <c:pt idx="47">
                <c:v>55.7</c:v>
              </c:pt>
              <c:pt idx="48">
                <c:v>56</c:v>
              </c:pt>
              <c:pt idx="49">
                <c:v>56.3</c:v>
              </c:pt>
              <c:pt idx="50">
                <c:v>56.7</c:v>
              </c:pt>
              <c:pt idx="51">
                <c:v>57</c:v>
              </c:pt>
              <c:pt idx="52">
                <c:v>57.3</c:v>
              </c:pt>
              <c:pt idx="53">
                <c:v>57.7</c:v>
              </c:pt>
              <c:pt idx="54">
                <c:v>58</c:v>
              </c:pt>
              <c:pt idx="55">
                <c:v>58.3</c:v>
              </c:pt>
              <c:pt idx="56">
                <c:v>58.7</c:v>
              </c:pt>
              <c:pt idx="57">
                <c:v>59</c:v>
              </c:pt>
              <c:pt idx="58">
                <c:v>59.3</c:v>
              </c:pt>
              <c:pt idx="59">
                <c:v>59.7</c:v>
              </c:pt>
              <c:pt idx="60">
                <c:v>60</c:v>
              </c:pt>
            </c:numLit>
          </c:cat>
          <c:val>
            <c:numLit>
              <c:formatCode>General</c:formatCode>
              <c:ptCount val="6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1.0000000000000001E-5</c:v>
              </c:pt>
              <c:pt idx="5">
                <c:v>1.0000000000000001E-5</c:v>
              </c:pt>
              <c:pt idx="6">
                <c:v>3.0000000000000001E-5</c:v>
              </c:pt>
              <c:pt idx="7">
                <c:v>6.0000000000000002E-5</c:v>
              </c:pt>
              <c:pt idx="8">
                <c:v>1.2E-4</c:v>
              </c:pt>
              <c:pt idx="9">
                <c:v>2.3000000000000001E-4</c:v>
              </c:pt>
              <c:pt idx="10">
                <c:v>4.4000000000000002E-4</c:v>
              </c:pt>
              <c:pt idx="11">
                <c:v>8.0000000000000004E-4</c:v>
              </c:pt>
              <c:pt idx="12">
                <c:v>1.42E-3</c:v>
              </c:pt>
              <c:pt idx="13">
                <c:v>2.4299999999999999E-3</c:v>
              </c:pt>
              <c:pt idx="14">
                <c:v>4.0499999999999998E-3</c:v>
              </c:pt>
              <c:pt idx="15">
                <c:v>6.5300000000000002E-3</c:v>
              </c:pt>
              <c:pt idx="16">
                <c:v>1.021E-2</c:v>
              </c:pt>
              <c:pt idx="17">
                <c:v>1.549E-2</c:v>
              </c:pt>
              <c:pt idx="18">
                <c:v>2.2790000000000001E-2</c:v>
              </c:pt>
              <c:pt idx="19">
                <c:v>3.2489999999999998E-2</c:v>
              </c:pt>
              <c:pt idx="20">
                <c:v>4.4929999999999998E-2</c:v>
              </c:pt>
              <c:pt idx="21">
                <c:v>6.0240000000000002E-2</c:v>
              </c:pt>
              <c:pt idx="22">
                <c:v>7.8310000000000005E-2</c:v>
              </c:pt>
              <c:pt idx="23">
                <c:v>9.8710000000000006E-2</c:v>
              </c:pt>
              <c:pt idx="24">
                <c:v>0.12064</c:v>
              </c:pt>
              <c:pt idx="25">
                <c:v>0.14296</c:v>
              </c:pt>
              <c:pt idx="26">
                <c:v>0.16425999999999999</c:v>
              </c:pt>
              <c:pt idx="27">
                <c:v>0.183</c:v>
              </c:pt>
              <c:pt idx="28">
                <c:v>0.19767000000000001</c:v>
              </c:pt>
              <c:pt idx="29">
                <c:v>0.20704</c:v>
              </c:pt>
              <c:pt idx="30">
                <c:v>0.21026</c:v>
              </c:pt>
              <c:pt idx="31">
                <c:v>0.20704</c:v>
              </c:pt>
              <c:pt idx="32">
                <c:v>0.19767000000000001</c:v>
              </c:pt>
              <c:pt idx="33">
                <c:v>0.183</c:v>
              </c:pt>
              <c:pt idx="34">
                <c:v>0.16425999999999999</c:v>
              </c:pt>
              <c:pt idx="35">
                <c:v>0.14296</c:v>
              </c:pt>
              <c:pt idx="36">
                <c:v>0.12064</c:v>
              </c:pt>
              <c:pt idx="37">
                <c:v>9.8710000000000006E-2</c:v>
              </c:pt>
              <c:pt idx="38">
                <c:v>7.8310000000000005E-2</c:v>
              </c:pt>
              <c:pt idx="39">
                <c:v>6.0240000000000002E-2</c:v>
              </c:pt>
              <c:pt idx="40">
                <c:v>4.4929999999999998E-2</c:v>
              </c:pt>
              <c:pt idx="41">
                <c:v>3.2489999999999998E-2</c:v>
              </c:pt>
              <c:pt idx="42">
                <c:v>2.2790000000000001E-2</c:v>
              </c:pt>
              <c:pt idx="43">
                <c:v>1.549E-2</c:v>
              </c:pt>
              <c:pt idx="44">
                <c:v>1.021E-2</c:v>
              </c:pt>
              <c:pt idx="45">
                <c:v>6.5300000000000002E-3</c:v>
              </c:pt>
              <c:pt idx="46">
                <c:v>4.0499999999999998E-3</c:v>
              </c:pt>
              <c:pt idx="47">
                <c:v>2.4299999999999999E-3</c:v>
              </c:pt>
              <c:pt idx="48">
                <c:v>1.42E-3</c:v>
              </c:pt>
              <c:pt idx="49">
                <c:v>8.0000000000000004E-4</c:v>
              </c:pt>
              <c:pt idx="50">
                <c:v>4.4000000000000002E-4</c:v>
              </c:pt>
              <c:pt idx="51">
                <c:v>2.3000000000000001E-4</c:v>
              </c:pt>
              <c:pt idx="52">
                <c:v>1.2E-4</c:v>
              </c:pt>
              <c:pt idx="53">
                <c:v>6.0000000000000002E-5</c:v>
              </c:pt>
              <c:pt idx="54">
                <c:v>3.0000000000000001E-5</c:v>
              </c:pt>
              <c:pt idx="55">
                <c:v>1.0000000000000001E-5</c:v>
              </c:pt>
              <c:pt idx="56">
                <c:v>1.0000000000000001E-5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192A-B543-A852-2AB326792E16}"/>
            </c:ext>
          </c:extLst>
        </c:ser>
        <c:ser>
          <c:idx val="2"/>
          <c:order val="2"/>
          <c:tx>
            <c:v>n = 160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40</c:v>
              </c:pt>
              <c:pt idx="1">
                <c:v>40.299999999999997</c:v>
              </c:pt>
              <c:pt idx="2">
                <c:v>40.700000000000003</c:v>
              </c:pt>
              <c:pt idx="3">
                <c:v>41</c:v>
              </c:pt>
              <c:pt idx="4">
                <c:v>41.3</c:v>
              </c:pt>
              <c:pt idx="5">
                <c:v>41.7</c:v>
              </c:pt>
              <c:pt idx="6">
                <c:v>42</c:v>
              </c:pt>
              <c:pt idx="7">
                <c:v>42.3</c:v>
              </c:pt>
              <c:pt idx="8">
                <c:v>42.7</c:v>
              </c:pt>
              <c:pt idx="9">
                <c:v>43</c:v>
              </c:pt>
              <c:pt idx="10">
                <c:v>43.3</c:v>
              </c:pt>
              <c:pt idx="11">
                <c:v>43.7</c:v>
              </c:pt>
              <c:pt idx="12">
                <c:v>44</c:v>
              </c:pt>
              <c:pt idx="13">
                <c:v>44.3</c:v>
              </c:pt>
              <c:pt idx="14">
                <c:v>44.7</c:v>
              </c:pt>
              <c:pt idx="15">
                <c:v>45</c:v>
              </c:pt>
              <c:pt idx="16">
                <c:v>45.3</c:v>
              </c:pt>
              <c:pt idx="17">
                <c:v>45.7</c:v>
              </c:pt>
              <c:pt idx="18">
                <c:v>46</c:v>
              </c:pt>
              <c:pt idx="19">
                <c:v>46.3</c:v>
              </c:pt>
              <c:pt idx="20">
                <c:v>46.7</c:v>
              </c:pt>
              <c:pt idx="21">
                <c:v>47</c:v>
              </c:pt>
              <c:pt idx="22">
                <c:v>47.3</c:v>
              </c:pt>
              <c:pt idx="23">
                <c:v>47.7</c:v>
              </c:pt>
              <c:pt idx="24">
                <c:v>48</c:v>
              </c:pt>
              <c:pt idx="25">
                <c:v>48.3</c:v>
              </c:pt>
              <c:pt idx="26">
                <c:v>48.7</c:v>
              </c:pt>
              <c:pt idx="27">
                <c:v>49</c:v>
              </c:pt>
              <c:pt idx="28">
                <c:v>49.3</c:v>
              </c:pt>
              <c:pt idx="29">
                <c:v>49.7</c:v>
              </c:pt>
              <c:pt idx="30">
                <c:v>50</c:v>
              </c:pt>
              <c:pt idx="31">
                <c:v>50.3</c:v>
              </c:pt>
              <c:pt idx="32">
                <c:v>50.7</c:v>
              </c:pt>
              <c:pt idx="33">
                <c:v>51</c:v>
              </c:pt>
              <c:pt idx="34">
                <c:v>51.3</c:v>
              </c:pt>
              <c:pt idx="35">
                <c:v>51.7</c:v>
              </c:pt>
              <c:pt idx="36">
                <c:v>52</c:v>
              </c:pt>
              <c:pt idx="37">
                <c:v>52.3</c:v>
              </c:pt>
              <c:pt idx="38">
                <c:v>52.7</c:v>
              </c:pt>
              <c:pt idx="39">
                <c:v>53</c:v>
              </c:pt>
              <c:pt idx="40">
                <c:v>53.3</c:v>
              </c:pt>
              <c:pt idx="41">
                <c:v>53.7</c:v>
              </c:pt>
              <c:pt idx="42">
                <c:v>54</c:v>
              </c:pt>
              <c:pt idx="43">
                <c:v>54.3</c:v>
              </c:pt>
              <c:pt idx="44">
                <c:v>54.7</c:v>
              </c:pt>
              <c:pt idx="45">
                <c:v>55</c:v>
              </c:pt>
              <c:pt idx="46">
                <c:v>55.3</c:v>
              </c:pt>
              <c:pt idx="47">
                <c:v>55.7</c:v>
              </c:pt>
              <c:pt idx="48">
                <c:v>56</c:v>
              </c:pt>
              <c:pt idx="49">
                <c:v>56.3</c:v>
              </c:pt>
              <c:pt idx="50">
                <c:v>56.7</c:v>
              </c:pt>
              <c:pt idx="51">
                <c:v>57</c:v>
              </c:pt>
              <c:pt idx="52">
                <c:v>57.3</c:v>
              </c:pt>
              <c:pt idx="53">
                <c:v>57.7</c:v>
              </c:pt>
              <c:pt idx="54">
                <c:v>58</c:v>
              </c:pt>
              <c:pt idx="55">
                <c:v>58.3</c:v>
              </c:pt>
              <c:pt idx="56">
                <c:v>58.7</c:v>
              </c:pt>
              <c:pt idx="57">
                <c:v>59</c:v>
              </c:pt>
              <c:pt idx="58">
                <c:v>59.3</c:v>
              </c:pt>
              <c:pt idx="59">
                <c:v>59.7</c:v>
              </c:pt>
              <c:pt idx="60">
                <c:v>60</c:v>
              </c:pt>
            </c:numLit>
          </c:cat>
          <c:val>
            <c:numLit>
              <c:formatCode>General</c:formatCode>
              <c:ptCount val="6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1.0000000000000001E-5</c:v>
              </c:pt>
              <c:pt idx="18">
                <c:v>6.0000000000000002E-5</c:v>
              </c:pt>
              <c:pt idx="19">
                <c:v>2.4000000000000001E-4</c:v>
              </c:pt>
              <c:pt idx="20">
                <c:v>8.8000000000000003E-4</c:v>
              </c:pt>
              <c:pt idx="21">
                <c:v>2.8300000000000001E-3</c:v>
              </c:pt>
              <c:pt idx="22">
                <c:v>8.09E-3</c:v>
              </c:pt>
              <c:pt idx="23">
                <c:v>2.043E-2</c:v>
              </c:pt>
              <c:pt idx="24">
                <c:v>4.5569999999999999E-2</c:v>
              </c:pt>
              <c:pt idx="25">
                <c:v>8.9859999999999995E-2</c:v>
              </c:pt>
              <c:pt idx="26">
                <c:v>0.15662000000000001</c:v>
              </c:pt>
              <c:pt idx="27">
                <c:v>0.24127999999999999</c:v>
              </c:pt>
              <c:pt idx="28">
                <c:v>0.32851999999999998</c:v>
              </c:pt>
              <c:pt idx="29">
                <c:v>0.39534999999999998</c:v>
              </c:pt>
              <c:pt idx="30">
                <c:v>0.42052</c:v>
              </c:pt>
              <c:pt idx="31">
                <c:v>0.39534999999999998</c:v>
              </c:pt>
              <c:pt idx="32">
                <c:v>0.32851999999999998</c:v>
              </c:pt>
              <c:pt idx="33">
                <c:v>0.24127999999999999</c:v>
              </c:pt>
              <c:pt idx="34">
                <c:v>0.15662000000000001</c:v>
              </c:pt>
              <c:pt idx="35">
                <c:v>8.9859999999999995E-2</c:v>
              </c:pt>
              <c:pt idx="36">
                <c:v>4.5569999999999999E-2</c:v>
              </c:pt>
              <c:pt idx="37">
                <c:v>2.043E-2</c:v>
              </c:pt>
              <c:pt idx="38">
                <c:v>8.09E-3</c:v>
              </c:pt>
              <c:pt idx="39">
                <c:v>2.8300000000000001E-3</c:v>
              </c:pt>
              <c:pt idx="40">
                <c:v>8.8000000000000003E-4</c:v>
              </c:pt>
              <c:pt idx="41">
                <c:v>2.4000000000000001E-4</c:v>
              </c:pt>
              <c:pt idx="42">
                <c:v>6.0000000000000002E-5</c:v>
              </c:pt>
              <c:pt idx="43">
                <c:v>1.0000000000000001E-5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192A-B543-A852-2AB326792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Sample mean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2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B = 100</c:v>
          </c:tx>
          <c:spPr>
            <a:ln w="38100">
              <a:solidFill>
                <a:srgbClr val="F2650D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F2650D"/>
              </a:solidFill>
            </c:spPr>
          </c:marker>
          <c:cat>
            <c:numLit>
              <c:formatCode>General</c:formatCode>
              <c:ptCount val="18"/>
              <c:pt idx="0">
                <c:v>5.17</c:v>
              </c:pt>
              <c:pt idx="1">
                <c:v>5.5</c:v>
              </c:pt>
              <c:pt idx="2">
                <c:v>5.83</c:v>
              </c:pt>
              <c:pt idx="3">
                <c:v>6.17</c:v>
              </c:pt>
              <c:pt idx="4">
                <c:v>6.5</c:v>
              </c:pt>
              <c:pt idx="5">
                <c:v>6.83</c:v>
              </c:pt>
              <c:pt idx="6">
                <c:v>7.17</c:v>
              </c:pt>
              <c:pt idx="7">
                <c:v>7.5</c:v>
              </c:pt>
              <c:pt idx="8">
                <c:v>7.83</c:v>
              </c:pt>
              <c:pt idx="9">
                <c:v>8.17</c:v>
              </c:pt>
              <c:pt idx="10">
                <c:v>8.5</c:v>
              </c:pt>
              <c:pt idx="11">
                <c:v>8.83</c:v>
              </c:pt>
              <c:pt idx="12">
                <c:v>9.17</c:v>
              </c:pt>
              <c:pt idx="13">
                <c:v>9.5</c:v>
              </c:pt>
              <c:pt idx="14">
                <c:v>9.83</c:v>
              </c:pt>
              <c:pt idx="15">
                <c:v>10.17</c:v>
              </c:pt>
              <c:pt idx="16">
                <c:v>10.5</c:v>
              </c:pt>
              <c:pt idx="17">
                <c:v>10.83</c:v>
              </c:pt>
            </c:numLit>
          </c:cat>
          <c:val>
            <c:numLit>
              <c:formatCode>General</c:formatCode>
              <c:ptCount val="18"/>
              <c:pt idx="0">
                <c:v>0</c:v>
              </c:pt>
              <c:pt idx="1">
                <c:v>0</c:v>
              </c:pt>
              <c:pt idx="2">
                <c:v>0.03</c:v>
              </c:pt>
              <c:pt idx="3">
                <c:v>0.05</c:v>
              </c:pt>
              <c:pt idx="4">
                <c:v>0.03</c:v>
              </c:pt>
              <c:pt idx="5">
                <c:v>0.1</c:v>
              </c:pt>
              <c:pt idx="6">
                <c:v>0.1</c:v>
              </c:pt>
              <c:pt idx="7">
                <c:v>7.0000000000000007E-2</c:v>
              </c:pt>
              <c:pt idx="8">
                <c:v>0.14000000000000001</c:v>
              </c:pt>
              <c:pt idx="9">
                <c:v>0.14000000000000001</c:v>
              </c:pt>
              <c:pt idx="10">
                <c:v>0.06</c:v>
              </c:pt>
              <c:pt idx="11">
                <c:v>0.08</c:v>
              </c:pt>
              <c:pt idx="12">
                <c:v>7.0000000000000007E-2</c:v>
              </c:pt>
              <c:pt idx="13">
                <c:v>0.02</c:v>
              </c:pt>
              <c:pt idx="14">
                <c:v>0.04</c:v>
              </c:pt>
              <c:pt idx="15">
                <c:v>0.02</c:v>
              </c:pt>
              <c:pt idx="16">
                <c:v>0.02</c:v>
              </c:pt>
              <c:pt idx="17">
                <c:v>0.02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7B95-724C-8060-BB15B4BE7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Mean, n = 25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1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Proportion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B = 10,000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5.17</c:v>
              </c:pt>
              <c:pt idx="1">
                <c:v>5.5</c:v>
              </c:pt>
              <c:pt idx="2">
                <c:v>5.83</c:v>
              </c:pt>
              <c:pt idx="3">
                <c:v>6.17</c:v>
              </c:pt>
              <c:pt idx="4">
                <c:v>6.5</c:v>
              </c:pt>
              <c:pt idx="5">
                <c:v>6.83</c:v>
              </c:pt>
              <c:pt idx="6">
                <c:v>7.17</c:v>
              </c:pt>
              <c:pt idx="7">
                <c:v>7.5</c:v>
              </c:pt>
              <c:pt idx="8">
                <c:v>7.83</c:v>
              </c:pt>
              <c:pt idx="9">
                <c:v>8.17</c:v>
              </c:pt>
              <c:pt idx="10">
                <c:v>8.5</c:v>
              </c:pt>
              <c:pt idx="11">
                <c:v>8.83</c:v>
              </c:pt>
              <c:pt idx="12">
                <c:v>9.17</c:v>
              </c:pt>
              <c:pt idx="13">
                <c:v>9.5</c:v>
              </c:pt>
              <c:pt idx="14">
                <c:v>9.83</c:v>
              </c:pt>
              <c:pt idx="15">
                <c:v>10.17</c:v>
              </c:pt>
              <c:pt idx="16">
                <c:v>10.5</c:v>
              </c:pt>
              <c:pt idx="17">
                <c:v>10.83</c:v>
              </c:pt>
            </c:numLit>
          </c:cat>
          <c:val>
            <c:numLit>
              <c:formatCode>General</c:formatCode>
              <c:ptCount val="18"/>
              <c:pt idx="0">
                <c:v>2.8999999999999998E-3</c:v>
              </c:pt>
              <c:pt idx="1">
                <c:v>8.0999999999999996E-3</c:v>
              </c:pt>
              <c:pt idx="2">
                <c:v>1.7500000000000002E-2</c:v>
              </c:pt>
              <c:pt idx="3">
                <c:v>3.5299999999999998E-2</c:v>
              </c:pt>
              <c:pt idx="4">
                <c:v>5.33E-2</c:v>
              </c:pt>
              <c:pt idx="5">
                <c:v>7.7299999999999994E-2</c:v>
              </c:pt>
              <c:pt idx="6">
                <c:v>9.5500000000000002E-2</c:v>
              </c:pt>
              <c:pt idx="7">
                <c:v>0.1101</c:v>
              </c:pt>
              <c:pt idx="8">
                <c:v>0.111</c:v>
              </c:pt>
              <c:pt idx="9">
                <c:v>0.1116</c:v>
              </c:pt>
              <c:pt idx="10">
                <c:v>9.9099999999999994E-2</c:v>
              </c:pt>
              <c:pt idx="11">
                <c:v>8.2900000000000001E-2</c:v>
              </c:pt>
              <c:pt idx="12">
                <c:v>6.9000000000000006E-2</c:v>
              </c:pt>
              <c:pt idx="13">
                <c:v>4.6300000000000001E-2</c:v>
              </c:pt>
              <c:pt idx="14">
                <c:v>3.09E-2</c:v>
              </c:pt>
              <c:pt idx="15">
                <c:v>2.1499999999999998E-2</c:v>
              </c:pt>
              <c:pt idx="16">
                <c:v>1.2200000000000001E-2</c:v>
              </c:pt>
              <c:pt idx="17">
                <c:v>7.1000000000000004E-3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C08-AB4B-AE4E-FBDE2CE62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Mean, n = 25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1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7324D"/>
                    </a:solidFill>
                  </a:rPr>
                  <a:t>Proportion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Bootstrap means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4.13</c:v>
              </c:pt>
              <c:pt idx="1">
                <c:v>4.38</c:v>
              </c:pt>
              <c:pt idx="2">
                <c:v>4.63</c:v>
              </c:pt>
              <c:pt idx="3">
                <c:v>4.88</c:v>
              </c:pt>
              <c:pt idx="4">
                <c:v>5.13</c:v>
              </c:pt>
              <c:pt idx="5">
                <c:v>5.38</c:v>
              </c:pt>
              <c:pt idx="6">
                <c:v>5.63</c:v>
              </c:pt>
              <c:pt idx="7">
                <c:v>5.88</c:v>
              </c:pt>
              <c:pt idx="8">
                <c:v>6.13</c:v>
              </c:pt>
              <c:pt idx="9">
                <c:v>6.38</c:v>
              </c:pt>
              <c:pt idx="10">
                <c:v>6.63</c:v>
              </c:pt>
              <c:pt idx="11">
                <c:v>6.88</c:v>
              </c:pt>
              <c:pt idx="12">
                <c:v>7.13</c:v>
              </c:pt>
              <c:pt idx="13">
                <c:v>7.38</c:v>
              </c:pt>
              <c:pt idx="14">
                <c:v>7.63</c:v>
              </c:pt>
              <c:pt idx="15">
                <c:v>7.88</c:v>
              </c:pt>
              <c:pt idx="16">
                <c:v>8.1300000000000008</c:v>
              </c:pt>
              <c:pt idx="17">
                <c:v>8.3800000000000008</c:v>
              </c:pt>
              <c:pt idx="18">
                <c:v>8.6300000000000008</c:v>
              </c:pt>
              <c:pt idx="19">
                <c:v>8.8800000000000008</c:v>
              </c:pt>
              <c:pt idx="20">
                <c:v>9.1300000000000008</c:v>
              </c:pt>
              <c:pt idx="21">
                <c:v>9.3800000000000008</c:v>
              </c:pt>
              <c:pt idx="22">
                <c:v>9.6300000000000008</c:v>
              </c:pt>
              <c:pt idx="23">
                <c:v>9.8800000000000008</c:v>
              </c:pt>
            </c:numLit>
          </c:cat>
          <c:val>
            <c:numLit>
              <c:formatCode>General</c:formatCode>
              <c:ptCount val="2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2.0000000000000001E-4</c:v>
              </c:pt>
              <c:pt idx="5">
                <c:v>1.4E-3</c:v>
              </c:pt>
              <c:pt idx="6">
                <c:v>4.1999999999999997E-3</c:v>
              </c:pt>
              <c:pt idx="7">
                <c:v>8.8000000000000005E-3</c:v>
              </c:pt>
              <c:pt idx="8">
                <c:v>2.0400000000000001E-2</c:v>
              </c:pt>
              <c:pt idx="9">
                <c:v>3.3000000000000002E-2</c:v>
              </c:pt>
              <c:pt idx="10">
                <c:v>5.7200000000000001E-2</c:v>
              </c:pt>
              <c:pt idx="11">
                <c:v>8.8200000000000001E-2</c:v>
              </c:pt>
              <c:pt idx="12">
                <c:v>0.11020000000000001</c:v>
              </c:pt>
              <c:pt idx="13">
                <c:v>0.1232</c:v>
              </c:pt>
              <c:pt idx="14">
                <c:v>0.1258</c:v>
              </c:pt>
              <c:pt idx="15">
                <c:v>0.1084</c:v>
              </c:pt>
              <c:pt idx="16">
                <c:v>9.7199999999999995E-2</c:v>
              </c:pt>
              <c:pt idx="17">
                <c:v>7.3200000000000001E-2</c:v>
              </c:pt>
              <c:pt idx="18">
                <c:v>5.9400000000000001E-2</c:v>
              </c:pt>
              <c:pt idx="19">
                <c:v>3.4799999999999998E-2</c:v>
              </c:pt>
              <c:pt idx="20">
                <c:v>2.5999999999999999E-2</c:v>
              </c:pt>
              <c:pt idx="21">
                <c:v>1.6E-2</c:v>
              </c:pt>
              <c:pt idx="22">
                <c:v>7.1999999999999998E-3</c:v>
              </c:pt>
              <c:pt idx="23">
                <c:v>2.2000000000000001E-3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774-864A-BA83-DCA89257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Bootstrap sample mean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3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Proportion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>
              <a:srgbClr val="0076A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3B7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5"/>
              <c:pt idx="0">
                <c:v>0</c:v>
              </c:pt>
              <c:pt idx="1">
                <c:v>0.25</c:v>
              </c:pt>
              <c:pt idx="2">
                <c:v>0.5</c:v>
              </c:pt>
              <c:pt idx="3">
                <c:v>0.75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6.25E-2</c:v>
              </c:pt>
              <c:pt idx="1">
                <c:v>0.25</c:v>
              </c:pt>
              <c:pt idx="2">
                <c:v>0.375</c:v>
              </c:pt>
              <c:pt idx="3">
                <c:v>0.25</c:v>
              </c:pt>
              <c:pt idx="4">
                <c:v>6.25E-2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193-D84C-8FB4-063E950581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Sample proportion p̂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DCE6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Probability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E718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003B70"/>
                </a:solidFill>
              </a:rPr>
              <a:t>Individual vote 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Population probability</c:v>
          </c:tx>
          <c:spPr>
            <a:solidFill>
              <a:srgbClr val="00A6A6"/>
            </a:solidFill>
          </c:spPr>
          <c:invertIfNegative val="1"/>
          <c:cat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cat>
          <c:val>
            <c:numLit>
              <c:formatCode>0%</c:formatCode>
              <c:ptCount val="2"/>
              <c:pt idx="0">
                <c:v>0.36499999999999999</c:v>
              </c:pt>
              <c:pt idx="1">
                <c:v>0.63500000000000001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192-974B-A915-789CCFB01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Outcome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9525">
              <a:solidFill>
                <a:srgbClr val="DCE6EE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E718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003B70"/>
                </a:solidFill>
              </a:rPr>
              <a:t>Sample proportion p̂ (n=2,271)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Sampling distribution</c:v>
          </c:tx>
          <c:spPr>
            <a:ln w="28575">
              <a:solidFill>
                <a:srgbClr val="0076A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0.59499999999999997</c:v>
              </c:pt>
              <c:pt idx="1">
                <c:v>0.59699999999999998</c:v>
              </c:pt>
              <c:pt idx="2">
                <c:v>0.59899999999999998</c:v>
              </c:pt>
              <c:pt idx="3">
                <c:v>0.60099999999999998</c:v>
              </c:pt>
              <c:pt idx="4">
                <c:v>0.60299999999999998</c:v>
              </c:pt>
              <c:pt idx="5">
                <c:v>0.60499999999999998</c:v>
              </c:pt>
              <c:pt idx="6">
                <c:v>0.60699999999999998</c:v>
              </c:pt>
              <c:pt idx="7">
                <c:v>0.60899999999999999</c:v>
              </c:pt>
              <c:pt idx="8">
                <c:v>0.61099999999999999</c:v>
              </c:pt>
              <c:pt idx="9">
                <c:v>0.61299999999999999</c:v>
              </c:pt>
              <c:pt idx="10">
                <c:v>0.61499999999999999</c:v>
              </c:pt>
              <c:pt idx="11">
                <c:v>0.61699999999999999</c:v>
              </c:pt>
              <c:pt idx="12">
                <c:v>0.61899999999999999</c:v>
              </c:pt>
              <c:pt idx="13">
                <c:v>0.621</c:v>
              </c:pt>
              <c:pt idx="14">
                <c:v>0.623</c:v>
              </c:pt>
              <c:pt idx="15">
                <c:v>0.625</c:v>
              </c:pt>
              <c:pt idx="16">
                <c:v>0.627</c:v>
              </c:pt>
              <c:pt idx="17">
                <c:v>0.629</c:v>
              </c:pt>
              <c:pt idx="18">
                <c:v>0.63100000000000001</c:v>
              </c:pt>
              <c:pt idx="19">
                <c:v>0.63300000000000001</c:v>
              </c:pt>
              <c:pt idx="20">
                <c:v>0.63500000000000001</c:v>
              </c:pt>
              <c:pt idx="21">
                <c:v>0.63700000000000001</c:v>
              </c:pt>
              <c:pt idx="22">
                <c:v>0.63900000000000001</c:v>
              </c:pt>
              <c:pt idx="23">
                <c:v>0.64100000000000001</c:v>
              </c:pt>
              <c:pt idx="24">
                <c:v>0.64300000000000002</c:v>
              </c:pt>
              <c:pt idx="25">
                <c:v>0.64500000000000002</c:v>
              </c:pt>
              <c:pt idx="26">
                <c:v>0.64700000000000002</c:v>
              </c:pt>
              <c:pt idx="27">
                <c:v>0.64900000000000002</c:v>
              </c:pt>
              <c:pt idx="28">
                <c:v>0.65100000000000002</c:v>
              </c:pt>
              <c:pt idx="29">
                <c:v>0.65300000000000002</c:v>
              </c:pt>
              <c:pt idx="30">
                <c:v>0.65500000000000003</c:v>
              </c:pt>
              <c:pt idx="31">
                <c:v>0.65700000000000003</c:v>
              </c:pt>
              <c:pt idx="32">
                <c:v>0.65900000000000003</c:v>
              </c:pt>
              <c:pt idx="33">
                <c:v>0.66100000000000003</c:v>
              </c:pt>
              <c:pt idx="34">
                <c:v>0.66300000000000003</c:v>
              </c:pt>
              <c:pt idx="35">
                <c:v>0.66500000000000004</c:v>
              </c:pt>
              <c:pt idx="36">
                <c:v>0.66700000000000004</c:v>
              </c:pt>
              <c:pt idx="37">
                <c:v>0.66900000000000004</c:v>
              </c:pt>
              <c:pt idx="38">
                <c:v>0.67100000000000004</c:v>
              </c:pt>
              <c:pt idx="39">
                <c:v>0.67300000000000004</c:v>
              </c:pt>
              <c:pt idx="40">
                <c:v>0.67500000000000004</c:v>
              </c:pt>
            </c:numLit>
          </c:cat>
          <c:val>
            <c:numLit>
              <c:formatCode>General</c:formatCode>
              <c:ptCount val="41"/>
              <c:pt idx="0">
                <c:v>1.5558003047027296E-2</c:v>
              </c:pt>
              <c:pt idx="1">
                <c:v>3.3411607046308564E-2</c:v>
              </c:pt>
              <c:pt idx="2">
                <c:v>6.8995081756068583E-2</c:v>
              </c:pt>
              <c:pt idx="3">
                <c:v>0.13699860909751579</c:v>
              </c:pt>
              <c:pt idx="4">
                <c:v>0.26157211140023923</c:v>
              </c:pt>
              <c:pt idx="5">
                <c:v>0.48022412492686606</c:v>
              </c:pt>
              <c:pt idx="6">
                <c:v>0.84776164770636264</c:v>
              </c:pt>
              <c:pt idx="7">
                <c:v>1.4390663322916735</c:v>
              </c:pt>
              <c:pt idx="8">
                <c:v>2.3489031799412916</c:v>
              </c:pt>
              <c:pt idx="9">
                <c:v>3.6866055680792429</c:v>
              </c:pt>
              <c:pt idx="10">
                <c:v>5.5637228662903997</c:v>
              </c:pt>
              <c:pt idx="11">
                <c:v>8.0738664160664246</c:v>
              </c:pt>
              <c:pt idx="12">
                <c:v>11.266133306931717</c:v>
              </c:pt>
              <c:pt idx="13">
                <c:v>15.11629878856167</c:v>
              </c:pt>
              <c:pt idx="14">
                <c:v>19.502635555212745</c:v>
              </c:pt>
              <c:pt idx="15">
                <c:v>24.194597330050996</c:v>
              </c:pt>
              <c:pt idx="16">
                <c:v>28.861622878714734</c:v>
              </c:pt>
              <c:pt idx="17">
                <c:v>33.105515323078436</c:v>
              </c:pt>
              <c:pt idx="18">
                <c:v>36.513815193966508</c:v>
              </c:pt>
              <c:pt idx="19">
                <c:v>38.72499135874849</c:v>
              </c:pt>
              <c:pt idx="20">
                <c:v>39.491415601012939</c:v>
              </c:pt>
              <c:pt idx="21">
                <c:v>38.72499135874849</c:v>
              </c:pt>
              <c:pt idx="22">
                <c:v>36.513815193966508</c:v>
              </c:pt>
              <c:pt idx="23">
                <c:v>33.105515323078436</c:v>
              </c:pt>
              <c:pt idx="24">
                <c:v>28.861622878714734</c:v>
              </c:pt>
              <c:pt idx="25">
                <c:v>24.194597330050996</c:v>
              </c:pt>
              <c:pt idx="26">
                <c:v>19.502635555212745</c:v>
              </c:pt>
              <c:pt idx="27">
                <c:v>15.11629878856167</c:v>
              </c:pt>
              <c:pt idx="28">
                <c:v>11.266133306931717</c:v>
              </c:pt>
              <c:pt idx="29">
                <c:v>8.0738664160664246</c:v>
              </c:pt>
              <c:pt idx="30">
                <c:v>5.5637228662903997</c:v>
              </c:pt>
              <c:pt idx="31">
                <c:v>3.6866055680792429</c:v>
              </c:pt>
              <c:pt idx="32">
                <c:v>2.3489031799412916</c:v>
              </c:pt>
              <c:pt idx="33">
                <c:v>1.4390663322916735</c:v>
              </c:pt>
              <c:pt idx="34">
                <c:v>0.84776164770636264</c:v>
              </c:pt>
              <c:pt idx="35">
                <c:v>0.48022412492686606</c:v>
              </c:pt>
              <c:pt idx="36">
                <c:v>0.26157211140023923</c:v>
              </c:pt>
              <c:pt idx="37">
                <c:v>0.13699860909752065</c:v>
              </c:pt>
              <c:pt idx="38">
                <c:v>6.8995081756071344E-2</c:v>
              </c:pt>
              <c:pt idx="39">
                <c:v>3.3411607046309959E-2</c:v>
              </c:pt>
              <c:pt idx="40">
                <c:v>1.5558003047027945E-2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1B6-4942-BCCB-D014088D0A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p̂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AB2681-59DE-4392-92B8-42AB3FF4939A}"/>
              </a:ext>
            </a:extLst>
          </p:cNvPr>
          <p:cNvSpPr>
            <a:spLocks noGrp="1"/>
          </p:cNvSpPr>
          <p:nvPr/>
        </p:nvSpPr>
        <p:spPr>
          <a:xfrm>
            <a:off x="0" y="5962650"/>
            <a:ext cx="12192000" cy="895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892A5D-7CF7-45D7-8D69-43E97B2D43F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AAI 500  ·  WEEK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A0CE9-F6E9-46F3-9B83-700F7FB858A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7239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5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Sampling Distributions</a:t>
            </a:r>
          </a:p>
          <a:p>
            <a:pPr algn="l">
              <a:buNone/>
              <a:defRPr sz="5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and Simulations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22D08E-E70C-4C63-B6FA-0C6C2AFE72A7}"/>
              </a:ext>
            </a:extLst>
          </p:cNvPr>
          <p:cNvSpPr>
            <a:spLocks noGrp="1"/>
          </p:cNvSpPr>
          <p:nvPr/>
        </p:nvSpPr>
        <p:spPr>
          <a:xfrm>
            <a:off x="714375" y="33909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Random sampling · Standard error · Central Limit Theorem · Bootstrap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77975D-FCC2-47D6-BE46-862C272B1510}"/>
              </a:ext>
            </a:extLst>
          </p:cNvPr>
          <p:cNvSpPr>
            <a:spLocks noGrp="1"/>
          </p:cNvSpPr>
          <p:nvPr/>
        </p:nvSpPr>
        <p:spPr>
          <a:xfrm>
            <a:off x="714375" y="40957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Daniel Smith, PhD, MBA  | 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ACDE1-98EF-4A93-AE59-AB6696FA77FB}"/>
              </a:ext>
            </a:extLst>
          </p:cNvPr>
          <p:cNvSpPr>
            <a:spLocks noGrp="1"/>
          </p:cNvSpPr>
          <p:nvPr/>
        </p:nvSpPr>
        <p:spPr>
          <a:xfrm>
            <a:off x="8572500" y="685800"/>
            <a:ext cx="2381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737"/>
          </a:bodyPr>
          <a:lstStyle/>
          <a:p>
            <a:pPr algn="ctr">
              <a:buNone/>
              <a:defRPr sz="142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42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7715250" y="3124200"/>
          <a:ext cx="3619500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A3AA4A-0515-4099-AA17-A4E3C7F73320}"/>
              </a:ext>
            </a:extLst>
          </p:cNvPr>
          <p:cNvSpPr>
            <a:spLocks noGrp="1"/>
          </p:cNvSpPr>
          <p:nvPr/>
        </p:nvSpPr>
        <p:spPr>
          <a:xfrm>
            <a:off x="7562850" y="521970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buNone/>
              <a:def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sample is a result. A sampling distribution reveals its reliability.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34500" y="6184442"/>
            <a:ext cx="2266950" cy="52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7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OPENING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5D6F8B-2CBA-47CA-9DE0-016CEAAD5CB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small validation sample can reverse the model ranking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7197E-D011-4B81-89CC-A3EC176125C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Underlying performance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11E81-091F-4A45-8491-F651D3B0C11C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Logistic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28652-8243-4C9A-992A-743DBF4394D3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0.85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9B74F-5F15-4B5B-ABFD-4E5FBC73CDB1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Ensemble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A52FE-2E8D-42DE-9EB8-0766245D136C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0.88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2ADC72F-3439-49A8-87BD-23D4E9A9B67E}"/>
              </a:ext>
            </a:extLst>
          </p:cNvPr>
          <p:cNvSpPr>
            <a:spLocks noGrp="1"/>
          </p:cNvSpPr>
          <p:nvPr/>
        </p:nvSpPr>
        <p:spPr>
          <a:xfrm>
            <a:off x="5238750" y="1562100"/>
            <a:ext cx="5924550" cy="2933700"/>
          </a:xfrm>
          <a:prstGeom prst="roundRect">
            <a:avLst>
              <a:gd name="adj" fmla="val 779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815955-87CE-4FAC-9673-F1BEB97D3A7D}"/>
              </a:ext>
            </a:extLst>
          </p:cNvPr>
          <p:cNvSpPr>
            <a:spLocks noGrp="1"/>
          </p:cNvSpPr>
          <p:nvPr/>
        </p:nvSpPr>
        <p:spPr>
          <a:xfrm>
            <a:off x="5753100" y="1885950"/>
            <a:ext cx="489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One illustrative n = 50 validation draw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BB8764-9709-41A6-A4E2-B035EB15CD60}"/>
              </a:ext>
            </a:extLst>
          </p:cNvPr>
          <p:cNvSpPr>
            <a:spLocks noGrp="1"/>
          </p:cNvSpPr>
          <p:nvPr/>
        </p:nvSpPr>
        <p:spPr>
          <a:xfrm>
            <a:off x="5943600" y="26860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Logistic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A9D02-05EC-448C-8E54-288AD6780AB8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0.90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AA317-BAD1-4C55-B884-D99736A52931}"/>
              </a:ext>
            </a:extLst>
          </p:cNvPr>
          <p:cNvSpPr>
            <a:spLocks noGrp="1"/>
          </p:cNvSpPr>
          <p:nvPr/>
        </p:nvSpPr>
        <p:spPr>
          <a:xfrm>
            <a:off x="5943600" y="35052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Ensemble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00BEA3-14B1-463A-9022-FDEC2A8F9B4B}"/>
              </a:ext>
            </a:extLst>
          </p:cNvPr>
          <p:cNvSpPr>
            <a:spLocks noGrp="1"/>
          </p:cNvSpPr>
          <p:nvPr/>
        </p:nvSpPr>
        <p:spPr>
          <a:xfrm>
            <a:off x="7791450" y="33147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0.84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B88F9B-0630-4FCA-BFA6-9577CFF961A9}"/>
              </a:ext>
            </a:extLst>
          </p:cNvPr>
          <p:cNvSpPr>
            <a:spLocks noGrp="1"/>
          </p:cNvSpPr>
          <p:nvPr/>
        </p:nvSpPr>
        <p:spPr>
          <a:xfrm>
            <a:off x="7543800" y="39624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4161"/>
          </a:bodyPr>
          <a:lstStyle/>
          <a:p>
            <a:pPr algn="ctr">
              <a:buNone/>
              <a:defRPr sz="1650" b="0" i="1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1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Which ranking should drive deployment?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79824-B915-4EDB-9CE0-978C3F05A23A}"/>
              </a:ext>
            </a:extLst>
          </p:cNvPr>
          <p:cNvSpPr>
            <a:spLocks noGrp="1"/>
          </p:cNvSpPr>
          <p:nvPr/>
        </p:nvSpPr>
        <p:spPr>
          <a:xfrm>
            <a:off x="1447800" y="4819650"/>
            <a:ext cx="929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score is not the decision. Its sampling variability belongs in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793CDF3-793B-4283-AB07-823A1574E6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07D775-A016-45B6-B34B-D5DAA6112E3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A7B63-6029-4E59-BD67-331A44D1509E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68E677-5781-4C59-AD74-E7684133FAD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0C3F8-0F23-4CEE-93B7-62A5EFEE27B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A53B7-A8FF-49FE-8388-CF3D6DF6BBC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ORIENTATION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4D9089-C686-4D5F-8586-9F66F8FCCA2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2B529E-EE15-4DB2-9BC8-1B4D36F24FA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6542C-F2E7-461B-B246-279CC5712F1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869DAF-D1B9-472E-B7F9-30E220F94D4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Week 3 turns repeated samples into evidence about reliability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3DDA57-9025-4A2C-A792-A194FD2D683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666750" cy="6667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D7E504-FBDA-4994-A697-9CF6BD53E18A}"/>
              </a:ext>
            </a:extLst>
          </p:cNvPr>
          <p:cNvSpPr>
            <a:spLocks noGrp="1"/>
          </p:cNvSpPr>
          <p:nvPr/>
        </p:nvSpPr>
        <p:spPr>
          <a:xfrm>
            <a:off x="895350" y="16478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95C28-664B-4815-9DA4-1AB83598CD55}"/>
              </a:ext>
            </a:extLst>
          </p:cNvPr>
          <p:cNvSpPr>
            <a:spLocks noGrp="1"/>
          </p:cNvSpPr>
          <p:nvPr/>
        </p:nvSpPr>
        <p:spPr>
          <a:xfrm>
            <a:off x="1962150" y="15811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Generate random samples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488A14-638F-4C81-A531-4E6CA25F65C3}"/>
              </a:ext>
            </a:extLst>
          </p:cNvPr>
          <p:cNvSpPr>
            <a:spLocks noGrp="1"/>
          </p:cNvSpPr>
          <p:nvPr/>
        </p:nvSpPr>
        <p:spPr>
          <a:xfrm>
            <a:off x="6743700" y="158115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Calculate and interpret descriptive statistics.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5B32F7-6EBC-4EC7-8E34-DAB42443CE1C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666750" cy="66675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8B598-BFDD-428D-B73E-8E75623A2F97}"/>
              </a:ext>
            </a:extLst>
          </p:cNvPr>
          <p:cNvSpPr>
            <a:spLocks noGrp="1"/>
          </p:cNvSpPr>
          <p:nvPr/>
        </p:nvSpPr>
        <p:spPr>
          <a:xfrm>
            <a:off x="895350" y="284797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82FF6-6BC1-4E2E-9128-5C24B7F951AC}"/>
              </a:ext>
            </a:extLst>
          </p:cNvPr>
          <p:cNvSpPr>
            <a:spLocks noGrp="1"/>
          </p:cNvSpPr>
          <p:nvPr/>
        </p:nvSpPr>
        <p:spPr>
          <a:xfrm>
            <a:off x="1962150" y="278130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Explain the Central Limit Theorem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8E42B-0D70-446E-B55F-5A110646629E}"/>
              </a:ext>
            </a:extLst>
          </p:cNvPr>
          <p:cNvSpPr>
            <a:spLocks noGrp="1"/>
          </p:cNvSpPr>
          <p:nvPr/>
        </p:nvSpPr>
        <p:spPr>
          <a:xfrm>
            <a:off x="6743700" y="278130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Connect sample size, shape, center, and standard error.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23429A9-71CC-455B-93CC-7515E5441AE4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666750" cy="666750"/>
          </a:xfrm>
          <a:prstGeom prst="ellipse">
            <a:avLst/>
          </a:prstGeom>
          <a:solidFill>
            <a:srgbClr val="6AA1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BA130C-0354-493C-A69B-9CB22194FFDD}"/>
              </a:ext>
            </a:extLst>
          </p:cNvPr>
          <p:cNvSpPr>
            <a:spLocks noGrp="1"/>
          </p:cNvSpPr>
          <p:nvPr/>
        </p:nvSpPr>
        <p:spPr>
          <a:xfrm>
            <a:off x="895350" y="4048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555A51-4901-4878-9B7D-5070A758C878}"/>
              </a:ext>
            </a:extLst>
          </p:cNvPr>
          <p:cNvSpPr>
            <a:spLocks noGrp="1"/>
          </p:cNvSpPr>
          <p:nvPr/>
        </p:nvSpPr>
        <p:spPr>
          <a:xfrm>
            <a:off x="1962150" y="39814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Simulate a sampling distribution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BA9AB-1537-447D-8457-126A198C58BE}"/>
              </a:ext>
            </a:extLst>
          </p:cNvPr>
          <p:cNvSpPr>
            <a:spLocks noGrp="1"/>
          </p:cNvSpPr>
          <p:nvPr/>
        </p:nvSpPr>
        <p:spPr>
          <a:xfrm>
            <a:off x="6743700" y="398145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Python for means, proportions, and bootstrap statistics.</a:t>
            </a:r>
          </a:p>
        </p:txBody>
      </p:sp>
    </p:spTree>
    <p:extLst>
      <p:ext uri="{BB962C8B-B14F-4D97-AF65-F5344CB8AC3E}">
        <p14:creationId xmlns:p14="http://schemas.microsoft.com/office/powerpoint/2010/main" val="51643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CAAF518-79FA-492C-9B0E-092C1D7CEE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82337-C0EE-47B1-9051-5EFBAAC2361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22AE7-B3FE-48FC-94B1-464D4BE3CE59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4E23B5-B264-47E0-8AF9-2725A962534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6277F7-D25C-41D6-A234-C2AEBDDAC9FC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13BA5-C811-4EF8-B21A-8FD46F24E86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ORIENTATION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BC0674-4056-445C-B14B-6EF79ADBB1BE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8BF96F-6C01-435F-825A-D6C3A7159AE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7C69F4-2A1E-4CC0-A3D4-F70AC222A13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622725-6F32-4071-A6DD-5C1DB687F22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Follow the estimate from one sample to a defensible 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56596-4623-486C-8FD9-051DC2E3B6D5}"/>
              </a:ext>
            </a:extLst>
          </p:cNvPr>
          <p:cNvSpPr>
            <a:spLocks noGrp="1"/>
          </p:cNvSpPr>
          <p:nvPr/>
        </p:nvSpPr>
        <p:spPr>
          <a:xfrm>
            <a:off x="1390650" y="2647950"/>
            <a:ext cx="9334500" cy="3810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6DB934-636B-4CB3-B380-2EA4DD5295B8}"/>
              </a:ext>
            </a:extLst>
          </p:cNvPr>
          <p:cNvSpPr>
            <a:spLocks noGrp="1"/>
          </p:cNvSpPr>
          <p:nvPr/>
        </p:nvSpPr>
        <p:spPr>
          <a:xfrm>
            <a:off x="1485900" y="2247900"/>
            <a:ext cx="781050" cy="7810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7A7B3-AC1F-4095-85C5-56686352E24A}"/>
              </a:ext>
            </a:extLst>
          </p:cNvPr>
          <p:cNvSpPr>
            <a:spLocks noGrp="1"/>
          </p:cNvSpPr>
          <p:nvPr/>
        </p:nvSpPr>
        <p:spPr>
          <a:xfrm>
            <a:off x="1485900" y="22288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E6B05-A67E-47C3-A25B-824D8DFC58B4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F61EF0-54B2-4F38-8776-EDEF06C41BF0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21145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Select observations using a design that supports generalization.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0950AD-FA9D-41A5-BE67-203697784704}"/>
              </a:ext>
            </a:extLst>
          </p:cNvPr>
          <p:cNvSpPr>
            <a:spLocks noGrp="1"/>
          </p:cNvSpPr>
          <p:nvPr/>
        </p:nvSpPr>
        <p:spPr>
          <a:xfrm>
            <a:off x="4286250" y="2247900"/>
            <a:ext cx="781050" cy="78105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614199-A25B-43BE-8615-A735C6FC9B14}"/>
              </a:ext>
            </a:extLst>
          </p:cNvPr>
          <p:cNvSpPr>
            <a:spLocks noGrp="1"/>
          </p:cNvSpPr>
          <p:nvPr/>
        </p:nvSpPr>
        <p:spPr>
          <a:xfrm>
            <a:off x="4286250" y="22288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E65E73-3B6E-46B8-9085-62789FEFDB4F}"/>
              </a:ext>
            </a:extLst>
          </p:cNvPr>
          <p:cNvSpPr>
            <a:spLocks noGrp="1"/>
          </p:cNvSpPr>
          <p:nvPr/>
        </p:nvSpPr>
        <p:spPr>
          <a:xfrm>
            <a:off x="3619500" y="32575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Summarize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FC4936-A4A9-4361-8206-78128BDF8036}"/>
              </a:ext>
            </a:extLst>
          </p:cNvPr>
          <p:cNvSpPr>
            <a:spLocks noGrp="1"/>
          </p:cNvSpPr>
          <p:nvPr/>
        </p:nvSpPr>
        <p:spPr>
          <a:xfrm>
            <a:off x="3619500" y="3752850"/>
            <a:ext cx="21145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Compute a statistic such as a mean, proportion, or model metric.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09FACCE-08CC-4589-9218-8B5AE63BAC25}"/>
              </a:ext>
            </a:extLst>
          </p:cNvPr>
          <p:cNvSpPr>
            <a:spLocks noGrp="1"/>
          </p:cNvSpPr>
          <p:nvPr/>
        </p:nvSpPr>
        <p:spPr>
          <a:xfrm>
            <a:off x="7086600" y="2247900"/>
            <a:ext cx="781050" cy="781050"/>
          </a:xfrm>
          <a:prstGeom prst="ellipse">
            <a:avLst/>
          </a:prstGeom>
          <a:solidFill>
            <a:srgbClr val="6AA1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61DB58-25EF-4926-8D57-2B76F33AC25D}"/>
              </a:ext>
            </a:extLst>
          </p:cNvPr>
          <p:cNvSpPr>
            <a:spLocks noGrp="1"/>
          </p:cNvSpPr>
          <p:nvPr/>
        </p:nvSpPr>
        <p:spPr>
          <a:xfrm>
            <a:off x="7086600" y="22288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7FDF2C-ABF9-4FE2-99F0-D9E225C1C6DD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Repeat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82819E-56D6-4666-92D6-43D138368A60}"/>
              </a:ext>
            </a:extLst>
          </p:cNvPr>
          <p:cNvSpPr>
            <a:spLocks noGrp="1"/>
          </p:cNvSpPr>
          <p:nvPr/>
        </p:nvSpPr>
        <p:spPr>
          <a:xfrm>
            <a:off x="6419850" y="3752850"/>
            <a:ext cx="21145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Construct or approximate the statistic's sampling distribution.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864EBF-54B7-4DF9-B6C6-9FC13B196F17}"/>
              </a:ext>
            </a:extLst>
          </p:cNvPr>
          <p:cNvSpPr>
            <a:spLocks noGrp="1"/>
          </p:cNvSpPr>
          <p:nvPr/>
        </p:nvSpPr>
        <p:spPr>
          <a:xfrm>
            <a:off x="9886950" y="2247900"/>
            <a:ext cx="781050" cy="7810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7E676C-BC22-4DD9-8347-62DDFB79ACEC}"/>
              </a:ext>
            </a:extLst>
          </p:cNvPr>
          <p:cNvSpPr>
            <a:spLocks noGrp="1"/>
          </p:cNvSpPr>
          <p:nvPr/>
        </p:nvSpPr>
        <p:spPr>
          <a:xfrm>
            <a:off x="9886950" y="22288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E8BB0F-9F04-4FA5-9969-617CA11657EE}"/>
              </a:ext>
            </a:extLst>
          </p:cNvPr>
          <p:cNvSpPr>
            <a:spLocks noGrp="1"/>
          </p:cNvSpPr>
          <p:nvPr/>
        </p:nvSpPr>
        <p:spPr>
          <a:xfrm>
            <a:off x="9220200" y="32575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Decide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C55DF4-F399-4718-BAF3-9302AF1C10A7}"/>
              </a:ext>
            </a:extLst>
          </p:cNvPr>
          <p:cNvSpPr>
            <a:spLocks noGrp="1"/>
          </p:cNvSpPr>
          <p:nvPr/>
        </p:nvSpPr>
        <p:spPr>
          <a:xfrm>
            <a:off x="9220200" y="3752850"/>
            <a:ext cx="21145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center, spread, bias, and assumptions to interpret reliability.</a:t>
            </a:r>
          </a:p>
        </p:txBody>
      </p:sp>
    </p:spTree>
    <p:extLst>
      <p:ext uri="{BB962C8B-B14F-4D97-AF65-F5344CB8AC3E}">
        <p14:creationId xmlns:p14="http://schemas.microsoft.com/office/powerpoint/2010/main" val="205057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4493519-2F50-4CE4-8F52-D5496A449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8065C-A369-43B3-9FF7-21D5169B292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98F08-737F-4DB6-A582-E060A052867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541BD-588A-4925-8DA9-78CF4301675A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E52B06-DBAE-4D7E-94E5-6BF4EAA8D438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8F13D-0D22-44FE-B5D3-2E3B1AC169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CH3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6A509-98EE-4BDD-8B29-8D8DF1C7D7F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2392A-E593-4673-83D2-D48BAE1EC3E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98ECB-8F03-4D1B-BAF0-2E35ABD5543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F6663D-A7D2-4923-A91D-CD6740F17C3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6469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Chapter 3 language: three distributions answer three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F1174-AC6C-46A6-BB04-C3CC7F20EE5E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614083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20717-A667-4244-B078-ADDCBCB9366D}"/>
              </a:ext>
            </a:extLst>
          </p:cNvPr>
          <p:cNvSpPr>
            <a:spLocks noGrp="1"/>
          </p:cNvSpPr>
          <p:nvPr/>
        </p:nvSpPr>
        <p:spPr>
          <a:xfrm>
            <a:off x="723900" y="1647825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Distribution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7F07A-1FF6-493D-B90C-8CD947983FBE}"/>
              </a:ext>
            </a:extLst>
          </p:cNvPr>
          <p:cNvSpPr>
            <a:spLocks noGrp="1"/>
          </p:cNvSpPr>
          <p:nvPr/>
        </p:nvSpPr>
        <p:spPr>
          <a:xfrm>
            <a:off x="3280833" y="1619250"/>
            <a:ext cx="3518958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9C09CC-EE18-4D2D-8EB6-50CD98AF6055}"/>
              </a:ext>
            </a:extLst>
          </p:cNvPr>
          <p:cNvSpPr>
            <a:spLocks noGrp="1"/>
          </p:cNvSpPr>
          <p:nvPr/>
        </p:nvSpPr>
        <p:spPr>
          <a:xfrm>
            <a:off x="3337983" y="1647825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varies?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385F8-188E-48CA-BEB4-4918A48135A6}"/>
              </a:ext>
            </a:extLst>
          </p:cNvPr>
          <p:cNvSpPr>
            <a:spLocks noGrp="1"/>
          </p:cNvSpPr>
          <p:nvPr/>
        </p:nvSpPr>
        <p:spPr>
          <a:xfrm>
            <a:off x="6799792" y="1619250"/>
            <a:ext cx="4725458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AB1B0E-2071-4FF9-B7DA-C43174F54D39}"/>
              </a:ext>
            </a:extLst>
          </p:cNvPr>
          <p:cNvSpPr>
            <a:spLocks noGrp="1"/>
          </p:cNvSpPr>
          <p:nvPr/>
        </p:nvSpPr>
        <p:spPr>
          <a:xfrm>
            <a:off x="6856942" y="1647825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Typical 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E039A4-0873-48D8-A1DC-836F5275C790}"/>
              </a:ext>
            </a:extLst>
          </p:cNvPr>
          <p:cNvSpPr>
            <a:spLocks noGrp="1"/>
          </p:cNvSpPr>
          <p:nvPr/>
        </p:nvSpPr>
        <p:spPr>
          <a:xfrm>
            <a:off x="666750" y="2414588"/>
            <a:ext cx="2614083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6AF66-2BF4-4C58-BDF9-46245E8A3D99}"/>
              </a:ext>
            </a:extLst>
          </p:cNvPr>
          <p:cNvSpPr>
            <a:spLocks noGrp="1"/>
          </p:cNvSpPr>
          <p:nvPr/>
        </p:nvSpPr>
        <p:spPr>
          <a:xfrm>
            <a:off x="723900" y="2443163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distribution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0C5B24-F306-458B-8A58-9905CFB2EF16}"/>
              </a:ext>
            </a:extLst>
          </p:cNvPr>
          <p:cNvSpPr>
            <a:spLocks noGrp="1"/>
          </p:cNvSpPr>
          <p:nvPr/>
        </p:nvSpPr>
        <p:spPr>
          <a:xfrm>
            <a:off x="3280833" y="2414588"/>
            <a:ext cx="35189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21CAC4-9B21-4921-8176-8E2F4120A146}"/>
              </a:ext>
            </a:extLst>
          </p:cNvPr>
          <p:cNvSpPr>
            <a:spLocks noGrp="1"/>
          </p:cNvSpPr>
          <p:nvPr/>
        </p:nvSpPr>
        <p:spPr>
          <a:xfrm>
            <a:off x="3337983" y="2443163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Individual outcomes 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971900-A8F4-451A-A69F-7D71F2B27C3B}"/>
              </a:ext>
            </a:extLst>
          </p:cNvPr>
          <p:cNvSpPr>
            <a:spLocks noGrp="1"/>
          </p:cNvSpPr>
          <p:nvPr/>
        </p:nvSpPr>
        <p:spPr>
          <a:xfrm>
            <a:off x="6799792" y="2414588"/>
            <a:ext cx="47254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DDD21-1F2F-4379-B277-E8D75F40BCC4}"/>
              </a:ext>
            </a:extLst>
          </p:cNvPr>
          <p:cNvSpPr>
            <a:spLocks noGrp="1"/>
          </p:cNvSpPr>
          <p:nvPr/>
        </p:nvSpPr>
        <p:spPr>
          <a:xfrm>
            <a:off x="6856942" y="2443163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values and probabilities exist in the population?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ED26F5-76CB-4B37-821C-BF2F333FAD7E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2614083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C17CF0-2020-487E-858D-F7AB01FC92D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Sample-data distribution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F9FDB9-17EA-410E-81AB-85FA4FAEA07B}"/>
              </a:ext>
            </a:extLst>
          </p:cNvPr>
          <p:cNvSpPr>
            <a:spLocks noGrp="1"/>
          </p:cNvSpPr>
          <p:nvPr/>
        </p:nvSpPr>
        <p:spPr>
          <a:xfrm>
            <a:off x="3280833" y="3209925"/>
            <a:ext cx="3518958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173E90-8E44-4DB5-B987-CBF2D821594D}"/>
              </a:ext>
            </a:extLst>
          </p:cNvPr>
          <p:cNvSpPr>
            <a:spLocks noGrp="1"/>
          </p:cNvSpPr>
          <p:nvPr/>
        </p:nvSpPr>
        <p:spPr>
          <a:xfrm>
            <a:off x="3337983" y="3238500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values y₁, …, yₙ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555A1C-0E27-49F4-8C91-AE8F959F7BDC}"/>
              </a:ext>
            </a:extLst>
          </p:cNvPr>
          <p:cNvSpPr>
            <a:spLocks noGrp="1"/>
          </p:cNvSpPr>
          <p:nvPr/>
        </p:nvSpPr>
        <p:spPr>
          <a:xfrm>
            <a:off x="6799792" y="3209925"/>
            <a:ext cx="4725458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5337AE-56E2-4596-A7AF-F0D432D57A41}"/>
              </a:ext>
            </a:extLst>
          </p:cNvPr>
          <p:cNvSpPr>
            <a:spLocks noGrp="1"/>
          </p:cNvSpPr>
          <p:nvPr/>
        </p:nvSpPr>
        <p:spPr>
          <a:xfrm>
            <a:off x="6856942" y="3238500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did this one sample look like?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9D2CEE-B6ED-4DF8-B8B1-B337898E485F}"/>
              </a:ext>
            </a:extLst>
          </p:cNvPr>
          <p:cNvSpPr>
            <a:spLocks noGrp="1"/>
          </p:cNvSpPr>
          <p:nvPr/>
        </p:nvSpPr>
        <p:spPr>
          <a:xfrm>
            <a:off x="666750" y="4005263"/>
            <a:ext cx="2614083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2354D5-3994-4C96-90EE-CA732E4503FA}"/>
              </a:ext>
            </a:extLst>
          </p:cNvPr>
          <p:cNvSpPr>
            <a:spLocks noGrp="1"/>
          </p:cNvSpPr>
          <p:nvPr/>
        </p:nvSpPr>
        <p:spPr>
          <a:xfrm>
            <a:off x="723900" y="4033838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Sampling distribution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A35AF8-28EE-4161-90C5-8C068383198E}"/>
              </a:ext>
            </a:extLst>
          </p:cNvPr>
          <p:cNvSpPr>
            <a:spLocks noGrp="1"/>
          </p:cNvSpPr>
          <p:nvPr/>
        </p:nvSpPr>
        <p:spPr>
          <a:xfrm>
            <a:off x="3280833" y="4005263"/>
            <a:ext cx="35189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DF55ED-212C-4414-88B6-52545A1CD7FC}"/>
              </a:ext>
            </a:extLst>
          </p:cNvPr>
          <p:cNvSpPr>
            <a:spLocks noGrp="1"/>
          </p:cNvSpPr>
          <p:nvPr/>
        </p:nvSpPr>
        <p:spPr>
          <a:xfrm>
            <a:off x="3337983" y="4033838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statistic across repeated samples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1EB285-4AF8-41F7-9543-426F9ADB3EBA}"/>
              </a:ext>
            </a:extLst>
          </p:cNvPr>
          <p:cNvSpPr>
            <a:spLocks noGrp="1"/>
          </p:cNvSpPr>
          <p:nvPr/>
        </p:nvSpPr>
        <p:spPr>
          <a:xfrm>
            <a:off x="6799792" y="4005263"/>
            <a:ext cx="47254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27B2E3-D62E-45C9-8E89-1DBDAB187D36}"/>
              </a:ext>
            </a:extLst>
          </p:cNvPr>
          <p:cNvSpPr>
            <a:spLocks noGrp="1"/>
          </p:cNvSpPr>
          <p:nvPr/>
        </p:nvSpPr>
        <p:spPr>
          <a:xfrm>
            <a:off x="6856942" y="4033838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would the estimate vary if the study were repeated?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27A8FA-77EF-4B3C-8BF9-CF5962727D70}"/>
              </a:ext>
            </a:extLst>
          </p:cNvPr>
          <p:cNvSpPr>
            <a:spLocks noGrp="1"/>
          </p:cNvSpPr>
          <p:nvPr/>
        </p:nvSpPr>
        <p:spPr>
          <a:xfrm>
            <a:off x="2552700" y="5067300"/>
            <a:ext cx="708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1111"/>
          </a:bodyPr>
          <a:lstStyle/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Standard error is the standard deviation of the sampling distribution. · Textbook Chapter 3</a:t>
            </a:r>
          </a:p>
        </p:txBody>
      </p:sp>
    </p:spTree>
    <p:extLst>
      <p:ext uri="{BB962C8B-B14F-4D97-AF65-F5344CB8AC3E}">
        <p14:creationId xmlns:p14="http://schemas.microsoft.com/office/powerpoint/2010/main" val="50893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ACD44D-35EA-4EE5-9F25-3A66F50ECF8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6A067-74E9-4847-A05A-4FD08296F04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C0716E-5479-4861-BF93-CA60C8FD0479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Random sampling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80D0C5-02DA-4651-AAEC-C1D6A6864D22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17479-7EAA-4183-9449-923BC3ED6FCE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statistic is only as defensible as the process that produced the sample.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08159-AC74-40E3-BDC8-CA6A0114B38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1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3900943-301F-40C6-9972-84982E7F08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89F9AA-05C8-4B25-B42A-4F333F09A9E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AFB8A-E8EC-468A-A9DE-8CDA2F828239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B41A2-C6D4-4EDF-A260-9D6FEA63E89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98B83-2291-4865-B42E-CC78860AD8F4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7DE0E-ECA3-477A-92A2-4202E88E90F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566166-6CAB-4AA6-8DEF-7953A9857FA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3F4BC1-094E-4336-BBAE-542EF45DD61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96E386-5538-4249-9AE1-C4E3B4C02AB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B7DE56-CB64-4C5B-81DC-E7AB7A6F665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Population parameters are fixed; sample statistics vary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385C9D-50FE-49D3-99C4-0C53F6F0C76F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3390900" cy="2857500"/>
          </a:xfrm>
          <a:prstGeom prst="roundRect">
            <a:avLst>
              <a:gd name="adj" fmla="val 6000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4DB22-6741-4A2C-B685-76496B3884DF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3390900" cy="762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2F6A5-2C35-4F6C-814B-89691209172E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Population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1009D5-3581-435F-A881-7B1C4DDB9E48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All units relevant to the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D354A-154E-413E-82F2-527084DCFCF1}"/>
              </a:ext>
            </a:extLst>
          </p:cNvPr>
          <p:cNvSpPr>
            <a:spLocks noGrp="1"/>
          </p:cNvSpPr>
          <p:nvPr/>
        </p:nvSpPr>
        <p:spPr>
          <a:xfrm>
            <a:off x="990600" y="38100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Parameter: μ, σ, π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503D47-ACA5-45D6-9168-8BB6ED2AD391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390900" cy="2857500"/>
          </a:xfrm>
          <a:prstGeom prst="roundRect">
            <a:avLst>
              <a:gd name="adj" fmla="val 6000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605400-5917-4AA2-8E6C-4ACB9F15AE36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390900" cy="762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33013F-35B0-4210-A9CF-842B0DFDFB1A}"/>
              </a:ext>
            </a:extLst>
          </p:cNvPr>
          <p:cNvSpPr>
            <a:spLocks noGrp="1"/>
          </p:cNvSpPr>
          <p:nvPr/>
        </p:nvSpPr>
        <p:spPr>
          <a:xfrm>
            <a:off x="4800600" y="20764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7E920-9E6C-445D-9918-9B3A094755A1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subset selected from the population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ACC43D-823E-4151-BD09-2B0BE25AB217}"/>
              </a:ext>
            </a:extLst>
          </p:cNvPr>
          <p:cNvSpPr>
            <a:spLocks noGrp="1"/>
          </p:cNvSpPr>
          <p:nvPr/>
        </p:nvSpPr>
        <p:spPr>
          <a:xfrm>
            <a:off x="4819650" y="38100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Data: y₁, …, yₙ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0162E69-76F3-455D-AEB2-34D9782E6D76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390900" cy="2857500"/>
          </a:xfrm>
          <a:prstGeom prst="roundRect">
            <a:avLst>
              <a:gd name="adj" fmla="val 6000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247931-8216-4D95-8D74-A31AE932D77E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390900" cy="762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23DF4F-ED48-472F-BDCA-721E51DEBB0E}"/>
              </a:ext>
            </a:extLst>
          </p:cNvPr>
          <p:cNvSpPr>
            <a:spLocks noGrp="1"/>
          </p:cNvSpPr>
          <p:nvPr/>
        </p:nvSpPr>
        <p:spPr>
          <a:xfrm>
            <a:off x="8629650" y="20764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Statistic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037BEA-0940-4A0D-BD65-CA872376AC55}"/>
              </a:ext>
            </a:extLst>
          </p:cNvPr>
          <p:cNvSpPr>
            <a:spLocks noGrp="1"/>
          </p:cNvSpPr>
          <p:nvPr/>
        </p:nvSpPr>
        <p:spPr>
          <a:xfrm>
            <a:off x="8686800" y="278130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function computed from the 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4C501A-951F-4229-8F9F-9BA4FF4FF8EE}"/>
              </a:ext>
            </a:extLst>
          </p:cNvPr>
          <p:cNvSpPr>
            <a:spLocks noGrp="1"/>
          </p:cNvSpPr>
          <p:nvPr/>
        </p:nvSpPr>
        <p:spPr>
          <a:xfrm>
            <a:off x="8648700" y="38100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Estimate: x̄, s, p̂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2C434A8-1DC9-452B-A01C-E7C12BDDD350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BD1555-8D3E-4D48-847F-4D117F02F146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Repeated samples create repeated statistics - and therefore a distribution of statistics.</a:t>
            </a:r>
          </a:p>
        </p:txBody>
      </p:sp>
    </p:spTree>
    <p:extLst>
      <p:ext uri="{BB962C8B-B14F-4D97-AF65-F5344CB8AC3E}">
        <p14:creationId xmlns:p14="http://schemas.microsoft.com/office/powerpoint/2010/main" val="24287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4D82E-EC55-44EC-B222-6FC87BBCC2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DEC1E2-7A1D-429A-9932-F475363511B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E2DCD-11DE-4372-8C0E-DB8311DEDCA0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91CE3-CCC0-4DBE-B35F-C9F5321417DF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F6D071-D4C1-48AD-96CA-D45D8C6BDA05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1A8F9-2F6A-48A2-88AB-F142A244298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B7548-1D46-44D4-A747-AEFCDCDC8C04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42F9CB-BF82-44B6-A1DA-8DBBA44B939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84D3C-4379-433C-849F-CD59A763E04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33852E6-5187-4562-8ACB-E6C11A31368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Random selection protects against systematic preference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436B92-C413-432F-ACE3-E9CE5FF28685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4381500" cy="3105150"/>
          </a:xfrm>
          <a:prstGeom prst="roundRect">
            <a:avLst>
              <a:gd name="adj" fmla="val 613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E14B9F-4AE5-406F-9BBD-8A12B0BBC18D}"/>
              </a:ext>
            </a:extLst>
          </p:cNvPr>
          <p:cNvSpPr>
            <a:spLocks noGrp="1"/>
          </p:cNvSpPr>
          <p:nvPr/>
        </p:nvSpPr>
        <p:spPr>
          <a:xfrm>
            <a:off x="1181100" y="20383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Simple random sample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B6BEF-2548-4416-82B6-2E789C65B01B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05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Every possible sample of size n has the same chance of selection.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6D3EE5-8C96-419A-82D5-5FBAD2A122EE}"/>
              </a:ext>
            </a:extLst>
          </p:cNvPr>
          <p:cNvSpPr>
            <a:spLocks noGrp="1"/>
          </p:cNvSpPr>
          <p:nvPr/>
        </p:nvSpPr>
        <p:spPr>
          <a:xfrm>
            <a:off x="1200150" y="3905250"/>
            <a:ext cx="3581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312"/>
          </a:bodyPr>
          <a:lstStyle/>
          <a:p>
            <a:pPr algn="ctr">
              <a:buNone/>
              <a:def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Randomness reduces selection bias; it does not guarantee a representative result in every draw.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BE3CEC-9C5B-45D4-A92F-7CDA42CA1E35}"/>
              </a:ext>
            </a:extLst>
          </p:cNvPr>
          <p:cNvSpPr>
            <a:spLocks noGrp="1"/>
          </p:cNvSpPr>
          <p:nvPr/>
        </p:nvSpPr>
        <p:spPr>
          <a:xfrm>
            <a:off x="6191250" y="17335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Design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C3E984-44D9-4224-9A2E-BB3BE9FA9119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47625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Is the sampling frame aligned with the target population?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Are observations independent, or clustered by person, site, or time?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Does every unit have a known selection mechanism?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If sampling without replacement, is n small relative to 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7B0D2B-C3FF-481F-8941-C47FA784B446}"/>
              </a:ext>
            </a:extLst>
          </p:cNvPr>
          <p:cNvSpPr>
            <a:spLocks noGrp="1"/>
          </p:cNvSpPr>
          <p:nvPr/>
        </p:nvSpPr>
        <p:spPr>
          <a:xfrm>
            <a:off x="5600700" y="4991100"/>
            <a:ext cx="581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9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Random selection is a design property, not a visual property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16353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E82FDE2-E1C8-4D63-A846-66B4C062E7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89D9EC-2E8F-4BEE-A135-A32D5AF7B344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AEC37-041E-43F0-93B7-A2718874F29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33478-5EEF-4F1E-AF6C-C1B2394042F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E3BEEA-3D86-4FB4-BCBE-B58DE2C2A4D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364B3-85E9-4575-AA87-37A4DB9D183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7E6A8-478E-4B90-8DAD-FA4A7F5A2080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958B4-FA7F-4FE7-AE9F-90341730F86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F2F48-F0AC-4536-8B23-C6BEDA3551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738AD8-7BBE-4A25-909B-4CBD429FA6A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random draw cannot repair a biased frame or measurement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60AB1-056F-469D-8EC4-51ECA6A87F39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488692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BDA87-8CAA-4829-A00B-A60BED9D5DF4}"/>
              </a:ext>
            </a:extLst>
          </p:cNvPr>
          <p:cNvSpPr>
            <a:spLocks noGrp="1"/>
          </p:cNvSpPr>
          <p:nvPr/>
        </p:nvSpPr>
        <p:spPr>
          <a:xfrm>
            <a:off x="742950" y="1628775"/>
            <a:ext cx="237439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Failure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986FA-BE7F-4B80-81B6-1370E37A8610}"/>
              </a:ext>
            </a:extLst>
          </p:cNvPr>
          <p:cNvSpPr>
            <a:spLocks noGrp="1"/>
          </p:cNvSpPr>
          <p:nvPr/>
        </p:nvSpPr>
        <p:spPr>
          <a:xfrm>
            <a:off x="3174492" y="1600200"/>
            <a:ext cx="3678936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AF1F66-458C-4697-84BA-BAF7B5EF56F1}"/>
              </a:ext>
            </a:extLst>
          </p:cNvPr>
          <p:cNvSpPr>
            <a:spLocks noGrp="1"/>
          </p:cNvSpPr>
          <p:nvPr/>
        </p:nvSpPr>
        <p:spPr>
          <a:xfrm>
            <a:off x="3231642" y="1628775"/>
            <a:ext cx="356463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randomness can 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8683CE-9132-40E6-AE8A-68AD82EEB4E5}"/>
              </a:ext>
            </a:extLst>
          </p:cNvPr>
          <p:cNvSpPr>
            <a:spLocks noGrp="1"/>
          </p:cNvSpPr>
          <p:nvPr/>
        </p:nvSpPr>
        <p:spPr>
          <a:xfrm>
            <a:off x="6853428" y="1600200"/>
            <a:ext cx="4652772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E9721-80C1-4182-9D84-BF9EEA06808B}"/>
              </a:ext>
            </a:extLst>
          </p:cNvPr>
          <p:cNvSpPr>
            <a:spLocks noGrp="1"/>
          </p:cNvSpPr>
          <p:nvPr/>
        </p:nvSpPr>
        <p:spPr>
          <a:xfrm>
            <a:off x="6910578" y="1628775"/>
            <a:ext cx="453847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remains unresolved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858D12-1295-4BFA-AB42-CA7C6261F694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488692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BD36D2-804F-4745-8E13-5ADA4BFF236A}"/>
              </a:ext>
            </a:extLst>
          </p:cNvPr>
          <p:cNvSpPr>
            <a:spLocks noGrp="1"/>
          </p:cNvSpPr>
          <p:nvPr/>
        </p:nvSpPr>
        <p:spPr>
          <a:xfrm>
            <a:off x="742950" y="2295525"/>
            <a:ext cx="237439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Coverage bias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D74DD-12B3-4295-A8D2-C40E8B806A4F}"/>
              </a:ext>
            </a:extLst>
          </p:cNvPr>
          <p:cNvSpPr>
            <a:spLocks noGrp="1"/>
          </p:cNvSpPr>
          <p:nvPr/>
        </p:nvSpPr>
        <p:spPr>
          <a:xfrm>
            <a:off x="3174492" y="2266950"/>
            <a:ext cx="3678936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3CC012-9662-4DD5-AAFF-834C67BC842A}"/>
              </a:ext>
            </a:extLst>
          </p:cNvPr>
          <p:cNvSpPr>
            <a:spLocks noGrp="1"/>
          </p:cNvSpPr>
          <p:nvPr/>
        </p:nvSpPr>
        <p:spPr>
          <a:xfrm>
            <a:off x="3231642" y="2295525"/>
            <a:ext cx="356463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Randomize within the available frame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DD3CE-DA12-48E5-A8DB-197D65E50D0E}"/>
              </a:ext>
            </a:extLst>
          </p:cNvPr>
          <p:cNvSpPr>
            <a:spLocks noGrp="1"/>
          </p:cNvSpPr>
          <p:nvPr/>
        </p:nvSpPr>
        <p:spPr>
          <a:xfrm>
            <a:off x="6853428" y="2266950"/>
            <a:ext cx="4652772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60B0E5-42C8-4DA0-B8AB-3FD872CD1EA0}"/>
              </a:ext>
            </a:extLst>
          </p:cNvPr>
          <p:cNvSpPr>
            <a:spLocks noGrp="1"/>
          </p:cNvSpPr>
          <p:nvPr/>
        </p:nvSpPr>
        <p:spPr>
          <a:xfrm>
            <a:off x="6910578" y="2295525"/>
            <a:ext cx="453847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Missing groups remain missing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A47D94-8A2C-47DE-B6DA-DAAF464F1F6D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2488692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D563A6-9B81-4DA9-9A3B-E26EE129B9A5}"/>
              </a:ext>
            </a:extLst>
          </p:cNvPr>
          <p:cNvSpPr>
            <a:spLocks noGrp="1"/>
          </p:cNvSpPr>
          <p:nvPr/>
        </p:nvSpPr>
        <p:spPr>
          <a:xfrm>
            <a:off x="742950" y="2962275"/>
            <a:ext cx="237439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Measurement bias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1215CF-D11B-4CF2-83A0-5C9DE7D408DB}"/>
              </a:ext>
            </a:extLst>
          </p:cNvPr>
          <p:cNvSpPr>
            <a:spLocks noGrp="1"/>
          </p:cNvSpPr>
          <p:nvPr/>
        </p:nvSpPr>
        <p:spPr>
          <a:xfrm>
            <a:off x="3174492" y="2933700"/>
            <a:ext cx="3678936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C80B04-99D6-4774-A3E8-C2B7B5EA603A}"/>
              </a:ext>
            </a:extLst>
          </p:cNvPr>
          <p:cNvSpPr>
            <a:spLocks noGrp="1"/>
          </p:cNvSpPr>
          <p:nvPr/>
        </p:nvSpPr>
        <p:spPr>
          <a:xfrm>
            <a:off x="3231642" y="2962275"/>
            <a:ext cx="356463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Nothing by itself; mean-zero random error may average out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3391E8-5384-457D-9040-8289E55337A9}"/>
              </a:ext>
            </a:extLst>
          </p:cNvPr>
          <p:cNvSpPr>
            <a:spLocks noGrp="1"/>
          </p:cNvSpPr>
          <p:nvPr/>
        </p:nvSpPr>
        <p:spPr>
          <a:xfrm>
            <a:off x="6853428" y="2933700"/>
            <a:ext cx="4652772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C46180-C0CB-4033-AA08-6485C1907D18}"/>
              </a:ext>
            </a:extLst>
          </p:cNvPr>
          <p:cNvSpPr>
            <a:spLocks noGrp="1"/>
          </p:cNvSpPr>
          <p:nvPr/>
        </p:nvSpPr>
        <p:spPr>
          <a:xfrm>
            <a:off x="6910578" y="2962275"/>
            <a:ext cx="453847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Systematic measurement or instrument bias remains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4EDB98-37BC-414F-8F6C-282CAA438A4C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2488692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9A4421-361F-4EB3-9B79-C4F874921CBF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237439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Nonresponse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C6C961-CC3E-4098-BFA8-4F94AEF0A3B0}"/>
              </a:ext>
            </a:extLst>
          </p:cNvPr>
          <p:cNvSpPr>
            <a:spLocks noGrp="1"/>
          </p:cNvSpPr>
          <p:nvPr/>
        </p:nvSpPr>
        <p:spPr>
          <a:xfrm>
            <a:off x="3174492" y="3600450"/>
            <a:ext cx="3678936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64E30B-A9B2-44F9-9CDD-3301B1FF82E3}"/>
              </a:ext>
            </a:extLst>
          </p:cNvPr>
          <p:cNvSpPr>
            <a:spLocks noGrp="1"/>
          </p:cNvSpPr>
          <p:nvPr/>
        </p:nvSpPr>
        <p:spPr>
          <a:xfrm>
            <a:off x="3231642" y="3629025"/>
            <a:ext cx="356463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Randomize invitations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096DF7-0EC1-49E9-A03F-F06ADF0EA8E9}"/>
              </a:ext>
            </a:extLst>
          </p:cNvPr>
          <p:cNvSpPr>
            <a:spLocks noGrp="1"/>
          </p:cNvSpPr>
          <p:nvPr/>
        </p:nvSpPr>
        <p:spPr>
          <a:xfrm>
            <a:off x="6853428" y="3600450"/>
            <a:ext cx="4652772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67818F-599D-4F6B-8CBA-D3A6BFBDCF6E}"/>
              </a:ext>
            </a:extLst>
          </p:cNvPr>
          <p:cNvSpPr>
            <a:spLocks noGrp="1"/>
          </p:cNvSpPr>
          <p:nvPr/>
        </p:nvSpPr>
        <p:spPr>
          <a:xfrm>
            <a:off x="6910578" y="3629025"/>
            <a:ext cx="453847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Responders may differ from nonresponders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5208B7-20C3-4EA3-9BB4-2D09ADE8D1C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2488692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141C8C-CA0F-4884-85AF-109F28606489}"/>
              </a:ext>
            </a:extLst>
          </p:cNvPr>
          <p:cNvSpPr>
            <a:spLocks noGrp="1"/>
          </p:cNvSpPr>
          <p:nvPr/>
        </p:nvSpPr>
        <p:spPr>
          <a:xfrm>
            <a:off x="742950" y="4295775"/>
            <a:ext cx="237439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Dependence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A8F978-EEB3-49E3-BA1D-648825923302}"/>
              </a:ext>
            </a:extLst>
          </p:cNvPr>
          <p:cNvSpPr>
            <a:spLocks noGrp="1"/>
          </p:cNvSpPr>
          <p:nvPr/>
        </p:nvSpPr>
        <p:spPr>
          <a:xfrm>
            <a:off x="3174492" y="4267200"/>
            <a:ext cx="3678936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20D8AF-C8B5-4937-9418-8ACB3C10611E}"/>
              </a:ext>
            </a:extLst>
          </p:cNvPr>
          <p:cNvSpPr>
            <a:spLocks noGrp="1"/>
          </p:cNvSpPr>
          <p:nvPr/>
        </p:nvSpPr>
        <p:spPr>
          <a:xfrm>
            <a:off x="3231642" y="4295775"/>
            <a:ext cx="356463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Randomize rows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0E18D2-D682-4DD9-BDF6-6870000D40E4}"/>
              </a:ext>
            </a:extLst>
          </p:cNvPr>
          <p:cNvSpPr>
            <a:spLocks noGrp="1"/>
          </p:cNvSpPr>
          <p:nvPr/>
        </p:nvSpPr>
        <p:spPr>
          <a:xfrm>
            <a:off x="6853428" y="4267200"/>
            <a:ext cx="4652772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25F770-2F18-4F8D-8AEB-812FBFDC1CDF}"/>
              </a:ext>
            </a:extLst>
          </p:cNvPr>
          <p:cNvSpPr>
            <a:spLocks noGrp="1"/>
          </p:cNvSpPr>
          <p:nvPr/>
        </p:nvSpPr>
        <p:spPr>
          <a:xfrm>
            <a:off x="6910578" y="4295775"/>
            <a:ext cx="4538472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Rows may still share people, sites, or time periods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D809977-DF6B-4E91-B52F-5AE80BB55BC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184A2-7FC7-4856-A522-A4AD45B1ED12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Sampling variability is only one source of uncertainty; bias is a different problem.</a:t>
            </a:r>
          </a:p>
        </p:txBody>
      </p:sp>
    </p:spTree>
    <p:extLst>
      <p:ext uri="{BB962C8B-B14F-4D97-AF65-F5344CB8AC3E}">
        <p14:creationId xmlns:p14="http://schemas.microsoft.com/office/powerpoint/2010/main" val="686300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1950001-A084-4CF6-9DDC-401B81A599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F9FFB2-0EC1-4BA5-9B69-8F3B8A7284C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49F21-E8ED-4C8E-98BC-7A8BE34BBA86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5C41E5-4D04-4A22-8075-B2E943F5B56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EE28A-0D51-4533-B882-DF3C2FBF63E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A0D8D-0E38-48C0-AB54-4CACDC9D07F7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1050D-E3FA-4AE8-8684-64F59661D50E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AA772C-F40B-4CA4-8ACB-BF4D2CAA06E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3E2ECC-99F6-4845-97F8-C82C08A8048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207741-733D-4C1F-82EE-C3424D2FC18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Describe one sample before asking how the statistic varies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FC5678-7119-4568-AE76-3C3D2B9D294A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0CA1F0-1917-4B12-B4BD-568A48F766C6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0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mean · median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97CBDE-65E2-44C1-92CB-AA36989DA229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Spread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688730-9031-400B-AC53-D03124C4B8B0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180"/>
          </a:bodyPr>
          <a:lstStyle/>
          <a:p>
            <a:pPr algn="l">
              <a:buNone/>
              <a:defRPr sz="202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rPr>
              <a:t>standard deviation · IQR · range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EEBC7-5578-48DB-A390-26EEC422ED19}"/>
              </a:ext>
            </a:extLst>
          </p:cNvPr>
          <p:cNvSpPr>
            <a:spLocks noGrp="1"/>
          </p:cNvSpPr>
          <p:nvPr/>
        </p:nvSpPr>
        <p:spPr>
          <a:xfrm>
            <a:off x="8286750" y="16573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Shape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581F8-CF7E-4BCD-A294-7E823102B75B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950"/>
          </a:bodyPr>
          <a:lstStyle/>
          <a:p>
            <a:pPr algn="l">
              <a:buNone/>
              <a:defRPr sz="20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skew · tails · modes · outliers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9FE8F1-7D2B-4CCA-83B4-73CB1C4139AF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4953000" cy="2152650"/>
          </a:xfrm>
          <a:prstGeom prst="roundRect">
            <a:avLst>
              <a:gd name="adj" fmla="val 7080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01CD6-388B-4B5E-8525-DC1C0C617FCE}"/>
              </a:ext>
            </a:extLst>
          </p:cNvPr>
          <p:cNvSpPr>
            <a:spLocks noGrp="1"/>
          </p:cNvSpPr>
          <p:nvPr/>
        </p:nvSpPr>
        <p:spPr>
          <a:xfrm>
            <a:off x="1238250" y="32004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PANDAS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DD7C8E-E9CD-4C2B-BFB8-C8BD3808BF58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4572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df.head()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df.tail()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df.dtypes</a:t>
            </a:r>
          </a:p>
          <a:p>
            <a:endParaRPr sz="13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df.describe()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df["MedHouseVal"].mean()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df["MedHouseVal"].std(ddof=1)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C55C72-4526-47F2-ABB3-FE86E0293491}"/>
              </a:ext>
            </a:extLst>
          </p:cNvPr>
          <p:cNvSpPr>
            <a:spLocks noGrp="1"/>
          </p:cNvSpPr>
          <p:nvPr/>
        </p:nvSpPr>
        <p:spPr>
          <a:xfrm>
            <a:off x="6667500" y="3276600"/>
            <a:ext cx="41910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Descriptive statistics summarize the observed sample.</a:t>
            </a:r>
          </a:p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They do not, by themselves, quantify sampling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235126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5A49B99-34EB-4E94-AC86-09974602D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C3263-87A2-455D-A11E-9E8148687A4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EEE0A-2035-43C7-8EC8-E9C52D97B19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25C8C-DCAC-499B-8F0D-ACF955130D3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4C29D-7004-44DB-B619-D56AA84F42AF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97DDB-57F1-471C-9184-C2A233516023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CB787-3F4D-4670-AECE-DC972467023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3DAA9-9F80-4D73-9A90-995BA219D93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743432-2A13-41D4-A619-ED39C47D2C7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D6770E6-D619-4309-A4A7-14C72EEC0CC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reproducible sample preserves the original row identities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ECE62D-61D7-4128-A66B-7789BDB76853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6667500" cy="3676650"/>
          </a:xfrm>
          <a:prstGeom prst="roundRect">
            <a:avLst>
              <a:gd name="adj" fmla="val 4145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E48456-4C9D-41DD-A838-D2A987321443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CALIFORNIA HOUSING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D7578-1C73-4CE3-8CE8-E5F4CFBF4190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6286500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sklearn.datasets import fetch_california_housing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housing = fetch_california_housing(as_frame=True)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 = housing.frame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sample_df = df.sample(frac=.20, random_state=500)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len(df), len(sample_df)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sample_df.head(3)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6D3F6-6CF1-4605-8F63-C344A2AFDE28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701"/>
          </a:bodyPr>
          <a:lstStyle/>
          <a:p>
            <a:pPr algn="ctr">
              <a:buNone/>
              <a:defRPr sz="43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3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20,640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D3D68-CA68-4A53-97DD-7216CB9CC30C}"/>
              </a:ext>
            </a:extLst>
          </p:cNvPr>
          <p:cNvSpPr>
            <a:spLocks noGrp="1"/>
          </p:cNvSpPr>
          <p:nvPr/>
        </p:nvSpPr>
        <p:spPr>
          <a:xfrm>
            <a:off x="8286750" y="2400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2FAE7D-37B1-4FC8-A554-C305C905D979}"/>
              </a:ext>
            </a:extLst>
          </p:cNvPr>
          <p:cNvSpPr>
            <a:spLocks noGrp="1"/>
          </p:cNvSpPr>
          <p:nvPr/>
        </p:nvSpPr>
        <p:spPr>
          <a:xfrm>
            <a:off x="8286750" y="308610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701"/>
          </a:bodyPr>
          <a:lstStyle/>
          <a:p>
            <a:pPr algn="ctr">
              <a:buNone/>
              <a:defRPr sz="43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3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20%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92A7C2-D64E-4822-BF63-41BAA323A68F}"/>
              </a:ext>
            </a:extLst>
          </p:cNvPr>
          <p:cNvSpPr>
            <a:spLocks noGrp="1"/>
          </p:cNvSpPr>
          <p:nvPr/>
        </p:nvSpPr>
        <p:spPr>
          <a:xfrm>
            <a:off x="8286750" y="3714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sample fraction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F0302-824A-494D-B452-D3096F8D9BA1}"/>
              </a:ext>
            </a:extLst>
          </p:cNvPr>
          <p:cNvSpPr>
            <a:spLocks noGrp="1"/>
          </p:cNvSpPr>
          <p:nvPr/>
        </p:nvSpPr>
        <p:spPr>
          <a:xfrm>
            <a:off x="7905750" y="44196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random_state makes the classroom example repeatable.</a:t>
            </a:r>
          </a:p>
        </p:txBody>
      </p:sp>
    </p:spTree>
    <p:extLst>
      <p:ext uri="{BB962C8B-B14F-4D97-AF65-F5344CB8AC3E}">
        <p14:creationId xmlns:p14="http://schemas.microsoft.com/office/powerpoint/2010/main" val="124272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4493519-2F50-4CE4-8F52-D5496A449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8065C-A369-43B3-9FF7-21D5169B292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98F08-737F-4DB6-A582-E060A052867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541BD-588A-4925-8DA9-78CF4301675A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E52B06-DBAE-4D7E-94E5-6BF4EAA8D438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8F13D-0D22-44FE-B5D3-2E3B1AC169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6A509-98EE-4BDD-8B29-8D8DF1C7D7F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2392A-E593-4673-83D2-D48BAE1EC3E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98ECB-8F03-4D1B-BAF0-2E35ABD5543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F6663D-A7D2-4923-A91D-CD6740F17C3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Do not confuse the population, sample data, and sampling distribution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F1174-AC6C-46A6-BB04-C3CC7F20EE5E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614083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20717-A667-4244-B078-ADDCBCB9366D}"/>
              </a:ext>
            </a:extLst>
          </p:cNvPr>
          <p:cNvSpPr>
            <a:spLocks noGrp="1"/>
          </p:cNvSpPr>
          <p:nvPr/>
        </p:nvSpPr>
        <p:spPr>
          <a:xfrm>
            <a:off x="723900" y="1647825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Distribution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7F07A-1FF6-493D-B90C-8CD947983FBE}"/>
              </a:ext>
            </a:extLst>
          </p:cNvPr>
          <p:cNvSpPr>
            <a:spLocks noGrp="1"/>
          </p:cNvSpPr>
          <p:nvPr/>
        </p:nvSpPr>
        <p:spPr>
          <a:xfrm>
            <a:off x="3280833" y="1619250"/>
            <a:ext cx="3518958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9C09CC-EE18-4D2D-8EB6-50CD98AF6055}"/>
              </a:ext>
            </a:extLst>
          </p:cNvPr>
          <p:cNvSpPr>
            <a:spLocks noGrp="1"/>
          </p:cNvSpPr>
          <p:nvPr/>
        </p:nvSpPr>
        <p:spPr>
          <a:xfrm>
            <a:off x="3337983" y="1647825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varies?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385F8-188E-48CA-BEB4-4918A48135A6}"/>
              </a:ext>
            </a:extLst>
          </p:cNvPr>
          <p:cNvSpPr>
            <a:spLocks noGrp="1"/>
          </p:cNvSpPr>
          <p:nvPr/>
        </p:nvSpPr>
        <p:spPr>
          <a:xfrm>
            <a:off x="6799792" y="1619250"/>
            <a:ext cx="4725458" cy="7953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AB1B0E-2071-4FF9-B7DA-C43174F54D39}"/>
              </a:ext>
            </a:extLst>
          </p:cNvPr>
          <p:cNvSpPr>
            <a:spLocks noGrp="1"/>
          </p:cNvSpPr>
          <p:nvPr/>
        </p:nvSpPr>
        <p:spPr>
          <a:xfrm>
            <a:off x="6856942" y="1647825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Typical 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E039A4-0873-48D8-A1DC-836F5275C790}"/>
              </a:ext>
            </a:extLst>
          </p:cNvPr>
          <p:cNvSpPr>
            <a:spLocks noGrp="1"/>
          </p:cNvSpPr>
          <p:nvPr/>
        </p:nvSpPr>
        <p:spPr>
          <a:xfrm>
            <a:off x="666750" y="2414588"/>
            <a:ext cx="2614083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6AF66-2BF4-4C58-BDF9-46245E8A3D99}"/>
              </a:ext>
            </a:extLst>
          </p:cNvPr>
          <p:cNvSpPr>
            <a:spLocks noGrp="1"/>
          </p:cNvSpPr>
          <p:nvPr/>
        </p:nvSpPr>
        <p:spPr>
          <a:xfrm>
            <a:off x="723900" y="2443163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distribution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0C5B24-F306-458B-8A58-9905CFB2EF16}"/>
              </a:ext>
            </a:extLst>
          </p:cNvPr>
          <p:cNvSpPr>
            <a:spLocks noGrp="1"/>
          </p:cNvSpPr>
          <p:nvPr/>
        </p:nvSpPr>
        <p:spPr>
          <a:xfrm>
            <a:off x="3280833" y="2414588"/>
            <a:ext cx="35189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21CAC4-9B21-4921-8176-8E2F4120A146}"/>
              </a:ext>
            </a:extLst>
          </p:cNvPr>
          <p:cNvSpPr>
            <a:spLocks noGrp="1"/>
          </p:cNvSpPr>
          <p:nvPr/>
        </p:nvSpPr>
        <p:spPr>
          <a:xfrm>
            <a:off x="3337983" y="2443163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Individual observations 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971900-A8F4-451A-A69F-7D71F2B27C3B}"/>
              </a:ext>
            </a:extLst>
          </p:cNvPr>
          <p:cNvSpPr>
            <a:spLocks noGrp="1"/>
          </p:cNvSpPr>
          <p:nvPr/>
        </p:nvSpPr>
        <p:spPr>
          <a:xfrm>
            <a:off x="6799792" y="2414588"/>
            <a:ext cx="47254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DDD21-1F2F-4379-B277-E8D75F40BCC4}"/>
              </a:ext>
            </a:extLst>
          </p:cNvPr>
          <p:cNvSpPr>
            <a:spLocks noGrp="1"/>
          </p:cNvSpPr>
          <p:nvPr/>
        </p:nvSpPr>
        <p:spPr>
          <a:xfrm>
            <a:off x="6856942" y="2443163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values exist in the population?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ED26F5-76CB-4B37-821C-BF2F333FAD7E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2614083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C17CF0-2020-487E-858D-F7AB01FC92D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Sample data distribution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F9FDB9-17EA-410E-81AB-85FA4FAEA07B}"/>
              </a:ext>
            </a:extLst>
          </p:cNvPr>
          <p:cNvSpPr>
            <a:spLocks noGrp="1"/>
          </p:cNvSpPr>
          <p:nvPr/>
        </p:nvSpPr>
        <p:spPr>
          <a:xfrm>
            <a:off x="3280833" y="3209925"/>
            <a:ext cx="3518958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173E90-8E44-4DB5-B987-CBF2D821594D}"/>
              </a:ext>
            </a:extLst>
          </p:cNvPr>
          <p:cNvSpPr>
            <a:spLocks noGrp="1"/>
          </p:cNvSpPr>
          <p:nvPr/>
        </p:nvSpPr>
        <p:spPr>
          <a:xfrm>
            <a:off x="3337983" y="3238500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values y₁, …, yₙ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555A1C-0E27-49F4-8C91-AE8F959F7BDC}"/>
              </a:ext>
            </a:extLst>
          </p:cNvPr>
          <p:cNvSpPr>
            <a:spLocks noGrp="1"/>
          </p:cNvSpPr>
          <p:nvPr/>
        </p:nvSpPr>
        <p:spPr>
          <a:xfrm>
            <a:off x="6799792" y="3209925"/>
            <a:ext cx="4725458" cy="7953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5337AE-56E2-4596-A7AF-F0D432D57A41}"/>
              </a:ext>
            </a:extLst>
          </p:cNvPr>
          <p:cNvSpPr>
            <a:spLocks noGrp="1"/>
          </p:cNvSpPr>
          <p:nvPr/>
        </p:nvSpPr>
        <p:spPr>
          <a:xfrm>
            <a:off x="6856942" y="3238500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did this one sample look like?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9D2CEE-B6ED-4DF8-B8B1-B337898E485F}"/>
              </a:ext>
            </a:extLst>
          </p:cNvPr>
          <p:cNvSpPr>
            <a:spLocks noGrp="1"/>
          </p:cNvSpPr>
          <p:nvPr/>
        </p:nvSpPr>
        <p:spPr>
          <a:xfrm>
            <a:off x="666750" y="4005263"/>
            <a:ext cx="2614083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2354D5-3994-4C96-90EE-CA732E4503FA}"/>
              </a:ext>
            </a:extLst>
          </p:cNvPr>
          <p:cNvSpPr>
            <a:spLocks noGrp="1"/>
          </p:cNvSpPr>
          <p:nvPr/>
        </p:nvSpPr>
        <p:spPr>
          <a:xfrm>
            <a:off x="723900" y="4033838"/>
            <a:ext cx="2499783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Sampling distribution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A35AF8-28EE-4161-90C5-8C068383198E}"/>
              </a:ext>
            </a:extLst>
          </p:cNvPr>
          <p:cNvSpPr>
            <a:spLocks noGrp="1"/>
          </p:cNvSpPr>
          <p:nvPr/>
        </p:nvSpPr>
        <p:spPr>
          <a:xfrm>
            <a:off x="3280833" y="4005263"/>
            <a:ext cx="35189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DF55ED-212C-4414-88B6-52545A1CD7FC}"/>
              </a:ext>
            </a:extLst>
          </p:cNvPr>
          <p:cNvSpPr>
            <a:spLocks noGrp="1"/>
          </p:cNvSpPr>
          <p:nvPr/>
        </p:nvSpPr>
        <p:spPr>
          <a:xfrm>
            <a:off x="3337983" y="4033838"/>
            <a:ext cx="34046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statistic across repeated samples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1EB285-4AF8-41F7-9543-426F9ADB3EBA}"/>
              </a:ext>
            </a:extLst>
          </p:cNvPr>
          <p:cNvSpPr>
            <a:spLocks noGrp="1"/>
          </p:cNvSpPr>
          <p:nvPr/>
        </p:nvSpPr>
        <p:spPr>
          <a:xfrm>
            <a:off x="6799792" y="4005263"/>
            <a:ext cx="4725458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27B2E3-D62E-45C9-8E89-1DBDAB187D36}"/>
              </a:ext>
            </a:extLst>
          </p:cNvPr>
          <p:cNvSpPr>
            <a:spLocks noGrp="1"/>
          </p:cNvSpPr>
          <p:nvPr/>
        </p:nvSpPr>
        <p:spPr>
          <a:xfrm>
            <a:off x="6856942" y="4033838"/>
            <a:ext cx="4611158" cy="73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would the estimate vary if sampling repeated?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27A8FA-77EF-4B3C-8BF9-CF5962727D70}"/>
              </a:ext>
            </a:extLst>
          </p:cNvPr>
          <p:cNvSpPr>
            <a:spLocks noGrp="1"/>
          </p:cNvSpPr>
          <p:nvPr/>
        </p:nvSpPr>
        <p:spPr>
          <a:xfrm>
            <a:off x="2552700" y="5067300"/>
            <a:ext cx="708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Only the third distribution defines standard error.</a:t>
            </a:r>
          </a:p>
        </p:txBody>
      </p:sp>
    </p:spTree>
    <p:extLst>
      <p:ext uri="{BB962C8B-B14F-4D97-AF65-F5344CB8AC3E}">
        <p14:creationId xmlns:p14="http://schemas.microsoft.com/office/powerpoint/2010/main" val="508937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0641CED-3694-4223-AB2D-22E8F412E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6FA703-2B19-4E6B-8F7F-85CDA893E50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15EEA-714B-4CD1-927B-0958CAADC22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E179D7-44C7-44E8-B0AC-2A9FE12430FE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7ABEF-ABFA-458D-AFA1-E9A4C0822DE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7B5B5-6868-4758-BACB-BDE0D8CD7A0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508C6-6F9F-434B-B3DD-83015753A72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59FD7-14A0-4BD5-A963-4F29B0F9F8F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131DC-5B0F-4C70-B725-12C701A06FC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718508-EDFC-4EFB-B6DD-9A957F13A0F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sampling distribution repeats the entire study, not one row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FBD2EF-B4C3-4E0D-B427-2F7246125EA7}"/>
              </a:ext>
            </a:extLst>
          </p:cNvPr>
          <p:cNvSpPr>
            <a:spLocks noGrp="1"/>
          </p:cNvSpPr>
          <p:nvPr/>
        </p:nvSpPr>
        <p:spPr>
          <a:xfrm>
            <a:off x="1066800" y="1676400"/>
            <a:ext cx="590550" cy="5905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D3763-B305-4F0A-B856-E0F1E2CB3151}"/>
              </a:ext>
            </a:extLst>
          </p:cNvPr>
          <p:cNvSpPr>
            <a:spLocks noGrp="1"/>
          </p:cNvSpPr>
          <p:nvPr/>
        </p:nvSpPr>
        <p:spPr>
          <a:xfrm>
            <a:off x="1066800" y="1666875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87579D-0179-4832-A707-D324543056E4}"/>
              </a:ext>
            </a:extLst>
          </p:cNvPr>
          <p:cNvSpPr>
            <a:spLocks noGrp="1"/>
          </p:cNvSpPr>
          <p:nvPr/>
        </p:nvSpPr>
        <p:spPr>
          <a:xfrm>
            <a:off x="1981200" y="17145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Draw a random sample of size 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6E57FE-D833-42E3-8634-21E5B1605F9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590550" cy="5905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6C815-F63C-45FF-9BCC-CEAF98EC4225}"/>
              </a:ext>
            </a:extLst>
          </p:cNvPr>
          <p:cNvSpPr>
            <a:spLocks noGrp="1"/>
          </p:cNvSpPr>
          <p:nvPr/>
        </p:nvSpPr>
        <p:spPr>
          <a:xfrm>
            <a:off x="1066800" y="2543175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78A5BD-9D4A-435C-B8BE-340535A673EE}"/>
              </a:ext>
            </a:extLst>
          </p:cNvPr>
          <p:cNvSpPr>
            <a:spLocks noGrp="1"/>
          </p:cNvSpPr>
          <p:nvPr/>
        </p:nvSpPr>
        <p:spPr>
          <a:xfrm>
            <a:off x="1981200" y="25908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Compute the statistic 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94360D-442B-452A-AC12-080BF7CE3AF6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590550" cy="5905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FE773F-AEEF-45E3-BC1E-5E79E1C63DAD}"/>
              </a:ext>
            </a:extLst>
          </p:cNvPr>
          <p:cNvSpPr>
            <a:spLocks noGrp="1"/>
          </p:cNvSpPr>
          <p:nvPr/>
        </p:nvSpPr>
        <p:spPr>
          <a:xfrm>
            <a:off x="1066800" y="3419475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48F0E-CC11-4513-BA96-EE34CF051D13}"/>
              </a:ext>
            </a:extLst>
          </p:cNvPr>
          <p:cNvSpPr>
            <a:spLocks noGrp="1"/>
          </p:cNvSpPr>
          <p:nvPr/>
        </p:nvSpPr>
        <p:spPr>
          <a:xfrm>
            <a:off x="1981200" y="34671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Store the result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1FB5E9-A4D3-4A58-A105-19C65C6C32F5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590550" cy="5905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181508-A3C7-42A4-837B-502EAE928FC8}"/>
              </a:ext>
            </a:extLst>
          </p:cNvPr>
          <p:cNvSpPr>
            <a:spLocks noGrp="1"/>
          </p:cNvSpPr>
          <p:nvPr/>
        </p:nvSpPr>
        <p:spPr>
          <a:xfrm>
            <a:off x="1066800" y="4295775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F5A4A6-701C-4EC9-B437-DA34C8F24199}"/>
              </a:ext>
            </a:extLst>
          </p:cNvPr>
          <p:cNvSpPr>
            <a:spLocks noGrp="1"/>
          </p:cNvSpPr>
          <p:nvPr/>
        </p:nvSpPr>
        <p:spPr>
          <a:xfrm>
            <a:off x="1981200" y="43434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Repeat B times and inspect the T values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9E473E-C5D0-4991-82ED-120CBF6561DD}"/>
              </a:ext>
            </a:extLst>
          </p:cNvPr>
          <p:cNvSpPr>
            <a:spLocks noGrp="1"/>
          </p:cNvSpPr>
          <p:nvPr/>
        </p:nvSpPr>
        <p:spPr>
          <a:xfrm>
            <a:off x="7543800" y="1657350"/>
            <a:ext cx="3429000" cy="3219450"/>
          </a:xfrm>
          <a:prstGeom prst="roundRect">
            <a:avLst>
              <a:gd name="adj" fmla="val 5325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D82837-C10D-4390-8891-57454D8D284F}"/>
              </a:ext>
            </a:extLst>
          </p:cNvPr>
          <p:cNvSpPr>
            <a:spLocks noGrp="1"/>
          </p:cNvSpPr>
          <p:nvPr/>
        </p:nvSpPr>
        <p:spPr>
          <a:xfrm>
            <a:off x="8058150" y="20574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output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4074B8-CA84-4FFC-9987-0FE018DE28FC}"/>
              </a:ext>
            </a:extLst>
          </p:cNvPr>
          <p:cNvSpPr>
            <a:spLocks noGrp="1"/>
          </p:cNvSpPr>
          <p:nvPr/>
        </p:nvSpPr>
        <p:spPr>
          <a:xfrm>
            <a:off x="7810500" y="280035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{T₁, T₂, …, Tᴮ}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F38E7B-A25C-429B-89F7-F60597A9B57B}"/>
              </a:ext>
            </a:extLst>
          </p:cNvPr>
          <p:cNvSpPr>
            <a:spLocks noGrp="1"/>
          </p:cNvSpPr>
          <p:nvPr/>
        </p:nvSpPr>
        <p:spPr>
          <a:xfrm>
            <a:off x="7848600" y="3676650"/>
            <a:ext cx="28194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02"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Difference between the center and target estimates bias.</a:t>
            </a:r>
          </a:p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Spread estimates standard error.</a:t>
            </a:r>
          </a:p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Shape supports probability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29051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POLL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5D6F8B-2CBA-47CA-9DE0-016CEAAD5CB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085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one exit-poll result is far from the null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7197E-D011-4B81-89CC-A3EC176125C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Null sampling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11E81-091F-4A45-8491-F651D3B0C11C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694"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proportion 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28652-8243-4C9A-992A-743DBF4394D3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0.500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9B74F-5F15-4B5B-ABFD-4E5FBC73CDB1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4348"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SE(p̂), percentage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A52FE-2E8D-42DE-9EB8-0766245D136C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1.05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2ADC72F-3439-49A8-87BD-23D4E9A9B67E}"/>
              </a:ext>
            </a:extLst>
          </p:cNvPr>
          <p:cNvSpPr>
            <a:spLocks noGrp="1"/>
          </p:cNvSpPr>
          <p:nvPr/>
        </p:nvSpPr>
        <p:spPr>
          <a:xfrm>
            <a:off x="5238750" y="1562100"/>
            <a:ext cx="5924550" cy="2933700"/>
          </a:xfrm>
          <a:prstGeom prst="roundRect">
            <a:avLst>
              <a:gd name="adj" fmla="val 779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815955-87CE-4FAC-9673-F1BEB97D3A7D}"/>
              </a:ext>
            </a:extLst>
          </p:cNvPr>
          <p:cNvSpPr>
            <a:spLocks noGrp="1"/>
          </p:cNvSpPr>
          <p:nvPr/>
        </p:nvSpPr>
        <p:spPr>
          <a:xfrm>
            <a:off x="5753100" y="1885950"/>
            <a:ext cx="489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037"/>
          </a:bodyPr>
          <a:lstStyle/>
          <a:p>
            <a:pPr algn="ctr">
              <a:buNone/>
              <a:defRPr sz="2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Observed California exit poll (n = 2,271)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BB8764-9709-41A6-A4E2-B035EB15CD60}"/>
              </a:ext>
            </a:extLst>
          </p:cNvPr>
          <p:cNvSpPr>
            <a:spLocks noGrp="1"/>
          </p:cNvSpPr>
          <p:nvPr/>
        </p:nvSpPr>
        <p:spPr>
          <a:xfrm>
            <a:off x="5943600" y="26860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Observed p̂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A9D02-05EC-448C-8E54-288AD6780AB8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0.655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AA317-BAD1-4C55-B884-D99736A52931}"/>
              </a:ext>
            </a:extLst>
          </p:cNvPr>
          <p:cNvSpPr>
            <a:spLocks noGrp="1"/>
          </p:cNvSpPr>
          <p:nvPr/>
        </p:nvSpPr>
        <p:spPr>
          <a:xfrm>
            <a:off x="5943600" y="35052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Null mean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00BEA3-14B1-463A-9022-FDEC2A8F9B4B}"/>
              </a:ext>
            </a:extLst>
          </p:cNvPr>
          <p:cNvSpPr>
            <a:spLocks noGrp="1"/>
          </p:cNvSpPr>
          <p:nvPr/>
        </p:nvSpPr>
        <p:spPr>
          <a:xfrm>
            <a:off x="7791450" y="33147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0.500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B88F9B-0630-4FCA-BFA6-9577CFF961A9}"/>
              </a:ext>
            </a:extLst>
          </p:cNvPr>
          <p:cNvSpPr>
            <a:spLocks noGrp="1"/>
          </p:cNvSpPr>
          <p:nvPr/>
        </p:nvSpPr>
        <p:spPr>
          <a:xfrm>
            <a:off x="7543800" y="39624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798"/>
          </a:bodyPr>
          <a:lstStyle/>
          <a:p>
            <a:pPr algn="ctr">
              <a:buNone/>
              <a:defRPr sz="1650" b="0" i="1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1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How unusual is 0.655 if π = 0.50?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79824-B915-4EDB-9CE0-978C3F05A23A}"/>
              </a:ext>
            </a:extLst>
          </p:cNvPr>
          <p:cNvSpPr>
            <a:spLocks noGrp="1"/>
          </p:cNvSpPr>
          <p:nvPr/>
        </p:nvSpPr>
        <p:spPr>
          <a:xfrm>
            <a:off x="1447800" y="4819650"/>
            <a:ext cx="929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86"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gap 0.155 is about 14.8 null SEs—extreme under the simple-random model. Actual exit polls also require design and nonresponse adjustments. · Textbook §3.1.1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17B01E-D9BE-442C-B1D0-B5802004E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71627-7203-4ED4-BDA3-D742CCCA48A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2222B-ABFD-4637-85E0-2E303A0890DB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BDF418-16C4-4EAC-9676-47E6ADA55F2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F5383E-1D37-4A99-BBC5-293D5A8D49E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648DC-5F30-4009-B0B8-EDDD6140406B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 · SIM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02B1-3E87-4CC0-ACBE-E0BB2D8FBFB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393F5-E7A3-4BD3-BAF1-3519C2A6C2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56D6-0C9F-4A13-A329-ED31F5E359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7D91B5-313E-4B28-96BB-76255EA2E5D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226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 in Python: repeat the entire poll one million times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94F003-A60F-4E84-9151-FB3492B99D4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858000" cy="4114800"/>
          </a:xfrm>
          <a:prstGeom prst="roundRect">
            <a:avLst>
              <a:gd name="adj" fmla="val 370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9494E-6B0C-423A-BE9B-F13EA2A3E581}"/>
              </a:ext>
            </a:extLst>
          </p:cNvPr>
          <p:cNvSpPr>
            <a:spLocks noGrp="1"/>
          </p:cNvSpPr>
          <p:nvPr/>
        </p:nvSpPr>
        <p:spPr>
          <a:xfrm>
            <a:off x="89535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REPRODUCIBLE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D06DE9-BC40-4024-BCAA-D87A8021825A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3543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r>
              <a:t>rng = np.random.default_rng(500)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n, pi, B = 2_271, 0.50, 1_000_000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p_hats = rng.binomial(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n=n, p=pi, size=B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 / n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p_hats.mean()       # ≈ 0.500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p_hats.std(ddof=1)  # ≈ 0.0105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E0E4E-143F-4BD6-AF16-A4C19240E175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960"/>
          </a:bodyPr>
          <a:lstStyle/>
          <a:p>
            <a:pPr algn="ctr">
              <a:buNone/>
              <a:def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Audit trail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86232-AEA5-4D5D-9E54-4DA2ADB2DAAB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3048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units in one poll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 = repeated polls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π = null population proportion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p̂ = statistic saved each time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seed = reproducible random stream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83D4E3-BE45-4D72-ACF1-713DB8D24226}"/>
              </a:ext>
            </a:extLst>
          </p:cNvPr>
          <p:cNvSpPr>
            <a:spLocks noGrp="1"/>
          </p:cNvSpPr>
          <p:nvPr/>
        </p:nvSpPr>
        <p:spPr>
          <a:xfrm>
            <a:off x="7924800" y="493395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9452"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The simulation repeats studies, not individual rows. · Textbook §3.1.1; Python Appendix B3.1</a:t>
            </a:r>
          </a:p>
        </p:txBody>
      </p:sp>
    </p:spTree>
    <p:extLst>
      <p:ext uri="{BB962C8B-B14F-4D97-AF65-F5344CB8AC3E}">
        <p14:creationId xmlns:p14="http://schemas.microsoft.com/office/powerpoint/2010/main" val="60651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C22BBB6-30CB-4071-9940-8C79E6C2CB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2176E-7622-4BF1-BF9E-BC03C1B6EC9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04F664-0357-4107-B8A9-093D5498FC3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33F86-68D9-40EB-8C2D-4BD72F44E40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C962D-DF6E-4E70-A820-F2DB80D7737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864225-39AF-4285-AEA9-4890D665C53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EEF9C3-7F11-4669-A9DF-7D8CD5C5077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1EA09-9FC7-4162-9A2F-48F3B5C29D6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D7E659-43D4-4509-A636-686F09864E7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BC40DA-3F47-428D-8C1B-AF6420693E1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Standard error is the standard deviation of a statistic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B042AC-DD06-4D84-B3A8-33AB52D87F24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4857750" cy="2381250"/>
          </a:xfrm>
          <a:prstGeom prst="roundRect">
            <a:avLst>
              <a:gd name="adj" fmla="val 8000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7EF01C-8C6D-47D1-ACB9-2046D43514EF}"/>
              </a:ext>
            </a:extLst>
          </p:cNvPr>
          <p:cNvSpPr>
            <a:spLocks noGrp="1"/>
          </p:cNvSpPr>
          <p:nvPr/>
        </p:nvSpPr>
        <p:spPr>
          <a:xfrm>
            <a:off x="1314450" y="2019300"/>
            <a:ext cx="3943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For a sample mean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EC325-2899-4B22-85A7-0714E2C7276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0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E(x̄) = μ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7BBB9A-4FBC-42A8-9280-6EFC9812DA22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0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SE(x̄) = σ / √n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B6DD3-21CA-4E65-8397-121A686DD217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What the formula says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8E10CA-F4AE-4718-912A-E1D9A38E4D88}"/>
              </a:ext>
            </a:extLst>
          </p:cNvPr>
          <p:cNvSpPr>
            <a:spLocks noGrp="1"/>
          </p:cNvSpPr>
          <p:nvPr/>
        </p:nvSpPr>
        <p:spPr>
          <a:xfrm>
            <a:off x="6572250" y="2305050"/>
            <a:ext cx="4572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sampling distribution is centered at μ when x̄ is unbiased.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Larger population spread produces a larger standard error.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Quadrupling n cuts standard error in half.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Standard error describes precision, not sampling or measurement bias.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02F6DAA-BBDB-491F-B793-7D2107153D56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C48805-4AD8-45C8-ADDB-798981139B65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 narrower sampling distribution means more reproducible estimates.</a:t>
            </a:r>
          </a:p>
        </p:txBody>
      </p:sp>
    </p:spTree>
    <p:extLst>
      <p:ext uri="{BB962C8B-B14F-4D97-AF65-F5344CB8AC3E}">
        <p14:creationId xmlns:p14="http://schemas.microsoft.com/office/powerpoint/2010/main" val="169383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4920128-65FC-4FA9-93F3-C8A0BBEE59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161AB7-B1A0-4190-99FA-C2403F89E06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382FF-661F-4AA6-AD5D-C4B9CC61883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AF40A-A244-4303-B5CC-25844E50CD0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BB505-19DA-494A-9118-2345E2305DB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7CFF3-EB5F-4C02-AF4A-DCC69D228D19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4FB01-AE7A-4240-9819-54A358BA866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AA7F4-32AC-4688-A9E3-1410F587A46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11645-C269-4827-B3D0-88662AB6C70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290926-DFA1-4EE1-B537-3BECE019D30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Identify what varies before choosing a formula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D0B68A-6162-4996-A3CE-6132458AC751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609600" cy="6096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0A7ED-C34B-43E4-BC3B-958BDA5E02CF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69F45C-4E79-4CEF-8859-2D35F61D2177}"/>
              </a:ext>
            </a:extLst>
          </p:cNvPr>
          <p:cNvSpPr>
            <a:spLocks noGrp="1"/>
          </p:cNvSpPr>
          <p:nvPr/>
        </p:nvSpPr>
        <p:spPr>
          <a:xfrm>
            <a:off x="1771650" y="16192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histogram of 100 student GPAs from one survey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490084-CD8B-4D2C-A03C-00E0200CC433}"/>
              </a:ext>
            </a:extLst>
          </p:cNvPr>
          <p:cNvSpPr>
            <a:spLocks noGrp="1"/>
          </p:cNvSpPr>
          <p:nvPr/>
        </p:nvSpPr>
        <p:spPr>
          <a:xfrm>
            <a:off x="8858250" y="17335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392"/>
          </a:bodyPr>
          <a:lstStyle/>
          <a:p>
            <a:pPr algn="ctr">
              <a:buNone/>
              <a:def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population / sample / sampling / SE?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75998D-D6FB-49A5-99AC-1472FCBE9D50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609600" cy="6096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F0BCA8-2409-45AF-B948-53250139944F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BEA743-BFC3-486D-9256-7C119E4064B1}"/>
              </a:ext>
            </a:extLst>
          </p:cNvPr>
          <p:cNvSpPr>
            <a:spLocks noGrp="1"/>
          </p:cNvSpPr>
          <p:nvPr/>
        </p:nvSpPr>
        <p:spPr>
          <a:xfrm>
            <a:off x="1771650" y="25717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histogram of 10,000 means from samples of 100 students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717A01-9F22-4EB9-A6F9-6C153AD37630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392"/>
          </a:bodyPr>
          <a:lstStyle/>
          <a:p>
            <a:pPr algn="ctr">
              <a:buNone/>
              <a:def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population / sample / sampling / SE?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30645C-5091-4FC9-BBD0-8D5AFC9A5137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609600" cy="6096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F43315-B4F1-4C03-BC38-43245AA1D82B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7886CB-D52D-43A4-8D3B-1F1A5625FBF3}"/>
              </a:ext>
            </a:extLst>
          </p:cNvPr>
          <p:cNvSpPr>
            <a:spLocks noGrp="1"/>
          </p:cNvSpPr>
          <p:nvPr/>
        </p:nvSpPr>
        <p:spPr>
          <a:xfrm>
            <a:off x="1771650" y="35242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distribution of all individual GPAs at the university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66BD2-3E7B-481B-8D44-8B0BE8ED44DC}"/>
              </a:ext>
            </a:extLst>
          </p:cNvPr>
          <p:cNvSpPr>
            <a:spLocks noGrp="1"/>
          </p:cNvSpPr>
          <p:nvPr/>
        </p:nvSpPr>
        <p:spPr>
          <a:xfrm>
            <a:off x="8858250" y="36385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392"/>
          </a:bodyPr>
          <a:lstStyle/>
          <a:p>
            <a:pPr algn="ctr">
              <a:buNone/>
              <a:def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population / sample / sampling / SE?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EBD7772-C1DE-4270-8695-C470DE3A578E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609600" cy="6096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5328D5-467A-4BC8-92FB-516C3A480450}"/>
              </a:ext>
            </a:extLst>
          </p:cNvPr>
          <p:cNvSpPr>
            <a:spLocks noGrp="1"/>
          </p:cNvSpPr>
          <p:nvPr/>
        </p:nvSpPr>
        <p:spPr>
          <a:xfrm>
            <a:off x="800100" y="44958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A0AEAF-0191-4E92-9348-1E2D4F352B45}"/>
              </a:ext>
            </a:extLst>
          </p:cNvPr>
          <p:cNvSpPr>
            <a:spLocks noGrp="1"/>
          </p:cNvSpPr>
          <p:nvPr/>
        </p:nvSpPr>
        <p:spPr>
          <a:xfrm>
            <a:off x="1771650" y="44767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standard deviation of the 10,000 simulated means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DF1F41-1282-4DE4-9041-09846C3D2FFA}"/>
              </a:ext>
            </a:extLst>
          </p:cNvPr>
          <p:cNvSpPr>
            <a:spLocks noGrp="1"/>
          </p:cNvSpPr>
          <p:nvPr/>
        </p:nvSpPr>
        <p:spPr>
          <a:xfrm>
            <a:off x="8858250" y="4591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392"/>
          </a:bodyPr>
          <a:lstStyle/>
          <a:p>
            <a:pPr algn="ctr">
              <a:buNone/>
              <a:def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population / sample / sampling / SE?</a:t>
            </a:r>
          </a:p>
        </p:txBody>
      </p:sp>
    </p:spTree>
    <p:extLst>
      <p:ext uri="{BB962C8B-B14F-4D97-AF65-F5344CB8AC3E}">
        <p14:creationId xmlns:p14="http://schemas.microsoft.com/office/powerpoint/2010/main" val="1303695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0ED582-8648-4051-90B5-EE3A10F487E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D1C69-1BE0-4F17-AB5F-55BBF899F31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081DF-F430-4ADF-A508-BD15C6225914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Central Limit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12171-CAC6-4379-BC97-CE3AF270A71B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FDC69-B48C-4AB1-878A-92A6906264E0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The CLT explains why many statistics become predictable even when individual observations are not normal.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6CBA6-4737-4AFD-A857-B1788D3C879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72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DC21380-8B6A-47C8-B208-5F1899B7DD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1A9EA3-4C21-4992-9854-61597886CBF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4A2A74-F97B-4BF1-9E49-8770DC549E0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F1DEA-5A6F-470A-B330-DDFE4B4A6B5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8A5C4-6BBB-4DF9-A548-ACCDE6D0E66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B2A94-DCD4-4F33-899B-8F493EC7F84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4ED36F-10FD-4A26-94B9-4BFB7A7C300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6B89A7-6FD6-40D2-BA90-DA8E5038683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29FA7A-EFEB-47AE-BB4D-5D4E58FE74B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7DBD2D-557F-4FF8-A705-0A56A451C01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CLT describes the standardized mean across repeated samples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568C6C-C7B6-4630-B989-E8F5F19702C0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10553700" cy="1504950"/>
          </a:xfrm>
          <a:prstGeom prst="roundRect">
            <a:avLst>
              <a:gd name="adj" fmla="val 12658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9FAFB4-C41A-411B-95D4-90B1C600CFE9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9753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For i.i.d. observations with finite mean μ and variance σ²,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656E9-707D-45BA-BBEC-0AB4C5A6DE77}"/>
              </a:ext>
            </a:extLst>
          </p:cNvPr>
          <p:cNvSpPr>
            <a:spLocks noGrp="1"/>
          </p:cNvSpPr>
          <p:nvPr/>
        </p:nvSpPr>
        <p:spPr>
          <a:xfrm>
            <a:off x="1504950" y="2476500"/>
            <a:ext cx="918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(x̄ - μ) / (σ / √n)  →ᵈ  N(0,1) as n grows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351A2F-EBA1-47EC-BA53-28FE13A65B45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Random / i.i.d.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98EC85-B77E-4579-8720-666C4B54F57C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sampling mechanism must support the model.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DC05F6-9CA0-4858-9689-EFC2B67835FA}"/>
              </a:ext>
            </a:extLst>
          </p:cNvPr>
          <p:cNvSpPr>
            <a:spLocks noGrp="1"/>
          </p:cNvSpPr>
          <p:nvPr/>
        </p:nvSpPr>
        <p:spPr>
          <a:xfrm>
            <a:off x="4514850" y="36385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Finite variance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E3A25F-026F-4351-8E40-D279A893333C}"/>
              </a:ext>
            </a:extLst>
          </p:cNvPr>
          <p:cNvSpPr>
            <a:spLocks noGrp="1"/>
          </p:cNvSpPr>
          <p:nvPr/>
        </p:nvSpPr>
        <p:spPr>
          <a:xfrm>
            <a:off x="4610100" y="4171950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Heavy-tailed populations can defeat the usual result.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88F627-6B32-4F48-B52B-A234F6792366}"/>
              </a:ext>
            </a:extLst>
          </p:cNvPr>
          <p:cNvSpPr>
            <a:spLocks noGrp="1"/>
          </p:cNvSpPr>
          <p:nvPr/>
        </p:nvSpPr>
        <p:spPr>
          <a:xfrm>
            <a:off x="8229600" y="36385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n is contextual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202CD4-7E55-42EF-B9C6-86E49D6210FF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More skewness or tail weight generally requires a larger 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F654CF-E5D7-4F5E-A8E6-D3671D06D426}"/>
              </a:ext>
            </a:extLst>
          </p:cNvPr>
          <p:cNvSpPr>
            <a:spLocks noGrp="1"/>
          </p:cNvSpPr>
          <p:nvPr/>
        </p:nvSpPr>
        <p:spPr>
          <a:xfrm>
            <a:off x="3524250" y="52197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rPr>
              <a:t>There is no universal n = 30 guarantee.</a:t>
            </a:r>
          </a:p>
        </p:txBody>
      </p:sp>
    </p:spTree>
    <p:extLst>
      <p:ext uri="{BB962C8B-B14F-4D97-AF65-F5344CB8AC3E}">
        <p14:creationId xmlns:p14="http://schemas.microsoft.com/office/powerpoint/2010/main" val="1745232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9F169F-E400-4B10-A20C-0C744A0352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0039A5-E653-40A3-B5C8-98D35DFE82A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A4B455-5626-4F2D-A529-6E4BFDAB90E8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B4905-F838-4593-892C-25FC4138921B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ADC00-9C72-4BBE-A8CB-D338E1A3B21F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95D05B-34DD-4503-8482-76EA167802EF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5BE8A4-B582-4A03-8521-4796EB30571E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BF182-4562-48BE-8EA3-AFFD76E82C8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D1A50-EB4A-4ED5-8DAC-28FD5ACA9E0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742DCB-E70A-48AB-90D2-72D071A36C2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Averages of dice rolls become smoother and more concentrated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666750" y="1581150"/>
          <a:ext cx="7848600" cy="3752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25D46C5-9BA4-42EE-AEE5-1D2FDA89DEC7}"/>
              </a:ext>
            </a:extLst>
          </p:cNvPr>
          <p:cNvSpPr>
            <a:spLocks noGrp="1"/>
          </p:cNvSpPr>
          <p:nvPr/>
        </p:nvSpPr>
        <p:spPr>
          <a:xfrm>
            <a:off x="9010650" y="18478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444"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1C2E5-B56C-4FD9-9405-7203A3A5EA76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3.5 for every 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5297C5-7F4C-4981-979E-5E5D41984460}"/>
              </a:ext>
            </a:extLst>
          </p:cNvPr>
          <p:cNvSpPr>
            <a:spLocks noGrp="1"/>
          </p:cNvSpPr>
          <p:nvPr/>
        </p:nvSpPr>
        <p:spPr>
          <a:xfrm>
            <a:off x="9010650" y="30670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444"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Spread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DFABF-FBEF-4B27-B84D-564777A9BF59}"/>
              </a:ext>
            </a:extLst>
          </p:cNvPr>
          <p:cNvSpPr>
            <a:spLocks noGrp="1"/>
          </p:cNvSpPr>
          <p:nvPr/>
        </p:nvSpPr>
        <p:spPr>
          <a:xfrm>
            <a:off x="9010650" y="34861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shrinks as 1/√n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23C689-24DD-4410-AD67-C5BFD8753E29}"/>
              </a:ext>
            </a:extLst>
          </p:cNvPr>
          <p:cNvSpPr>
            <a:spLocks noGrp="1"/>
          </p:cNvSpPr>
          <p:nvPr/>
        </p:nvSpPr>
        <p:spPr>
          <a:xfrm>
            <a:off x="9010650" y="42672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444"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Shape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609ABC-2FDD-4696-B1EE-DBD7A2CF7B12}"/>
              </a:ext>
            </a:extLst>
          </p:cNvPr>
          <p:cNvSpPr>
            <a:spLocks noGrp="1"/>
          </p:cNvSpPr>
          <p:nvPr/>
        </p:nvSpPr>
        <p:spPr>
          <a:xfrm>
            <a:off x="8820150" y="46863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approaches Normal</a:t>
            </a:r>
          </a:p>
        </p:txBody>
      </p:sp>
    </p:spTree>
    <p:extLst>
      <p:ext uri="{BB962C8B-B14F-4D97-AF65-F5344CB8AC3E}">
        <p14:creationId xmlns:p14="http://schemas.microsoft.com/office/powerpoint/2010/main" val="337479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50C0D2B-A712-452A-B8EA-9F8CF086C7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47D173-3F15-40DF-82D2-D7669442789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15482-E82C-4248-BAC6-2691E11812CD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44813-51A5-4420-9BAD-8DFC17569ABB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10348-EBAB-47E9-BFF6-8F57C008F17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FF62A-724E-4586-940C-D3BDB99FC03C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1C02E-9FB9-41D8-B52F-CBA82AD6EA75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43FB19-5D4A-4F7F-A94E-4F67C200238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03D10-C69D-4DB6-8EDC-C68F66523E7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030B93-9DCA-4A5A-A8FA-8225C0C27B5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skewed Gamma population can produce nearly Normal sample means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666750" y="1581150"/>
          <a:ext cx="8001000" cy="386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F02504A-DE7D-42DE-9E0A-1AB48EE6A6CF}"/>
              </a:ext>
            </a:extLst>
          </p:cNvPr>
          <p:cNvSpPr>
            <a:spLocks noGrp="1"/>
          </p:cNvSpPr>
          <p:nvPr/>
        </p:nvSpPr>
        <p:spPr>
          <a:xfrm>
            <a:off x="9124950" y="18669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Population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F76F46-AAE6-4E13-8FCD-843FFE84AF02}"/>
              </a:ext>
            </a:extLst>
          </p:cNvPr>
          <p:cNvSpPr>
            <a:spLocks noGrp="1"/>
          </p:cNvSpPr>
          <p:nvPr/>
        </p:nvSpPr>
        <p:spPr>
          <a:xfrm>
            <a:off x="9124950" y="2324100"/>
            <a:ext cx="180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right-skewed</a:t>
            </a:r>
          </a:p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σ = 7.75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198540-9864-40AD-A8A1-504F3FE7EE35}"/>
              </a:ext>
            </a:extLst>
          </p:cNvPr>
          <p:cNvSpPr>
            <a:spLocks noGrp="1"/>
          </p:cNvSpPr>
          <p:nvPr/>
        </p:nvSpPr>
        <p:spPr>
          <a:xfrm>
            <a:off x="8934450" y="34099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Sample means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2E32C-1A49-49DF-99AE-8C2ABCF9D4EC}"/>
              </a:ext>
            </a:extLst>
          </p:cNvPr>
          <p:cNvSpPr>
            <a:spLocks noGrp="1"/>
          </p:cNvSpPr>
          <p:nvPr/>
        </p:nvSpPr>
        <p:spPr>
          <a:xfrm>
            <a:off x="8934450" y="386715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approximately Normal</a:t>
            </a:r>
          </a:p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 ≈ 0.55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219AAB-1627-4795-AD9C-FE7FD071CB77}"/>
              </a:ext>
            </a:extLst>
          </p:cNvPr>
          <p:cNvSpPr>
            <a:spLocks noGrp="1"/>
          </p:cNvSpPr>
          <p:nvPr/>
        </p:nvSpPr>
        <p:spPr>
          <a:xfrm>
            <a:off x="8515350" y="4914900"/>
            <a:ext cx="2914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9710"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Same center. Very different shape and spread.</a:t>
            </a:r>
          </a:p>
        </p:txBody>
      </p:sp>
    </p:spTree>
    <p:extLst>
      <p:ext uri="{BB962C8B-B14F-4D97-AF65-F5344CB8AC3E}">
        <p14:creationId xmlns:p14="http://schemas.microsoft.com/office/powerpoint/2010/main" val="587930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70C76F-8083-4714-A21C-FDFB54E758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1C3E-EA5B-445F-AE73-9638CA27221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F9ACEF-18CD-4EF0-95B6-F4306B4EE2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47A885-9A39-44DA-948B-FB67476745D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A9AC8-ED0C-405A-AEF2-6FBCCF15E83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94CE6-A012-4569-89BD-CE681F168747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LLN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5C6CA-08B4-4D86-804B-002F53B6EA9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1052EE-B674-4295-A7F2-B688E0C2CAE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F3422-CF5E-4E49-819A-A8A76480714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8CEE48-2DDA-4A6C-9034-8AEC2BBD55C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9049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Law of Large Numbers pulls sample means toward 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7985B-52CB-4920-AA8D-8D2320DD249F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251460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34A0A-C4EC-4161-800D-A503A4B42F06}"/>
              </a:ext>
            </a:extLst>
          </p:cNvPr>
          <p:cNvSpPr>
            <a:spLocks noGrp="1"/>
          </p:cNvSpPr>
          <p:nvPr/>
        </p:nvSpPr>
        <p:spPr>
          <a:xfrm>
            <a:off x="704850" y="160972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Population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9D9338-CF8C-49A0-9B34-DF03914E1570}"/>
              </a:ext>
            </a:extLst>
          </p:cNvPr>
          <p:cNvSpPr>
            <a:spLocks noGrp="1"/>
          </p:cNvSpPr>
          <p:nvPr/>
        </p:nvSpPr>
        <p:spPr>
          <a:xfrm>
            <a:off x="3162300" y="1581150"/>
            <a:ext cx="318516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97B65-C3B4-4251-88C6-D48A005C5FB0}"/>
              </a:ext>
            </a:extLst>
          </p:cNvPr>
          <p:cNvSpPr>
            <a:spLocks noGrp="1"/>
          </p:cNvSpPr>
          <p:nvPr/>
        </p:nvSpPr>
        <p:spPr>
          <a:xfrm>
            <a:off x="3219450" y="160972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Sample size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4B1314-75CD-46C3-B9BE-D4A4E7294354}"/>
              </a:ext>
            </a:extLst>
          </p:cNvPr>
          <p:cNvSpPr>
            <a:spLocks noGrp="1"/>
          </p:cNvSpPr>
          <p:nvPr/>
        </p:nvSpPr>
        <p:spPr>
          <a:xfrm>
            <a:off x="6347460" y="1581150"/>
            <a:ext cx="184404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097225-586A-47B3-8987-E124BE1B8774}"/>
              </a:ext>
            </a:extLst>
          </p:cNvPr>
          <p:cNvSpPr>
            <a:spLocks noGrp="1"/>
          </p:cNvSpPr>
          <p:nvPr/>
        </p:nvSpPr>
        <p:spPr>
          <a:xfrm>
            <a:off x="6404610" y="160972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simulated mean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3620A-1351-4918-8185-2A0EB5C05F53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335280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A54E7A-D711-4415-B026-43553D64522D}"/>
              </a:ext>
            </a:extLst>
          </p:cNvPr>
          <p:cNvSpPr>
            <a:spLocks noGrp="1"/>
          </p:cNvSpPr>
          <p:nvPr/>
        </p:nvSpPr>
        <p:spPr>
          <a:xfrm>
            <a:off x="8248650" y="16097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the run illustrates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8B4F26-E6CC-43CB-AD46-9ECA7C77500E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2514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FAC296-6A91-4ED6-B7C1-B3BFD546FA0A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Uniform [0, 100]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D4C40-8EFB-4F52-9B46-2EDA082DCB95}"/>
              </a:ext>
            </a:extLst>
          </p:cNvPr>
          <p:cNvSpPr>
            <a:spLocks noGrp="1"/>
          </p:cNvSpPr>
          <p:nvPr/>
        </p:nvSpPr>
        <p:spPr>
          <a:xfrm>
            <a:off x="3162300" y="2400300"/>
            <a:ext cx="318516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7806B-9B6F-44CA-8542-A7550509D6B1}"/>
              </a:ext>
            </a:extLst>
          </p:cNvPr>
          <p:cNvSpPr>
            <a:spLocks noGrp="1"/>
          </p:cNvSpPr>
          <p:nvPr/>
        </p:nvSpPr>
        <p:spPr>
          <a:xfrm>
            <a:off x="3219450" y="242887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F2314E-E92A-420C-B1C2-F665753A92B3}"/>
              </a:ext>
            </a:extLst>
          </p:cNvPr>
          <p:cNvSpPr>
            <a:spLocks noGrp="1"/>
          </p:cNvSpPr>
          <p:nvPr/>
        </p:nvSpPr>
        <p:spPr>
          <a:xfrm>
            <a:off x="6347460" y="2400300"/>
            <a:ext cx="184404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825D4-8362-4433-9185-51CE07D3E6CA}"/>
              </a:ext>
            </a:extLst>
          </p:cNvPr>
          <p:cNvSpPr>
            <a:spLocks noGrp="1"/>
          </p:cNvSpPr>
          <p:nvPr/>
        </p:nvSpPr>
        <p:spPr>
          <a:xfrm>
            <a:off x="6404610" y="242887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27.1207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EFECB-1045-4FA9-A2CA-932495F9985E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33528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1B8629-3767-4A2B-B14C-B258EFFCEECE}"/>
              </a:ext>
            </a:extLst>
          </p:cNvPr>
          <p:cNvSpPr>
            <a:spLocks noGrp="1"/>
          </p:cNvSpPr>
          <p:nvPr/>
        </p:nvSpPr>
        <p:spPr>
          <a:xfrm>
            <a:off x="8248650" y="242887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small sample can land far from μ = 50.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A4F954-173D-441F-9C08-65BD33FA5282}"/>
              </a:ext>
            </a:extLst>
          </p:cNvPr>
          <p:cNvSpPr>
            <a:spLocks noGrp="1"/>
          </p:cNvSpPr>
          <p:nvPr/>
        </p:nvSpPr>
        <p:spPr>
          <a:xfrm>
            <a:off x="647700" y="3219450"/>
            <a:ext cx="251460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B5A00A-0FD1-4EF9-B568-F2413FDFC4E6}"/>
              </a:ext>
            </a:extLst>
          </p:cNvPr>
          <p:cNvSpPr>
            <a:spLocks noGrp="1"/>
          </p:cNvSpPr>
          <p:nvPr/>
        </p:nvSpPr>
        <p:spPr>
          <a:xfrm>
            <a:off x="704850" y="324802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Uniform [0, 100]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D6DCF-D5AB-43A3-B70A-D0DB2DAF2A73}"/>
              </a:ext>
            </a:extLst>
          </p:cNvPr>
          <p:cNvSpPr>
            <a:spLocks noGrp="1"/>
          </p:cNvSpPr>
          <p:nvPr/>
        </p:nvSpPr>
        <p:spPr>
          <a:xfrm>
            <a:off x="3162300" y="3219450"/>
            <a:ext cx="318516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9D80A2-41DF-4B6D-9C02-FF35E021EF52}"/>
              </a:ext>
            </a:extLst>
          </p:cNvPr>
          <p:cNvSpPr>
            <a:spLocks noGrp="1"/>
          </p:cNvSpPr>
          <p:nvPr/>
        </p:nvSpPr>
        <p:spPr>
          <a:xfrm>
            <a:off x="3219450" y="324802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1,000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67FCCC-B718-47C4-906E-F2B7E677D06A}"/>
              </a:ext>
            </a:extLst>
          </p:cNvPr>
          <p:cNvSpPr>
            <a:spLocks noGrp="1"/>
          </p:cNvSpPr>
          <p:nvPr/>
        </p:nvSpPr>
        <p:spPr>
          <a:xfrm>
            <a:off x="6347460" y="3219450"/>
            <a:ext cx="184404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24C47D-0D5A-4ACA-8D7D-18B451118452}"/>
              </a:ext>
            </a:extLst>
          </p:cNvPr>
          <p:cNvSpPr>
            <a:spLocks noGrp="1"/>
          </p:cNvSpPr>
          <p:nvPr/>
        </p:nvSpPr>
        <p:spPr>
          <a:xfrm>
            <a:off x="6404610" y="324802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49.9554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8C1BDF-2BB1-4024-A2AF-EE51C03566B6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335280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666834-CAE9-4CEC-BB59-5EAAB4450C75}"/>
              </a:ext>
            </a:extLst>
          </p:cNvPr>
          <p:cNvSpPr>
            <a:spLocks noGrp="1"/>
          </p:cNvSpPr>
          <p:nvPr/>
        </p:nvSpPr>
        <p:spPr>
          <a:xfrm>
            <a:off x="8248650" y="32480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sample mean is much closer to μ.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09C653-1C2D-4B2C-96FE-F0384A06BCAA}"/>
              </a:ext>
            </a:extLst>
          </p:cNvPr>
          <p:cNvSpPr>
            <a:spLocks noGrp="1"/>
          </p:cNvSpPr>
          <p:nvPr/>
        </p:nvSpPr>
        <p:spPr>
          <a:xfrm>
            <a:off x="647700" y="4038600"/>
            <a:ext cx="2514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D6F6A4-4CED-4F4D-B094-80E2BF6D2F2D}"/>
              </a:ext>
            </a:extLst>
          </p:cNvPr>
          <p:cNvSpPr>
            <a:spLocks noGrp="1"/>
          </p:cNvSpPr>
          <p:nvPr/>
        </p:nvSpPr>
        <p:spPr>
          <a:xfrm>
            <a:off x="704850" y="406717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Uniform [0, 100]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1EF4C8-EFE5-49FC-A2C4-29AD88B8CCDA}"/>
              </a:ext>
            </a:extLst>
          </p:cNvPr>
          <p:cNvSpPr>
            <a:spLocks noGrp="1"/>
          </p:cNvSpPr>
          <p:nvPr/>
        </p:nvSpPr>
        <p:spPr>
          <a:xfrm>
            <a:off x="3162300" y="4038600"/>
            <a:ext cx="318516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59D62F-E1F0-4620-8D91-789BFBA97927}"/>
              </a:ext>
            </a:extLst>
          </p:cNvPr>
          <p:cNvSpPr>
            <a:spLocks noGrp="1"/>
          </p:cNvSpPr>
          <p:nvPr/>
        </p:nvSpPr>
        <p:spPr>
          <a:xfrm>
            <a:off x="3219450" y="406717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10,000,000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C87D04-D122-4B4B-8402-2BD239DA098E}"/>
              </a:ext>
            </a:extLst>
          </p:cNvPr>
          <p:cNvSpPr>
            <a:spLocks noGrp="1"/>
          </p:cNvSpPr>
          <p:nvPr/>
        </p:nvSpPr>
        <p:spPr>
          <a:xfrm>
            <a:off x="6347460" y="4038600"/>
            <a:ext cx="184404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376365-1EFD-45B1-AAD6-0E4D14CB04FD}"/>
              </a:ext>
            </a:extLst>
          </p:cNvPr>
          <p:cNvSpPr>
            <a:spLocks noGrp="1"/>
          </p:cNvSpPr>
          <p:nvPr/>
        </p:nvSpPr>
        <p:spPr>
          <a:xfrm>
            <a:off x="6404610" y="406717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49.9994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5FFCBC-D9F3-4F68-82F2-ED78EFBB6AA4}"/>
              </a:ext>
            </a:extLst>
          </p:cNvPr>
          <p:cNvSpPr>
            <a:spLocks noGrp="1"/>
          </p:cNvSpPr>
          <p:nvPr/>
        </p:nvSpPr>
        <p:spPr>
          <a:xfrm>
            <a:off x="8191500" y="4038600"/>
            <a:ext cx="33528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CFEEBC-05AC-45C3-9057-25411655D987}"/>
              </a:ext>
            </a:extLst>
          </p:cNvPr>
          <p:cNvSpPr>
            <a:spLocks noGrp="1"/>
          </p:cNvSpPr>
          <p:nvPr/>
        </p:nvSpPr>
        <p:spPr>
          <a:xfrm>
            <a:off x="8248650" y="406717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Long-run averaging is visible numerically.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C252D2-D5D4-4943-9D55-0DE71EF865D7}"/>
              </a:ext>
            </a:extLst>
          </p:cNvPr>
          <p:cNvSpPr>
            <a:spLocks noGrp="1"/>
          </p:cNvSpPr>
          <p:nvPr/>
        </p:nvSpPr>
        <p:spPr>
          <a:xfrm>
            <a:off x="1562100" y="5124450"/>
            <a:ext cx="906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7901"/>
          </a:bodyPr>
          <a:lstStyle/>
          <a:p>
            <a:pPr algn="ctr">
              <a:buNone/>
              <a:def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LLN concerns convergence of x̄; it does not say one small sample must be close. · Textbook §3.2.5; Appendix B3.2</a:t>
            </a:r>
          </a:p>
        </p:txBody>
      </p:sp>
    </p:spTree>
    <p:extLst>
      <p:ext uri="{BB962C8B-B14F-4D97-AF65-F5344CB8AC3E}">
        <p14:creationId xmlns:p14="http://schemas.microsoft.com/office/powerpoint/2010/main" val="8255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0D02EEA-19D7-491D-9B74-CCEC89C1B9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6128C-EECA-47E9-820D-13E28C1B9E7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58530-EF1A-4F72-9C3D-ED318286B225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60E8D-4FC6-4222-B573-0BFF2E2D9D9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817F3-F2C0-4596-8729-32E610B1283D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35F2A-254C-489E-AF1D-DC1DFFF3C12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34FE5-5AED-4B96-81D2-6FC9C6E68F3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A59D34-87A2-4A36-A0ED-A2AA75DAB51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00EA3A-D582-467A-BD4A-DF725712DF4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76A00F-2C66-4F52-B5BA-4843AD28A31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 size changes precision through the square-root law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="704850" y="1600200"/>
          <a:ext cx="7810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18D1C9D-7D8E-4171-B6C6-87F27E66E57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n =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C03E71-CACC-4572-AFAC-2D17A8D22FE7}"/>
              </a:ext>
            </a:extLst>
          </p:cNvPr>
          <p:cNvSpPr>
            <a:spLocks noGrp="1"/>
          </p:cNvSpPr>
          <p:nvPr/>
        </p:nvSpPr>
        <p:spPr>
          <a:xfrm>
            <a:off x="901065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 = 3.79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E588E9-8F6A-4FC8-86EB-D6CA0859160B}"/>
              </a:ext>
            </a:extLst>
          </p:cNvPr>
          <p:cNvSpPr>
            <a:spLocks noGrp="1"/>
          </p:cNvSpPr>
          <p:nvPr/>
        </p:nvSpPr>
        <p:spPr>
          <a:xfrm>
            <a:off x="9010650" y="28384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n = 40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E00CB-2801-43F3-B6DF-DC2BBBE208EC}"/>
              </a:ext>
            </a:extLst>
          </p:cNvPr>
          <p:cNvSpPr>
            <a:spLocks noGrp="1"/>
          </p:cNvSpPr>
          <p:nvPr/>
        </p:nvSpPr>
        <p:spPr>
          <a:xfrm>
            <a:off x="9010650" y="3238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 = 1.90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967AD2-812B-4DDF-A015-CC170969955E}"/>
              </a:ext>
            </a:extLst>
          </p:cNvPr>
          <p:cNvSpPr>
            <a:spLocks noGrp="1"/>
          </p:cNvSpPr>
          <p:nvPr/>
        </p:nvSpPr>
        <p:spPr>
          <a:xfrm>
            <a:off x="9010650" y="38671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n = 160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C149C1-E8CB-4D4B-8C12-DDF3FB903C16}"/>
              </a:ext>
            </a:extLst>
          </p:cNvPr>
          <p:cNvSpPr>
            <a:spLocks noGrp="1"/>
          </p:cNvSpPr>
          <p:nvPr/>
        </p:nvSpPr>
        <p:spPr>
          <a:xfrm>
            <a:off x="9010650" y="4267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 = 0.95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87215-C05D-4789-BFED-FFC428041034}"/>
              </a:ext>
            </a:extLst>
          </p:cNvPr>
          <p:cNvSpPr>
            <a:spLocks noGrp="1"/>
          </p:cNvSpPr>
          <p:nvPr/>
        </p:nvSpPr>
        <p:spPr>
          <a:xfrm>
            <a:off x="8686800" y="48958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389"/>
          </a:bodyPr>
          <a:lstStyle/>
          <a:p>
            <a:pPr algn="ctr">
              <a:buNone/>
              <a:defRPr sz="18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16× the data → one-fourth the SE</a:t>
            </a:r>
          </a:p>
        </p:txBody>
      </p:sp>
    </p:spTree>
    <p:extLst>
      <p:ext uri="{BB962C8B-B14F-4D97-AF65-F5344CB8AC3E}">
        <p14:creationId xmlns:p14="http://schemas.microsoft.com/office/powerpoint/2010/main" val="1302729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2C96023-A6DB-4900-B031-734EF54AA5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2967D-0052-48B9-BABB-6FDE6C2E4794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D30DE-6DB7-4418-8539-C72235014DF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B19E6-5DE3-4F6C-B9BC-84FA7806B44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AA34D-33D7-4578-B637-9F5C6850C51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CEF4C4-02F6-42CB-B96B-4ABFFB0B4BDF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377AE-1F53-4BF6-964B-2DB0A53E360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91C96-D34F-45D7-9A5E-AAE1FEA935A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F7EC8-F74E-45F9-B6F3-FB1EE3F9DEA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939ABB-C9B1-42AF-A5DA-146B42201A3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More repetitions smooth the picture; larger n narrows the distribution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514350" y="1752600"/>
          <a:ext cx="5143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="6534150" y="1752600"/>
          <a:ext cx="5143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D7DCAFF-1847-46EF-AB83-E85E5C8A31E4}"/>
              </a:ext>
            </a:extLst>
          </p:cNvPr>
          <p:cNvSpPr>
            <a:spLocks noGrp="1"/>
          </p:cNvSpPr>
          <p:nvPr/>
        </p:nvSpPr>
        <p:spPr>
          <a:xfrm>
            <a:off x="2076450" y="14478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38"/>
          </a:bodyPr>
          <a:lstStyle/>
          <a:p>
            <a:pPr algn="ctr">
              <a:buNone/>
              <a:defRPr sz="21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B = 100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A4BB25-6E64-460B-A5D4-4D4C761A27F2}"/>
              </a:ext>
            </a:extLst>
          </p:cNvPr>
          <p:cNvSpPr>
            <a:spLocks noGrp="1"/>
          </p:cNvSpPr>
          <p:nvPr/>
        </p:nvSpPr>
        <p:spPr>
          <a:xfrm>
            <a:off x="8096250" y="14478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38"/>
          </a:bodyPr>
          <a:lstStyle/>
          <a:p>
            <a:pPr algn="ctr">
              <a:buNone/>
              <a:defRPr sz="21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B = 10,000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4EB939-1B9D-40DF-9F8A-BAA3995D56D2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27A6AE-7073-4E57-9EFD-E784DABAD07A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B controls Monte Carlo noise. n controls statistical precision.</a:t>
            </a:r>
          </a:p>
        </p:txBody>
      </p:sp>
    </p:spTree>
    <p:extLst>
      <p:ext uri="{BB962C8B-B14F-4D97-AF65-F5344CB8AC3E}">
        <p14:creationId xmlns:p14="http://schemas.microsoft.com/office/powerpoint/2010/main" val="1056910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7C018C2-0D6B-49C4-BDC7-7918BF0BF5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424D67-0C83-4CF0-90FD-D91C8C2EBC0A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C846A-7A76-42EF-9606-B973507627E9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707C84-6DAD-4A8C-A329-9FC80622A4DB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3C11E-162D-423B-8F65-77D17F8C3CA0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19775-1529-4232-B54B-88FFFCF60F3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C398A-3962-4657-BD8B-C33C31734BE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C9CA7-36F0-44DD-BDF3-24AC01EFD42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797E24-81F1-4DAB-8745-43DDC0809C0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D44DC7-884E-427B-9508-37A3730C13A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 proportions have their own center and standard error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152796-95F0-4086-ABAB-185AC9C91347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095750" cy="2324100"/>
          </a:xfrm>
          <a:prstGeom prst="roundRect">
            <a:avLst>
              <a:gd name="adj" fmla="val 8197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ECC8BD-9959-4FFE-8E10-21204E41EA33}"/>
              </a:ext>
            </a:extLst>
          </p:cNvPr>
          <p:cNvSpPr>
            <a:spLocks noGrp="1"/>
          </p:cNvSpPr>
          <p:nvPr/>
        </p:nvSpPr>
        <p:spPr>
          <a:xfrm>
            <a:off x="1200150" y="21526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1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E(p̂) = 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CB52FF-55B6-465F-9931-9B1E04813B00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3638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SE(p̂) = √[π(1-π)/n]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C20121-2D5E-499B-8EB2-96BC773B7280}"/>
              </a:ext>
            </a:extLst>
          </p:cNvPr>
          <p:cNvSpPr>
            <a:spLocks noGrp="1"/>
          </p:cNvSpPr>
          <p:nvPr/>
        </p:nvSpPr>
        <p:spPr>
          <a:xfrm>
            <a:off x="6076950" y="17335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Normal approximation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FA47B4-69E4-4718-878D-F8C5DD85FE23}"/>
              </a:ext>
            </a:extLst>
          </p:cNvPr>
          <p:cNvSpPr>
            <a:spLocks noGrp="1"/>
          </p:cNvSpPr>
          <p:nvPr/>
        </p:nvSpPr>
        <p:spPr>
          <a:xfrm>
            <a:off x="6076950" y="2343150"/>
            <a:ext cx="47625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sample comes from independent Bernoulli outcomes.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Expected successes nπ and failures n(1-π) are sufficiently large.</a:t>
            </a:r>
          </a:p>
          <a:p>
            <a:pPr marL="27" indent="-18">
              <a:spcAft>
                <a:spcPts val="16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When conditions fail, simulate the Binomial distribution directly.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FCA9E99-5384-4DB4-9835-F9FDB6274999}"/>
              </a:ext>
            </a:extLst>
          </p:cNvPr>
          <p:cNvSpPr>
            <a:spLocks noGrp="1"/>
          </p:cNvSpPr>
          <p:nvPr/>
        </p:nvSpPr>
        <p:spPr>
          <a:xfrm>
            <a:off x="1428750" y="4476750"/>
            <a:ext cx="9334500" cy="704850"/>
          </a:xfrm>
          <a:prstGeom prst="roundRect">
            <a:avLst>
              <a:gd name="adj" fmla="val 2162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94AFF6-6F36-4A3D-93BD-B1C69FFE5D59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861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Exit polls, defect rates, and classification proportions all use the same sampling logic.</a:t>
            </a:r>
          </a:p>
        </p:txBody>
      </p:sp>
    </p:spTree>
    <p:extLst>
      <p:ext uri="{BB962C8B-B14F-4D97-AF65-F5344CB8AC3E}">
        <p14:creationId xmlns:p14="http://schemas.microsoft.com/office/powerpoint/2010/main" val="1903409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70C76F-8083-4714-A21C-FDFB54E758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1C3E-EA5B-445F-AE73-9638CA27221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F9ACEF-18CD-4EF0-95B6-F4306B4EE2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47A885-9A39-44DA-948B-FB67476745D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A9AC8-ED0C-405A-AEF2-6FBCCF15E83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94CE6-A012-4569-89BD-CE681F168747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5C6CA-08B4-4D86-804B-002F53B6EA9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1052EE-B674-4295-A7F2-B688E0C2CAE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F3422-CF5E-4E49-819A-A8A76480714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8CEE48-2DDA-4A6C-9034-8AEC2BBD55C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Law of Large Numbers and CLT answer different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7985B-52CB-4920-AA8D-8D2320DD249F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251460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34A0A-C4EC-4161-800D-A503A4B42F06}"/>
              </a:ext>
            </a:extLst>
          </p:cNvPr>
          <p:cNvSpPr>
            <a:spLocks noGrp="1"/>
          </p:cNvSpPr>
          <p:nvPr/>
        </p:nvSpPr>
        <p:spPr>
          <a:xfrm>
            <a:off x="704850" y="160972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Result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9D9338-CF8C-49A0-9B34-DF03914E1570}"/>
              </a:ext>
            </a:extLst>
          </p:cNvPr>
          <p:cNvSpPr>
            <a:spLocks noGrp="1"/>
          </p:cNvSpPr>
          <p:nvPr/>
        </p:nvSpPr>
        <p:spPr>
          <a:xfrm>
            <a:off x="3162300" y="1581150"/>
            <a:ext cx="318516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97B65-C3B4-4251-88C6-D48A005C5FB0}"/>
              </a:ext>
            </a:extLst>
          </p:cNvPr>
          <p:cNvSpPr>
            <a:spLocks noGrp="1"/>
          </p:cNvSpPr>
          <p:nvPr/>
        </p:nvSpPr>
        <p:spPr>
          <a:xfrm>
            <a:off x="3219450" y="160972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Main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4B1314-75CD-46C3-B9BE-D4A4E7294354}"/>
              </a:ext>
            </a:extLst>
          </p:cNvPr>
          <p:cNvSpPr>
            <a:spLocks noGrp="1"/>
          </p:cNvSpPr>
          <p:nvPr/>
        </p:nvSpPr>
        <p:spPr>
          <a:xfrm>
            <a:off x="6347460" y="1581150"/>
            <a:ext cx="184404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097225-586A-47B3-8987-E124BE1B8774}"/>
              </a:ext>
            </a:extLst>
          </p:cNvPr>
          <p:cNvSpPr>
            <a:spLocks noGrp="1"/>
          </p:cNvSpPr>
          <p:nvPr/>
        </p:nvSpPr>
        <p:spPr>
          <a:xfrm>
            <a:off x="6404610" y="160972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What grows?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3620A-1351-4918-8185-2A0EB5C05F53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3352800" cy="8191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A54E7A-D711-4415-B026-43553D64522D}"/>
              </a:ext>
            </a:extLst>
          </p:cNvPr>
          <p:cNvSpPr>
            <a:spLocks noGrp="1"/>
          </p:cNvSpPr>
          <p:nvPr/>
        </p:nvSpPr>
        <p:spPr>
          <a:xfrm>
            <a:off x="8248650" y="16097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Primary implication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8B4F26-E6CC-43CB-AD46-9ECA7C77500E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2514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FAC296-6A91-4ED6-B7C1-B3BFD546FA0A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Law of Large Numbers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D4C40-8EFB-4F52-9B46-2EDA082DCB95}"/>
              </a:ext>
            </a:extLst>
          </p:cNvPr>
          <p:cNvSpPr>
            <a:spLocks noGrp="1"/>
          </p:cNvSpPr>
          <p:nvPr/>
        </p:nvSpPr>
        <p:spPr>
          <a:xfrm>
            <a:off x="3162300" y="2400300"/>
            <a:ext cx="318516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7806B-9B6F-44CA-8542-A7550509D6B1}"/>
              </a:ext>
            </a:extLst>
          </p:cNvPr>
          <p:cNvSpPr>
            <a:spLocks noGrp="1"/>
          </p:cNvSpPr>
          <p:nvPr/>
        </p:nvSpPr>
        <p:spPr>
          <a:xfrm>
            <a:off x="3219450" y="242887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Does x̄ approach μ?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F2314E-E92A-420C-B1C2-F665753A92B3}"/>
              </a:ext>
            </a:extLst>
          </p:cNvPr>
          <p:cNvSpPr>
            <a:spLocks noGrp="1"/>
          </p:cNvSpPr>
          <p:nvPr/>
        </p:nvSpPr>
        <p:spPr>
          <a:xfrm>
            <a:off x="6347460" y="2400300"/>
            <a:ext cx="184404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825D4-8362-4433-9185-51CE07D3E6CA}"/>
              </a:ext>
            </a:extLst>
          </p:cNvPr>
          <p:cNvSpPr>
            <a:spLocks noGrp="1"/>
          </p:cNvSpPr>
          <p:nvPr/>
        </p:nvSpPr>
        <p:spPr>
          <a:xfrm>
            <a:off x="6404610" y="242887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Sample size 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EFECB-1045-4FA9-A2CA-932495F9985E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33528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1B8629-3767-4A2B-B14C-B258EFFCEECE}"/>
              </a:ext>
            </a:extLst>
          </p:cNvPr>
          <p:cNvSpPr>
            <a:spLocks noGrp="1"/>
          </p:cNvSpPr>
          <p:nvPr/>
        </p:nvSpPr>
        <p:spPr>
          <a:xfrm>
            <a:off x="8248650" y="242887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Consistency of the estimate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A4F954-173D-441F-9C08-65BD33FA5282}"/>
              </a:ext>
            </a:extLst>
          </p:cNvPr>
          <p:cNvSpPr>
            <a:spLocks noGrp="1"/>
          </p:cNvSpPr>
          <p:nvPr/>
        </p:nvSpPr>
        <p:spPr>
          <a:xfrm>
            <a:off x="647700" y="3219450"/>
            <a:ext cx="251460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B5A00A-0FD1-4EF9-B568-F2413FDFC4E6}"/>
              </a:ext>
            </a:extLst>
          </p:cNvPr>
          <p:cNvSpPr>
            <a:spLocks noGrp="1"/>
          </p:cNvSpPr>
          <p:nvPr/>
        </p:nvSpPr>
        <p:spPr>
          <a:xfrm>
            <a:off x="704850" y="324802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Central Limit Theorem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D6DCF-D5AB-43A3-B70A-D0DB2DAF2A73}"/>
              </a:ext>
            </a:extLst>
          </p:cNvPr>
          <p:cNvSpPr>
            <a:spLocks noGrp="1"/>
          </p:cNvSpPr>
          <p:nvPr/>
        </p:nvSpPr>
        <p:spPr>
          <a:xfrm>
            <a:off x="3162300" y="3219450"/>
            <a:ext cx="318516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9D80A2-41DF-4B6D-9C02-FF35E021EF52}"/>
              </a:ext>
            </a:extLst>
          </p:cNvPr>
          <p:cNvSpPr>
            <a:spLocks noGrp="1"/>
          </p:cNvSpPr>
          <p:nvPr/>
        </p:nvSpPr>
        <p:spPr>
          <a:xfrm>
            <a:off x="3219450" y="324802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is the shape of standardized x̄?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67FCCC-B718-47C4-906E-F2B7E677D06A}"/>
              </a:ext>
            </a:extLst>
          </p:cNvPr>
          <p:cNvSpPr>
            <a:spLocks noGrp="1"/>
          </p:cNvSpPr>
          <p:nvPr/>
        </p:nvSpPr>
        <p:spPr>
          <a:xfrm>
            <a:off x="6347460" y="3219450"/>
            <a:ext cx="184404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24C47D-0D5A-4ACA-8D7D-18B451118452}"/>
              </a:ext>
            </a:extLst>
          </p:cNvPr>
          <p:cNvSpPr>
            <a:spLocks noGrp="1"/>
          </p:cNvSpPr>
          <p:nvPr/>
        </p:nvSpPr>
        <p:spPr>
          <a:xfrm>
            <a:off x="6404610" y="324802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Sample size 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8C1BDF-2BB1-4024-A2AF-EE51C03566B6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3352800" cy="8191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666834-CAE9-4CEC-BB59-5EAAB4450C75}"/>
              </a:ext>
            </a:extLst>
          </p:cNvPr>
          <p:cNvSpPr>
            <a:spLocks noGrp="1"/>
          </p:cNvSpPr>
          <p:nvPr/>
        </p:nvSpPr>
        <p:spPr>
          <a:xfrm>
            <a:off x="8248650" y="32480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Approximate probability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09C653-1C2D-4B2C-96FE-F0384A06BCAA}"/>
              </a:ext>
            </a:extLst>
          </p:cNvPr>
          <p:cNvSpPr>
            <a:spLocks noGrp="1"/>
          </p:cNvSpPr>
          <p:nvPr/>
        </p:nvSpPr>
        <p:spPr>
          <a:xfrm>
            <a:off x="647700" y="4038600"/>
            <a:ext cx="2514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D6F6A4-4CED-4F4D-B094-80E2BF6D2F2D}"/>
              </a:ext>
            </a:extLst>
          </p:cNvPr>
          <p:cNvSpPr>
            <a:spLocks noGrp="1"/>
          </p:cNvSpPr>
          <p:nvPr/>
        </p:nvSpPr>
        <p:spPr>
          <a:xfrm>
            <a:off x="704850" y="4067175"/>
            <a:ext cx="24003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Monte Carlo simulation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1EF4C8-EFE5-49FC-A2C4-29AD88B8CCDA}"/>
              </a:ext>
            </a:extLst>
          </p:cNvPr>
          <p:cNvSpPr>
            <a:spLocks noGrp="1"/>
          </p:cNvSpPr>
          <p:nvPr/>
        </p:nvSpPr>
        <p:spPr>
          <a:xfrm>
            <a:off x="3162300" y="4038600"/>
            <a:ext cx="318516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59D62F-E1F0-4620-8D91-789BFBA97927}"/>
              </a:ext>
            </a:extLst>
          </p:cNvPr>
          <p:cNvSpPr>
            <a:spLocks noGrp="1"/>
          </p:cNvSpPr>
          <p:nvPr/>
        </p:nvSpPr>
        <p:spPr>
          <a:xfrm>
            <a:off x="3219450" y="4067175"/>
            <a:ext cx="30708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well have we approximated the distribution?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C87D04-D122-4B4B-8402-2BD239DA098E}"/>
              </a:ext>
            </a:extLst>
          </p:cNvPr>
          <p:cNvSpPr>
            <a:spLocks noGrp="1"/>
          </p:cNvSpPr>
          <p:nvPr/>
        </p:nvSpPr>
        <p:spPr>
          <a:xfrm>
            <a:off x="6347460" y="4038600"/>
            <a:ext cx="184404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376365-1EFD-45B1-AAD6-0E4D14CB04FD}"/>
              </a:ext>
            </a:extLst>
          </p:cNvPr>
          <p:cNvSpPr>
            <a:spLocks noGrp="1"/>
          </p:cNvSpPr>
          <p:nvPr/>
        </p:nvSpPr>
        <p:spPr>
          <a:xfrm>
            <a:off x="6404610" y="4067175"/>
            <a:ext cx="172974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Repetitions 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5FFCBC-D9F3-4F68-82F2-ED78EFBB6AA4}"/>
              </a:ext>
            </a:extLst>
          </p:cNvPr>
          <p:cNvSpPr>
            <a:spLocks noGrp="1"/>
          </p:cNvSpPr>
          <p:nvPr/>
        </p:nvSpPr>
        <p:spPr>
          <a:xfrm>
            <a:off x="8191500" y="4038600"/>
            <a:ext cx="33528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CFEEBC-05AC-45C3-9057-25411655D987}"/>
              </a:ext>
            </a:extLst>
          </p:cNvPr>
          <p:cNvSpPr>
            <a:spLocks noGrp="1"/>
          </p:cNvSpPr>
          <p:nvPr/>
        </p:nvSpPr>
        <p:spPr>
          <a:xfrm>
            <a:off x="8248650" y="406717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Numerical smoothness and stability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C252D2-D5D4-4943-9D55-0DE71EF865D7}"/>
              </a:ext>
            </a:extLst>
          </p:cNvPr>
          <p:cNvSpPr>
            <a:spLocks noGrp="1"/>
          </p:cNvSpPr>
          <p:nvPr/>
        </p:nvSpPr>
        <p:spPr>
          <a:xfrm>
            <a:off x="1562100" y="5124450"/>
            <a:ext cx="906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Convergence of a statistic is not the same claim as Normality of its sampling distribution.</a:t>
            </a:r>
          </a:p>
        </p:txBody>
      </p:sp>
    </p:spTree>
    <p:extLst>
      <p:ext uri="{BB962C8B-B14F-4D97-AF65-F5344CB8AC3E}">
        <p14:creationId xmlns:p14="http://schemas.microsoft.com/office/powerpoint/2010/main" val="8255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0836DE4-4F8A-4261-8B9E-BB5A9CB828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7DF38-46EC-4E65-972D-D22F6F59FA6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5498EC-89BE-4D37-B2B0-76B9A124248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31992-FA4B-468B-9196-A9E12E000D3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F49C3-EBCD-4FBF-8820-85A76B116845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1CF89-F8A0-4B35-941A-F9E1FDD235CB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BFAD1-548F-4957-95F2-CD27AF261DC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10CC6-A9ED-4F31-804C-C40285CD852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F74A7D-68D2-4A7B-A03D-A12099893FE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2C8708-7576-424D-BDC7-12B05DEA607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CLT is not permission to ignore the data-generating 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45424E-917D-4B49-96F2-2209DDC17344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152400" cy="6096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93707-C0E8-4E5F-9B6F-CCBC56ADEEA9}"/>
              </a:ext>
            </a:extLst>
          </p:cNvPr>
          <p:cNvSpPr>
            <a:spLocks noGrp="1"/>
          </p:cNvSpPr>
          <p:nvPr/>
        </p:nvSpPr>
        <p:spPr>
          <a:xfrm>
            <a:off x="1352550" y="15811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Heavy tails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46489-9124-4713-A405-F5EC027CC781}"/>
              </a:ext>
            </a:extLst>
          </p:cNvPr>
          <p:cNvSpPr>
            <a:spLocks noGrp="1"/>
          </p:cNvSpPr>
          <p:nvPr/>
        </p:nvSpPr>
        <p:spPr>
          <a:xfrm>
            <a:off x="4095750" y="15811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Variance may be enormous or undefined; convergence can be very slow.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970D7D-01C0-4A5A-A4E1-EC8FF55BB324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152400" cy="60960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61582B-B0EB-41E2-9764-FBB61F5C312F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Dependence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C276B7-3FB6-4FB3-8A5F-8378BABCC2B2}"/>
              </a:ext>
            </a:extLst>
          </p:cNvPr>
          <p:cNvSpPr>
            <a:spLocks noGrp="1"/>
          </p:cNvSpPr>
          <p:nvPr/>
        </p:nvSpPr>
        <p:spPr>
          <a:xfrm>
            <a:off x="4095750" y="24955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Repeated users, time trends, and sites reduce effective sample size.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A527D8-705C-475C-8A65-AD4DBDC76291}"/>
              </a:ext>
            </a:extLst>
          </p:cNvPr>
          <p:cNvSpPr>
            <a:spLocks noGrp="1"/>
          </p:cNvSpPr>
          <p:nvPr/>
        </p:nvSpPr>
        <p:spPr>
          <a:xfrm>
            <a:off x="895350" y="3448050"/>
            <a:ext cx="152400" cy="6096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BA637B-D5B1-4CCE-8C90-7686F21BBA88}"/>
              </a:ext>
            </a:extLst>
          </p:cNvPr>
          <p:cNvSpPr>
            <a:spLocks noGrp="1"/>
          </p:cNvSpPr>
          <p:nvPr/>
        </p:nvSpPr>
        <p:spPr>
          <a:xfrm>
            <a:off x="1352550" y="34099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Extreme imbalance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12A342-7887-43CE-AB6B-27CE84E45682}"/>
              </a:ext>
            </a:extLst>
          </p:cNvPr>
          <p:cNvSpPr>
            <a:spLocks noGrp="1"/>
          </p:cNvSpPr>
          <p:nvPr/>
        </p:nvSpPr>
        <p:spPr>
          <a:xfrm>
            <a:off x="4095750" y="34099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Rare outcomes may be absent from small samples.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1E384B-CD51-4901-8152-F22129C4641C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152400" cy="60960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80032-4E4D-494D-B888-8B10D40E31AF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Nonrandom selection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82D25-AAC1-4B82-B164-C457FBF27470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Normal sampling distribution does not remove selection bias.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45FF14-0630-4270-9750-8CA234F1E44D}"/>
              </a:ext>
            </a:extLst>
          </p:cNvPr>
          <p:cNvSpPr>
            <a:spLocks noGrp="1"/>
          </p:cNvSpPr>
          <p:nvPr/>
        </p:nvSpPr>
        <p:spPr>
          <a:xfrm>
            <a:off x="2857500" y="529590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Diagnose assumptions before trusting asymptotic convenience.</a:t>
            </a:r>
          </a:p>
        </p:txBody>
      </p:sp>
    </p:spTree>
    <p:extLst>
      <p:ext uri="{BB962C8B-B14F-4D97-AF65-F5344CB8AC3E}">
        <p14:creationId xmlns:p14="http://schemas.microsoft.com/office/powerpoint/2010/main" val="219419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17B01E-D9BE-442C-B1D0-B5802004E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71627-7203-4ED4-BDA3-D742CCCA48A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2222B-ABFD-4637-85E0-2E303A0890DB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BDF418-16C4-4EAC-9676-47E6ADA55F2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F5383E-1D37-4A99-BBC5-293D5A8D49E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648DC-5F30-4009-B0B8-EDDD6140406B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02B1-3E87-4CC0-ACBE-E0BB2D8FBFB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393F5-E7A3-4BD3-BAF1-3519C2A6C2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56D6-0C9F-4A13-A329-ED31F5E359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7D91B5-313E-4B28-96BB-76255EA2E5D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Write the simulation so n, B, and the statistic are explicit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94F003-A60F-4E84-9151-FB3492B99D4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858000" cy="4114800"/>
          </a:xfrm>
          <a:prstGeom prst="roundRect">
            <a:avLst>
              <a:gd name="adj" fmla="val 370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9494E-6B0C-423A-BE9B-F13EA2A3E581}"/>
              </a:ext>
            </a:extLst>
          </p:cNvPr>
          <p:cNvSpPr>
            <a:spLocks noGrp="1"/>
          </p:cNvSpPr>
          <p:nvPr/>
        </p:nvSpPr>
        <p:spPr>
          <a:xfrm>
            <a:off x="89535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REUSABLE SIMULATOR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D06DE9-BC40-4024-BCAA-D87A8021825A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3543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rng = np.random.default_rng(500)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sampling_distribution(draw, n, B, statistic=np.mean):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np.array([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statistic(draw(size=n))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for _ in range(B)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])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means = sampling_distribution(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lambda size: rng.gamma(shape, scale, size),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n=200, B=10_000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means.mean(), means.std(ddof=1)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E0E4E-143F-4BD6-AF16-A4C19240E175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960"/>
          </a:bodyPr>
          <a:lstStyle/>
          <a:p>
            <a:pPr algn="ctr">
              <a:buNone/>
              <a:def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Audit trail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86232-AEA5-4D5D-9E54-4DA2ADB2DAAB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3048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Seed the generator.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Name n and B separately.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Pass the statistic as a function.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ddof=1 for an empirical standard deviation.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Label plots and units.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83D4E3-BE45-4D72-ACF1-713DB8D24226}"/>
              </a:ext>
            </a:extLst>
          </p:cNvPr>
          <p:cNvSpPr>
            <a:spLocks noGrp="1"/>
          </p:cNvSpPr>
          <p:nvPr/>
        </p:nvSpPr>
        <p:spPr>
          <a:xfrm>
            <a:off x="7924800" y="493395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Vectorization may be faster; clarity comes first in a learning workflow.</a:t>
            </a:r>
          </a:p>
        </p:txBody>
      </p:sp>
    </p:spTree>
    <p:extLst>
      <p:ext uri="{BB962C8B-B14F-4D97-AF65-F5344CB8AC3E}">
        <p14:creationId xmlns:p14="http://schemas.microsoft.com/office/powerpoint/2010/main" val="606516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54DAE4B-6126-49DF-B3F4-03DA95E1F5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5C462B-4599-4502-B687-20B451BCDA9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5F49E-C838-4035-9593-F8082CF433D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52567-84A6-4BB8-9425-436BA12D33B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7EE1C-9A1A-4988-942A-20DD152A50CF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38B45-CA6C-4DC0-939B-BDDAA525F9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DDBE1-060F-4FF3-A4FF-2A6E170E8CA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8782F-466D-4FB9-853A-86D7AFDA32F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8B5C1-1D90-4FFE-9996-B776D847964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6614A3-4FE1-4544-9EE7-A9F6E729FF1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Small groups are overrepresented at both ends of rankings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0BB45-B4E4-4F4E-827F-0DE1EC8F69CF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744"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Independent data; x̄ ≈ Normal; same μ and σ = 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DABAC-949D-43F0-9FA7-CA99E0489662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1547813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E05E5-292D-4C8C-8E22-18FDBDA23A5A}"/>
              </a:ext>
            </a:extLst>
          </p:cNvPr>
          <p:cNvSpPr>
            <a:spLocks noGrp="1"/>
          </p:cNvSpPr>
          <p:nvPr/>
        </p:nvSpPr>
        <p:spPr>
          <a:xfrm>
            <a:off x="857250" y="218122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Group size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88541-14F3-4343-803F-B0D264A6C0E1}"/>
              </a:ext>
            </a:extLst>
          </p:cNvPr>
          <p:cNvSpPr>
            <a:spLocks noGrp="1"/>
          </p:cNvSpPr>
          <p:nvPr/>
        </p:nvSpPr>
        <p:spPr>
          <a:xfrm>
            <a:off x="2347913" y="2152650"/>
            <a:ext cx="1547813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3D000-0769-46D5-B736-A64F2292D721}"/>
              </a:ext>
            </a:extLst>
          </p:cNvPr>
          <p:cNvSpPr>
            <a:spLocks noGrp="1"/>
          </p:cNvSpPr>
          <p:nvPr/>
        </p:nvSpPr>
        <p:spPr>
          <a:xfrm>
            <a:off x="2405063" y="218122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SE of mean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E88B22-DB49-4124-85A5-44A709158C0E}"/>
              </a:ext>
            </a:extLst>
          </p:cNvPr>
          <p:cNvSpPr>
            <a:spLocks noGrp="1"/>
          </p:cNvSpPr>
          <p:nvPr/>
        </p:nvSpPr>
        <p:spPr>
          <a:xfrm>
            <a:off x="3895725" y="2152650"/>
            <a:ext cx="3095625" cy="6667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800F57-3790-4D69-8D72-750F20E3F42B}"/>
              </a:ext>
            </a:extLst>
          </p:cNvPr>
          <p:cNvSpPr>
            <a:spLocks noGrp="1"/>
          </p:cNvSpPr>
          <p:nvPr/>
        </p:nvSpPr>
        <p:spPr>
          <a:xfrm>
            <a:off x="3952875" y="2181225"/>
            <a:ext cx="29813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Approximate 95% sampling range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2B1A1A-4AE4-482E-9F90-8099A9B3A47C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1547813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7FB72C-54CE-4F37-BD28-B0E867B81823}"/>
              </a:ext>
            </a:extLst>
          </p:cNvPr>
          <p:cNvSpPr>
            <a:spLocks noGrp="1"/>
          </p:cNvSpPr>
          <p:nvPr/>
        </p:nvSpPr>
        <p:spPr>
          <a:xfrm>
            <a:off x="857250" y="284797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311A86-88ED-447B-BD8A-E8CDC393561B}"/>
              </a:ext>
            </a:extLst>
          </p:cNvPr>
          <p:cNvSpPr>
            <a:spLocks noGrp="1"/>
          </p:cNvSpPr>
          <p:nvPr/>
        </p:nvSpPr>
        <p:spPr>
          <a:xfrm>
            <a:off x="2347913" y="2819400"/>
            <a:ext cx="1547813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29235B-5693-4FBC-9421-73D666A1BE90}"/>
              </a:ext>
            </a:extLst>
          </p:cNvPr>
          <p:cNvSpPr>
            <a:spLocks noGrp="1"/>
          </p:cNvSpPr>
          <p:nvPr/>
        </p:nvSpPr>
        <p:spPr>
          <a:xfrm>
            <a:off x="2405063" y="284797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2.00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2F7283-77DD-4F52-A0F1-E71A64B899AC}"/>
              </a:ext>
            </a:extLst>
          </p:cNvPr>
          <p:cNvSpPr>
            <a:spLocks noGrp="1"/>
          </p:cNvSpPr>
          <p:nvPr/>
        </p:nvSpPr>
        <p:spPr>
          <a:xfrm>
            <a:off x="3895725" y="2819400"/>
            <a:ext cx="309562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97B301-7E26-40E4-8A14-86A3B927650E}"/>
              </a:ext>
            </a:extLst>
          </p:cNvPr>
          <p:cNvSpPr>
            <a:spLocks noGrp="1"/>
          </p:cNvSpPr>
          <p:nvPr/>
        </p:nvSpPr>
        <p:spPr>
          <a:xfrm>
            <a:off x="3952875" y="2847975"/>
            <a:ext cx="29813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 ± 4.00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364F0C-251C-4765-BB73-0CBCA9360250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1547813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F81885-87BA-4079-872D-1AA7013C563A}"/>
              </a:ext>
            </a:extLst>
          </p:cNvPr>
          <p:cNvSpPr>
            <a:spLocks noGrp="1"/>
          </p:cNvSpPr>
          <p:nvPr/>
        </p:nvSpPr>
        <p:spPr>
          <a:xfrm>
            <a:off x="857250" y="351472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100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17C832-808A-47F0-92A4-BB54F970446A}"/>
              </a:ext>
            </a:extLst>
          </p:cNvPr>
          <p:cNvSpPr>
            <a:spLocks noGrp="1"/>
          </p:cNvSpPr>
          <p:nvPr/>
        </p:nvSpPr>
        <p:spPr>
          <a:xfrm>
            <a:off x="2347913" y="3486150"/>
            <a:ext cx="1547813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62768B-9BB6-4EE8-ABFF-2BAAF6ED05C2}"/>
              </a:ext>
            </a:extLst>
          </p:cNvPr>
          <p:cNvSpPr>
            <a:spLocks noGrp="1"/>
          </p:cNvSpPr>
          <p:nvPr/>
        </p:nvSpPr>
        <p:spPr>
          <a:xfrm>
            <a:off x="2405063" y="351472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1.00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A0116D-B714-4E78-9F6A-0E80882F2B15}"/>
              </a:ext>
            </a:extLst>
          </p:cNvPr>
          <p:cNvSpPr>
            <a:spLocks noGrp="1"/>
          </p:cNvSpPr>
          <p:nvPr/>
        </p:nvSpPr>
        <p:spPr>
          <a:xfrm>
            <a:off x="3895725" y="3486150"/>
            <a:ext cx="3095625" cy="6667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2A763E-66B1-4AF2-B78C-7B8D19A27334}"/>
              </a:ext>
            </a:extLst>
          </p:cNvPr>
          <p:cNvSpPr>
            <a:spLocks noGrp="1"/>
          </p:cNvSpPr>
          <p:nvPr/>
        </p:nvSpPr>
        <p:spPr>
          <a:xfrm>
            <a:off x="3952875" y="3514725"/>
            <a:ext cx="29813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 ± 2.00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0BBB2C-E311-490F-B452-F9D55610FC46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1547813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994BA1-6D97-4F1A-80BD-2F725AC83369}"/>
              </a:ext>
            </a:extLst>
          </p:cNvPr>
          <p:cNvSpPr>
            <a:spLocks noGrp="1"/>
          </p:cNvSpPr>
          <p:nvPr/>
        </p:nvSpPr>
        <p:spPr>
          <a:xfrm>
            <a:off x="857250" y="418147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= 400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A59933-2D78-4684-9226-DDB59995E6CF}"/>
              </a:ext>
            </a:extLst>
          </p:cNvPr>
          <p:cNvSpPr>
            <a:spLocks noGrp="1"/>
          </p:cNvSpPr>
          <p:nvPr/>
        </p:nvSpPr>
        <p:spPr>
          <a:xfrm>
            <a:off x="2347913" y="4152900"/>
            <a:ext cx="1547813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0FA354-B4C6-464B-9CDF-49938B620748}"/>
              </a:ext>
            </a:extLst>
          </p:cNvPr>
          <p:cNvSpPr>
            <a:spLocks noGrp="1"/>
          </p:cNvSpPr>
          <p:nvPr/>
        </p:nvSpPr>
        <p:spPr>
          <a:xfrm>
            <a:off x="2405063" y="4181475"/>
            <a:ext cx="143351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0.50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BED933-6C6D-497A-AA90-F57DC4B25D26}"/>
              </a:ext>
            </a:extLst>
          </p:cNvPr>
          <p:cNvSpPr>
            <a:spLocks noGrp="1"/>
          </p:cNvSpPr>
          <p:nvPr/>
        </p:nvSpPr>
        <p:spPr>
          <a:xfrm>
            <a:off x="3895725" y="4152900"/>
            <a:ext cx="309562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49F169-E3C6-48E0-B3F5-D0356A5D6F0D}"/>
              </a:ext>
            </a:extLst>
          </p:cNvPr>
          <p:cNvSpPr>
            <a:spLocks noGrp="1"/>
          </p:cNvSpPr>
          <p:nvPr/>
        </p:nvSpPr>
        <p:spPr>
          <a:xfrm>
            <a:off x="3952875" y="4181475"/>
            <a:ext cx="29813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 ± 1.00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5521E73-1A72-4DF3-9EA6-DD609217E4D2}"/>
              </a:ext>
            </a:extLst>
          </p:cNvPr>
          <p:cNvSpPr>
            <a:spLocks noGrp="1"/>
          </p:cNvSpPr>
          <p:nvPr/>
        </p:nvSpPr>
        <p:spPr>
          <a:xfrm>
            <a:off x="7639050" y="1695450"/>
            <a:ext cx="3333750" cy="3181350"/>
          </a:xfrm>
          <a:prstGeom prst="roundRect">
            <a:avLst>
              <a:gd name="adj" fmla="val 5988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B500B4-41FC-431E-9153-02687F87086E}"/>
              </a:ext>
            </a:extLst>
          </p:cNvPr>
          <p:cNvSpPr>
            <a:spLocks noGrp="1"/>
          </p:cNvSpPr>
          <p:nvPr/>
        </p:nvSpPr>
        <p:spPr>
          <a:xfrm>
            <a:off x="8172450" y="207645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ctr">
              <a:buNone/>
              <a:defRPr sz="25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Discussion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F2671C-B144-4209-A20C-B352050D7BD5}"/>
              </a:ext>
            </a:extLst>
          </p:cNvPr>
          <p:cNvSpPr>
            <a:spLocks noGrp="1"/>
          </p:cNvSpPr>
          <p:nvPr/>
        </p:nvSpPr>
        <p:spPr>
          <a:xfrm>
            <a:off x="8039100" y="2781300"/>
            <a:ext cx="25336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Why might the smallest schools or states appear among both the best and worst performers?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39A7BD-2187-4FD0-9CF4-09DDED5FE8FB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9167"/>
          </a:bodyPr>
          <a:lstStyle/>
          <a:p>
            <a:pPr algn="ctr">
              <a:buNone/>
              <a:defRPr sz="1500" b="0" i="1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would you report instead of a raw ranking?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298A21E-3A8B-468F-8855-B2931E74AA64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6858AB-9493-451B-9487-CD3504C5D400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Extreme observed values can be a variance story before they are a performance story.</a:t>
            </a:r>
          </a:p>
        </p:txBody>
      </p:sp>
    </p:spTree>
    <p:extLst>
      <p:ext uri="{BB962C8B-B14F-4D97-AF65-F5344CB8AC3E}">
        <p14:creationId xmlns:p14="http://schemas.microsoft.com/office/powerpoint/2010/main" val="493969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1C4994-ED62-4ED9-9E90-D1A87D21211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7598AB-0A77-4B0F-AB6B-3E3E16A0030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4F88C-7D6D-4C74-9269-1DD26659EE35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Bootstrap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FBA598-C93D-4D96-8209-BA61C0320240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1C59B-0161-404C-A29D-BF0BF2DAB75C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When theory is difficult, resample the observed data to approximate how the statistic might vary.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A4C6B2-CD20-4A83-AEB2-43EB51B265C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89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8C29BF5-6D00-4573-84DF-AE137395C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F305B-3012-476D-BA89-BF03CE2D58D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BE7527-E990-400F-AB20-FB1B3E7C65B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34910-8FAB-4300-975B-99BEB48F5C1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3BE48A-1A06-492C-AB95-D965F3135733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CD30F-2E23-4341-8890-3EF57032748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BOOTSTRAP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EA2DC-673B-49F1-99BD-6914252BF81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A69765-5930-4C3B-BC44-ECBE68AB21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AA42A-7A45-4B58-8E34-A7C80411A2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2DCC2F-2E47-44B4-BBB6-ACAA532BAD2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Bootstrap approximates uncertainty when analytic theory is hard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7801" y="1524000"/>
            <a:ext cx="3106948" cy="4095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A8AFE32-736F-4B25-9BC9-9BDFAFF47B16}"/>
              </a:ext>
            </a:extLst>
          </p:cNvPr>
          <p:cNvSpPr>
            <a:spLocks noGrp="1"/>
          </p:cNvSpPr>
          <p:nvPr/>
        </p:nvSpPr>
        <p:spPr>
          <a:xfrm>
            <a:off x="5543550" y="169545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6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6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Core idea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B14F68-6428-4063-BE6D-F612B4433BC3}"/>
              </a:ext>
            </a:extLst>
          </p:cNvPr>
          <p:cNvSpPr>
            <a:spLocks noGrp="1"/>
          </p:cNvSpPr>
          <p:nvPr/>
        </p:nvSpPr>
        <p:spPr>
          <a:xfrm>
            <a:off x="5543550" y="2324100"/>
            <a:ext cx="52197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Treat the observed sample as a stand-in for the population, then resample from it with replacement.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71186-3C66-44CE-B506-7975B769BB79}"/>
              </a:ext>
            </a:extLst>
          </p:cNvPr>
          <p:cNvSpPr>
            <a:spLocks noGrp="1"/>
          </p:cNvSpPr>
          <p:nvPr/>
        </p:nvSpPr>
        <p:spPr>
          <a:xfrm>
            <a:off x="5543550" y="3600450"/>
            <a:ext cx="5334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8182"/>
          </a:bodyPr>
          <a:lstStyle/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Approximates the sampling distribution of a chosen statistic.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Supports empirical standard errors and bias diagnostics.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Works for complex statistics and machine-learning outputs.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Depends on the observed sample representing the source population.</a:t>
            </a:r>
          </a:p>
        </p:txBody>
      </p:sp>
    </p:spTree>
    <p:extLst>
      <p:ext uri="{BB962C8B-B14F-4D97-AF65-F5344CB8AC3E}">
        <p14:creationId xmlns:p14="http://schemas.microsoft.com/office/powerpoint/2010/main" val="1178521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DB2D9A6-602C-46C7-A0EF-52B1556C68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8F3102-CC3A-4178-B459-43A77665710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4329A-FFDE-4BBA-9957-2FDBAC73FBD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A3755-07C9-4C51-92BA-394D876CE45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24028-958A-4490-8644-2F2A525AC1D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BE5B9-2C70-43E0-BDE4-1EF87F810C6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BOOTSTRAP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1A0A9-3B20-4182-8D47-789AB5E9E24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7517E-2B24-4AB1-B2B9-AB35276A218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71FBB9-E1EA-4E12-A4AA-4BA86ECF682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845063-93E7-4A60-86F4-E2C0D06587A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Nonparametric bootstrap resamples n observations with replacement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33BD8-C6F0-4E6B-9D17-EA1C500E27AE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9715500" cy="3810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97D480-60A9-4BFE-800D-A20FCD202002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819150" cy="8191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A4EF4-985B-4069-B175-15BB67E5A8D7}"/>
              </a:ext>
            </a:extLst>
          </p:cNvPr>
          <p:cNvSpPr>
            <a:spLocks noGrp="1"/>
          </p:cNvSpPr>
          <p:nvPr/>
        </p:nvSpPr>
        <p:spPr>
          <a:xfrm>
            <a:off x="1504950" y="24003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95655B-8D9E-4971-A682-2133C30922FB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Observed sample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9B7FE-13B9-4138-8026-73A5018F7955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values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CC6DFD-2CB6-4BED-A24E-FEEE0D33FFB4}"/>
              </a:ext>
            </a:extLst>
          </p:cNvPr>
          <p:cNvSpPr>
            <a:spLocks noGrp="1"/>
          </p:cNvSpPr>
          <p:nvPr/>
        </p:nvSpPr>
        <p:spPr>
          <a:xfrm>
            <a:off x="4362450" y="2419350"/>
            <a:ext cx="819150" cy="8191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25A86-D03C-4825-8730-8A1CBF70382D}"/>
              </a:ext>
            </a:extLst>
          </p:cNvPr>
          <p:cNvSpPr>
            <a:spLocks noGrp="1"/>
          </p:cNvSpPr>
          <p:nvPr/>
        </p:nvSpPr>
        <p:spPr>
          <a:xfrm>
            <a:off x="4362450" y="24003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377427-0448-49DE-8BAF-62ECE175FC4D}"/>
              </a:ext>
            </a:extLst>
          </p:cNvPr>
          <p:cNvSpPr>
            <a:spLocks noGrp="1"/>
          </p:cNvSpPr>
          <p:nvPr/>
        </p:nvSpPr>
        <p:spPr>
          <a:xfrm>
            <a:off x="3600450" y="35242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Resample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5AB6CA-D047-486A-B24D-7F6607E2BB89}"/>
              </a:ext>
            </a:extLst>
          </p:cNvPr>
          <p:cNvSpPr>
            <a:spLocks noGrp="1"/>
          </p:cNvSpPr>
          <p:nvPr/>
        </p:nvSpPr>
        <p:spPr>
          <a:xfrm>
            <a:off x="3676650" y="40005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 draws with replacement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18258B-22E9-4A8D-BFF5-E1DFD968971B}"/>
              </a:ext>
            </a:extLst>
          </p:cNvPr>
          <p:cNvSpPr>
            <a:spLocks noGrp="1"/>
          </p:cNvSpPr>
          <p:nvPr/>
        </p:nvSpPr>
        <p:spPr>
          <a:xfrm>
            <a:off x="7219950" y="2419350"/>
            <a:ext cx="819150" cy="8191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184E7C-D0AC-4EF7-9EAF-0495418994FB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886B1-C931-4FB1-8475-7FF8EB2EA92F}"/>
              </a:ext>
            </a:extLst>
          </p:cNvPr>
          <p:cNvSpPr>
            <a:spLocks noGrp="1"/>
          </p:cNvSpPr>
          <p:nvPr/>
        </p:nvSpPr>
        <p:spPr>
          <a:xfrm>
            <a:off x="6457950" y="35242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Recalculate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2658BD-568F-43AF-916A-9D3264268E94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statistic T*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E7DB254-A12D-4649-BE1B-E397EEBC0CEA}"/>
              </a:ext>
            </a:extLst>
          </p:cNvPr>
          <p:cNvSpPr>
            <a:spLocks noGrp="1"/>
          </p:cNvSpPr>
          <p:nvPr/>
        </p:nvSpPr>
        <p:spPr>
          <a:xfrm>
            <a:off x="10077450" y="2419350"/>
            <a:ext cx="819150" cy="8191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7AEE0F-F314-47FC-AC32-630665499287}"/>
              </a:ext>
            </a:extLst>
          </p:cNvPr>
          <p:cNvSpPr>
            <a:spLocks noGrp="1"/>
          </p:cNvSpPr>
          <p:nvPr/>
        </p:nvSpPr>
        <p:spPr>
          <a:xfrm>
            <a:off x="10077450" y="240030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1198D2-1E87-4790-BADA-5AE3CB289953}"/>
              </a:ext>
            </a:extLst>
          </p:cNvPr>
          <p:cNvSpPr>
            <a:spLocks noGrp="1"/>
          </p:cNvSpPr>
          <p:nvPr/>
        </p:nvSpPr>
        <p:spPr>
          <a:xfrm>
            <a:off x="9315450" y="35242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Repeat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C5F063-4202-4B8B-B9EB-53CEC91D1E4C}"/>
              </a:ext>
            </a:extLst>
          </p:cNvPr>
          <p:cNvSpPr>
            <a:spLocks noGrp="1"/>
          </p:cNvSpPr>
          <p:nvPr/>
        </p:nvSpPr>
        <p:spPr>
          <a:xfrm>
            <a:off x="9391650" y="40005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 bootstrap statistics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08DBA3-2F6F-40B0-96E4-0DDA3E37F4D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3333"/>
          </a:bodyPr>
          <a:lstStyle/>
          <a:p>
            <a:pPr algn="ctr">
              <a:buNone/>
              <a:defRPr sz="18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Replacement is essential: each bootstrap sample has size n, but some observations repeat and others are absent.</a:t>
            </a:r>
          </a:p>
        </p:txBody>
      </p:sp>
    </p:spTree>
    <p:extLst>
      <p:ext uri="{BB962C8B-B14F-4D97-AF65-F5344CB8AC3E}">
        <p14:creationId xmlns:p14="http://schemas.microsoft.com/office/powerpoint/2010/main" val="745098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58391A2-FD18-4BB7-91D8-738D13DBD0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5D83C-29A6-4B1D-A20C-68AA6E1080A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9B915-A60E-4DA0-89A6-D4B69343BEFE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50A69-3AAE-4E1B-8030-41BC8B9B6800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08D61-F29F-4380-8C27-1516168A515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71BB1C-FD34-4659-8B5A-9122052C8958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BOOTSTRAP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2770F8-870A-4F57-A71B-BE83D7DDD93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1DBC2-AFE1-4DEB-A7BA-77EB8F9239D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64B0C-12D2-4D64-BADB-F319FC56A0E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923675-DF77-4818-BB4F-40E86D494A6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Parametric and nonparametric bootstrap make different commitments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64DAE9-28B9-4661-BC28-C6304DE54734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911708" cy="8572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34BC01-7560-487E-A320-7EBB1F4593B4}"/>
              </a:ext>
            </a:extLst>
          </p:cNvPr>
          <p:cNvSpPr>
            <a:spLocks noGrp="1"/>
          </p:cNvSpPr>
          <p:nvPr/>
        </p:nvSpPr>
        <p:spPr>
          <a:xfrm>
            <a:off x="723900" y="1724025"/>
            <a:ext cx="1797408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Choice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8899A9-1AD2-4266-BDCD-EE00F92C45D9}"/>
              </a:ext>
            </a:extLst>
          </p:cNvPr>
          <p:cNvSpPr>
            <a:spLocks noGrp="1"/>
          </p:cNvSpPr>
          <p:nvPr/>
        </p:nvSpPr>
        <p:spPr>
          <a:xfrm>
            <a:off x="2578458" y="1695450"/>
            <a:ext cx="2523454" cy="8572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0659BF-F860-46DC-8741-B6F4E8FE130C}"/>
              </a:ext>
            </a:extLst>
          </p:cNvPr>
          <p:cNvSpPr>
            <a:spLocks noGrp="1"/>
          </p:cNvSpPr>
          <p:nvPr/>
        </p:nvSpPr>
        <p:spPr>
          <a:xfrm>
            <a:off x="2635608" y="1724025"/>
            <a:ext cx="2409154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Resample from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DA9C39-6BCA-43C1-B690-E8B00FA9B4E7}"/>
              </a:ext>
            </a:extLst>
          </p:cNvPr>
          <p:cNvSpPr>
            <a:spLocks noGrp="1"/>
          </p:cNvSpPr>
          <p:nvPr/>
        </p:nvSpPr>
        <p:spPr>
          <a:xfrm>
            <a:off x="5101912" y="1695450"/>
            <a:ext cx="3211669" cy="8572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D76F84-AF7B-40EA-859F-13F7562CCF2C}"/>
              </a:ext>
            </a:extLst>
          </p:cNvPr>
          <p:cNvSpPr>
            <a:spLocks noGrp="1"/>
          </p:cNvSpPr>
          <p:nvPr/>
        </p:nvSpPr>
        <p:spPr>
          <a:xfrm>
            <a:off x="5159062" y="172402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Strength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C60EF-1A40-47E4-BFFC-989E1C3CB02D}"/>
              </a:ext>
            </a:extLst>
          </p:cNvPr>
          <p:cNvSpPr>
            <a:spLocks noGrp="1"/>
          </p:cNvSpPr>
          <p:nvPr/>
        </p:nvSpPr>
        <p:spPr>
          <a:xfrm>
            <a:off x="8313581" y="1695450"/>
            <a:ext cx="3211669" cy="8572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0F43B2-7141-47D8-BBE1-69939DC5596B}"/>
              </a:ext>
            </a:extLst>
          </p:cNvPr>
          <p:cNvSpPr>
            <a:spLocks noGrp="1"/>
          </p:cNvSpPr>
          <p:nvPr/>
        </p:nvSpPr>
        <p:spPr>
          <a:xfrm>
            <a:off x="8370731" y="172402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Risk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AC542F-6D04-44AB-9A4D-722292EE7D72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911708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C60576-3CCA-4913-8CFF-C558707EFB3A}"/>
              </a:ext>
            </a:extLst>
          </p:cNvPr>
          <p:cNvSpPr>
            <a:spLocks noGrp="1"/>
          </p:cNvSpPr>
          <p:nvPr/>
        </p:nvSpPr>
        <p:spPr>
          <a:xfrm>
            <a:off x="723900" y="2581275"/>
            <a:ext cx="1797408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Nonparametric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056100-89AC-4A8B-A5E4-0BDDD5CB3B22}"/>
              </a:ext>
            </a:extLst>
          </p:cNvPr>
          <p:cNvSpPr>
            <a:spLocks noGrp="1"/>
          </p:cNvSpPr>
          <p:nvPr/>
        </p:nvSpPr>
        <p:spPr>
          <a:xfrm>
            <a:off x="2578458" y="2552700"/>
            <a:ext cx="2523454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4BF724-AEB8-441B-A5CF-DFE46F1F8A95}"/>
              </a:ext>
            </a:extLst>
          </p:cNvPr>
          <p:cNvSpPr>
            <a:spLocks noGrp="1"/>
          </p:cNvSpPr>
          <p:nvPr/>
        </p:nvSpPr>
        <p:spPr>
          <a:xfrm>
            <a:off x="2635608" y="2581275"/>
            <a:ext cx="2409154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values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486F69-EB2C-4451-92F5-18191ACA74D7}"/>
              </a:ext>
            </a:extLst>
          </p:cNvPr>
          <p:cNvSpPr>
            <a:spLocks noGrp="1"/>
          </p:cNvSpPr>
          <p:nvPr/>
        </p:nvSpPr>
        <p:spPr>
          <a:xfrm>
            <a:off x="5101912" y="2552700"/>
            <a:ext cx="3211669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6C3FC3-3D04-41C3-9307-7CF6F6FF8581}"/>
              </a:ext>
            </a:extLst>
          </p:cNvPr>
          <p:cNvSpPr>
            <a:spLocks noGrp="1"/>
          </p:cNvSpPr>
          <p:nvPr/>
        </p:nvSpPr>
        <p:spPr>
          <a:xfrm>
            <a:off x="5159062" y="258127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Fewer distributional assumptions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7452BE-11F5-4E43-A1E2-97CA185CE5AB}"/>
              </a:ext>
            </a:extLst>
          </p:cNvPr>
          <p:cNvSpPr>
            <a:spLocks noGrp="1"/>
          </p:cNvSpPr>
          <p:nvPr/>
        </p:nvSpPr>
        <p:spPr>
          <a:xfrm>
            <a:off x="8313581" y="2552700"/>
            <a:ext cx="3211669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8E6FA-5AA0-403C-B415-844622221C67}"/>
              </a:ext>
            </a:extLst>
          </p:cNvPr>
          <p:cNvSpPr>
            <a:spLocks noGrp="1"/>
          </p:cNvSpPr>
          <p:nvPr/>
        </p:nvSpPr>
        <p:spPr>
          <a:xfrm>
            <a:off x="8370731" y="258127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Cannot generate unseen extremes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24C4EA-1E9C-477F-819F-3540987D3579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1911708" cy="8572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CF5B33-775A-4EC7-A6E0-549AB795B61D}"/>
              </a:ext>
            </a:extLst>
          </p:cNvPr>
          <p:cNvSpPr>
            <a:spLocks noGrp="1"/>
          </p:cNvSpPr>
          <p:nvPr/>
        </p:nvSpPr>
        <p:spPr>
          <a:xfrm>
            <a:off x="723900" y="3438525"/>
            <a:ext cx="1797408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Parametric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C0AD2C-0DA7-49B5-8042-240E72652DB9}"/>
              </a:ext>
            </a:extLst>
          </p:cNvPr>
          <p:cNvSpPr>
            <a:spLocks noGrp="1"/>
          </p:cNvSpPr>
          <p:nvPr/>
        </p:nvSpPr>
        <p:spPr>
          <a:xfrm>
            <a:off x="2578458" y="3409950"/>
            <a:ext cx="2523454" cy="8572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AEFB1A-1F57-408C-ACD7-E9C53019C931}"/>
              </a:ext>
            </a:extLst>
          </p:cNvPr>
          <p:cNvSpPr>
            <a:spLocks noGrp="1"/>
          </p:cNvSpPr>
          <p:nvPr/>
        </p:nvSpPr>
        <p:spPr>
          <a:xfrm>
            <a:off x="2635608" y="3438525"/>
            <a:ext cx="2409154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fitted probability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7C8B1E-D875-46D5-B8BF-52A9F790846C}"/>
              </a:ext>
            </a:extLst>
          </p:cNvPr>
          <p:cNvSpPr>
            <a:spLocks noGrp="1"/>
          </p:cNvSpPr>
          <p:nvPr/>
        </p:nvSpPr>
        <p:spPr>
          <a:xfrm>
            <a:off x="5101912" y="3409950"/>
            <a:ext cx="3211669" cy="8572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A8DE57-106E-4AAA-9305-4C859EB00D86}"/>
              </a:ext>
            </a:extLst>
          </p:cNvPr>
          <p:cNvSpPr>
            <a:spLocks noGrp="1"/>
          </p:cNvSpPr>
          <p:nvPr/>
        </p:nvSpPr>
        <p:spPr>
          <a:xfrm>
            <a:off x="5159062" y="343852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Smoother samples beyond observed values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EA60BD-5FD1-4F7C-8BE2-54006730223A}"/>
              </a:ext>
            </a:extLst>
          </p:cNvPr>
          <p:cNvSpPr>
            <a:spLocks noGrp="1"/>
          </p:cNvSpPr>
          <p:nvPr/>
        </p:nvSpPr>
        <p:spPr>
          <a:xfrm>
            <a:off x="8313581" y="3409950"/>
            <a:ext cx="3211669" cy="8572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86A29A-2185-431E-9BEB-C20D4046692D}"/>
              </a:ext>
            </a:extLst>
          </p:cNvPr>
          <p:cNvSpPr>
            <a:spLocks noGrp="1"/>
          </p:cNvSpPr>
          <p:nvPr/>
        </p:nvSpPr>
        <p:spPr>
          <a:xfrm>
            <a:off x="8370731" y="3438525"/>
            <a:ext cx="3097369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Wrong model can distort uncertainty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A442AD5-5ECC-4D25-81B7-8F8167A1FA14}"/>
              </a:ext>
            </a:extLst>
          </p:cNvPr>
          <p:cNvSpPr>
            <a:spLocks noGrp="1"/>
          </p:cNvSpPr>
          <p:nvPr/>
        </p:nvSpPr>
        <p:spPr>
          <a:xfrm>
            <a:off x="1676400" y="4762500"/>
            <a:ext cx="8839200" cy="685800"/>
          </a:xfrm>
          <a:prstGeom prst="roundRect">
            <a:avLst>
              <a:gd name="adj" fmla="val 2222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D0E540-80D7-4563-BA5F-CECCEC9158BA}"/>
              </a:ext>
            </a:extLst>
          </p:cNvPr>
          <p:cNvSpPr>
            <a:spLocks noGrp="1"/>
          </p:cNvSpPr>
          <p:nvPr/>
        </p:nvSpPr>
        <p:spPr>
          <a:xfrm>
            <a:off x="2038350" y="4895850"/>
            <a:ext cx="811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the bootstrap that matches what you can defend about the data-generating process.</a:t>
            </a:r>
          </a:p>
        </p:txBody>
      </p:sp>
    </p:spTree>
    <p:extLst>
      <p:ext uri="{BB962C8B-B14F-4D97-AF65-F5344CB8AC3E}">
        <p14:creationId xmlns:p14="http://schemas.microsoft.com/office/powerpoint/2010/main" val="1717932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93FFAF-D5AD-4FC5-B38B-AA4B1C690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0B5E61-F9E0-4EA9-A5EA-BCCC7F3836B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D3C9A-1514-4935-B441-65D8461C71A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B6CCE-CB49-4384-9DE9-DDB5737AE5C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44DF3-1F66-4005-A52A-02EC2653B48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272BF7-353E-42DA-B52C-3263A642C675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BOOTSTRAP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E32D8-2702-40E7-8F9F-37E3BBDA12B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0D1747-A56A-4612-AB7F-77BE7B82346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8B8FF-F1D1-41C1-AA49-BD6A8F96B44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163CEE-2DC3-4F12-9709-9B5F35590F7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Bootstrap standard error is the spread of bootstrap statistics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666750" y="1581150"/>
          <a:ext cx="7620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91DA510-249E-4928-9127-E5FCA37E1384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Original x̄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285E0-9245-48ED-85B0-C8A9F3BA1382}"/>
              </a:ext>
            </a:extLst>
          </p:cNvPr>
          <p:cNvSpPr>
            <a:spLocks noGrp="1"/>
          </p:cNvSpPr>
          <p:nvPr/>
        </p:nvSpPr>
        <p:spPr>
          <a:xfrm>
            <a:off x="8858250" y="2247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7.65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6BA4AA-BB43-4BC7-ACCE-16A416B4FB03}"/>
              </a:ext>
            </a:extLst>
          </p:cNvPr>
          <p:cNvSpPr>
            <a:spLocks noGrp="1"/>
          </p:cNvSpPr>
          <p:nvPr/>
        </p:nvSpPr>
        <p:spPr>
          <a:xfrm>
            <a:off x="8858250" y="32385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Bootstrap 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55330-1A4E-4F23-9C1E-CDE86FFBA989}"/>
              </a:ext>
            </a:extLst>
          </p:cNvPr>
          <p:cNvSpPr>
            <a:spLocks noGrp="1"/>
          </p:cNvSpPr>
          <p:nvPr/>
        </p:nvSpPr>
        <p:spPr>
          <a:xfrm>
            <a:off x="8858250" y="36766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214"/>
          </a:bodyPr>
          <a:lstStyle/>
          <a:p>
            <a:pPr algn="ctr">
              <a:buNone/>
              <a:def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0.80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A08E86-C34F-4C1C-A291-9CA1533CA884}"/>
              </a:ext>
            </a:extLst>
          </p:cNvPr>
          <p:cNvSpPr>
            <a:spLocks noGrp="1"/>
          </p:cNvSpPr>
          <p:nvPr/>
        </p:nvSpPr>
        <p:spPr>
          <a:xfrm>
            <a:off x="8667750" y="48196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2243"/>
          </a:bodyPr>
          <a:lstStyle/>
          <a:p>
            <a:pPr algn="ctr">
              <a:buNone/>
              <a:def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SE is not a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1705065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BB8CDE-F77A-4F9D-A8FE-93DF299AD3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F79AD8-D549-4DB3-BFA8-BD926E4444D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4CBA0-A609-402E-A306-CF57D61BD465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3A23E-A51E-4F18-B760-232E0F2BDA8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8412E-5A54-4C1C-B709-DCA872A818B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0861C-2467-43B1-B955-E627BAC5F053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7A236B-69C5-4639-A66E-2C33AC6E5A3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CADFC-AB7C-481A-84DD-0AC95D374A1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671D5-CDFB-4167-BEB7-0C99D95B535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8B29CA-4074-42F8-9CDC-10D478A97CB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SciPy returns the bootstrap distribution, standard error, and interval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79394E-3CC1-4A3D-9EF2-F8B8AA2DD528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6153150" cy="4000500"/>
          </a:xfrm>
          <a:prstGeom prst="roundRect">
            <a:avLst>
              <a:gd name="adj" fmla="val 3810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618E19-BC6E-43DF-A903-A4D56BFB9984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SCIPY BOOTSTRAP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CBCCF-E67E-4FFA-AC72-84619F078CB0}"/>
              </a:ext>
            </a:extLst>
          </p:cNvPr>
          <p:cNvSpPr>
            <a:spLocks noGrp="1"/>
          </p:cNvSpPr>
          <p:nvPr/>
        </p:nvSpPr>
        <p:spPr>
          <a:xfrm>
            <a:off x="933450" y="1962150"/>
            <a:ext cx="5772150" cy="3581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scipy.stats import bootstrap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sample is a previously defined 1-D array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rng = np.random.default_rng(500)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 = bootstrap(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(sample,),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np.mean,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n_resamples=10_000,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method="BCa",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rng=rng</a:t>
            </a:r>
          </a:p>
          <a:p>
            <a:r>
              <a:t>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res.standard_error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res.confidence_interval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res.bootstrap_distribution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2E8E1-C191-4A23-BEF8-DA29E0E84949}"/>
              </a:ext>
            </a:extLst>
          </p:cNvPr>
          <p:cNvSpPr>
            <a:spLocks noGrp="1"/>
          </p:cNvSpPr>
          <p:nvPr/>
        </p:nvSpPr>
        <p:spPr>
          <a:xfrm>
            <a:off x="7848600" y="17145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Read the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9D86-222B-4323-A009-A6AEA21BB6E3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5242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standard_error: empirical spread of bootstrap statistics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confidence_interval: interval from the chosen bootstrap method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bootstrap_distribution: values for plotting and diagnostics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rng: reproducible resampling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D4CED3-8DA3-41EF-85F8-FCDCF6907174}"/>
              </a:ext>
            </a:extLst>
          </p:cNvPr>
          <p:cNvSpPr>
            <a:spLocks noGrp="1"/>
          </p:cNvSpPr>
          <p:nvPr/>
        </p:nvSpPr>
        <p:spPr>
          <a:xfrm>
            <a:off x="7581900" y="495300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Method choice matters; BCa is the current SciPy default.</a:t>
            </a:r>
          </a:p>
        </p:txBody>
      </p:sp>
    </p:spTree>
    <p:extLst>
      <p:ext uri="{BB962C8B-B14F-4D97-AF65-F5344CB8AC3E}">
        <p14:creationId xmlns:p14="http://schemas.microsoft.com/office/powerpoint/2010/main" val="939927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BB8CDE-F77A-4F9D-A8FE-93DF299AD3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F79AD8-D549-4DB3-BFA8-BD926E4444D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4CBA0-A609-402E-A306-CF57D61BD465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3A23E-A51E-4F18-B760-232E0F2BDA8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8412E-5A54-4C1C-B709-DCA872A818B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0861C-2467-43B1-B955-E627BAC5F053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 · BOOT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7A236B-69C5-4639-A66E-2C33AC6E5A3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CADFC-AB7C-481A-84DD-0AC95D374A1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671D5-CDFB-4167-BEB7-0C99D95B535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8B29CA-4074-42F8-9CDC-10D478A97CB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685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Connect the book's bootstrap idea to the current SciPy API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79394E-3CC1-4A3D-9EF2-F8B8AA2DD528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6153150" cy="4000500"/>
          </a:xfrm>
          <a:prstGeom prst="roundRect">
            <a:avLst>
              <a:gd name="adj" fmla="val 3810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618E19-BC6E-43DF-A903-A4D56BFB9984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CURRENT SCIPY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CBCCF-E67E-4FFA-AC72-84619F078CB0}"/>
              </a:ext>
            </a:extLst>
          </p:cNvPr>
          <p:cNvSpPr>
            <a:spLocks noGrp="1"/>
          </p:cNvSpPr>
          <p:nvPr/>
        </p:nvSpPr>
        <p:spPr>
          <a:xfrm>
            <a:off x="933450" y="1962150"/>
            <a:ext cx="5772150" cy="3581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scipy.stats import bootstrap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rng = np.random.default_rng(500)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 = bootstrap(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(sample,),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np.median,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n_resamples=10_000,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method="BCa",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rng=rng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r>
              <a:t>res.standard_error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res.confidence_interval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2E8E1-C191-4A23-BEF8-DA29E0E84949}"/>
              </a:ext>
            </a:extLst>
          </p:cNvPr>
          <p:cNvSpPr>
            <a:spLocks noGrp="1"/>
          </p:cNvSpPr>
          <p:nvPr/>
        </p:nvSpPr>
        <p:spPr>
          <a:xfrm>
            <a:off x="7848600" y="17145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Read the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9D86-222B-4323-A009-A6AEA21BB6E3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5242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standard_error: bootstrap spread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confidence_interval: selected method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bootstrap_distribution: diagnostic values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rng: reproducible resampling</a:t>
            </a:r>
          </a:p>
          <a:p>
            <a:pPr marL="27" indent="-18">
              <a:spcAft>
                <a:spcPts val="16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statistic: the estimand in 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D4CED3-8DA3-41EF-85F8-FCDCF6907174}"/>
              </a:ext>
            </a:extLst>
          </p:cNvPr>
          <p:cNvSpPr>
            <a:spLocks noGrp="1"/>
          </p:cNvSpPr>
          <p:nvPr/>
        </p:nvSpPr>
        <p:spPr>
          <a:xfrm>
            <a:off x="7581900" y="495300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9444"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The appendix demonstrates percentile bootstrap with an older package; the course uses current SciPy while preserving the same resampling logic. · Appendix B4.5</a:t>
            </a:r>
          </a:p>
        </p:txBody>
      </p:sp>
    </p:spTree>
    <p:extLst>
      <p:ext uri="{BB962C8B-B14F-4D97-AF65-F5344CB8AC3E}">
        <p14:creationId xmlns:p14="http://schemas.microsoft.com/office/powerpoint/2010/main" val="939927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0CED526-9597-4A8F-BBDE-90BC042E69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EC9A0-05C0-4FE0-9215-9FA3A7BE040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01BDDB-1E37-4D18-B648-9398A484DB00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C99D47-E04F-43AE-95FB-7829E6D95A6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5D6CC-8371-4A6B-9ABE-4638B097CE6D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CB49D-0C4A-4E94-9DF8-14B15FBF6B1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BOOTSTRAP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5CD85-4211-4737-ACB1-71D8F8AED6C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8BD92-4AFE-43C9-8B16-D2CCB76700A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8C6BF-414A-4FCE-98A0-3A08C177C59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8FFC90-D515-48CD-A8E8-A7575EDFDEB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Bootstrap reproduces the sample's blind spots as well as its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73094A-B064-4244-9493-133FE8CA2DC8}"/>
              </a:ext>
            </a:extLst>
          </p:cNvPr>
          <p:cNvSpPr>
            <a:spLocks noGrp="1"/>
          </p:cNvSpPr>
          <p:nvPr/>
        </p:nvSpPr>
        <p:spPr>
          <a:xfrm>
            <a:off x="876300" y="1543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Rare classes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E039E1-0835-4006-9FB7-FEBA117B7022}"/>
              </a:ext>
            </a:extLst>
          </p:cNvPr>
          <p:cNvSpPr>
            <a:spLocks noGrp="1"/>
          </p:cNvSpPr>
          <p:nvPr/>
        </p:nvSpPr>
        <p:spPr>
          <a:xfrm>
            <a:off x="3619500" y="15430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If the sample contains few or no positives, resampling cannot invent them.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36707-28AF-4D56-AA4D-11979AEC9382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Dependence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870E5-DBB6-4BEF-B9E5-8E7DD64E1CCB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Row-wise resampling breaks clusters, time order, and repeated-user structure.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795F2-29E0-431C-866F-2A9AB993E208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Small 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EB7FC4-2157-40A4-B46E-20BB3E7F5421}"/>
              </a:ext>
            </a:extLst>
          </p:cNvPr>
          <p:cNvSpPr>
            <a:spLocks noGrp="1"/>
          </p:cNvSpPr>
          <p:nvPr/>
        </p:nvSpPr>
        <p:spPr>
          <a:xfrm>
            <a:off x="3619500" y="33718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empirical distribution may omit tail behavior and understate variability.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F1850-4572-4496-BC85-A4ACCFC2CA4C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Selection bias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474209-E11B-4212-9CFC-C69EBEE12CD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biased observed sample produces a biased bootstrap world.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79BD77A-EF36-4DF1-A77E-DC9630DFD76C}"/>
              </a:ext>
            </a:extLst>
          </p:cNvPr>
          <p:cNvSpPr>
            <a:spLocks noGrp="1"/>
          </p:cNvSpPr>
          <p:nvPr/>
        </p:nvSpPr>
        <p:spPr>
          <a:xfrm>
            <a:off x="1752600" y="5238750"/>
            <a:ext cx="8686800" cy="476250"/>
          </a:xfrm>
          <a:prstGeom prst="roundRect">
            <a:avLst>
              <a:gd name="adj" fmla="val 24000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FD66B5-3795-48AE-AF9F-E252F15A103E}"/>
              </a:ext>
            </a:extLst>
          </p:cNvPr>
          <p:cNvSpPr>
            <a:spLocks noGrp="1"/>
          </p:cNvSpPr>
          <p:nvPr/>
        </p:nvSpPr>
        <p:spPr>
          <a:xfrm>
            <a:off x="2057400" y="5334000"/>
            <a:ext cx="807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Use stratified, cluster, block, or hierarchical resampling when the design requires it.</a:t>
            </a:r>
          </a:p>
        </p:txBody>
      </p:sp>
    </p:spTree>
    <p:extLst>
      <p:ext uri="{BB962C8B-B14F-4D97-AF65-F5344CB8AC3E}">
        <p14:creationId xmlns:p14="http://schemas.microsoft.com/office/powerpoint/2010/main" val="1615185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C5C0558-A2A3-4768-90FD-A67CA6E1C5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732C1-B926-453C-BD1F-4CDC15B0931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28D354-21A2-472C-B880-F377F0F5DC7D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431B4-4F1E-4F9B-BCC7-D02B68A14A1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45AD7E-4002-4C4C-BD83-737A6C96E13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1F475-BA8A-4F91-8006-C240E6BACE1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C8816-E0BE-421F-B807-63BD8A69825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1AC21-A776-4E92-9895-E6B02625D36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322FA-2901-4CB3-B61E-A1A5ECB723B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1AFF95-F555-4D23-9F8C-672880DF247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a resampling unit that preserves the study design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748389-25A7-4BC3-9826-C75A474080DD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95300" cy="4953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A1E2E7-7887-4E7F-89FF-751A361750D1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4E9CE0-8A6F-4F20-9279-7CC1BAA8FFA2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609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Transactions nested within customers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E2A5F7-E48D-45B0-869E-EBB311F06A9C}"/>
              </a:ext>
            </a:extLst>
          </p:cNvPr>
          <p:cNvSpPr>
            <a:spLocks noGrp="1"/>
          </p:cNvSpPr>
          <p:nvPr/>
        </p:nvSpPr>
        <p:spPr>
          <a:xfrm>
            <a:off x="8096250" y="16954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row / customer / month?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20668A-243B-4DAD-B6B0-491B003CFB1B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95300" cy="4953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F414FF-A5F9-4DD6-BCE6-1F05D3083880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70607D-C14E-4C21-B517-ED95C8D75E78}"/>
              </a:ext>
            </a:extLst>
          </p:cNvPr>
          <p:cNvSpPr>
            <a:spLocks noGrp="1"/>
          </p:cNvSpPr>
          <p:nvPr/>
        </p:nvSpPr>
        <p:spPr>
          <a:xfrm>
            <a:off x="1733550" y="2533650"/>
            <a:ext cx="609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Daily demand with weekly seasonality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D6451C-F68D-49D7-ABC6-F068F8F64225}"/>
              </a:ext>
            </a:extLst>
          </p:cNvPr>
          <p:cNvSpPr>
            <a:spLocks noGrp="1"/>
          </p:cNvSpPr>
          <p:nvPr/>
        </p:nvSpPr>
        <p:spPr>
          <a:xfrm>
            <a:off x="8096250" y="26098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02"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day / seven-day block / random row?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B93949-C475-4FFB-BCB8-D7486A44241B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495300" cy="4953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E57BBD-C74D-491D-B6C8-B60676DA31BD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B358C9-6F42-4C5A-9195-8769D6454D89}"/>
              </a:ext>
            </a:extLst>
          </p:cNvPr>
          <p:cNvSpPr>
            <a:spLocks noGrp="1"/>
          </p:cNvSpPr>
          <p:nvPr/>
        </p:nvSpPr>
        <p:spPr>
          <a:xfrm>
            <a:off x="1733550" y="3448050"/>
            <a:ext cx="609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Hospitals with patients nested within sites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7D87FA-80A4-4EE9-BC23-BF2FCDC7C6D6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patient / hospital / both levels?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7BA405-4CA8-4F93-A5CB-E606BB7B329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495300" cy="4953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1AE2AE-8F68-4026-B133-E77C2759C65A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2B44BE-DDEE-46A3-B411-718F32037688}"/>
              </a:ext>
            </a:extLst>
          </p:cNvPr>
          <p:cNvSpPr>
            <a:spLocks noGrp="1"/>
          </p:cNvSpPr>
          <p:nvPr/>
        </p:nvSpPr>
        <p:spPr>
          <a:xfrm>
            <a:off x="1733550" y="4362450"/>
            <a:ext cx="609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Rare fraud cases in a validation set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8B6577-3327-42DB-88E4-7BB774DBA917}"/>
              </a:ext>
            </a:extLst>
          </p:cNvPr>
          <p:cNvSpPr>
            <a:spLocks noGrp="1"/>
          </p:cNvSpPr>
          <p:nvPr/>
        </p:nvSpPr>
        <p:spPr>
          <a:xfrm>
            <a:off x="8096250" y="44386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ordinary / stratified / no bootstrap?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CAF9F23-CE7D-46DC-9609-BE061071E2EB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6061FB-40AF-4210-AA6F-345268466BD3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Resample the unit that is plausibly independent.</a:t>
            </a:r>
          </a:p>
        </p:txBody>
      </p:sp>
    </p:spTree>
    <p:extLst>
      <p:ext uri="{BB962C8B-B14F-4D97-AF65-F5344CB8AC3E}">
        <p14:creationId xmlns:p14="http://schemas.microsoft.com/office/powerpoint/2010/main" val="292880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17B01E-D9BE-442C-B1D0-B5802004E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71627-7203-4ED4-BDA3-D742CCCA48A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2222B-ABFD-4637-85E0-2E303A0890DB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BDF418-16C4-4EAC-9676-47E6ADA55F2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F5383E-1D37-4A99-BBC5-293D5A8D49E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648DC-5F30-4009-B0B8-EDDD6140406B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 ·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02B1-3E87-4CC0-ACBE-E0BB2D8FBFB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393F5-E7A3-4BD3-BAF1-3519C2A6C2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56D6-0C9F-4A13-A329-ED31F5E359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7D91B5-313E-4B28-96BB-76255EA2E5D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4801"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Sampling code style: make randomness and repetition auditable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94F003-A60F-4E84-9151-FB3492B99D4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858000" cy="4114800"/>
          </a:xfrm>
          <a:prstGeom prst="roundRect">
            <a:avLst>
              <a:gd name="adj" fmla="val 370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9494E-6B0C-423A-BE9B-F13EA2A3E581}"/>
              </a:ext>
            </a:extLst>
          </p:cNvPr>
          <p:cNvSpPr>
            <a:spLocks noGrp="1"/>
          </p:cNvSpPr>
          <p:nvPr/>
        </p:nvSpPr>
        <p:spPr>
          <a:xfrm>
            <a:off x="89535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BOOK-ALIGNED PATTERN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D06DE9-BC40-4024-BCAA-D87A8021825A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3543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r>
              <a:t>rng = np.random.default_rng(500)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 = 100       # units per sample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 = 10_000    # repeated samples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means = rng.normal(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loc=mu, scale=sigma, size=(B, n)</a:t>
            </a:r>
          </a:p>
          <a:p>
            <a:r>
              <a:t>).mean(axis=1)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E0E4E-143F-4BD6-AF16-A4C19240E175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456"/>
          </a:bodyPr>
          <a:lstStyle/>
          <a:p>
            <a:pPr algn="ctr">
              <a:buNone/>
              <a:def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Package roles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86232-AEA5-4D5D-9E54-4DA2ADB2DAAB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3048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NumPy → simulation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SciPy → distributions + bootstrap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pandas → observed data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matplotlib / seaborn → diagnostics</a:t>
            </a:r>
          </a:p>
          <a:p>
            <a:pPr marL="27" indent="-18">
              <a:spcAft>
                <a:spcPts val="15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statistics / NumPy → summaries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83D4E3-BE45-4D72-ACF1-713DB8D24226}"/>
              </a:ext>
            </a:extLst>
          </p:cNvPr>
          <p:cNvSpPr>
            <a:spLocks noGrp="1"/>
          </p:cNvSpPr>
          <p:nvPr/>
        </p:nvSpPr>
        <p:spPr>
          <a:xfrm>
            <a:off x="7924800" y="493395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392"/>
          </a:bodyPr>
          <a:lstStyle/>
          <a:p>
            <a:pPr algn="ctr">
              <a:buNone/>
              <a:def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Keep n, B, the sampling unit, statistic, seed, and units visible. · Python Appendix B3–B4</a:t>
            </a:r>
          </a:p>
        </p:txBody>
      </p:sp>
    </p:spTree>
    <p:extLst>
      <p:ext uri="{BB962C8B-B14F-4D97-AF65-F5344CB8AC3E}">
        <p14:creationId xmlns:p14="http://schemas.microsoft.com/office/powerpoint/2010/main" val="606516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A3AA93D-5CC7-4588-9F37-65836401645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AAC8F3-0FB4-4F4B-AD2A-179255B96BF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82F1A-AC65-4980-9755-C99520CD441A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Apply the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C0620-DC08-418A-9E23-6B7B507AAF73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476B6-3E0D-473D-B8CD-0323C2A1B2D6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The lab and assignment ask you to connect code, distribution theory, and responsible interpretation.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F44AD-300D-4B5E-91A6-600F2202F61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66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E61182B-0348-4C7A-8C5C-60030E79F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7253E-0970-489F-B8FE-F074DA225406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2A05DF-2233-49E2-8160-FBE3AD87D069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BB026-8B7D-4990-9D12-89A54A11CC7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EF22C-EE99-46CB-A210-2914A2619D45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C8EFD-8CED-4177-8F32-C20ECA5104E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93D93-CD5C-491A-AEC7-E734F38E48F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4D3EF-7A07-4F96-9A56-9132D77B88F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10B115-680A-4CB6-8424-5F5B964635D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FC84AA-06E5-4042-A0E0-8E259C2F118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Module 3 lab moves from data inspection to simulated inference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6B7806-5620-437A-A306-0EBDEEE242D7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6AA91-C9AB-4BD4-9B72-B45D70EC8580}"/>
              </a:ext>
            </a:extLst>
          </p:cNvPr>
          <p:cNvSpPr>
            <a:spLocks noGrp="1"/>
          </p:cNvSpPr>
          <p:nvPr/>
        </p:nvSpPr>
        <p:spPr>
          <a:xfrm>
            <a:off x="1619250" y="15049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Inspect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3C9B48-FDA0-43EB-BAF0-C0EAC4885DC5}"/>
              </a:ext>
            </a:extLst>
          </p:cNvPr>
          <p:cNvSpPr>
            <a:spLocks noGrp="1"/>
          </p:cNvSpPr>
          <p:nvPr/>
        </p:nvSpPr>
        <p:spPr>
          <a:xfrm>
            <a:off x="4095750" y="15049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head · tail · dtypes · describe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3E568DA-67C8-4A9B-8F39-4E8D971BDE8C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6B0C65-4606-4DB1-8AE4-BA62967A2C2E}"/>
              </a:ext>
            </a:extLst>
          </p:cNvPr>
          <p:cNvSpPr>
            <a:spLocks noGrp="1"/>
          </p:cNvSpPr>
          <p:nvPr/>
        </p:nvSpPr>
        <p:spPr>
          <a:xfrm>
            <a:off x="1619250" y="23050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Subset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FEA7B-4E8D-4C4C-B6EF-9A840D763032}"/>
              </a:ext>
            </a:extLst>
          </p:cNvPr>
          <p:cNvSpPr>
            <a:spLocks noGrp="1"/>
          </p:cNvSpPr>
          <p:nvPr/>
        </p:nvSpPr>
        <p:spPr>
          <a:xfrm>
            <a:off x="4095750" y="23050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loc for selected rows and columns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E5783B-C282-459D-9756-B470FAE3677C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6AA14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5BF28D-D8C7-476A-A277-00C00A6DB937}"/>
              </a:ext>
            </a:extLst>
          </p:cNvPr>
          <p:cNvSpPr>
            <a:spLocks noGrp="1"/>
          </p:cNvSpPr>
          <p:nvPr/>
        </p:nvSpPr>
        <p:spPr>
          <a:xfrm>
            <a:off x="1619250" y="31051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1434B9-C929-4727-A246-5E9E5EDDB603}"/>
              </a:ext>
            </a:extLst>
          </p:cNvPr>
          <p:cNvSpPr>
            <a:spLocks noGrp="1"/>
          </p:cNvSpPr>
          <p:nvPr/>
        </p:nvSpPr>
        <p:spPr>
          <a:xfrm>
            <a:off x="4095750" y="31051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DataFrame.sample with a fixed seed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262D7A-CB31-4240-8A36-4446DAA93727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E2789F-CA05-44D5-8570-7CA14F8843C9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Simulate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456CEF-1D7A-47E7-9983-685B5BD9B7D7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10,000 Gamma samples of n = 200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F255DB-7725-4787-BD10-03FFB0404C57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556985-FE69-4CCB-AE37-AB61F03DAA3B}"/>
              </a:ext>
            </a:extLst>
          </p:cNvPr>
          <p:cNvSpPr>
            <a:spLocks noGrp="1"/>
          </p:cNvSpPr>
          <p:nvPr/>
        </p:nvSpPr>
        <p:spPr>
          <a:xfrm>
            <a:off x="1619250" y="470535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Compare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423DC1-93CB-4514-BDDF-5A8CBCD67C7B}"/>
              </a:ext>
            </a:extLst>
          </p:cNvPr>
          <p:cNvSpPr>
            <a:spLocks noGrp="1"/>
          </p:cNvSpPr>
          <p:nvPr/>
        </p:nvSpPr>
        <p:spPr>
          <a:xfrm>
            <a:off x="4095750" y="47053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shape versus means</a:t>
            </a:r>
          </a:p>
        </p:txBody>
      </p:sp>
    </p:spTree>
    <p:extLst>
      <p:ext uri="{BB962C8B-B14F-4D97-AF65-F5344CB8AC3E}">
        <p14:creationId xmlns:p14="http://schemas.microsoft.com/office/powerpoint/2010/main" val="340654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B9F4048-F5C7-414B-A67B-D40CD00627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9BECFD-D05F-44E3-8A8D-575A709807E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843BA-271F-4CDF-88A3-ED6D20F924AC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CBB64-F21B-4F6C-A1D4-FB7D5EBB3D02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47F4F-55B9-4FC9-BA4C-5BE66A33CEB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8F13DD-B5D0-49BE-845C-F7A7FF7EDC58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8031A-A79A-48F5-90C0-13D82C75FC6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2669C8-30FE-4754-8D7C-B2456794B1B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3351B-A5AB-4522-A081-C139A8CA357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9BC2F5-FBAE-4E42-8405-456630730C3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Convert Gamma mean and standard deviation into shape and scale correctly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A19BFE-E5CC-4436-8BC5-23359ABF05B8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4000500" cy="2857500"/>
          </a:xfrm>
          <a:prstGeom prst="roundRect">
            <a:avLst>
              <a:gd name="adj" fmla="val 6667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A2505-928D-4AEF-8AA8-BC3BB26E0FB6}"/>
              </a:ext>
            </a:extLst>
          </p:cNvPr>
          <p:cNvSpPr>
            <a:spLocks noGrp="1"/>
          </p:cNvSpPr>
          <p:nvPr/>
        </p:nvSpPr>
        <p:spPr>
          <a:xfrm>
            <a:off x="1104900" y="20002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Given μ = 10, σ = 7.75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EEB36-E577-48CA-9B9C-EBD647BF3286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3390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7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shape α = μ² / σ²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25B9E8-5DFB-44EC-ABA2-7EC228C56282}"/>
              </a:ext>
            </a:extLst>
          </p:cNvPr>
          <p:cNvSpPr>
            <a:spLocks noGrp="1"/>
          </p:cNvSpPr>
          <p:nvPr/>
        </p:nvSpPr>
        <p:spPr>
          <a:xfrm>
            <a:off x="1047750" y="3505200"/>
            <a:ext cx="3390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7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scale θ = σ² / μ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090BD9-0A7D-4D34-BE9E-FEAA5033364E}"/>
              </a:ext>
            </a:extLst>
          </p:cNvPr>
          <p:cNvSpPr>
            <a:spLocks noGrp="1"/>
          </p:cNvSpPr>
          <p:nvPr/>
        </p:nvSpPr>
        <p:spPr>
          <a:xfrm>
            <a:off x="5429250" y="1504950"/>
            <a:ext cx="5962650" cy="3714750"/>
          </a:xfrm>
          <a:prstGeom prst="roundRect">
            <a:avLst>
              <a:gd name="adj" fmla="val 4103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418DF-BB07-44E8-9974-8D7E7ED54221}"/>
              </a:ext>
            </a:extLst>
          </p:cNvPr>
          <p:cNvSpPr>
            <a:spLocks noGrp="1"/>
          </p:cNvSpPr>
          <p:nvPr/>
        </p:nvSpPr>
        <p:spPr>
          <a:xfrm>
            <a:off x="563880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LAB SIMULATION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3E9F48-1BA1-4D11-B88C-4DB9A2EEC5D4}"/>
              </a:ext>
            </a:extLst>
          </p:cNvPr>
          <p:cNvSpPr>
            <a:spLocks noGrp="1"/>
          </p:cNvSpPr>
          <p:nvPr/>
        </p:nvSpPr>
        <p:spPr>
          <a:xfrm>
            <a:off x="5619750" y="1943100"/>
            <a:ext cx="55816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mu, sigma = 10, 7.75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shape = mu**2 / sigma**2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scale = sigma**2 / mu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population = rng.gamma(shape, scale, 100_000)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means = np.array([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rng.gamma(shape, scale, 200).mean()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for _ in range(10_000)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])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means.mean(), means.std(ddof=1)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CC8A05-A0F8-4BC3-9E46-3F7C9033F07F}"/>
              </a:ext>
            </a:extLst>
          </p:cNvPr>
          <p:cNvSpPr>
            <a:spLocks noGrp="1"/>
          </p:cNvSpPr>
          <p:nvPr/>
        </p:nvSpPr>
        <p:spPr>
          <a:xfrm>
            <a:off x="1809750" y="4857750"/>
            <a:ext cx="866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8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Check: mean ≈ αθ and variance ≈ αθ².</a:t>
            </a:r>
          </a:p>
        </p:txBody>
      </p:sp>
    </p:spTree>
    <p:extLst>
      <p:ext uri="{BB962C8B-B14F-4D97-AF65-F5344CB8AC3E}">
        <p14:creationId xmlns:p14="http://schemas.microsoft.com/office/powerpoint/2010/main" val="1834625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E58AD899-D28E-4BED-B393-E350645336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3F9B1A-D287-4AC2-AF29-0D023ED913E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AC601-765D-45D5-8BCC-F8D18ECF745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26D05-2BC3-439B-ABBC-274F1247F8DE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A3D7E-3E26-4DC1-88E8-DF492075F71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EF0A7-A371-4C17-BD33-9F6F4A7B69F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5C6132-327E-445E-A869-7474A155452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4A4E4-6D3A-42FE-9FBE-FB800F408F6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D0EFEC-AE58-4157-8E27-B5C5C6D62BE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C84A01-0B0B-4AC9-B82D-8FA5FA23FEC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3.1 checks one connected uncertainty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9E200-7276-46F5-93BB-417201A2D5F5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046605" cy="530679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56D9F7-2446-434A-96EF-91B75FABC020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Problems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2823FE-793B-4FC1-88F6-174ABD25DBF8}"/>
              </a:ext>
            </a:extLst>
          </p:cNvPr>
          <p:cNvSpPr>
            <a:spLocks noGrp="1"/>
          </p:cNvSpPr>
          <p:nvPr/>
        </p:nvSpPr>
        <p:spPr>
          <a:xfrm>
            <a:off x="2560955" y="1504950"/>
            <a:ext cx="4093210" cy="530679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66093-0DCC-427B-893F-61F395B6B93D}"/>
              </a:ext>
            </a:extLst>
          </p:cNvPr>
          <p:cNvSpPr>
            <a:spLocks noGrp="1"/>
          </p:cNvSpPr>
          <p:nvPr/>
        </p:nvSpPr>
        <p:spPr>
          <a:xfrm>
            <a:off x="2618105" y="1533525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Core skill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63F530-F566-4541-BDFF-19E8FBB1A62D}"/>
              </a:ext>
            </a:extLst>
          </p:cNvPr>
          <p:cNvSpPr>
            <a:spLocks noGrp="1"/>
          </p:cNvSpPr>
          <p:nvPr/>
        </p:nvSpPr>
        <p:spPr>
          <a:xfrm>
            <a:off x="6654165" y="1504950"/>
            <a:ext cx="5023485" cy="530679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D50518-8D0A-44BE-B1D5-21EC436B6353}"/>
              </a:ext>
            </a:extLst>
          </p:cNvPr>
          <p:cNvSpPr>
            <a:spLocks noGrp="1"/>
          </p:cNvSpPr>
          <p:nvPr/>
        </p:nvSpPr>
        <p:spPr>
          <a:xfrm>
            <a:off x="6711315" y="1533525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Useful Python pattern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CD645B-585C-4713-8FE5-6CBADE7AF7C8}"/>
              </a:ext>
            </a:extLst>
          </p:cNvPr>
          <p:cNvSpPr>
            <a:spLocks noGrp="1"/>
          </p:cNvSpPr>
          <p:nvPr/>
        </p:nvSpPr>
        <p:spPr>
          <a:xfrm>
            <a:off x="514350" y="2035629"/>
            <a:ext cx="204660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B73AB2-5B32-4F1F-85D6-AF00DEE64A51}"/>
              </a:ext>
            </a:extLst>
          </p:cNvPr>
          <p:cNvSpPr>
            <a:spLocks noGrp="1"/>
          </p:cNvSpPr>
          <p:nvPr/>
        </p:nvSpPr>
        <p:spPr>
          <a:xfrm>
            <a:off x="571500" y="2064204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3.2, 3.3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3DF1D5-BA1B-4098-A0DE-BAFC96C90034}"/>
              </a:ext>
            </a:extLst>
          </p:cNvPr>
          <p:cNvSpPr>
            <a:spLocks noGrp="1"/>
          </p:cNvSpPr>
          <p:nvPr/>
        </p:nvSpPr>
        <p:spPr>
          <a:xfrm>
            <a:off x="2560955" y="2035629"/>
            <a:ext cx="4093210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C7B571-00E7-470B-AA6A-D6EDB29A8699}"/>
              </a:ext>
            </a:extLst>
          </p:cNvPr>
          <p:cNvSpPr>
            <a:spLocks noGrp="1"/>
          </p:cNvSpPr>
          <p:nvPr/>
        </p:nvSpPr>
        <p:spPr>
          <a:xfrm>
            <a:off x="2618105" y="2064204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Proportion SE and simulation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EFAA95-D524-499A-89AF-2069A72F4F30}"/>
              </a:ext>
            </a:extLst>
          </p:cNvPr>
          <p:cNvSpPr>
            <a:spLocks noGrp="1"/>
          </p:cNvSpPr>
          <p:nvPr/>
        </p:nvSpPr>
        <p:spPr>
          <a:xfrm>
            <a:off x="6654165" y="2035629"/>
            <a:ext cx="502348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68BA5-54DA-4605-82DE-951FBFDA4897}"/>
              </a:ext>
            </a:extLst>
          </p:cNvPr>
          <p:cNvSpPr>
            <a:spLocks noGrp="1"/>
          </p:cNvSpPr>
          <p:nvPr/>
        </p:nvSpPr>
        <p:spPr>
          <a:xfrm>
            <a:off x="6711315" y="2064204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rng.binomial(...)/n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F72278-680A-4160-A5BF-FB3715C9FFD1}"/>
              </a:ext>
            </a:extLst>
          </p:cNvPr>
          <p:cNvSpPr>
            <a:spLocks noGrp="1"/>
          </p:cNvSpPr>
          <p:nvPr/>
        </p:nvSpPr>
        <p:spPr>
          <a:xfrm>
            <a:off x="514350" y="2566307"/>
            <a:ext cx="204660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074211-2DE4-4793-B2CC-218945588899}"/>
              </a:ext>
            </a:extLst>
          </p:cNvPr>
          <p:cNvSpPr>
            <a:spLocks noGrp="1"/>
          </p:cNvSpPr>
          <p:nvPr/>
        </p:nvSpPr>
        <p:spPr>
          <a:xfrm>
            <a:off x="571500" y="2594882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3.5, 3.8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638726-69E3-49E4-92B1-D5AE2000CD61}"/>
              </a:ext>
            </a:extLst>
          </p:cNvPr>
          <p:cNvSpPr>
            <a:spLocks noGrp="1"/>
          </p:cNvSpPr>
          <p:nvPr/>
        </p:nvSpPr>
        <p:spPr>
          <a:xfrm>
            <a:off x="2560955" y="2566307"/>
            <a:ext cx="4093210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586D0-03FB-49DD-B869-39647541F3F5}"/>
              </a:ext>
            </a:extLst>
          </p:cNvPr>
          <p:cNvSpPr>
            <a:spLocks noGrp="1"/>
          </p:cNvSpPr>
          <p:nvPr/>
        </p:nvSpPr>
        <p:spPr>
          <a:xfrm>
            <a:off x="2618105" y="2594882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Theoretical SE and exact sampling distributions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2AE0F9-E37D-4497-8D52-A21DB661EAC7}"/>
              </a:ext>
            </a:extLst>
          </p:cNvPr>
          <p:cNvSpPr>
            <a:spLocks noGrp="1"/>
          </p:cNvSpPr>
          <p:nvPr/>
        </p:nvSpPr>
        <p:spPr>
          <a:xfrm>
            <a:off x="6654165" y="2566307"/>
            <a:ext cx="502348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4E7D16-FB01-44EE-8415-9749FDD869EF}"/>
              </a:ext>
            </a:extLst>
          </p:cNvPr>
          <p:cNvSpPr>
            <a:spLocks noGrp="1"/>
          </p:cNvSpPr>
          <p:nvPr/>
        </p:nvSpPr>
        <p:spPr>
          <a:xfrm>
            <a:off x="6711315" y="2594882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formula + enumeration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6BD9E4-7AB6-4C86-BDBC-68D9269568D8}"/>
              </a:ext>
            </a:extLst>
          </p:cNvPr>
          <p:cNvSpPr>
            <a:spLocks noGrp="1"/>
          </p:cNvSpPr>
          <p:nvPr/>
        </p:nvSpPr>
        <p:spPr>
          <a:xfrm>
            <a:off x="514350" y="3096986"/>
            <a:ext cx="204660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E326DE-1396-4EF7-8078-00197E7A5644}"/>
              </a:ext>
            </a:extLst>
          </p:cNvPr>
          <p:cNvSpPr>
            <a:spLocks noGrp="1"/>
          </p:cNvSpPr>
          <p:nvPr/>
        </p:nvSpPr>
        <p:spPr>
          <a:xfrm>
            <a:off x="571500" y="3125561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3.13, 3.14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2F09C-27AB-4049-A3CE-44318EDBA9F9}"/>
              </a:ext>
            </a:extLst>
          </p:cNvPr>
          <p:cNvSpPr>
            <a:spLocks noGrp="1"/>
          </p:cNvSpPr>
          <p:nvPr/>
        </p:nvSpPr>
        <p:spPr>
          <a:xfrm>
            <a:off x="2560955" y="3096986"/>
            <a:ext cx="4093210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F88DAF-C5B2-42F1-9D79-2D22A1E87161}"/>
              </a:ext>
            </a:extLst>
          </p:cNvPr>
          <p:cNvSpPr>
            <a:spLocks noGrp="1"/>
          </p:cNvSpPr>
          <p:nvPr/>
        </p:nvSpPr>
        <p:spPr>
          <a:xfrm>
            <a:off x="2618105" y="3125561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CLT for Uniform data and sums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4A84A1-1558-49F8-BA69-BAD86F1AEA6D}"/>
              </a:ext>
            </a:extLst>
          </p:cNvPr>
          <p:cNvSpPr>
            <a:spLocks noGrp="1"/>
          </p:cNvSpPr>
          <p:nvPr/>
        </p:nvSpPr>
        <p:spPr>
          <a:xfrm>
            <a:off x="6654165" y="3096986"/>
            <a:ext cx="502348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E88322-09AC-47BE-93BE-F57D817404AC}"/>
              </a:ext>
            </a:extLst>
          </p:cNvPr>
          <p:cNvSpPr>
            <a:spLocks noGrp="1"/>
          </p:cNvSpPr>
          <p:nvPr/>
        </p:nvSpPr>
        <p:spPr>
          <a:xfrm>
            <a:off x="6711315" y="3125561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repeated draws + statistic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7D088C-8086-4319-ACA4-FF5055CFF81F}"/>
              </a:ext>
            </a:extLst>
          </p:cNvPr>
          <p:cNvSpPr>
            <a:spLocks noGrp="1"/>
          </p:cNvSpPr>
          <p:nvPr/>
        </p:nvSpPr>
        <p:spPr>
          <a:xfrm>
            <a:off x="514350" y="3627664"/>
            <a:ext cx="204660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7EAC12-6366-411E-B114-992ED66DEC2F}"/>
              </a:ext>
            </a:extLst>
          </p:cNvPr>
          <p:cNvSpPr>
            <a:spLocks noGrp="1"/>
          </p:cNvSpPr>
          <p:nvPr/>
        </p:nvSpPr>
        <p:spPr>
          <a:xfrm>
            <a:off x="571500" y="3656239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3.15, 3.18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FD2E9F-2906-4294-AC31-D87DCC372CEF}"/>
              </a:ext>
            </a:extLst>
          </p:cNvPr>
          <p:cNvSpPr>
            <a:spLocks noGrp="1"/>
          </p:cNvSpPr>
          <p:nvPr/>
        </p:nvSpPr>
        <p:spPr>
          <a:xfrm>
            <a:off x="2560955" y="3627664"/>
            <a:ext cx="4093210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42D244-C4F3-4A0B-9E9D-87C65D333077}"/>
              </a:ext>
            </a:extLst>
          </p:cNvPr>
          <p:cNvSpPr>
            <a:spLocks noGrp="1"/>
          </p:cNvSpPr>
          <p:nvPr/>
        </p:nvSpPr>
        <p:spPr>
          <a:xfrm>
            <a:off x="2618105" y="3656239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Population, sample, and sampling descriptions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E28F22-8CA2-4F7A-A1E2-3BC3BD3B5B02}"/>
              </a:ext>
            </a:extLst>
          </p:cNvPr>
          <p:cNvSpPr>
            <a:spLocks noGrp="1"/>
          </p:cNvSpPr>
          <p:nvPr/>
        </p:nvSpPr>
        <p:spPr>
          <a:xfrm>
            <a:off x="6654165" y="3627664"/>
            <a:ext cx="502348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6D517A-0EFA-4841-A92F-6157F2735A83}"/>
              </a:ext>
            </a:extLst>
          </p:cNvPr>
          <p:cNvSpPr>
            <a:spLocks noGrp="1"/>
          </p:cNvSpPr>
          <p:nvPr/>
        </p:nvSpPr>
        <p:spPr>
          <a:xfrm>
            <a:off x="6711315" y="3656239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center + SE + shape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3E6043-7753-4170-B741-B745B6B5E481}"/>
              </a:ext>
            </a:extLst>
          </p:cNvPr>
          <p:cNvSpPr>
            <a:spLocks noGrp="1"/>
          </p:cNvSpPr>
          <p:nvPr/>
        </p:nvSpPr>
        <p:spPr>
          <a:xfrm>
            <a:off x="514350" y="4158343"/>
            <a:ext cx="204660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2E5DBF-E304-4892-9352-79B79C1734DC}"/>
              </a:ext>
            </a:extLst>
          </p:cNvPr>
          <p:cNvSpPr>
            <a:spLocks noGrp="1"/>
          </p:cNvSpPr>
          <p:nvPr/>
        </p:nvSpPr>
        <p:spPr>
          <a:xfrm>
            <a:off x="571500" y="4186918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3.21, 3.26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C9E69-FEA1-48B4-8F1F-F2365E03E76C}"/>
              </a:ext>
            </a:extLst>
          </p:cNvPr>
          <p:cNvSpPr>
            <a:spLocks noGrp="1"/>
          </p:cNvSpPr>
          <p:nvPr/>
        </p:nvSpPr>
        <p:spPr>
          <a:xfrm>
            <a:off x="2560955" y="4158343"/>
            <a:ext cx="4093210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1D0648-BBF5-4542-8843-E70C4FB7E3D8}"/>
              </a:ext>
            </a:extLst>
          </p:cNvPr>
          <p:cNvSpPr>
            <a:spLocks noGrp="1"/>
          </p:cNvSpPr>
          <p:nvPr/>
        </p:nvSpPr>
        <p:spPr>
          <a:xfrm>
            <a:off x="2618105" y="4186918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Data distribution versus sampling variability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6889F1-EB2A-4250-95DE-C68000AF4C5D}"/>
              </a:ext>
            </a:extLst>
          </p:cNvPr>
          <p:cNvSpPr>
            <a:spLocks noGrp="1"/>
          </p:cNvSpPr>
          <p:nvPr/>
        </p:nvSpPr>
        <p:spPr>
          <a:xfrm>
            <a:off x="6654165" y="4158343"/>
            <a:ext cx="5023485" cy="530679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E820AD-8198-437C-AAE0-A34BF3E15852}"/>
              </a:ext>
            </a:extLst>
          </p:cNvPr>
          <p:cNvSpPr>
            <a:spLocks noGrp="1"/>
          </p:cNvSpPr>
          <p:nvPr/>
        </p:nvSpPr>
        <p:spPr>
          <a:xfrm>
            <a:off x="6711315" y="4186918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plots + precision reasoning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A464EF-19E0-4D4F-AD4E-964ACDE693D0}"/>
              </a:ext>
            </a:extLst>
          </p:cNvPr>
          <p:cNvSpPr>
            <a:spLocks noGrp="1"/>
          </p:cNvSpPr>
          <p:nvPr/>
        </p:nvSpPr>
        <p:spPr>
          <a:xfrm>
            <a:off x="514350" y="4689021"/>
            <a:ext cx="204660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9359FB-49C4-4BA8-9739-2F7D92C62D13}"/>
              </a:ext>
            </a:extLst>
          </p:cNvPr>
          <p:cNvSpPr>
            <a:spLocks noGrp="1"/>
          </p:cNvSpPr>
          <p:nvPr/>
        </p:nvSpPr>
        <p:spPr>
          <a:xfrm>
            <a:off x="571500" y="4717596"/>
            <a:ext cx="193230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AI problem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1BD11A-B4A7-403E-B6F6-4579DCCD18D0}"/>
              </a:ext>
            </a:extLst>
          </p:cNvPr>
          <p:cNvSpPr>
            <a:spLocks noGrp="1"/>
          </p:cNvSpPr>
          <p:nvPr/>
        </p:nvSpPr>
        <p:spPr>
          <a:xfrm>
            <a:off x="2560955" y="4689021"/>
            <a:ext cx="4093210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B9175D-3BCA-409C-A42B-477F0841D2D7}"/>
              </a:ext>
            </a:extLst>
          </p:cNvPr>
          <p:cNvSpPr>
            <a:spLocks noGrp="1"/>
          </p:cNvSpPr>
          <p:nvPr/>
        </p:nvSpPr>
        <p:spPr>
          <a:xfrm>
            <a:off x="2618105" y="4717596"/>
            <a:ext cx="3978910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Bootstrap model-metric variability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A20FB6-9631-41AB-8BF9-10E6780DD4F4}"/>
              </a:ext>
            </a:extLst>
          </p:cNvPr>
          <p:cNvSpPr>
            <a:spLocks noGrp="1"/>
          </p:cNvSpPr>
          <p:nvPr/>
        </p:nvSpPr>
        <p:spPr>
          <a:xfrm>
            <a:off x="6654165" y="4689021"/>
            <a:ext cx="5023485" cy="530679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9D6816-4C61-4E1E-9505-C5B06822B4C1}"/>
              </a:ext>
            </a:extLst>
          </p:cNvPr>
          <p:cNvSpPr>
            <a:spLocks noGrp="1"/>
          </p:cNvSpPr>
          <p:nvPr/>
        </p:nvSpPr>
        <p:spPr>
          <a:xfrm>
            <a:off x="6711315" y="4717596"/>
            <a:ext cx="4909185" cy="473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3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resample means at n=50 and n=500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EC0CFD3-D8C3-4F34-8EC5-DA4765405159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B89C48-8EA4-48EE-ABE6-32CFAE019A2F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Submit PDF or HTML · label axes · title graphs · round quantitative answers to 2 decimals</a:t>
            </a:r>
          </a:p>
        </p:txBody>
      </p:sp>
    </p:spTree>
    <p:extLst>
      <p:ext uri="{BB962C8B-B14F-4D97-AF65-F5344CB8AC3E}">
        <p14:creationId xmlns:p14="http://schemas.microsoft.com/office/powerpoint/2010/main" val="1445968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34B2A7-FC2D-4797-844F-446D729796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2AAC1-2383-4086-A556-21BC90915DB9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EBD42-B55D-42FF-B573-6037664489B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14AAA-8A3C-4E76-AEDA-C9346872B29F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97DD9-79B3-4749-9ED5-3FAC66BF37E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54C1E-893E-4364-8A42-F36FF5AFFEE8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AI 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7CBB3-B64D-41D7-A63C-FA66C1C3B46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FCD62-2600-48E7-995A-6C106BF229C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F1EB83-01E7-4526-943F-6D81323388F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FFB1BB-451E-488B-844E-49C9C56BD9B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3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Validation size determines how often an AI ranking can flip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AD310C-E8BE-4BAD-A534-66402BCB8058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5BCB3-D6C8-4F9C-98E6-9B9D43A2B791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50482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Generate two model-performance populations of 10,000.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Bootstrap 1,000 mean estimates at n = 50 and n = 500.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Plot both sampling distributions at each n.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Calculate empirical SE for the small-n case.</a:t>
            </a:r>
          </a:p>
          <a:p>
            <a:pPr marL="27" indent="-18">
              <a:spcAft>
                <a:spcPts val="14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Explain ranking reversals and propose an imbalance mitigation.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75D928-56CA-429C-AE30-2CEE8D32645C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9C25BE-2A30-4C56-B98C-62449716A338}"/>
              </a:ext>
            </a:extLst>
          </p:cNvPr>
          <p:cNvSpPr>
            <a:spLocks noGrp="1"/>
          </p:cNvSpPr>
          <p:nvPr/>
        </p:nvSpPr>
        <p:spPr>
          <a:xfrm>
            <a:off x="6858000" y="1962150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Expected SE ratio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2701E-3923-4698-9317-4BC008C3C903}"/>
              </a:ext>
            </a:extLst>
          </p:cNvPr>
          <p:cNvSpPr>
            <a:spLocks noGrp="1"/>
          </p:cNvSpPr>
          <p:nvPr/>
        </p:nvSpPr>
        <p:spPr>
          <a:xfrm>
            <a:off x="7067550" y="2571750"/>
            <a:ext cx="3505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6667"/>
          </a:bodyPr>
          <a:lstStyle/>
          <a:p>
            <a:pPr algn="ctr">
              <a:buNone/>
              <a:def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SE at n = 50</a:t>
            </a:r>
          </a:p>
          <a:p>
            <a:pPr algn="ctr">
              <a:buNone/>
              <a:def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────────────</a:t>
            </a:r>
          </a:p>
          <a:p>
            <a:pPr algn="ctr">
              <a:buNone/>
              <a:def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SE at n = 500</a:t>
            </a:r>
          </a:p>
          <a:p>
            <a:endParaRPr sz="1950" b="1" i="0">
              <a:solidFill>
                <a:srgbClr val="75BEE9"/>
              </a:solidFill>
              <a:latin typeface="Sofia Sans Extra Condensed"/>
              <a:ea typeface="Sofia Sans Extra Condensed"/>
              <a:cs typeface="Sofia Sans Extra Condensed"/>
            </a:endParaRPr>
          </a:p>
          <a:p>
            <a:pPr algn="ctr">
              <a:buNone/>
              <a:def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9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≈ √(500/50) = 3.16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155E42-6A0A-4484-98AF-47B7680C8FF6}"/>
              </a:ext>
            </a:extLst>
          </p:cNvPr>
          <p:cNvSpPr>
            <a:spLocks noGrp="1"/>
          </p:cNvSpPr>
          <p:nvPr/>
        </p:nvSpPr>
        <p:spPr>
          <a:xfrm>
            <a:off x="6438900" y="4095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144DC-7697-4D0C-B581-A6F7AF9B9642}"/>
              </a:ext>
            </a:extLst>
          </p:cNvPr>
          <p:cNvSpPr>
            <a:spLocks noGrp="1"/>
          </p:cNvSpPr>
          <p:nvPr/>
        </p:nvSpPr>
        <p:spPr>
          <a:xfrm>
            <a:off x="6800850" y="42481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Support check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1B24F1-A947-4C9B-8C04-B754DCB72379}"/>
              </a:ext>
            </a:extLst>
          </p:cNvPr>
          <p:cNvSpPr>
            <a:spLocks noGrp="1"/>
          </p:cNvSpPr>
          <p:nvPr/>
        </p:nvSpPr>
        <p:spPr>
          <a:xfrm>
            <a:off x="6800850" y="4591050"/>
            <a:ext cx="4038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934"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Precision is bounded [0,1]. A lognormal model is unbounded, so report or handle any simulated values above 1.</a:t>
            </a:r>
          </a:p>
        </p:txBody>
      </p:sp>
    </p:spTree>
    <p:extLst>
      <p:ext uri="{BB962C8B-B14F-4D97-AF65-F5344CB8AC3E}">
        <p14:creationId xmlns:p14="http://schemas.microsoft.com/office/powerpoint/2010/main" val="1792339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F4081ED-2430-41C8-BCB4-60D23E23CEF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DA052-10E5-4158-9811-25ACF89C1DE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WEEK 3 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B789B-4E9B-4FFB-B69C-1D43BAFA8483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781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Can you defend the variability?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8A7F14-1DA3-46FA-9D9B-0D1987F27EDA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457200" cy="4572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25D32-1A72-43C5-A77B-9960E8556F30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67A8C2-C14A-497D-9823-681B3331E631}"/>
              </a:ext>
            </a:extLst>
          </p:cNvPr>
          <p:cNvSpPr>
            <a:spLocks noGrp="1"/>
          </p:cNvSpPr>
          <p:nvPr/>
        </p:nvSpPr>
        <p:spPr>
          <a:xfrm>
            <a:off x="1562100" y="2095500"/>
            <a:ext cx="762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Distinguish a sample data distribution from a sampling distribution.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6AAA31-87D9-4801-BD6E-A833CDA79FBA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457200" cy="4572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7DACF9-1173-425D-A5CC-FCE5D2ECFDC6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831E9-8A8B-4F83-AAB6-50B995DD69E6}"/>
              </a:ext>
            </a:extLst>
          </p:cNvPr>
          <p:cNvSpPr>
            <a:spLocks noGrp="1"/>
          </p:cNvSpPr>
          <p:nvPr/>
        </p:nvSpPr>
        <p:spPr>
          <a:xfrm>
            <a:off x="1562100" y="2876550"/>
            <a:ext cx="762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Explain what n changes and what B changes.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35A9573-6460-49F1-AB8F-B17D5489B526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457200" cy="4572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3FA5B-2F99-444D-AD80-7E46066B4E60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0BC9F-B0E4-4231-BB62-D5E6A997F250}"/>
              </a:ext>
            </a:extLst>
          </p:cNvPr>
          <p:cNvSpPr>
            <a:spLocks noGrp="1"/>
          </p:cNvSpPr>
          <p:nvPr/>
        </p:nvSpPr>
        <p:spPr>
          <a:xfrm>
            <a:off x="1562100" y="3657600"/>
            <a:ext cx="762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Name one condition the CLT or bootstrap cannot repair.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1E13F2-A5B8-4E57-9B26-D22F36F1A574}"/>
              </a:ext>
            </a:extLst>
          </p:cNvPr>
          <p:cNvSpPr>
            <a:spLocks noGrp="1"/>
          </p:cNvSpPr>
          <p:nvPr/>
        </p:nvSpPr>
        <p:spPr>
          <a:xfrm>
            <a:off x="8820150" y="1657350"/>
            <a:ext cx="2724150" cy="314325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A330C9-9C8E-4CD2-AFE8-4D51548E7071}"/>
              </a:ext>
            </a:extLst>
          </p:cNvPr>
          <p:cNvSpPr>
            <a:spLocks noGrp="1"/>
          </p:cNvSpPr>
          <p:nvPr/>
        </p:nvSpPr>
        <p:spPr>
          <a:xfrm>
            <a:off x="9029700" y="19431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Due Monday, Sep 21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476F09-B7BF-41CA-951E-08F916CE75CA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11:59 p.m. Pacific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08DC82-836F-40A7-AA84-42037E19030D}"/>
              </a:ext>
            </a:extLst>
          </p:cNvPr>
          <p:cNvSpPr>
            <a:spLocks noGrp="1"/>
          </p:cNvSpPr>
          <p:nvPr/>
        </p:nvSpPr>
        <p:spPr>
          <a:xfrm>
            <a:off x="9048750" y="31051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3.1 · 90 pts</a:t>
            </a:r>
          </a:p>
          <a:p>
            <a:pPr algn="ctr">
              <a:buNone/>
              <a:def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Module 3 Quiz · 20 pts</a:t>
            </a:r>
          </a:p>
          <a:p>
            <a:pPr algn="ctr">
              <a:buNone/>
              <a:def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6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Team Project Check-In · 5 pts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B70BE-7187-4A9D-BF3A-F1A4B69C3E0F}"/>
              </a:ext>
            </a:extLst>
          </p:cNvPr>
          <p:cNvSpPr>
            <a:spLocks noGrp="1"/>
          </p:cNvSpPr>
          <p:nvPr/>
        </p:nvSpPr>
        <p:spPr>
          <a:xfrm>
            <a:off x="9010650" y="43243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958"/>
          </a:bodyPr>
          <a:lstStyle/>
          <a:p>
            <a:pPr algn="ctr">
              <a:buNone/>
              <a:defRPr sz="12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Discussion 3.1: initial post Day 4; peer responses Day 7.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DC06D-5277-46B3-B89B-05F179A9D1DC}"/>
              </a:ext>
            </a:extLst>
          </p:cNvPr>
          <p:cNvSpPr>
            <a:spLocks noGrp="1"/>
          </p:cNvSpPr>
          <p:nvPr/>
        </p:nvSpPr>
        <p:spPr>
          <a:xfrm>
            <a:off x="895350" y="4762500"/>
            <a:ext cx="7524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Read: Chapter 3 · Python-Web Appendix Chapter 3 · Sampling Distributions and the Bootstrap</a:t>
            </a:r>
          </a:p>
          <a:p>
            <a:pPr algn="l">
              <a:buNone/>
              <a:defRPr sz="14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Complete the two required media in Canvas. Optional GitHub resources remain available.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06841-E51A-44BF-8E86-2A376DDC351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3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3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E73CBE88-1036-4222-87B6-876596F6776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Sixteen samples collapse to five possible sample proportions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3310610E-941A-47CD-A83F-EED37C1DC61D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281DBB94-A7C0-4762-8CA3-0B2979A85F72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30" name="figure-subtitle">
            <a:extLst>
              <a:ext uri="{FF2B5EF4-FFF2-40B4-BE49-F238E27FC236}">
                <a16:creationId xmlns:a16="http://schemas.microsoft.com/office/drawing/2014/main" id="{C5303D95-910F-45FC-99D1-8D7253D96E0F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Sampling distribution for n = 4 and p = .50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="666750" y="1562100"/>
          <a:ext cx="7239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insight-card">
            <a:extLst>
              <a:ext uri="{FF2B5EF4-FFF2-40B4-BE49-F238E27FC236}">
                <a16:creationId xmlns:a16="http://schemas.microsoft.com/office/drawing/2014/main" id="{225ACFDD-0A9D-478F-9B2A-3B5C8B2458A5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nsight-label">
            <a:extLst>
              <a:ext uri="{FF2B5EF4-FFF2-40B4-BE49-F238E27FC236}">
                <a16:creationId xmlns:a16="http://schemas.microsoft.com/office/drawing/2014/main" id="{89C5813B-D85D-41C3-8239-4C6138B3CF59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34" name="insight-copy">
            <a:extLst>
              <a:ext uri="{FF2B5EF4-FFF2-40B4-BE49-F238E27FC236}">
                <a16:creationId xmlns:a16="http://schemas.microsoft.com/office/drawing/2014/main" id="{FEE6203E-8B09-4A9B-80E8-C39211555D7F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E(p̂) = .50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SE(p̂) = √[.5(.5)/4] = .25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distribution describes statistics across repeated samples.</a:t>
            </a:r>
          </a:p>
        </p:txBody>
      </p:sp>
      <p:sp>
        <p:nvSpPr>
          <p:cNvPr id="35" name="visible-source">
            <a:extLst>
              <a:ext uri="{FF2B5EF4-FFF2-40B4-BE49-F238E27FC236}">
                <a16:creationId xmlns:a16="http://schemas.microsoft.com/office/drawing/2014/main" id="{18065399-6C51-408F-973F-026CB561A3E2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§3.1.3, Fig. 3.2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427C25A1-8E98-4955-824E-E2DE1BD32D6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Population and sampling distributions answer different questions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1E014829-2DE5-47B9-873E-249644EBAA3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E32CE3F7-BC9B-4F43-9422-B20D27DD6020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30" name="figure-subtitle">
            <a:extLst>
              <a:ext uri="{FF2B5EF4-FFF2-40B4-BE49-F238E27FC236}">
                <a16:creationId xmlns:a16="http://schemas.microsoft.com/office/drawing/2014/main" id="{275136BC-FB16-4325-AA32-04AF27971A4F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California vote example · individual outcome versus sample proportion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="571500" y="1619250"/>
          <a:ext cx="3429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" name="Chart"/>
          <p:cNvGraphicFramePr/>
          <p:nvPr/>
        </p:nvGraphicFramePr>
        <p:xfrm>
          <a:off x="4095750" y="161925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insight-card">
            <a:extLst>
              <a:ext uri="{FF2B5EF4-FFF2-40B4-BE49-F238E27FC236}">
                <a16:creationId xmlns:a16="http://schemas.microsoft.com/office/drawing/2014/main" id="{5C26CCB7-727A-481B-A83D-58A33C975952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nsight-label">
            <a:extLst>
              <a:ext uri="{FF2B5EF4-FFF2-40B4-BE49-F238E27FC236}">
                <a16:creationId xmlns:a16="http://schemas.microsoft.com/office/drawing/2014/main" id="{D8F6C75A-2EEC-402B-8466-ABFB7F9B5E92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35" name="insight-copy">
            <a:extLst>
              <a:ext uri="{FF2B5EF4-FFF2-40B4-BE49-F238E27FC236}">
                <a16:creationId xmlns:a16="http://schemas.microsoft.com/office/drawing/2014/main" id="{F358D65B-A90D-4874-B8BD-6C56BDC94E42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Population: Y is binary with P(Y=1)=.635.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n=2,271, p̂ ≈ N(.635, .0101²).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Observed p̂=.655 is about 1.98 SE above .635.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E7EB1F5E-62CB-431E-A580-D99E014706B2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§3.3.3, Fig. 3.6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0E74E6BD-A33D-42E7-802F-87FC95D97CA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3.2 · A 1.5-point lead can be sampling noise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0DBACFDA-2BC0-4EFA-A9FA-599AF38FF1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469E7D80-A481-40F5-8D2A-A291B7AA0F88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0" name="prompt-card">
            <a:extLst>
              <a:ext uri="{FF2B5EF4-FFF2-40B4-BE49-F238E27FC236}">
                <a16:creationId xmlns:a16="http://schemas.microsoft.com/office/drawing/2014/main" id="{909A273A-835E-4293-AB03-20288C490D79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ompt-label">
            <a:extLst>
              <a:ext uri="{FF2B5EF4-FFF2-40B4-BE49-F238E27FC236}">
                <a16:creationId xmlns:a16="http://schemas.microsoft.com/office/drawing/2014/main" id="{1A2C317B-6F9C-426E-AE38-BFDBCE776165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2" name="prompt-copy">
            <a:extLst>
              <a:ext uri="{FF2B5EF4-FFF2-40B4-BE49-F238E27FC236}">
                <a16:creationId xmlns:a16="http://schemas.microsoft.com/office/drawing/2014/main" id="{3CC4BEB6-9CA1-40B1-B528-B2FB1A6CC542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An Arizona exit poll sampled 1,648 voters and reported 51.5% for one candidate. Under a true tie, is that result surprising?</a:t>
            </a:r>
          </a:p>
        </p:txBody>
      </p:sp>
      <p:sp>
        <p:nvSpPr>
          <p:cNvPr id="33" name="answer-label">
            <a:extLst>
              <a:ext uri="{FF2B5EF4-FFF2-40B4-BE49-F238E27FC236}">
                <a16:creationId xmlns:a16="http://schemas.microsoft.com/office/drawing/2014/main" id="{16ED283D-9789-4900-836B-FA23AE657E7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34" name="answer-card">
            <a:extLst>
              <a:ext uri="{FF2B5EF4-FFF2-40B4-BE49-F238E27FC236}">
                <a16:creationId xmlns:a16="http://schemas.microsoft.com/office/drawing/2014/main" id="{178BA4F9-E9D8-44D5-B53E-F405BDE51027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swer-copy">
            <a:extLst>
              <a:ext uri="{FF2B5EF4-FFF2-40B4-BE49-F238E27FC236}">
                <a16:creationId xmlns:a16="http://schemas.microsoft.com/office/drawing/2014/main" id="{9E819EEF-6684-49D0-8585-AFF775F04033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SE(p̂) = √[.5(.5)/1648] = .012317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z = (.515−.500)/.012317 = 1.218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One-sided benchmark P(p̂ ≥ .515) ≈ .112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lead this large occurs about 11% of the time under a tie; nonsampling errors also remain.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B6B94A7E-9A16-4F7B-9E0F-C9CA79F2F70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3.2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A90FBFB0-7DF9-4B66-BE0F-2E0406DA02C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3.5 · Theory predicts the simulation’s spread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DAC5B264-156C-44D0-B825-827F120470CC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05F32242-1C21-4761-A120-9593B20334D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0" name="prompt-card">
            <a:extLst>
              <a:ext uri="{FF2B5EF4-FFF2-40B4-BE49-F238E27FC236}">
                <a16:creationId xmlns:a16="http://schemas.microsoft.com/office/drawing/2014/main" id="{3D6489BB-AAA1-4D5C-B06E-9D33897B51DB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ompt-label">
            <a:extLst>
              <a:ext uri="{FF2B5EF4-FFF2-40B4-BE49-F238E27FC236}">
                <a16:creationId xmlns:a16="http://schemas.microsoft.com/office/drawing/2014/main" id="{CC1F670D-39A9-4862-9E4F-688D1BA8F15D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2" name="prompt-copy">
            <a:extLst>
              <a:ext uri="{FF2B5EF4-FFF2-40B4-BE49-F238E27FC236}">
                <a16:creationId xmlns:a16="http://schemas.microsoft.com/office/drawing/2014/main" id="{F07BE7F0-E4FA-4B3C-8A5A-6C1249C0455F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Restaurant checks follow two gamma scenarios, (μ,σ)=(20,5) and (24,8), with n=25. Find each standard error and check P(15≤Y≤25) for the first distribution.</a:t>
            </a:r>
          </a:p>
        </p:txBody>
      </p:sp>
      <p:sp>
        <p:nvSpPr>
          <p:cNvPr id="33" name="answer-label">
            <a:extLst>
              <a:ext uri="{FF2B5EF4-FFF2-40B4-BE49-F238E27FC236}">
                <a16:creationId xmlns:a16="http://schemas.microsoft.com/office/drawing/2014/main" id="{2B16112C-40A0-4B48-89EF-63EA0C8440C8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34" name="answer-card">
            <a:extLst>
              <a:ext uri="{FF2B5EF4-FFF2-40B4-BE49-F238E27FC236}">
                <a16:creationId xmlns:a16="http://schemas.microsoft.com/office/drawing/2014/main" id="{921D3972-29A8-4595-985B-298C4F87EA2C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swer-copy">
            <a:extLst>
              <a:ext uri="{FF2B5EF4-FFF2-40B4-BE49-F238E27FC236}">
                <a16:creationId xmlns:a16="http://schemas.microsoft.com/office/drawing/2014/main" id="{DF0A21F1-EEC8-421E-A73A-06DA5F64777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Scenario 1: SE = 5/√25 = 1.000; simulated SD ≈ 1.0036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Scenario 2: SE = 8/√25 = 1.600; simulated SD ≈ 1.6035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First individual-check model: Gamma(shape 16, scale 1.25)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P(15≤Y≤25)=0.6879; theory and simulation agree.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F4C58D49-7653-4778-8CAC-B297897AA6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3.5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FC38B900-2DA9-40C3-8978-33BBA0FCCC4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3.18 · One unusual mean is rarer than one unusual person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3DD21640-8586-4143-ABD1-4BB340285726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41B34F1E-3F91-4779-8C49-D19D9E046863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0" name="prompt-card">
            <a:extLst>
              <a:ext uri="{FF2B5EF4-FFF2-40B4-BE49-F238E27FC236}">
                <a16:creationId xmlns:a16="http://schemas.microsoft.com/office/drawing/2014/main" id="{33DD8706-A310-4EBC-BE99-A537EE06D2CF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ompt-label">
            <a:extLst>
              <a:ext uri="{FF2B5EF4-FFF2-40B4-BE49-F238E27FC236}">
                <a16:creationId xmlns:a16="http://schemas.microsoft.com/office/drawing/2014/main" id="{1567088A-7C54-47CE-B5AE-9B555937699D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2" name="prompt-copy">
            <a:extLst>
              <a:ext uri="{FF2B5EF4-FFF2-40B4-BE49-F238E27FC236}">
                <a16:creationId xmlns:a16="http://schemas.microsoft.com/office/drawing/2014/main" id="{6D613391-18E7-4E90-8732-6C787529EDF8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 population has μ=72, σ=12, and left skew. For n=100, compare an individual age of 60 with a sample mean of 60.</a:t>
            </a:r>
          </a:p>
        </p:txBody>
      </p:sp>
      <p:sp>
        <p:nvSpPr>
          <p:cNvPr id="33" name="answer-label">
            <a:extLst>
              <a:ext uri="{FF2B5EF4-FFF2-40B4-BE49-F238E27FC236}">
                <a16:creationId xmlns:a16="http://schemas.microsoft.com/office/drawing/2014/main" id="{58A99D1D-E7E7-4EA4-98E6-3675FC2DE57C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34" name="answer-card">
            <a:extLst>
              <a:ext uri="{FF2B5EF4-FFF2-40B4-BE49-F238E27FC236}">
                <a16:creationId xmlns:a16="http://schemas.microsoft.com/office/drawing/2014/main" id="{1FBBCC9D-9348-4C47-AB72-E5B58AA573AA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swer-copy">
            <a:extLst>
              <a:ext uri="{FF2B5EF4-FFF2-40B4-BE49-F238E27FC236}">
                <a16:creationId xmlns:a16="http://schemas.microsoft.com/office/drawing/2014/main" id="{04D61DB9-1628-4C6C-A1B2-E1245D1FC96C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Population: mean 72, SD 12, left skew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Sampling distribution:Ȳ ≈ N(72, 1.2²), because SE=12/√100=1.2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An individual 60 is 1 population SD below the mean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sample mean 60 is 10 SEs below: tail ≈ 7.6×10⁻²⁴.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3C555690-A818-4AA1-9DF3-0F943455DDA5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3.18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A6BA12EF-A1C8-4236-8526-327BF0192C2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Advanced Python · Scale simulations in batches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F5D14A50-E463-407D-A919-CBD2A1E903A5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9433791A-E1FC-4ADC-8841-95D545AC9ECB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ADVANCED PYTHON APPENDIX</a:t>
            </a:r>
          </a:p>
        </p:txBody>
      </p:sp>
      <p:sp>
        <p:nvSpPr>
          <p:cNvPr id="30" name="code-intro">
            <a:extLst>
              <a:ext uri="{FF2B5EF4-FFF2-40B4-BE49-F238E27FC236}">
                <a16:creationId xmlns:a16="http://schemas.microsoft.com/office/drawing/2014/main" id="{D2A345A4-8F31-490B-88BC-8495A0BA3D0A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Batching preserves the repeated-sample logic without allocating one enormous matrix.</a:t>
            </a:r>
          </a:p>
        </p:txBody>
      </p:sp>
      <p:sp>
        <p:nvSpPr>
          <p:cNvPr id="31" name="code-card">
            <a:extLst>
              <a:ext uri="{FF2B5EF4-FFF2-40B4-BE49-F238E27FC236}">
                <a16:creationId xmlns:a16="http://schemas.microsoft.com/office/drawing/2014/main" id="{AF925790-9E30-4AD2-B567-5938E29F6F36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ode-copy">
            <a:extLst>
              <a:ext uri="{FF2B5EF4-FFF2-40B4-BE49-F238E27FC236}">
                <a16:creationId xmlns:a16="http://schemas.microsoft.com/office/drawing/2014/main" id="{BA3D0E77-4337-4A5E-99BD-E45A0024DE8F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np.random.default_rng(500)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means_in_batches(n, reps=100_000, batch=10_000):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parts = []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for start in range(0, reps, batch):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m = min(batch, reps-start)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x = rng.uniform(0, 100, size=(m, n))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parts.append(x.mean(axis=1))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np.concatenate(parts)</a:t>
            </a:r>
          </a:p>
        </p:txBody>
      </p:sp>
      <p:sp>
        <p:nvSpPr>
          <p:cNvPr id="33" name="code-insight-card">
            <a:extLst>
              <a:ext uri="{FF2B5EF4-FFF2-40B4-BE49-F238E27FC236}">
                <a16:creationId xmlns:a16="http://schemas.microsoft.com/office/drawing/2014/main" id="{55767337-3761-4467-9EEA-49CEDEC398C4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ode-insight-label">
            <a:extLst>
              <a:ext uri="{FF2B5EF4-FFF2-40B4-BE49-F238E27FC236}">
                <a16:creationId xmlns:a16="http://schemas.microsoft.com/office/drawing/2014/main" id="{028C4DFC-76B7-4B5C-A68B-B2E6357D3168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VERIFY AND INTERPRET</a:t>
            </a:r>
          </a:p>
        </p:txBody>
      </p:sp>
      <p:sp>
        <p:nvSpPr>
          <p:cNvPr id="35" name="code-insight-copy">
            <a:extLst>
              <a:ext uri="{FF2B5EF4-FFF2-40B4-BE49-F238E27FC236}">
                <a16:creationId xmlns:a16="http://schemas.microsoft.com/office/drawing/2014/main" id="{0F9D210A-8D90-4A57-A3EB-231E40FFA2AD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n=10: empirical SE 9.0969; theory 9.1287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n=100: empirical SE 2.8859; theory 2.8868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n=1,000: empirical SE .9149; theory .9129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BF72EB8B-3480-4451-854F-74B70BA0A262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Python Appendix B3.1–B3.2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A6BA12EF-A1C8-4236-8526-327BF0192C2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Python · Sample medians stabilize as n grows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F5D14A50-E463-407D-A919-CBD2A1E903A5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9433791A-E1FC-4ADC-8841-95D545AC9ECB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WORKED PYTHON EXAMPLE</a:t>
            </a:r>
          </a:p>
        </p:txBody>
      </p:sp>
      <p:sp>
        <p:nvSpPr>
          <p:cNvPr id="30" name="code-intro">
            <a:extLst>
              <a:ext uri="{FF2B5EF4-FFF2-40B4-BE49-F238E27FC236}">
                <a16:creationId xmlns:a16="http://schemas.microsoft.com/office/drawing/2014/main" id="{D2A345A4-8F31-490B-88BC-8495A0BA3D0A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Simulate medians from a right-skewed exponential population.</a:t>
            </a:r>
          </a:p>
        </p:txBody>
      </p:sp>
      <p:sp>
        <p:nvSpPr>
          <p:cNvPr id="31" name="code-card">
            <a:extLst>
              <a:ext uri="{FF2B5EF4-FFF2-40B4-BE49-F238E27FC236}">
                <a16:creationId xmlns:a16="http://schemas.microsoft.com/office/drawing/2014/main" id="{AF925790-9E30-4AD2-B567-5938E29F6F36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ode-copy">
            <a:extLst>
              <a:ext uri="{FF2B5EF4-FFF2-40B4-BE49-F238E27FC236}">
                <a16:creationId xmlns:a16="http://schemas.microsoft.com/office/drawing/2014/main" id="{BA3D0E77-4337-4A5E-99BD-E45A0024DE8F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numpy as np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scipy.stats import skew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np.random.default_rng(500)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 = 10_000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n in (10, 100):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x = rng.exponential(scale=1, size=(B, n))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med = np.median(x, axis=1)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print(n, med.mean(),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  med.std(ddof=1), skew(med))</a:t>
            </a:r>
          </a:p>
        </p:txBody>
      </p:sp>
      <p:sp>
        <p:nvSpPr>
          <p:cNvPr id="33" name="code-insight-card">
            <a:extLst>
              <a:ext uri="{FF2B5EF4-FFF2-40B4-BE49-F238E27FC236}">
                <a16:creationId xmlns:a16="http://schemas.microsoft.com/office/drawing/2014/main" id="{55767337-3761-4467-9EEA-49CEDEC398C4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ode-insight-label">
            <a:extLst>
              <a:ext uri="{FF2B5EF4-FFF2-40B4-BE49-F238E27FC236}">
                <a16:creationId xmlns:a16="http://schemas.microsoft.com/office/drawing/2014/main" id="{028C4DFC-76B7-4B5C-A68B-B2E6357D3168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OUTPUT AND INTERPRETATION</a:t>
            </a:r>
          </a:p>
        </p:txBody>
      </p:sp>
      <p:sp>
        <p:nvSpPr>
          <p:cNvPr id="35" name="code-insight-copy">
            <a:extLst>
              <a:ext uri="{FF2B5EF4-FFF2-40B4-BE49-F238E27FC236}">
                <a16:creationId xmlns:a16="http://schemas.microsoft.com/office/drawing/2014/main" id="{0F9D210A-8D90-4A57-A3EB-231E40FFA2AD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n=10: center=.747, SE=.317, skewness=.917.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n=100: center=.700, SE=.101, skewness=.300.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population median is ln(2)=.693.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Larger samples make the median tighter and more nearly symmetric.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BF72EB8B-3480-4451-854F-74B70BA0A262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Exercise 3.29 · NumPy exponential and median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2CFD37C-1B5C-4F97-8703-DA4D3DBF4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35158-C36A-426B-8068-4BBDE149E2E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A71B2-CA52-40F3-899A-86526FABF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D457-4DEB-492E-A0FA-EE734291760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50FC1-6F64-4EB9-9165-EE693E1A7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2B1FC-158B-49E7-8F9A-16E89B09FAA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1B58C-1BFC-407A-BB05-C14CBB117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0F45E-82E6-4EBF-8D7B-45E94924901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2F5D8-86ED-46A1-8AB5-11123C473DB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27" name="enrichment-title">
            <a:extLst>
              <a:ext uri="{FF2B5EF4-FFF2-40B4-BE49-F238E27FC236}">
                <a16:creationId xmlns:a16="http://schemas.microsoft.com/office/drawing/2014/main" id="{FC38B900-2DA9-40C3-8978-33BBA0FCCC4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Optional Python · Changing the statistic changes the target</a:t>
            </a:r>
          </a:p>
        </p:txBody>
      </p:sp>
      <p:sp>
        <p:nvSpPr>
          <p:cNvPr id="28" name="badge-surface">
            <a:extLst>
              <a:ext uri="{FF2B5EF4-FFF2-40B4-BE49-F238E27FC236}">
                <a16:creationId xmlns:a16="http://schemas.microsoft.com/office/drawing/2014/main" id="{3DD21640-8586-4143-ABD1-4BB340285726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adge-label">
            <a:extLst>
              <a:ext uri="{FF2B5EF4-FFF2-40B4-BE49-F238E27FC236}">
                <a16:creationId xmlns:a16="http://schemas.microsoft.com/office/drawing/2014/main" id="{41B34F1E-3F91-4779-8C49-D19D9E046863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PYTHON PRACTICE</a:t>
            </a:r>
          </a:p>
        </p:txBody>
      </p:sp>
      <p:sp>
        <p:nvSpPr>
          <p:cNvPr id="30" name="prompt-card">
            <a:extLst>
              <a:ext uri="{FF2B5EF4-FFF2-40B4-BE49-F238E27FC236}">
                <a16:creationId xmlns:a16="http://schemas.microsoft.com/office/drawing/2014/main" id="{33DD8706-A310-4EBC-BE99-A537EE06D2CF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rompt-label">
            <a:extLst>
              <a:ext uri="{FF2B5EF4-FFF2-40B4-BE49-F238E27FC236}">
                <a16:creationId xmlns:a16="http://schemas.microsoft.com/office/drawing/2014/main" id="{1567088A-7C54-47CE-B5AE-9B555937699D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2" name="prompt-copy">
            <a:extLst>
              <a:ext uri="{FF2B5EF4-FFF2-40B4-BE49-F238E27FC236}">
                <a16:creationId xmlns:a16="http://schemas.microsoft.com/office/drawing/2014/main" id="{6D613391-18E7-4E90-8732-6C787529EDF8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For n=100 exponential observations, replace the sample median with the sample mean. Predict the center and standard error before simulating.</a:t>
            </a:r>
          </a:p>
        </p:txBody>
      </p:sp>
      <p:sp>
        <p:nvSpPr>
          <p:cNvPr id="33" name="answer-label">
            <a:extLst>
              <a:ext uri="{FF2B5EF4-FFF2-40B4-BE49-F238E27FC236}">
                <a16:creationId xmlns:a16="http://schemas.microsoft.com/office/drawing/2014/main" id="{58A99D1D-E7E7-4EA4-98E6-3675FC2DE57C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34" name="answer-card">
            <a:extLst>
              <a:ext uri="{FF2B5EF4-FFF2-40B4-BE49-F238E27FC236}">
                <a16:creationId xmlns:a16="http://schemas.microsoft.com/office/drawing/2014/main" id="{1FBBCC9D-9348-4C47-AB72-E5B58AA573AA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swer-copy">
            <a:extLst>
              <a:ext uri="{FF2B5EF4-FFF2-40B4-BE49-F238E27FC236}">
                <a16:creationId xmlns:a16="http://schemas.microsoft.com/office/drawing/2014/main" id="{04D61DB9-1628-4C6C-A1B2-E1245D1FC96C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Simulate 10,000 samples with scale=1 and n=100.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the sampling centers of the mean and median.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the mean’s empirical SE with 1/√100.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why the two statistics estimate different population quantities.</a:t>
            </a:r>
          </a:p>
        </p:txBody>
      </p:sp>
      <p:sp>
        <p:nvSpPr>
          <p:cNvPr id="36" name="visible-source">
            <a:extLst>
              <a:ext uri="{FF2B5EF4-FFF2-40B4-BE49-F238E27FC236}">
                <a16:creationId xmlns:a16="http://schemas.microsoft.com/office/drawing/2014/main" id="{3C555690-A818-4AA1-9DF3-0F943455DDA5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Exercise 3.29 · NumPy random sampling</a:t>
            </a:r>
          </a:p>
        </p:txBody>
      </p:sp>
    </p:spTree>
    <p:extLst>
      <p:ext uri="{BB962C8B-B14F-4D97-AF65-F5344CB8AC3E}">
        <p14:creationId xmlns:p14="http://schemas.microsoft.com/office/powerpoint/2010/main" val="16633475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4995</Words>
  <Application>Microsoft Macintosh PowerPoint</Application>
  <DocSecurity>0</DocSecurity>
  <PresentationFormat>Widescreen</PresentationFormat>
  <Paragraphs>1057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 Mono</vt:lpstr>
      <vt:lpstr>Arial</vt:lpstr>
      <vt:lpstr>Calibri</vt:lpstr>
      <vt:lpstr>Courier New</vt:lpstr>
      <vt:lpstr>Sofia Sans</vt:lpstr>
      <vt:lpstr>Sofia Sans Extra Condensed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/>
  <cp:lastModifiedBy>Daniel Smith</cp:lastModifiedBy>
  <cp:revision>2</cp:revision>
  <dcterms:created xsi:type="dcterms:W3CDTF">2026-09-07T20:50:57Z</dcterms:created>
  <dcterms:modified xsi:type="dcterms:W3CDTF">2026-09-14T16:29:37Z</dcterms:modified>
  <cp:category/>
</cp:coreProperties>
</file>