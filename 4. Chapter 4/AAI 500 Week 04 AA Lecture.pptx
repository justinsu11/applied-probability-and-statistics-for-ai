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4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5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rts/chart6.xml" ContentType="application/vnd.openxmlformats-officedocument.drawingml.chart+xml"/>
  <Override PartName="/ppt/notesSlides/notesSlide51.xml" ContentType="application/vnd.openxmlformats-officedocument.presentationml.notesSlide+xml"/>
  <Override PartName="/ppt/charts/chart7.xml" ContentType="application/vnd.openxmlformats-officedocument.drawingml.chart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03" d="100"/>
          <a:sy n="103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Sampling distribution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-3</c:v>
              </c:pt>
              <c:pt idx="1">
                <c:v>-2.9</c:v>
              </c:pt>
              <c:pt idx="2">
                <c:v>-2.8</c:v>
              </c:pt>
              <c:pt idx="3">
                <c:v>-2.7</c:v>
              </c:pt>
              <c:pt idx="4">
                <c:v>-2.6</c:v>
              </c:pt>
              <c:pt idx="5">
                <c:v>-2.5</c:v>
              </c:pt>
              <c:pt idx="6">
                <c:v>-2.4</c:v>
              </c:pt>
              <c:pt idx="7">
                <c:v>-2.2999999999999998</c:v>
              </c:pt>
              <c:pt idx="8">
                <c:v>-2.2000000000000002</c:v>
              </c:pt>
              <c:pt idx="9">
                <c:v>-2.1</c:v>
              </c:pt>
              <c:pt idx="10">
                <c:v>-2</c:v>
              </c:pt>
              <c:pt idx="11">
                <c:v>-1.9</c:v>
              </c:pt>
              <c:pt idx="12">
                <c:v>-1.8</c:v>
              </c:pt>
              <c:pt idx="13">
                <c:v>-1.7</c:v>
              </c:pt>
              <c:pt idx="14">
                <c:v>-1.6</c:v>
              </c:pt>
              <c:pt idx="15">
                <c:v>-1.5</c:v>
              </c:pt>
              <c:pt idx="16">
                <c:v>-1.4</c:v>
              </c:pt>
              <c:pt idx="17">
                <c:v>-1.3</c:v>
              </c:pt>
              <c:pt idx="18">
                <c:v>-1.2</c:v>
              </c:pt>
              <c:pt idx="19">
                <c:v>-1.1000000000000001</c:v>
              </c:pt>
              <c:pt idx="20">
                <c:v>-1</c:v>
              </c:pt>
              <c:pt idx="21">
                <c:v>-0.9</c:v>
              </c:pt>
              <c:pt idx="22">
                <c:v>-0.8</c:v>
              </c:pt>
              <c:pt idx="23">
                <c:v>-0.7</c:v>
              </c:pt>
              <c:pt idx="24">
                <c:v>-0.6</c:v>
              </c:pt>
              <c:pt idx="25">
                <c:v>-0.5</c:v>
              </c:pt>
              <c:pt idx="26">
                <c:v>-0.4</c:v>
              </c:pt>
              <c:pt idx="27">
                <c:v>-0.3</c:v>
              </c:pt>
              <c:pt idx="28">
                <c:v>-0.2</c:v>
              </c:pt>
              <c:pt idx="29">
                <c:v>-0.1</c:v>
              </c:pt>
              <c:pt idx="30">
                <c:v>0</c:v>
              </c:pt>
              <c:pt idx="31">
                <c:v>0.1</c:v>
              </c:pt>
              <c:pt idx="32">
                <c:v>0.2</c:v>
              </c:pt>
              <c:pt idx="33">
                <c:v>0.3</c:v>
              </c:pt>
              <c:pt idx="34">
                <c:v>0.4</c:v>
              </c:pt>
              <c:pt idx="35">
                <c:v>0.5</c:v>
              </c:pt>
              <c:pt idx="36">
                <c:v>0.6</c:v>
              </c:pt>
              <c:pt idx="37">
                <c:v>0.7</c:v>
              </c:pt>
              <c:pt idx="38">
                <c:v>0.8</c:v>
              </c:pt>
              <c:pt idx="39">
                <c:v>0.9</c:v>
              </c:pt>
              <c:pt idx="40">
                <c:v>1</c:v>
              </c:pt>
              <c:pt idx="41">
                <c:v>1.1000000000000001</c:v>
              </c:pt>
              <c:pt idx="42">
                <c:v>1.2</c:v>
              </c:pt>
              <c:pt idx="43">
                <c:v>1.3</c:v>
              </c:pt>
              <c:pt idx="44">
                <c:v>1.4</c:v>
              </c:pt>
              <c:pt idx="45">
                <c:v>1.5</c:v>
              </c:pt>
              <c:pt idx="46">
                <c:v>1.6</c:v>
              </c:pt>
              <c:pt idx="47">
                <c:v>1.7</c:v>
              </c:pt>
              <c:pt idx="48">
                <c:v>1.8</c:v>
              </c:pt>
              <c:pt idx="49">
                <c:v>1.9</c:v>
              </c:pt>
              <c:pt idx="50">
                <c:v>2</c:v>
              </c:pt>
              <c:pt idx="51">
                <c:v>2.1</c:v>
              </c:pt>
              <c:pt idx="52">
                <c:v>2.2000000000000002</c:v>
              </c:pt>
              <c:pt idx="53">
                <c:v>2.2999999999999998</c:v>
              </c:pt>
              <c:pt idx="54">
                <c:v>2.4</c:v>
              </c:pt>
              <c:pt idx="55">
                <c:v>2.5</c:v>
              </c:pt>
              <c:pt idx="56">
                <c:v>2.6</c:v>
              </c:pt>
              <c:pt idx="57">
                <c:v>2.7</c:v>
              </c:pt>
              <c:pt idx="58">
                <c:v>2.8</c:v>
              </c:pt>
              <c:pt idx="59">
                <c:v>2.9</c:v>
              </c:pt>
              <c:pt idx="60">
                <c:v>3</c:v>
              </c:pt>
            </c:numLit>
          </c:cat>
          <c:val>
            <c:numLit>
              <c:formatCode>0.0</c:formatCode>
              <c:ptCount val="61"/>
              <c:pt idx="0">
                <c:v>4.4318484119380075E-3</c:v>
              </c:pt>
              <c:pt idx="1">
                <c:v>5.9525324197758538E-3</c:v>
              </c:pt>
              <c:pt idx="2">
                <c:v>7.9154515829799686E-3</c:v>
              </c:pt>
              <c:pt idx="3">
                <c:v>1.0420934814422592E-2</c:v>
              </c:pt>
              <c:pt idx="4">
                <c:v>1.3582969233685615E-2</c:v>
              </c:pt>
              <c:pt idx="5">
                <c:v>1.752830049356854E-2</c:v>
              </c:pt>
              <c:pt idx="6">
                <c:v>2.2394530294842899E-2</c:v>
              </c:pt>
              <c:pt idx="7">
                <c:v>2.832703774160119E-2</c:v>
              </c:pt>
              <c:pt idx="8">
                <c:v>3.5474592846231424E-2</c:v>
              </c:pt>
              <c:pt idx="9">
                <c:v>4.3983595980427198E-2</c:v>
              </c:pt>
              <c:pt idx="10">
                <c:v>5.3990966513188063E-2</c:v>
              </c:pt>
              <c:pt idx="11">
                <c:v>6.5615814774676595E-2</c:v>
              </c:pt>
              <c:pt idx="12">
                <c:v>7.8950158300894191E-2</c:v>
              </c:pt>
              <c:pt idx="13">
                <c:v>9.4049077376886947E-2</c:v>
              </c:pt>
              <c:pt idx="14">
                <c:v>0.1109208346794556</c:v>
              </c:pt>
              <c:pt idx="15">
                <c:v>0.12951759566589174</c:v>
              </c:pt>
              <c:pt idx="16">
                <c:v>0.14972746563574488</c:v>
              </c:pt>
              <c:pt idx="17">
                <c:v>0.17136859204780741</c:v>
              </c:pt>
              <c:pt idx="18">
                <c:v>0.19418605498321298</c:v>
              </c:pt>
              <c:pt idx="19">
                <c:v>0.21785217703255058</c:v>
              </c:pt>
              <c:pt idx="20">
                <c:v>0.24197072451914337</c:v>
              </c:pt>
              <c:pt idx="21">
                <c:v>0.26608524989875487</c:v>
              </c:pt>
              <c:pt idx="22">
                <c:v>0.28969155276148284</c:v>
              </c:pt>
              <c:pt idx="23">
                <c:v>0.31225393336676138</c:v>
              </c:pt>
              <c:pt idx="24">
                <c:v>0.33322460289179973</c:v>
              </c:pt>
              <c:pt idx="25">
                <c:v>0.35206532676429952</c:v>
              </c:pt>
              <c:pt idx="26">
                <c:v>0.36827014030332339</c:v>
              </c:pt>
              <c:pt idx="27">
                <c:v>0.38138781546052414</c:v>
              </c:pt>
              <c:pt idx="28">
                <c:v>0.39104269397545594</c:v>
              </c:pt>
              <c:pt idx="29">
                <c:v>0.39695254747701181</c:v>
              </c:pt>
              <c:pt idx="30">
                <c:v>0.3989422804014327</c:v>
              </c:pt>
              <c:pt idx="31">
                <c:v>0.39695254747701181</c:v>
              </c:pt>
              <c:pt idx="32">
                <c:v>0.39104269397545588</c:v>
              </c:pt>
              <c:pt idx="33">
                <c:v>0.38138781546052408</c:v>
              </c:pt>
              <c:pt idx="34">
                <c:v>0.36827014030332328</c:v>
              </c:pt>
              <c:pt idx="35">
                <c:v>0.35206532676429952</c:v>
              </c:pt>
              <c:pt idx="36">
                <c:v>0.33322460289179967</c:v>
              </c:pt>
              <c:pt idx="37">
                <c:v>0.31225393336676122</c:v>
              </c:pt>
              <c:pt idx="38">
                <c:v>0.28969155276148267</c:v>
              </c:pt>
              <c:pt idx="39">
                <c:v>0.26608524989875476</c:v>
              </c:pt>
              <c:pt idx="40">
                <c:v>0.24197072451914337</c:v>
              </c:pt>
              <c:pt idx="41">
                <c:v>0.21785217703255041</c:v>
              </c:pt>
              <c:pt idx="42">
                <c:v>0.19418605498321292</c:v>
              </c:pt>
              <c:pt idx="43">
                <c:v>0.17136859204780741</c:v>
              </c:pt>
              <c:pt idx="44">
                <c:v>0.14972746563574479</c:v>
              </c:pt>
              <c:pt idx="45">
                <c:v>0.12951759566589174</c:v>
              </c:pt>
              <c:pt idx="46">
                <c:v>0.11092083467945546</c:v>
              </c:pt>
              <c:pt idx="47">
                <c:v>9.4049077376886905E-2</c:v>
              </c:pt>
              <c:pt idx="48">
                <c:v>7.8950158300894066E-2</c:v>
              </c:pt>
              <c:pt idx="49">
                <c:v>6.5615814774676554E-2</c:v>
              </c:pt>
              <c:pt idx="50">
                <c:v>5.3990966513188063E-2</c:v>
              </c:pt>
              <c:pt idx="51">
                <c:v>4.3983595980427156E-2</c:v>
              </c:pt>
              <c:pt idx="52">
                <c:v>3.5474592846231424E-2</c:v>
              </c:pt>
              <c:pt idx="53">
                <c:v>2.832703774160112E-2</c:v>
              </c:pt>
              <c:pt idx="54">
                <c:v>2.2394530294842882E-2</c:v>
              </c:pt>
              <c:pt idx="55">
                <c:v>1.752830049356854E-2</c:v>
              </c:pt>
              <c:pt idx="56">
                <c:v>1.3582969233685602E-2</c:v>
              </c:pt>
              <c:pt idx="57">
                <c:v>1.0420934814422592E-2</c:v>
              </c:pt>
              <c:pt idx="58">
                <c:v>7.915451582979946E-3</c:v>
              </c:pt>
              <c:pt idx="59">
                <c:v>5.9525324197758486E-3</c:v>
              </c:pt>
              <c:pt idx="60">
                <c:v>4.4318484119380075E-3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A63-164C-A584-BAF149CA8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Standardized estimate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Relative margin of error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0074C8"/>
              </a:solidFill>
            </c:spPr>
          </c:marker>
          <c:cat>
            <c:numLit>
              <c:formatCode>General</c:formatCode>
              <c:ptCount val="7"/>
              <c:pt idx="0">
                <c:v>10</c:v>
              </c:pt>
              <c:pt idx="1">
                <c:v>20</c:v>
              </c:pt>
              <c:pt idx="2">
                <c:v>40</c:v>
              </c:pt>
              <c:pt idx="3">
                <c:v>80</c:v>
              </c:pt>
              <c:pt idx="4">
                <c:v>160</c:v>
              </c:pt>
              <c:pt idx="5">
                <c:v>320</c:v>
              </c:pt>
              <c:pt idx="6">
                <c:v>640</c:v>
              </c:pt>
            </c:numLit>
          </c:cat>
          <c:val>
            <c:numLit>
              <c:formatCode>0.0</c:formatCode>
              <c:ptCount val="7"/>
              <c:pt idx="0">
                <c:v>0.61980642139300235</c:v>
              </c:pt>
              <c:pt idx="1">
                <c:v>0.43826932358995874</c:v>
              </c:pt>
              <c:pt idx="2">
                <c:v>0.30990321069650117</c:v>
              </c:pt>
              <c:pt idx="3">
                <c:v>0.21913466179497937</c:v>
              </c:pt>
              <c:pt idx="4">
                <c:v>0.15495160534825059</c:v>
              </c:pt>
              <c:pt idx="5">
                <c:v>0.10956733089748968</c:v>
              </c:pt>
              <c:pt idx="6">
                <c:v>7.7475802674125294E-2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D95-B842-ABD6-E2C6A337B2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Sample size 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1.96 / √n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t, df = 3</c:v>
          </c:tx>
          <c:spPr>
            <a:ln w="28575">
              <a:solidFill>
                <a:srgbClr val="F2650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5"/>
              <c:pt idx="0">
                <c:v>-4</c:v>
              </c:pt>
              <c:pt idx="1">
                <c:v>-3.88</c:v>
              </c:pt>
              <c:pt idx="2">
                <c:v>-3.75</c:v>
              </c:pt>
              <c:pt idx="3">
                <c:v>-3.63</c:v>
              </c:pt>
              <c:pt idx="4">
                <c:v>-3.5</c:v>
              </c:pt>
              <c:pt idx="5">
                <c:v>-3.38</c:v>
              </c:pt>
              <c:pt idx="6">
                <c:v>-3.25</c:v>
              </c:pt>
              <c:pt idx="7">
                <c:v>-3.13</c:v>
              </c:pt>
              <c:pt idx="8">
                <c:v>-3</c:v>
              </c:pt>
              <c:pt idx="9">
                <c:v>-2.88</c:v>
              </c:pt>
              <c:pt idx="10">
                <c:v>-2.75</c:v>
              </c:pt>
              <c:pt idx="11">
                <c:v>-2.63</c:v>
              </c:pt>
              <c:pt idx="12">
                <c:v>-2.5</c:v>
              </c:pt>
              <c:pt idx="13">
                <c:v>-2.38</c:v>
              </c:pt>
              <c:pt idx="14">
                <c:v>-2.25</c:v>
              </c:pt>
              <c:pt idx="15">
                <c:v>-2.13</c:v>
              </c:pt>
              <c:pt idx="16">
                <c:v>-2</c:v>
              </c:pt>
              <c:pt idx="17">
                <c:v>-1.88</c:v>
              </c:pt>
              <c:pt idx="18">
                <c:v>-1.75</c:v>
              </c:pt>
              <c:pt idx="19">
                <c:v>-1.63</c:v>
              </c:pt>
              <c:pt idx="20">
                <c:v>-1.5</c:v>
              </c:pt>
              <c:pt idx="21">
                <c:v>-1.38</c:v>
              </c:pt>
              <c:pt idx="22">
                <c:v>-1.25</c:v>
              </c:pt>
              <c:pt idx="23">
                <c:v>-1.1299999999999999</c:v>
              </c:pt>
              <c:pt idx="24">
                <c:v>-1</c:v>
              </c:pt>
              <c:pt idx="25">
                <c:v>-0.88</c:v>
              </c:pt>
              <c:pt idx="26">
                <c:v>-0.75</c:v>
              </c:pt>
              <c:pt idx="27">
                <c:v>-0.63</c:v>
              </c:pt>
              <c:pt idx="28">
                <c:v>-0.5</c:v>
              </c:pt>
              <c:pt idx="29">
                <c:v>-0.38</c:v>
              </c:pt>
              <c:pt idx="30">
                <c:v>-0.25</c:v>
              </c:pt>
              <c:pt idx="31">
                <c:v>-0.13</c:v>
              </c:pt>
              <c:pt idx="32">
                <c:v>0</c:v>
              </c:pt>
              <c:pt idx="33">
                <c:v>0.13</c:v>
              </c:pt>
              <c:pt idx="34">
                <c:v>0.25</c:v>
              </c:pt>
              <c:pt idx="35">
                <c:v>0.38</c:v>
              </c:pt>
              <c:pt idx="36">
                <c:v>0.5</c:v>
              </c:pt>
              <c:pt idx="37">
                <c:v>0.63</c:v>
              </c:pt>
              <c:pt idx="38">
                <c:v>0.75</c:v>
              </c:pt>
              <c:pt idx="39">
                <c:v>0.88</c:v>
              </c:pt>
              <c:pt idx="40">
                <c:v>1</c:v>
              </c:pt>
              <c:pt idx="41">
                <c:v>1.1299999999999999</c:v>
              </c:pt>
              <c:pt idx="42">
                <c:v>1.25</c:v>
              </c:pt>
              <c:pt idx="43">
                <c:v>1.38</c:v>
              </c:pt>
              <c:pt idx="44">
                <c:v>1.5</c:v>
              </c:pt>
              <c:pt idx="45">
                <c:v>1.63</c:v>
              </c:pt>
              <c:pt idx="46">
                <c:v>1.75</c:v>
              </c:pt>
              <c:pt idx="47">
                <c:v>1.88</c:v>
              </c:pt>
              <c:pt idx="48">
                <c:v>2</c:v>
              </c:pt>
              <c:pt idx="49">
                <c:v>2.13</c:v>
              </c:pt>
              <c:pt idx="50">
                <c:v>2.25</c:v>
              </c:pt>
              <c:pt idx="51">
                <c:v>2.38</c:v>
              </c:pt>
              <c:pt idx="52">
                <c:v>2.5</c:v>
              </c:pt>
              <c:pt idx="53">
                <c:v>2.63</c:v>
              </c:pt>
              <c:pt idx="54">
                <c:v>2.75</c:v>
              </c:pt>
              <c:pt idx="55">
                <c:v>2.88</c:v>
              </c:pt>
              <c:pt idx="56">
                <c:v>3</c:v>
              </c:pt>
              <c:pt idx="57">
                <c:v>3.13</c:v>
              </c:pt>
              <c:pt idx="58">
                <c:v>3.25</c:v>
              </c:pt>
              <c:pt idx="59">
                <c:v>3.38</c:v>
              </c:pt>
              <c:pt idx="60">
                <c:v>3.5</c:v>
              </c:pt>
              <c:pt idx="61">
                <c:v>3.63</c:v>
              </c:pt>
              <c:pt idx="62">
                <c:v>3.75</c:v>
              </c:pt>
              <c:pt idx="63">
                <c:v>3.88</c:v>
              </c:pt>
              <c:pt idx="64">
                <c:v>4</c:v>
              </c:pt>
            </c:numLit>
          </c:cat>
          <c:val>
            <c:numLit>
              <c:formatCode>0.0</c:formatCode>
              <c:ptCount val="65"/>
              <c:pt idx="0">
                <c:v>9.1633611427444656E-3</c:v>
              </c:pt>
              <c:pt idx="1">
                <c:v>1.0192092075415438E-2</c:v>
              </c:pt>
              <c:pt idx="2">
                <c:v>1.1362572735014188E-2</c:v>
              </c:pt>
              <c:pt idx="3">
                <c:v>1.2697590298359332E-2</c:v>
              </c:pt>
              <c:pt idx="4">
                <c:v>1.4224018801529705E-2</c:v>
              </c:pt>
              <c:pt idx="5">
                <c:v>1.5973595869435645E-2</c:v>
              </c:pt>
              <c:pt idx="6">
                <c:v>1.7983843007238893E-2</c:v>
              </c:pt>
              <c:pt idx="7">
                <c:v>2.0299149400043976E-2</c:v>
              </c:pt>
              <c:pt idx="8">
                <c:v>2.2972037309241331E-2</c:v>
              </c:pt>
              <c:pt idx="9">
                <c:v>2.6064621555217764E-2</c:v>
              </c:pt>
              <c:pt idx="10">
                <c:v>2.9650263764149448E-2</c:v>
              </c:pt>
              <c:pt idx="11">
                <c:v>3.3815400307684915E-2</c:v>
              </c:pt>
              <c:pt idx="12">
                <c:v>3.8661485727167294E-2</c:v>
              </c:pt>
              <c:pt idx="13">
                <c:v>4.4306933196491802E-2</c:v>
              </c:pt>
              <c:pt idx="14">
                <c:v>5.0888839815388047E-2</c:v>
              </c:pt>
              <c:pt idx="15">
                <c:v>5.8564144060087753E-2</c:v>
              </c:pt>
              <c:pt idx="16">
                <c:v>6.7509660663892912E-2</c:v>
              </c:pt>
              <c:pt idx="17">
                <c:v>7.7920161332148422E-2</c:v>
              </c:pt>
              <c:pt idx="18">
                <c:v>9.0003314206384591E-2</c:v>
              </c:pt>
              <c:pt idx="19">
                <c:v>0.10396988155313384</c:v>
              </c:pt>
              <c:pt idx="20">
                <c:v>0.12001717451358736</c:v>
              </c:pt>
              <c:pt idx="21">
                <c:v>0.13830353411677121</c:v>
              </c:pt>
              <c:pt idx="22">
                <c:v>0.15891183774964765</c:v>
              </c:pt>
              <c:pt idx="23">
                <c:v>0.18180116376022701</c:v>
              </c:pt>
              <c:pt idx="24">
                <c:v>0.20674833578317203</c:v>
              </c:pt>
              <c:pt idx="25">
                <c:v>0.23328556557025465</c:v>
              </c:pt>
              <c:pt idx="26">
                <c:v>0.26064671694917591</c:v>
              </c:pt>
              <c:pt idx="27">
                <c:v>0.2877414881158224</c:v>
              </c:pt>
              <c:pt idx="28">
                <c:v>0.31318091100882861</c:v>
              </c:pt>
              <c:pt idx="29">
                <c:v>0.33537434553317885</c:v>
              </c:pt>
              <c:pt idx="30">
                <c:v>0.35270353326442005</c:v>
              </c:pt>
              <c:pt idx="31">
                <c:v>0.36375362919503773</c:v>
              </c:pt>
              <c:pt idx="32">
                <c:v>0.3675525969478613</c:v>
              </c:pt>
              <c:pt idx="33">
                <c:v>0.36375362919503773</c:v>
              </c:pt>
              <c:pt idx="34">
                <c:v>0.35270353326442005</c:v>
              </c:pt>
              <c:pt idx="35">
                <c:v>0.33537434553317885</c:v>
              </c:pt>
              <c:pt idx="36">
                <c:v>0.31318091100882861</c:v>
              </c:pt>
              <c:pt idx="37">
                <c:v>0.2877414881158224</c:v>
              </c:pt>
              <c:pt idx="38">
                <c:v>0.26064671694917591</c:v>
              </c:pt>
              <c:pt idx="39">
                <c:v>0.23328556557025465</c:v>
              </c:pt>
              <c:pt idx="40">
                <c:v>0.20674833578317203</c:v>
              </c:pt>
              <c:pt idx="41">
                <c:v>0.18180116376022701</c:v>
              </c:pt>
              <c:pt idx="42">
                <c:v>0.15891183774964765</c:v>
              </c:pt>
              <c:pt idx="43">
                <c:v>0.13830353411677121</c:v>
              </c:pt>
              <c:pt idx="44">
                <c:v>0.12001717451358736</c:v>
              </c:pt>
              <c:pt idx="45">
                <c:v>0.10396988155313384</c:v>
              </c:pt>
              <c:pt idx="46">
                <c:v>9.0003314206384591E-2</c:v>
              </c:pt>
              <c:pt idx="47">
                <c:v>7.7920161332148422E-2</c:v>
              </c:pt>
              <c:pt idx="48">
                <c:v>6.7509660663892912E-2</c:v>
              </c:pt>
              <c:pt idx="49">
                <c:v>5.8564144060087753E-2</c:v>
              </c:pt>
              <c:pt idx="50">
                <c:v>5.0888839815388047E-2</c:v>
              </c:pt>
              <c:pt idx="51">
                <c:v>4.4306933196491802E-2</c:v>
              </c:pt>
              <c:pt idx="52">
                <c:v>3.8661485727167294E-2</c:v>
              </c:pt>
              <c:pt idx="53">
                <c:v>3.3815400307684915E-2</c:v>
              </c:pt>
              <c:pt idx="54">
                <c:v>2.9650263764149448E-2</c:v>
              </c:pt>
              <c:pt idx="55">
                <c:v>2.6064621555217764E-2</c:v>
              </c:pt>
              <c:pt idx="56">
                <c:v>2.2972037309241331E-2</c:v>
              </c:pt>
              <c:pt idx="57">
                <c:v>2.0299149400043976E-2</c:v>
              </c:pt>
              <c:pt idx="58">
                <c:v>1.7983843007238893E-2</c:v>
              </c:pt>
              <c:pt idx="59">
                <c:v>1.5973595869435645E-2</c:v>
              </c:pt>
              <c:pt idx="60">
                <c:v>1.4224018801529705E-2</c:v>
              </c:pt>
              <c:pt idx="61">
                <c:v>1.2697590298359332E-2</c:v>
              </c:pt>
              <c:pt idx="62">
                <c:v>1.1362572735014188E-2</c:v>
              </c:pt>
              <c:pt idx="63">
                <c:v>1.0192092075415438E-2</c:v>
              </c:pt>
              <c:pt idx="64">
                <c:v>9.1633611427444656E-3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D28-4D41-9A54-2CA17928D370}"/>
            </c:ext>
          </c:extLst>
        </c:ser>
        <c:ser>
          <c:idx val="1"/>
          <c:order val="1"/>
          <c:tx>
            <c:v>t, df = 10</c:v>
          </c:tx>
          <c:spPr>
            <a:ln w="28575">
              <a:solidFill>
                <a:srgbClr val="00A4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5"/>
              <c:pt idx="0">
                <c:v>-4</c:v>
              </c:pt>
              <c:pt idx="1">
                <c:v>-3.88</c:v>
              </c:pt>
              <c:pt idx="2">
                <c:v>-3.75</c:v>
              </c:pt>
              <c:pt idx="3">
                <c:v>-3.63</c:v>
              </c:pt>
              <c:pt idx="4">
                <c:v>-3.5</c:v>
              </c:pt>
              <c:pt idx="5">
                <c:v>-3.38</c:v>
              </c:pt>
              <c:pt idx="6">
                <c:v>-3.25</c:v>
              </c:pt>
              <c:pt idx="7">
                <c:v>-3.13</c:v>
              </c:pt>
              <c:pt idx="8">
                <c:v>-3</c:v>
              </c:pt>
              <c:pt idx="9">
                <c:v>-2.88</c:v>
              </c:pt>
              <c:pt idx="10">
                <c:v>-2.75</c:v>
              </c:pt>
              <c:pt idx="11">
                <c:v>-2.63</c:v>
              </c:pt>
              <c:pt idx="12">
                <c:v>-2.5</c:v>
              </c:pt>
              <c:pt idx="13">
                <c:v>-2.38</c:v>
              </c:pt>
              <c:pt idx="14">
                <c:v>-2.25</c:v>
              </c:pt>
              <c:pt idx="15">
                <c:v>-2.13</c:v>
              </c:pt>
              <c:pt idx="16">
                <c:v>-2</c:v>
              </c:pt>
              <c:pt idx="17">
                <c:v>-1.88</c:v>
              </c:pt>
              <c:pt idx="18">
                <c:v>-1.75</c:v>
              </c:pt>
              <c:pt idx="19">
                <c:v>-1.63</c:v>
              </c:pt>
              <c:pt idx="20">
                <c:v>-1.5</c:v>
              </c:pt>
              <c:pt idx="21">
                <c:v>-1.38</c:v>
              </c:pt>
              <c:pt idx="22">
                <c:v>-1.25</c:v>
              </c:pt>
              <c:pt idx="23">
                <c:v>-1.1299999999999999</c:v>
              </c:pt>
              <c:pt idx="24">
                <c:v>-1</c:v>
              </c:pt>
              <c:pt idx="25">
                <c:v>-0.88</c:v>
              </c:pt>
              <c:pt idx="26">
                <c:v>-0.75</c:v>
              </c:pt>
              <c:pt idx="27">
                <c:v>-0.63</c:v>
              </c:pt>
              <c:pt idx="28">
                <c:v>-0.5</c:v>
              </c:pt>
              <c:pt idx="29">
                <c:v>-0.38</c:v>
              </c:pt>
              <c:pt idx="30">
                <c:v>-0.25</c:v>
              </c:pt>
              <c:pt idx="31">
                <c:v>-0.13</c:v>
              </c:pt>
              <c:pt idx="32">
                <c:v>0</c:v>
              </c:pt>
              <c:pt idx="33">
                <c:v>0.13</c:v>
              </c:pt>
              <c:pt idx="34">
                <c:v>0.25</c:v>
              </c:pt>
              <c:pt idx="35">
                <c:v>0.38</c:v>
              </c:pt>
              <c:pt idx="36">
                <c:v>0.5</c:v>
              </c:pt>
              <c:pt idx="37">
                <c:v>0.63</c:v>
              </c:pt>
              <c:pt idx="38">
                <c:v>0.75</c:v>
              </c:pt>
              <c:pt idx="39">
                <c:v>0.88</c:v>
              </c:pt>
              <c:pt idx="40">
                <c:v>1</c:v>
              </c:pt>
              <c:pt idx="41">
                <c:v>1.1299999999999999</c:v>
              </c:pt>
              <c:pt idx="42">
                <c:v>1.25</c:v>
              </c:pt>
              <c:pt idx="43">
                <c:v>1.38</c:v>
              </c:pt>
              <c:pt idx="44">
                <c:v>1.5</c:v>
              </c:pt>
              <c:pt idx="45">
                <c:v>1.63</c:v>
              </c:pt>
              <c:pt idx="46">
                <c:v>1.75</c:v>
              </c:pt>
              <c:pt idx="47">
                <c:v>1.88</c:v>
              </c:pt>
              <c:pt idx="48">
                <c:v>2</c:v>
              </c:pt>
              <c:pt idx="49">
                <c:v>2.13</c:v>
              </c:pt>
              <c:pt idx="50">
                <c:v>2.25</c:v>
              </c:pt>
              <c:pt idx="51">
                <c:v>2.38</c:v>
              </c:pt>
              <c:pt idx="52">
                <c:v>2.5</c:v>
              </c:pt>
              <c:pt idx="53">
                <c:v>2.63</c:v>
              </c:pt>
              <c:pt idx="54">
                <c:v>2.75</c:v>
              </c:pt>
              <c:pt idx="55">
                <c:v>2.88</c:v>
              </c:pt>
              <c:pt idx="56">
                <c:v>3</c:v>
              </c:pt>
              <c:pt idx="57">
                <c:v>3.13</c:v>
              </c:pt>
              <c:pt idx="58">
                <c:v>3.25</c:v>
              </c:pt>
              <c:pt idx="59">
                <c:v>3.38</c:v>
              </c:pt>
              <c:pt idx="60">
                <c:v>3.5</c:v>
              </c:pt>
              <c:pt idx="61">
                <c:v>3.63</c:v>
              </c:pt>
              <c:pt idx="62">
                <c:v>3.75</c:v>
              </c:pt>
              <c:pt idx="63">
                <c:v>3.88</c:v>
              </c:pt>
              <c:pt idx="64">
                <c:v>4</c:v>
              </c:pt>
            </c:numLit>
          </c:cat>
          <c:val>
            <c:numLit>
              <c:formatCode>0.0</c:formatCode>
              <c:ptCount val="65"/>
              <c:pt idx="0">
                <c:v>2.0310339110412193E-3</c:v>
              </c:pt>
              <c:pt idx="1">
                <c:v>2.5113550682463151E-3</c:v>
              </c:pt>
              <c:pt idx="2">
                <c:v>3.1095423842434525E-3</c:v>
              </c:pt>
              <c:pt idx="3">
                <c:v>3.8548512433871449E-3</c:v>
              </c:pt>
              <c:pt idx="4">
                <c:v>4.7836071267013322E-3</c:v>
              </c:pt>
              <c:pt idx="5">
                <c:v>5.9407527901321252E-3</c:v>
              </c:pt>
              <c:pt idx="6">
                <c:v>7.3816432867555666E-3</c:v>
              </c:pt>
              <c:pt idx="7">
                <c:v>9.1740806784624228E-3</c:v>
              </c:pt>
              <c:pt idx="8">
                <c:v>1.1400549464542548E-2</c:v>
              </c:pt>
              <c:pt idx="9">
                <c:v>1.4160566700411626E-2</c:v>
              </c:pt>
              <c:pt idx="10">
                <c:v>1.7572992901720628E-2</c:v>
              </c:pt>
              <c:pt idx="11">
                <c:v>2.1778056924219164E-2</c:v>
              </c:pt>
              <c:pt idx="12">
                <c:v>2.6938727628244508E-2</c:v>
              </c:pt>
              <c:pt idx="13">
                <c:v>3.3240918784768363E-2</c:v>
              </c:pt>
              <c:pt idx="14">
                <c:v>4.0891849988949014E-2</c:v>
              </c:pt>
              <c:pt idx="15">
                <c:v>5.0115725110345032E-2</c:v>
              </c:pt>
              <c:pt idx="16">
                <c:v>6.1145766321218313E-2</c:v>
              </c:pt>
              <c:pt idx="17">
                <c:v>7.4211610127292521E-2</c:v>
              </c:pt>
              <c:pt idx="18">
                <c:v>8.9521205019562261E-2</c:v>
              </c:pt>
              <c:pt idx="19">
                <c:v>0.1072367334750782</c:v>
              </c:pt>
              <c:pt idx="20">
                <c:v>0.12744479428709185</c:v>
              </c:pt>
              <c:pt idx="21">
                <c:v>0.15012216989077573</c:v>
              </c:pt>
              <c:pt idx="22">
                <c:v>0.17509993580741356</c:v>
              </c:pt>
              <c:pt idx="23">
                <c:v>0.20203029102118455</c:v>
              </c:pt>
              <c:pt idx="24">
                <c:v>0.23036198922913895</c:v>
              </c:pt>
              <c:pt idx="25">
                <c:v>0.25933117327492117</c:v>
              </c:pt>
              <c:pt idx="26">
                <c:v>0.28797422469394562</c:v>
              </c:pt>
              <c:pt idx="27">
                <c:v>0.31516747782446236</c:v>
              </c:pt>
              <c:pt idx="28">
                <c:v>0.33969513635207854</c:v>
              </c:pt>
              <c:pt idx="29">
                <c:v>0.36034177457674332</c:v>
              </c:pt>
              <c:pt idx="30">
                <c:v>0.37600028568971877</c:v>
              </c:pt>
              <c:pt idx="31">
                <c:v>0.38578139842295861</c:v>
              </c:pt>
              <c:pt idx="32">
                <c:v>0.38910838396603176</c:v>
              </c:pt>
              <c:pt idx="33">
                <c:v>0.38578139842295861</c:v>
              </c:pt>
              <c:pt idx="34">
                <c:v>0.37600028568971877</c:v>
              </c:pt>
              <c:pt idx="35">
                <c:v>0.36034177457674332</c:v>
              </c:pt>
              <c:pt idx="36">
                <c:v>0.33969513635207854</c:v>
              </c:pt>
              <c:pt idx="37">
                <c:v>0.31516747782446236</c:v>
              </c:pt>
              <c:pt idx="38">
                <c:v>0.28797422469394562</c:v>
              </c:pt>
              <c:pt idx="39">
                <c:v>0.25933117327492117</c:v>
              </c:pt>
              <c:pt idx="40">
                <c:v>0.23036198922913895</c:v>
              </c:pt>
              <c:pt idx="41">
                <c:v>0.20203029102118455</c:v>
              </c:pt>
              <c:pt idx="42">
                <c:v>0.17509993580741356</c:v>
              </c:pt>
              <c:pt idx="43">
                <c:v>0.15012216989077573</c:v>
              </c:pt>
              <c:pt idx="44">
                <c:v>0.12744479428709185</c:v>
              </c:pt>
              <c:pt idx="45">
                <c:v>0.1072367334750782</c:v>
              </c:pt>
              <c:pt idx="46">
                <c:v>8.9521205019562261E-2</c:v>
              </c:pt>
              <c:pt idx="47">
                <c:v>7.4211610127292521E-2</c:v>
              </c:pt>
              <c:pt idx="48">
                <c:v>6.1145766321218313E-2</c:v>
              </c:pt>
              <c:pt idx="49">
                <c:v>5.0115725110345032E-2</c:v>
              </c:pt>
              <c:pt idx="50">
                <c:v>4.0891849988949014E-2</c:v>
              </c:pt>
              <c:pt idx="51">
                <c:v>3.3240918784768363E-2</c:v>
              </c:pt>
              <c:pt idx="52">
                <c:v>2.6938727628244508E-2</c:v>
              </c:pt>
              <c:pt idx="53">
                <c:v>2.1778056924219164E-2</c:v>
              </c:pt>
              <c:pt idx="54">
                <c:v>1.7572992901720628E-2</c:v>
              </c:pt>
              <c:pt idx="55">
                <c:v>1.4160566700411626E-2</c:v>
              </c:pt>
              <c:pt idx="56">
                <c:v>1.1400549464542548E-2</c:v>
              </c:pt>
              <c:pt idx="57">
                <c:v>9.1740806784624228E-3</c:v>
              </c:pt>
              <c:pt idx="58">
                <c:v>7.3816432867555666E-3</c:v>
              </c:pt>
              <c:pt idx="59">
                <c:v>5.9407527901321252E-3</c:v>
              </c:pt>
              <c:pt idx="60">
                <c:v>4.7836071267013322E-3</c:v>
              </c:pt>
              <c:pt idx="61">
                <c:v>3.8548512433871449E-3</c:v>
              </c:pt>
              <c:pt idx="62">
                <c:v>3.1095423842434525E-3</c:v>
              </c:pt>
              <c:pt idx="63">
                <c:v>2.5113550682463151E-3</c:v>
              </c:pt>
              <c:pt idx="64">
                <c:v>2.0310339110412193E-3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D28-4D41-9A54-2CA17928D370}"/>
            </c:ext>
          </c:extLst>
        </c:ser>
        <c:ser>
          <c:idx val="2"/>
          <c:order val="2"/>
          <c:tx>
            <c:v>Normal</c:v>
          </c:tx>
          <c:spPr>
            <a:ln w="28575">
              <a:solidFill>
                <a:srgbClr val="0074C8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65"/>
              <c:pt idx="0">
                <c:v>-4</c:v>
              </c:pt>
              <c:pt idx="1">
                <c:v>-3.88</c:v>
              </c:pt>
              <c:pt idx="2">
                <c:v>-3.75</c:v>
              </c:pt>
              <c:pt idx="3">
                <c:v>-3.63</c:v>
              </c:pt>
              <c:pt idx="4">
                <c:v>-3.5</c:v>
              </c:pt>
              <c:pt idx="5">
                <c:v>-3.38</c:v>
              </c:pt>
              <c:pt idx="6">
                <c:v>-3.25</c:v>
              </c:pt>
              <c:pt idx="7">
                <c:v>-3.13</c:v>
              </c:pt>
              <c:pt idx="8">
                <c:v>-3</c:v>
              </c:pt>
              <c:pt idx="9">
                <c:v>-2.88</c:v>
              </c:pt>
              <c:pt idx="10">
                <c:v>-2.75</c:v>
              </c:pt>
              <c:pt idx="11">
                <c:v>-2.63</c:v>
              </c:pt>
              <c:pt idx="12">
                <c:v>-2.5</c:v>
              </c:pt>
              <c:pt idx="13">
                <c:v>-2.38</c:v>
              </c:pt>
              <c:pt idx="14">
                <c:v>-2.25</c:v>
              </c:pt>
              <c:pt idx="15">
                <c:v>-2.13</c:v>
              </c:pt>
              <c:pt idx="16">
                <c:v>-2</c:v>
              </c:pt>
              <c:pt idx="17">
                <c:v>-1.88</c:v>
              </c:pt>
              <c:pt idx="18">
                <c:v>-1.75</c:v>
              </c:pt>
              <c:pt idx="19">
                <c:v>-1.63</c:v>
              </c:pt>
              <c:pt idx="20">
                <c:v>-1.5</c:v>
              </c:pt>
              <c:pt idx="21">
                <c:v>-1.38</c:v>
              </c:pt>
              <c:pt idx="22">
                <c:v>-1.25</c:v>
              </c:pt>
              <c:pt idx="23">
                <c:v>-1.1299999999999999</c:v>
              </c:pt>
              <c:pt idx="24">
                <c:v>-1</c:v>
              </c:pt>
              <c:pt idx="25">
                <c:v>-0.88</c:v>
              </c:pt>
              <c:pt idx="26">
                <c:v>-0.75</c:v>
              </c:pt>
              <c:pt idx="27">
                <c:v>-0.63</c:v>
              </c:pt>
              <c:pt idx="28">
                <c:v>-0.5</c:v>
              </c:pt>
              <c:pt idx="29">
                <c:v>-0.38</c:v>
              </c:pt>
              <c:pt idx="30">
                <c:v>-0.25</c:v>
              </c:pt>
              <c:pt idx="31">
                <c:v>-0.13</c:v>
              </c:pt>
              <c:pt idx="32">
                <c:v>0</c:v>
              </c:pt>
              <c:pt idx="33">
                <c:v>0.13</c:v>
              </c:pt>
              <c:pt idx="34">
                <c:v>0.25</c:v>
              </c:pt>
              <c:pt idx="35">
                <c:v>0.38</c:v>
              </c:pt>
              <c:pt idx="36">
                <c:v>0.5</c:v>
              </c:pt>
              <c:pt idx="37">
                <c:v>0.63</c:v>
              </c:pt>
              <c:pt idx="38">
                <c:v>0.75</c:v>
              </c:pt>
              <c:pt idx="39">
                <c:v>0.88</c:v>
              </c:pt>
              <c:pt idx="40">
                <c:v>1</c:v>
              </c:pt>
              <c:pt idx="41">
                <c:v>1.1299999999999999</c:v>
              </c:pt>
              <c:pt idx="42">
                <c:v>1.25</c:v>
              </c:pt>
              <c:pt idx="43">
                <c:v>1.38</c:v>
              </c:pt>
              <c:pt idx="44">
                <c:v>1.5</c:v>
              </c:pt>
              <c:pt idx="45">
                <c:v>1.63</c:v>
              </c:pt>
              <c:pt idx="46">
                <c:v>1.75</c:v>
              </c:pt>
              <c:pt idx="47">
                <c:v>1.88</c:v>
              </c:pt>
              <c:pt idx="48">
                <c:v>2</c:v>
              </c:pt>
              <c:pt idx="49">
                <c:v>2.13</c:v>
              </c:pt>
              <c:pt idx="50">
                <c:v>2.25</c:v>
              </c:pt>
              <c:pt idx="51">
                <c:v>2.38</c:v>
              </c:pt>
              <c:pt idx="52">
                <c:v>2.5</c:v>
              </c:pt>
              <c:pt idx="53">
                <c:v>2.63</c:v>
              </c:pt>
              <c:pt idx="54">
                <c:v>2.75</c:v>
              </c:pt>
              <c:pt idx="55">
                <c:v>2.88</c:v>
              </c:pt>
              <c:pt idx="56">
                <c:v>3</c:v>
              </c:pt>
              <c:pt idx="57">
                <c:v>3.13</c:v>
              </c:pt>
              <c:pt idx="58">
                <c:v>3.25</c:v>
              </c:pt>
              <c:pt idx="59">
                <c:v>3.38</c:v>
              </c:pt>
              <c:pt idx="60">
                <c:v>3.5</c:v>
              </c:pt>
              <c:pt idx="61">
                <c:v>3.63</c:v>
              </c:pt>
              <c:pt idx="62">
                <c:v>3.75</c:v>
              </c:pt>
              <c:pt idx="63">
                <c:v>3.88</c:v>
              </c:pt>
              <c:pt idx="64">
                <c:v>4</c:v>
              </c:pt>
            </c:numLit>
          </c:cat>
          <c:val>
            <c:numLit>
              <c:formatCode>0.0</c:formatCode>
              <c:ptCount val="65"/>
              <c:pt idx="0">
                <c:v>1.3383022576488537E-4</c:v>
              </c:pt>
              <c:pt idx="1">
                <c:v>2.189316377646121E-4</c:v>
              </c:pt>
              <c:pt idx="2">
                <c:v>3.5259568236744546E-4</c:v>
              </c:pt>
              <c:pt idx="3">
                <c:v>5.5906152223216487E-4</c:v>
              </c:pt>
              <c:pt idx="4">
                <c:v>8.7268269504576015E-4</c:v>
              </c:pt>
              <c:pt idx="5">
                <c:v>1.3411188734903778E-3</c:v>
              </c:pt>
              <c:pt idx="6">
                <c:v>2.0290480572997681E-3</c:v>
              </c:pt>
              <c:pt idx="7">
                <c:v>3.0222580351987566E-3</c:v>
              </c:pt>
              <c:pt idx="8">
                <c:v>4.4318484119380075E-3</c:v>
              </c:pt>
              <c:pt idx="9">
                <c:v>6.3981203107235573E-3</c:v>
              </c:pt>
              <c:pt idx="10">
                <c:v>9.0935625015910546E-3</c:v>
              </c:pt>
              <c:pt idx="11">
                <c:v>1.2724181596831433E-2</c:v>
              </c:pt>
              <c:pt idx="12">
                <c:v>1.752830049356854E-2</c:v>
              </c:pt>
              <c:pt idx="13">
                <c:v>2.3771900829913806E-2</c:v>
              </c:pt>
              <c:pt idx="14">
                <c:v>3.1739651835667418E-2</c:v>
              </c:pt>
              <c:pt idx="15">
                <c:v>4.1720985256338612E-2</c:v>
              </c:pt>
              <c:pt idx="16">
                <c:v>5.3990966513188063E-2</c:v>
              </c:pt>
              <c:pt idx="17">
                <c:v>6.8786275826691903E-2</c:v>
              </c:pt>
              <c:pt idx="18">
                <c:v>8.6277318826511518E-2</c:v>
              </c:pt>
              <c:pt idx="19">
                <c:v>0.10653826813058508</c:v>
              </c:pt>
              <c:pt idx="20">
                <c:v>0.12951759566589174</c:v>
              </c:pt>
              <c:pt idx="21">
                <c:v>0.15501226545829322</c:v>
              </c:pt>
              <c:pt idx="22">
                <c:v>0.18264908538902191</c:v>
              </c:pt>
              <c:pt idx="23">
                <c:v>0.21187664577569948</c:v>
              </c:pt>
              <c:pt idx="24">
                <c:v>0.24197072451914337</c:v>
              </c:pt>
              <c:pt idx="25">
                <c:v>0.27205499837854352</c:v>
              </c:pt>
              <c:pt idx="26">
                <c:v>0.30113743215480443</c:v>
              </c:pt>
              <c:pt idx="27">
                <c:v>0.32816096855037508</c:v>
              </c:pt>
              <c:pt idx="28">
                <c:v>0.35206532676429952</c:v>
              </c:pt>
              <c:pt idx="29">
                <c:v>0.37185509386976895</c:v>
              </c:pt>
              <c:pt idx="30">
                <c:v>0.38666811680284929</c:v>
              </c:pt>
              <c:pt idx="31">
                <c:v>0.39583768694474952</c:v>
              </c:pt>
              <c:pt idx="32">
                <c:v>0.3989422804014327</c:v>
              </c:pt>
              <c:pt idx="33">
                <c:v>0.39583768694474952</c:v>
              </c:pt>
              <c:pt idx="34">
                <c:v>0.38666811680284929</c:v>
              </c:pt>
              <c:pt idx="35">
                <c:v>0.37185509386976895</c:v>
              </c:pt>
              <c:pt idx="36">
                <c:v>0.35206532676429952</c:v>
              </c:pt>
              <c:pt idx="37">
                <c:v>0.32816096855037508</c:v>
              </c:pt>
              <c:pt idx="38">
                <c:v>0.30113743215480443</c:v>
              </c:pt>
              <c:pt idx="39">
                <c:v>0.27205499837854352</c:v>
              </c:pt>
              <c:pt idx="40">
                <c:v>0.24197072451914337</c:v>
              </c:pt>
              <c:pt idx="41">
                <c:v>0.21187664577569948</c:v>
              </c:pt>
              <c:pt idx="42">
                <c:v>0.18264908538902191</c:v>
              </c:pt>
              <c:pt idx="43">
                <c:v>0.15501226545829322</c:v>
              </c:pt>
              <c:pt idx="44">
                <c:v>0.12951759566589174</c:v>
              </c:pt>
              <c:pt idx="45">
                <c:v>0.10653826813058508</c:v>
              </c:pt>
              <c:pt idx="46">
                <c:v>8.6277318826511518E-2</c:v>
              </c:pt>
              <c:pt idx="47">
                <c:v>6.8786275826691903E-2</c:v>
              </c:pt>
              <c:pt idx="48">
                <c:v>5.3990966513188063E-2</c:v>
              </c:pt>
              <c:pt idx="49">
                <c:v>4.1720985256338612E-2</c:v>
              </c:pt>
              <c:pt idx="50">
                <c:v>3.1739651835667418E-2</c:v>
              </c:pt>
              <c:pt idx="51">
                <c:v>2.3771900829913806E-2</c:v>
              </c:pt>
              <c:pt idx="52">
                <c:v>1.752830049356854E-2</c:v>
              </c:pt>
              <c:pt idx="53">
                <c:v>1.2724181596831433E-2</c:v>
              </c:pt>
              <c:pt idx="54">
                <c:v>9.0935625015910546E-3</c:v>
              </c:pt>
              <c:pt idx="55">
                <c:v>6.3981203107235573E-3</c:v>
              </c:pt>
              <c:pt idx="56">
                <c:v>4.4318484119380075E-3</c:v>
              </c:pt>
              <c:pt idx="57">
                <c:v>3.0222580351987566E-3</c:v>
              </c:pt>
              <c:pt idx="58">
                <c:v>2.0290480572997681E-3</c:v>
              </c:pt>
              <c:pt idx="59">
                <c:v>1.3411188734903778E-3</c:v>
              </c:pt>
              <c:pt idx="60">
                <c:v>8.7268269504576015E-4</c:v>
              </c:pt>
              <c:pt idx="61">
                <c:v>5.5906152223216487E-4</c:v>
              </c:pt>
              <c:pt idx="62">
                <c:v>3.5259568236744546E-4</c:v>
              </c:pt>
              <c:pt idx="63">
                <c:v>2.189316377646121E-4</c:v>
              </c:pt>
              <c:pt idx="64">
                <c:v>1.3383022576488537E-4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FD28-4D41-9A54-2CA17928D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Standardized value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Prior Beta(10,10)</c:v>
          </c:tx>
          <c:spPr>
            <a:ln w="28575">
              <a:solidFill>
                <a:srgbClr val="0074C8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0.2</c:v>
              </c:pt>
              <c:pt idx="1">
                <c:v>0.21</c:v>
              </c:pt>
              <c:pt idx="2">
                <c:v>0.22</c:v>
              </c:pt>
              <c:pt idx="3">
                <c:v>0.23</c:v>
              </c:pt>
              <c:pt idx="4">
                <c:v>0.24</c:v>
              </c:pt>
              <c:pt idx="5">
                <c:v>0.25</c:v>
              </c:pt>
              <c:pt idx="6">
                <c:v>0.26</c:v>
              </c:pt>
              <c:pt idx="7">
                <c:v>0.27</c:v>
              </c:pt>
              <c:pt idx="8">
                <c:v>0.28000000000000003</c:v>
              </c:pt>
              <c:pt idx="9">
                <c:v>0.28999999999999998</c:v>
              </c:pt>
              <c:pt idx="10">
                <c:v>0.3</c:v>
              </c:pt>
              <c:pt idx="11">
                <c:v>0.31</c:v>
              </c:pt>
              <c:pt idx="12">
                <c:v>0.32</c:v>
              </c:pt>
              <c:pt idx="13">
                <c:v>0.33</c:v>
              </c:pt>
              <c:pt idx="14">
                <c:v>0.34</c:v>
              </c:pt>
              <c:pt idx="15">
                <c:v>0.35</c:v>
              </c:pt>
              <c:pt idx="16">
                <c:v>0.36</c:v>
              </c:pt>
              <c:pt idx="17">
                <c:v>0.37</c:v>
              </c:pt>
              <c:pt idx="18">
                <c:v>0.38</c:v>
              </c:pt>
              <c:pt idx="19">
                <c:v>0.39</c:v>
              </c:pt>
              <c:pt idx="20">
                <c:v>0.4</c:v>
              </c:pt>
              <c:pt idx="21">
                <c:v>0.41</c:v>
              </c:pt>
              <c:pt idx="22">
                <c:v>0.42</c:v>
              </c:pt>
              <c:pt idx="23">
                <c:v>0.43</c:v>
              </c:pt>
              <c:pt idx="24">
                <c:v>0.44</c:v>
              </c:pt>
              <c:pt idx="25">
                <c:v>0.45</c:v>
              </c:pt>
              <c:pt idx="26">
                <c:v>0.46</c:v>
              </c:pt>
              <c:pt idx="27">
                <c:v>0.47</c:v>
              </c:pt>
              <c:pt idx="28">
                <c:v>0.48</c:v>
              </c:pt>
              <c:pt idx="29">
                <c:v>0.49</c:v>
              </c:pt>
              <c:pt idx="30">
                <c:v>0.5</c:v>
              </c:pt>
              <c:pt idx="31">
                <c:v>0.51</c:v>
              </c:pt>
              <c:pt idx="32">
                <c:v>0.52</c:v>
              </c:pt>
              <c:pt idx="33">
                <c:v>0.53</c:v>
              </c:pt>
              <c:pt idx="34">
                <c:v>0.54</c:v>
              </c:pt>
              <c:pt idx="35">
                <c:v>0.55000000000000004</c:v>
              </c:pt>
              <c:pt idx="36">
                <c:v>0.56000000000000005</c:v>
              </c:pt>
              <c:pt idx="37">
                <c:v>0.56999999999999995</c:v>
              </c:pt>
              <c:pt idx="38">
                <c:v>0.57999999999999996</c:v>
              </c:pt>
              <c:pt idx="39">
                <c:v>0.59</c:v>
              </c:pt>
              <c:pt idx="40">
                <c:v>0.6</c:v>
              </c:pt>
              <c:pt idx="41">
                <c:v>0.61</c:v>
              </c:pt>
              <c:pt idx="42">
                <c:v>0.62</c:v>
              </c:pt>
              <c:pt idx="43">
                <c:v>0.63</c:v>
              </c:pt>
              <c:pt idx="44">
                <c:v>0.64</c:v>
              </c:pt>
              <c:pt idx="45">
                <c:v>0.65</c:v>
              </c:pt>
              <c:pt idx="46">
                <c:v>0.66</c:v>
              </c:pt>
              <c:pt idx="47">
                <c:v>0.67</c:v>
              </c:pt>
              <c:pt idx="48">
                <c:v>0.68</c:v>
              </c:pt>
              <c:pt idx="49">
                <c:v>0.69</c:v>
              </c:pt>
              <c:pt idx="50">
                <c:v>0.7</c:v>
              </c:pt>
              <c:pt idx="51">
                <c:v>0.71</c:v>
              </c:pt>
              <c:pt idx="52">
                <c:v>0.72</c:v>
              </c:pt>
              <c:pt idx="53">
                <c:v>0.73</c:v>
              </c:pt>
              <c:pt idx="54">
                <c:v>0.74</c:v>
              </c:pt>
              <c:pt idx="55">
                <c:v>0.75</c:v>
              </c:pt>
              <c:pt idx="56">
                <c:v>0.76</c:v>
              </c:pt>
              <c:pt idx="57">
                <c:v>0.77</c:v>
              </c:pt>
              <c:pt idx="58">
                <c:v>0.78</c:v>
              </c:pt>
              <c:pt idx="59">
                <c:v>0.79</c:v>
              </c:pt>
              <c:pt idx="60">
                <c:v>0.8</c:v>
              </c:pt>
            </c:numLit>
          </c:cat>
          <c:val>
            <c:numLit>
              <c:formatCode>General</c:formatCode>
              <c:ptCount val="61"/>
              <c:pt idx="0">
                <c:v>6.3481678219181575E-2</c:v>
              </c:pt>
              <c:pt idx="1">
                <c:v>8.7939912604777043E-2</c:v>
              </c:pt>
              <c:pt idx="2">
                <c:v>0.11918568780402107</c:v>
              </c:pt>
              <c:pt idx="3">
                <c:v>0.15831993619455609</c:v>
              </c:pt>
              <c:pt idx="4">
                <c:v>0.20643914960540916</c:v>
              </c:pt>
              <c:pt idx="5">
                <c:v>0.26459400745806994</c:v>
              </c:pt>
              <c:pt idx="6">
                <c:v>0.33374453640684848</c:v>
              </c:pt>
              <c:pt idx="7">
                <c:v>0.41471350092555748</c:v>
              </c:pt>
              <c:pt idx="8">
                <c:v>0.5081399089376667</c:v>
              </c:pt>
              <c:pt idx="9">
                <c:v>0.61443461605588312</c:v>
              </c:pt>
              <c:pt idx="10">
                <c:v>0.73374002143059047</c:v>
              </c:pt>
              <c:pt idx="11">
                <c:v>0.86589576707632288</c:v>
              </c:pt>
              <c:pt idx="12">
                <c:v>1.0104121844661056</c:v>
              </c:pt>
              <c:pt idx="13">
                <c:v>1.1664529845684144</c:v>
              </c:pt>
              <c:pt idx="14">
                <c:v>1.3328283710874291</c:v>
              </c:pt>
              <c:pt idx="15">
                <c:v>1.5079993849330595</c:v>
              </c:pt>
              <c:pt idx="16">
                <c:v>1.6900938764591809</c:v>
              </c:pt>
              <c:pt idx="17">
                <c:v>1.8769340677195896</c:v>
              </c:pt>
              <c:pt idx="18">
                <c:v>2.0660752275218517</c:v>
              </c:pt>
              <c:pt idx="19">
                <c:v>2.2548545549873165</c:v>
              </c:pt>
              <c:pt idx="20">
                <c:v>2.4404489695081057</c:v>
              </c:pt>
              <c:pt idx="21">
                <c:v>2.619940151940086</c:v>
              </c:pt>
              <c:pt idx="22">
                <c:v>2.7903848871967676</c:v>
              </c:pt>
              <c:pt idx="23">
                <c:v>2.9488885333592796</c:v>
              </c:pt>
              <c:pt idx="24">
                <c:v>3.0926792955044777</c:v>
              </c:pt>
              <c:pt idx="25">
                <c:v>3.2191809191910927</c:v>
              </c:pt>
              <c:pt idx="26">
                <c:v>3.3260814413016728</c:v>
              </c:pt>
              <c:pt idx="27">
                <c:v>3.4113957438918856</c:v>
              </c:pt>
              <c:pt idx="28">
                <c:v>3.4735198459127319</c:v>
              </c:pt>
              <c:pt idx="29">
                <c:v>3.5112751312619306</c:v>
              </c:pt>
              <c:pt idx="30">
                <c:v>3.5239410400390314</c:v>
              </c:pt>
              <c:pt idx="31">
                <c:v>3.5112751312619306</c:v>
              </c:pt>
              <c:pt idx="32">
                <c:v>3.4735198459127257</c:v>
              </c:pt>
              <c:pt idx="33">
                <c:v>3.4113957438918794</c:v>
              </c:pt>
              <c:pt idx="34">
                <c:v>3.3260814413016671</c:v>
              </c:pt>
              <c:pt idx="35">
                <c:v>3.2191809191910927</c:v>
              </c:pt>
              <c:pt idx="36">
                <c:v>3.0926792955044777</c:v>
              </c:pt>
              <c:pt idx="37">
                <c:v>2.9488885333592849</c:v>
              </c:pt>
              <c:pt idx="38">
                <c:v>2.7903848871967627</c:v>
              </c:pt>
              <c:pt idx="39">
                <c:v>2.619940151940086</c:v>
              </c:pt>
              <c:pt idx="40">
                <c:v>2.4404489695081013</c:v>
              </c:pt>
              <c:pt idx="41">
                <c:v>2.2548545549873125</c:v>
              </c:pt>
              <c:pt idx="42">
                <c:v>2.0660752275218517</c:v>
              </c:pt>
              <c:pt idx="43">
                <c:v>1.8769340677195896</c:v>
              </c:pt>
              <c:pt idx="44">
                <c:v>1.6900938764591809</c:v>
              </c:pt>
              <c:pt idx="45">
                <c:v>1.5079993849330595</c:v>
              </c:pt>
              <c:pt idx="46">
                <c:v>1.3328283710874291</c:v>
              </c:pt>
              <c:pt idx="47">
                <c:v>1.1664529845684164</c:v>
              </c:pt>
              <c:pt idx="48">
                <c:v>1.0104121844661076</c:v>
              </c:pt>
              <c:pt idx="49">
                <c:v>0.86589576707632443</c:v>
              </c:pt>
              <c:pt idx="50">
                <c:v>0.73374002143059047</c:v>
              </c:pt>
              <c:pt idx="51">
                <c:v>0.61443461605588312</c:v>
              </c:pt>
              <c:pt idx="52">
                <c:v>0.5081399089376667</c:v>
              </c:pt>
              <c:pt idx="53">
                <c:v>0.41471350092555748</c:v>
              </c:pt>
              <c:pt idx="54">
                <c:v>0.33374453640684848</c:v>
              </c:pt>
              <c:pt idx="55">
                <c:v>0.26459400745806994</c:v>
              </c:pt>
              <c:pt idx="56">
                <c:v>0.20643914960540841</c:v>
              </c:pt>
              <c:pt idx="57">
                <c:v>0.15831993619455609</c:v>
              </c:pt>
              <c:pt idx="58">
                <c:v>0.11918568780402086</c:v>
              </c:pt>
              <c:pt idx="59">
                <c:v>8.7939912604776405E-2</c:v>
              </c:pt>
              <c:pt idx="60">
                <c:v>6.3481678219181575E-2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7BD-BB49-BADD-22B130DD8D06}"/>
            </c:ext>
          </c:extLst>
        </c:ser>
        <c:ser>
          <c:idx val="1"/>
          <c:order val="1"/>
          <c:tx>
            <c:v>Posterior Beta(28,22)</c:v>
          </c:tx>
          <c:spPr>
            <a:ln w="38100">
              <a:solidFill>
                <a:srgbClr val="00A4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1"/>
              <c:pt idx="0">
                <c:v>0.2</c:v>
              </c:pt>
              <c:pt idx="1">
                <c:v>0.21</c:v>
              </c:pt>
              <c:pt idx="2">
                <c:v>0.22</c:v>
              </c:pt>
              <c:pt idx="3">
                <c:v>0.23</c:v>
              </c:pt>
              <c:pt idx="4">
                <c:v>0.24</c:v>
              </c:pt>
              <c:pt idx="5">
                <c:v>0.25</c:v>
              </c:pt>
              <c:pt idx="6">
                <c:v>0.26</c:v>
              </c:pt>
              <c:pt idx="7">
                <c:v>0.27</c:v>
              </c:pt>
              <c:pt idx="8">
                <c:v>0.28000000000000003</c:v>
              </c:pt>
              <c:pt idx="9">
                <c:v>0.28999999999999998</c:v>
              </c:pt>
              <c:pt idx="10">
                <c:v>0.3</c:v>
              </c:pt>
              <c:pt idx="11">
                <c:v>0.31</c:v>
              </c:pt>
              <c:pt idx="12">
                <c:v>0.32</c:v>
              </c:pt>
              <c:pt idx="13">
                <c:v>0.33</c:v>
              </c:pt>
              <c:pt idx="14">
                <c:v>0.34</c:v>
              </c:pt>
              <c:pt idx="15">
                <c:v>0.35</c:v>
              </c:pt>
              <c:pt idx="16">
                <c:v>0.36</c:v>
              </c:pt>
              <c:pt idx="17">
                <c:v>0.37</c:v>
              </c:pt>
              <c:pt idx="18">
                <c:v>0.38</c:v>
              </c:pt>
              <c:pt idx="19">
                <c:v>0.39</c:v>
              </c:pt>
              <c:pt idx="20">
                <c:v>0.4</c:v>
              </c:pt>
              <c:pt idx="21">
                <c:v>0.41</c:v>
              </c:pt>
              <c:pt idx="22">
                <c:v>0.42</c:v>
              </c:pt>
              <c:pt idx="23">
                <c:v>0.43</c:v>
              </c:pt>
              <c:pt idx="24">
                <c:v>0.44</c:v>
              </c:pt>
              <c:pt idx="25">
                <c:v>0.45</c:v>
              </c:pt>
              <c:pt idx="26">
                <c:v>0.46</c:v>
              </c:pt>
              <c:pt idx="27">
                <c:v>0.47</c:v>
              </c:pt>
              <c:pt idx="28">
                <c:v>0.48</c:v>
              </c:pt>
              <c:pt idx="29">
                <c:v>0.49</c:v>
              </c:pt>
              <c:pt idx="30">
                <c:v>0.5</c:v>
              </c:pt>
              <c:pt idx="31">
                <c:v>0.51</c:v>
              </c:pt>
              <c:pt idx="32">
                <c:v>0.52</c:v>
              </c:pt>
              <c:pt idx="33">
                <c:v>0.53</c:v>
              </c:pt>
              <c:pt idx="34">
                <c:v>0.54</c:v>
              </c:pt>
              <c:pt idx="35">
                <c:v>0.55000000000000004</c:v>
              </c:pt>
              <c:pt idx="36">
                <c:v>0.56000000000000005</c:v>
              </c:pt>
              <c:pt idx="37">
                <c:v>0.56999999999999995</c:v>
              </c:pt>
              <c:pt idx="38">
                <c:v>0.57999999999999996</c:v>
              </c:pt>
              <c:pt idx="39">
                <c:v>0.59</c:v>
              </c:pt>
              <c:pt idx="40">
                <c:v>0.6</c:v>
              </c:pt>
              <c:pt idx="41">
                <c:v>0.61</c:v>
              </c:pt>
              <c:pt idx="42">
                <c:v>0.62</c:v>
              </c:pt>
              <c:pt idx="43">
                <c:v>0.63</c:v>
              </c:pt>
              <c:pt idx="44">
                <c:v>0.64</c:v>
              </c:pt>
              <c:pt idx="45">
                <c:v>0.65</c:v>
              </c:pt>
              <c:pt idx="46">
                <c:v>0.66</c:v>
              </c:pt>
              <c:pt idx="47">
                <c:v>0.67</c:v>
              </c:pt>
              <c:pt idx="48">
                <c:v>0.68</c:v>
              </c:pt>
              <c:pt idx="49">
                <c:v>0.69</c:v>
              </c:pt>
              <c:pt idx="50">
                <c:v>0.7</c:v>
              </c:pt>
              <c:pt idx="51">
                <c:v>0.71</c:v>
              </c:pt>
              <c:pt idx="52">
                <c:v>0.72</c:v>
              </c:pt>
              <c:pt idx="53">
                <c:v>0.73</c:v>
              </c:pt>
              <c:pt idx="54">
                <c:v>0.74</c:v>
              </c:pt>
              <c:pt idx="55">
                <c:v>0.75</c:v>
              </c:pt>
              <c:pt idx="56">
                <c:v>0.76</c:v>
              </c:pt>
              <c:pt idx="57">
                <c:v>0.77</c:v>
              </c:pt>
              <c:pt idx="58">
                <c:v>0.78</c:v>
              </c:pt>
              <c:pt idx="59">
                <c:v>0.79</c:v>
              </c:pt>
              <c:pt idx="60">
                <c:v>0.8</c:v>
              </c:pt>
            </c:numLit>
          </c:cat>
          <c:val>
            <c:numLit>
              <c:formatCode>General</c:formatCode>
              <c:ptCount val="61"/>
              <c:pt idx="0">
                <c:v>1.3535608214772193E-6</c:v>
              </c:pt>
              <c:pt idx="1">
                <c:v>3.8803244518014683E-6</c:v>
              </c:pt>
              <c:pt idx="2">
                <c:v>1.0427428107479114E-5</c:v>
              </c:pt>
              <c:pt idx="3">
                <c:v>2.6407966880719036E-5</c:v>
              </c:pt>
              <c:pt idx="4">
                <c:v>6.33238234905163E-5</c:v>
              </c:pt>
              <c:pt idx="5">
                <c:v>1.4435935432635265E-4</c:v>
              </c:pt>
              <c:pt idx="6">
                <c:v>3.1399640451863791E-4</c:v>
              </c:pt>
              <c:pt idx="7">
                <c:v>6.5370207027898742E-4</c:v>
              </c:pt>
              <c:pt idx="8">
                <c:v>1.3062534089931014E-3</c:v>
              </c:pt>
              <c:pt idx="9">
                <c:v>2.5115939713133023E-3</c:v>
              </c:pt>
              <c:pt idx="10">
                <c:v>4.6570498130747064E-3</c:v>
              </c:pt>
              <c:pt idx="11">
                <c:v>8.3440097821635625E-3</c:v>
              </c:pt>
              <c:pt idx="12">
                <c:v>1.4471539922364319E-2</c:v>
              </c:pt>
              <c:pt idx="13">
                <c:v>2.4334666513868758E-2</c:v>
              </c:pt>
              <c:pt idx="14">
                <c:v>3.9731189922585383E-2</c:v>
              </c:pt>
              <c:pt idx="15">
                <c:v>6.306608219830212E-2</c:v>
              </c:pt>
              <c:pt idx="16">
                <c:v>9.7437277303484796E-2</c:v>
              </c:pt>
              <c:pt idx="17">
                <c:v>0.14668180781698667</c:v>
              </c:pt>
              <c:pt idx="18">
                <c:v>0.21535787322677852</c:v>
              </c:pt>
              <c:pt idx="19">
                <c:v>0.30863778286103288</c:v>
              </c:pt>
              <c:pt idx="20">
                <c:v>0.43208997419416972</c:v>
              </c:pt>
              <c:pt idx="21">
                <c:v>0.5913363025735241</c:v>
              </c:pt>
              <c:pt idx="22">
                <c:v>0.79158375163692307</c:v>
              </c:pt>
              <c:pt idx="23">
                <c:v>1.0370469900624057</c:v>
              </c:pt>
              <c:pt idx="24">
                <c:v>1.3302981827538716</c:v>
              </c:pt>
              <c:pt idx="25">
                <c:v>1.6716005942909391</c:v>
              </c:pt>
              <c:pt idx="26">
                <c:v>2.0582995412168468</c:v>
              </c:pt>
              <c:pt idx="27">
                <c:v>2.4843546414720965</c:v>
              </c:pt>
              <c:pt idx="28">
                <c:v>2.9400978942385461</c:v>
              </c:pt>
              <c:pt idx="29">
                <c:v>3.4122907147896768</c:v>
              </c:pt>
              <c:pt idx="30">
                <c:v>3.8845290506368109</c:v>
              </c:pt>
              <c:pt idx="31">
                <c:v>4.3380105192659526</c:v>
              </c:pt>
              <c:pt idx="32">
                <c:v>4.7526346346100672</c:v>
              </c:pt>
              <c:pt idx="33">
                <c:v>5.1083619507954463</c:v>
              </c:pt>
              <c:pt idx="34">
                <c:v>5.3867168303134028</c:v>
              </c:pt>
              <c:pt idx="35">
                <c:v>5.5722882134096965</c:v>
              </c:pt>
              <c:pt idx="36">
                <c:v>5.6540689582689092</c:v>
              </c:pt>
              <c:pt idx="37">
                <c:v>5.6264807310878844</c:v>
              </c:pt>
              <c:pt idx="38">
                <c:v>5.4899588614752659</c:v>
              </c:pt>
              <c:pt idx="39">
                <c:v>5.2510175647421153</c:v>
              </c:pt>
              <c:pt idx="40">
                <c:v>4.9217748623054449</c:v>
              </c:pt>
              <c:pt idx="41">
                <c:v>4.5189804074936193</c:v>
              </c:pt>
              <c:pt idx="42">
                <c:v>4.0626490812468194</c:v>
              </c:pt>
              <c:pt idx="43">
                <c:v>3.5744498333475487</c:v>
              </c:pt>
              <c:pt idx="44">
                <c:v>3.0760258387524742</c:v>
              </c:pt>
              <c:pt idx="45">
                <c:v>2.5874247392625902</c:v>
              </c:pt>
              <c:pt idx="46">
                <c:v>2.1257964774859772</c:v>
              </c:pt>
              <c:pt idx="47">
                <c:v>1.7044747653874861</c:v>
              </c:pt>
              <c:pt idx="48">
                <c:v>1.332503484391498</c:v>
              </c:pt>
              <c:pt idx="49">
                <c:v>1.0146101111449826</c:v>
              </c:pt>
              <c:pt idx="50">
                <c:v>0.75157373588261256</c:v>
              </c:pt>
              <c:pt idx="51">
                <c:v>0.5408932189790614</c:v>
              </c:pt>
              <c:pt idx="52">
                <c:v>0.37763672914718333</c:v>
              </c:pt>
              <c:pt idx="53">
                <c:v>0.25534916153902298</c:v>
              </c:pt>
              <c:pt idx="54">
                <c:v>0.16690713624767806</c:v>
              </c:pt>
              <c:pt idx="55">
                <c:v>0.10523796930391108</c:v>
              </c:pt>
              <c:pt idx="56">
                <c:v>6.3852989206100136E-2</c:v>
              </c:pt>
              <c:pt idx="57">
                <c:v>3.7180249652778156E-2</c:v>
              </c:pt>
              <c:pt idx="58">
                <c:v>2.071136562414062E-2</c:v>
              </c:pt>
              <c:pt idx="59">
                <c:v>1.0998027969392858E-2</c:v>
              </c:pt>
              <c:pt idx="60">
                <c:v>5.5441851247706956E-3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E7BD-BB49-BADD-22B130DD8D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Success probability π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7324D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Null distribution</c:v>
          </c:tx>
          <c:spPr>
            <a:ln w="38100">
              <a:solidFill>
                <a:srgbClr val="0074C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5"/>
              <c:pt idx="0">
                <c:v>-4</c:v>
              </c:pt>
              <c:pt idx="1">
                <c:v>-3.88</c:v>
              </c:pt>
              <c:pt idx="2">
                <c:v>-3.75</c:v>
              </c:pt>
              <c:pt idx="3">
                <c:v>-3.63</c:v>
              </c:pt>
              <c:pt idx="4">
                <c:v>-3.5</c:v>
              </c:pt>
              <c:pt idx="5">
                <c:v>-3.38</c:v>
              </c:pt>
              <c:pt idx="6">
                <c:v>-3.25</c:v>
              </c:pt>
              <c:pt idx="7">
                <c:v>-3.13</c:v>
              </c:pt>
              <c:pt idx="8">
                <c:v>-3</c:v>
              </c:pt>
              <c:pt idx="9">
                <c:v>-2.88</c:v>
              </c:pt>
              <c:pt idx="10">
                <c:v>-2.75</c:v>
              </c:pt>
              <c:pt idx="11">
                <c:v>-2.63</c:v>
              </c:pt>
              <c:pt idx="12">
                <c:v>-2.5</c:v>
              </c:pt>
              <c:pt idx="13">
                <c:v>-2.38</c:v>
              </c:pt>
              <c:pt idx="14">
                <c:v>-2.25</c:v>
              </c:pt>
              <c:pt idx="15">
                <c:v>-2.13</c:v>
              </c:pt>
              <c:pt idx="16">
                <c:v>-2</c:v>
              </c:pt>
              <c:pt idx="17">
                <c:v>-1.88</c:v>
              </c:pt>
              <c:pt idx="18">
                <c:v>-1.75</c:v>
              </c:pt>
              <c:pt idx="19">
                <c:v>-1.63</c:v>
              </c:pt>
              <c:pt idx="20">
                <c:v>-1.5</c:v>
              </c:pt>
              <c:pt idx="21">
                <c:v>-1.38</c:v>
              </c:pt>
              <c:pt idx="22">
                <c:v>-1.25</c:v>
              </c:pt>
              <c:pt idx="23">
                <c:v>-1.1299999999999999</c:v>
              </c:pt>
              <c:pt idx="24">
                <c:v>-1</c:v>
              </c:pt>
              <c:pt idx="25">
                <c:v>-0.88</c:v>
              </c:pt>
              <c:pt idx="26">
                <c:v>-0.75</c:v>
              </c:pt>
              <c:pt idx="27">
                <c:v>-0.63</c:v>
              </c:pt>
              <c:pt idx="28">
                <c:v>-0.5</c:v>
              </c:pt>
              <c:pt idx="29">
                <c:v>-0.38</c:v>
              </c:pt>
              <c:pt idx="30">
                <c:v>-0.25</c:v>
              </c:pt>
              <c:pt idx="31">
                <c:v>-0.13</c:v>
              </c:pt>
              <c:pt idx="32">
                <c:v>0</c:v>
              </c:pt>
              <c:pt idx="33">
                <c:v>0.13</c:v>
              </c:pt>
              <c:pt idx="34">
                <c:v>0.25</c:v>
              </c:pt>
              <c:pt idx="35">
                <c:v>0.38</c:v>
              </c:pt>
              <c:pt idx="36">
                <c:v>0.5</c:v>
              </c:pt>
              <c:pt idx="37">
                <c:v>0.63</c:v>
              </c:pt>
              <c:pt idx="38">
                <c:v>0.75</c:v>
              </c:pt>
              <c:pt idx="39">
                <c:v>0.88</c:v>
              </c:pt>
              <c:pt idx="40">
                <c:v>1</c:v>
              </c:pt>
              <c:pt idx="41">
                <c:v>1.1299999999999999</c:v>
              </c:pt>
              <c:pt idx="42">
                <c:v>1.25</c:v>
              </c:pt>
              <c:pt idx="43">
                <c:v>1.38</c:v>
              </c:pt>
              <c:pt idx="44">
                <c:v>1.5</c:v>
              </c:pt>
              <c:pt idx="45">
                <c:v>1.63</c:v>
              </c:pt>
              <c:pt idx="46">
                <c:v>1.75</c:v>
              </c:pt>
              <c:pt idx="47">
                <c:v>1.88</c:v>
              </c:pt>
              <c:pt idx="48">
                <c:v>2</c:v>
              </c:pt>
              <c:pt idx="49">
                <c:v>2.13</c:v>
              </c:pt>
              <c:pt idx="50">
                <c:v>2.25</c:v>
              </c:pt>
              <c:pt idx="51">
                <c:v>2.38</c:v>
              </c:pt>
              <c:pt idx="52">
                <c:v>2.5</c:v>
              </c:pt>
              <c:pt idx="53">
                <c:v>2.63</c:v>
              </c:pt>
              <c:pt idx="54">
                <c:v>2.75</c:v>
              </c:pt>
              <c:pt idx="55">
                <c:v>2.88</c:v>
              </c:pt>
              <c:pt idx="56">
                <c:v>3</c:v>
              </c:pt>
              <c:pt idx="57">
                <c:v>3.13</c:v>
              </c:pt>
              <c:pt idx="58">
                <c:v>3.25</c:v>
              </c:pt>
              <c:pt idx="59">
                <c:v>3.38</c:v>
              </c:pt>
              <c:pt idx="60">
                <c:v>3.5</c:v>
              </c:pt>
              <c:pt idx="61">
                <c:v>3.63</c:v>
              </c:pt>
              <c:pt idx="62">
                <c:v>3.75</c:v>
              </c:pt>
              <c:pt idx="63">
                <c:v>3.88</c:v>
              </c:pt>
              <c:pt idx="64">
                <c:v>4</c:v>
              </c:pt>
            </c:numLit>
          </c:cat>
          <c:val>
            <c:numLit>
              <c:formatCode>0.0</c:formatCode>
              <c:ptCount val="65"/>
              <c:pt idx="0">
                <c:v>1.3383022576488537E-4</c:v>
              </c:pt>
              <c:pt idx="1">
                <c:v>2.189316377646121E-4</c:v>
              </c:pt>
              <c:pt idx="2">
                <c:v>3.5259568236744546E-4</c:v>
              </c:pt>
              <c:pt idx="3">
                <c:v>5.5906152223216487E-4</c:v>
              </c:pt>
              <c:pt idx="4">
                <c:v>8.7268269504576015E-4</c:v>
              </c:pt>
              <c:pt idx="5">
                <c:v>1.3411188734903778E-3</c:v>
              </c:pt>
              <c:pt idx="6">
                <c:v>2.0290480572997681E-3</c:v>
              </c:pt>
              <c:pt idx="7">
                <c:v>3.0222580351987566E-3</c:v>
              </c:pt>
              <c:pt idx="8">
                <c:v>4.4318484119380075E-3</c:v>
              </c:pt>
              <c:pt idx="9">
                <c:v>6.3981203107235573E-3</c:v>
              </c:pt>
              <c:pt idx="10">
                <c:v>9.0935625015910546E-3</c:v>
              </c:pt>
              <c:pt idx="11">
                <c:v>1.2724181596831433E-2</c:v>
              </c:pt>
              <c:pt idx="12">
                <c:v>1.752830049356854E-2</c:v>
              </c:pt>
              <c:pt idx="13">
                <c:v>2.3771900829913806E-2</c:v>
              </c:pt>
              <c:pt idx="14">
                <c:v>3.1739651835667418E-2</c:v>
              </c:pt>
              <c:pt idx="15">
                <c:v>4.1720985256338612E-2</c:v>
              </c:pt>
              <c:pt idx="16">
                <c:v>5.3990966513188063E-2</c:v>
              </c:pt>
              <c:pt idx="17">
                <c:v>6.8786275826691903E-2</c:v>
              </c:pt>
              <c:pt idx="18">
                <c:v>8.6277318826511518E-2</c:v>
              </c:pt>
              <c:pt idx="19">
                <c:v>0.10653826813058508</c:v>
              </c:pt>
              <c:pt idx="20">
                <c:v>0.12951759566589174</c:v>
              </c:pt>
              <c:pt idx="21">
                <c:v>0.15501226545829322</c:v>
              </c:pt>
              <c:pt idx="22">
                <c:v>0.18264908538902191</c:v>
              </c:pt>
              <c:pt idx="23">
                <c:v>0.21187664577569948</c:v>
              </c:pt>
              <c:pt idx="24">
                <c:v>0.24197072451914337</c:v>
              </c:pt>
              <c:pt idx="25">
                <c:v>0.27205499837854352</c:v>
              </c:pt>
              <c:pt idx="26">
                <c:v>0.30113743215480443</c:v>
              </c:pt>
              <c:pt idx="27">
                <c:v>0.32816096855037508</c:v>
              </c:pt>
              <c:pt idx="28">
                <c:v>0.35206532676429952</c:v>
              </c:pt>
              <c:pt idx="29">
                <c:v>0.37185509386976895</c:v>
              </c:pt>
              <c:pt idx="30">
                <c:v>0.38666811680284929</c:v>
              </c:pt>
              <c:pt idx="31">
                <c:v>0.39583768694474952</c:v>
              </c:pt>
              <c:pt idx="32">
                <c:v>0.3989422804014327</c:v>
              </c:pt>
              <c:pt idx="33">
                <c:v>0.39583768694474952</c:v>
              </c:pt>
              <c:pt idx="34">
                <c:v>0.38666811680284929</c:v>
              </c:pt>
              <c:pt idx="35">
                <c:v>0.37185509386976895</c:v>
              </c:pt>
              <c:pt idx="36">
                <c:v>0.35206532676429952</c:v>
              </c:pt>
              <c:pt idx="37">
                <c:v>0.32816096855037508</c:v>
              </c:pt>
              <c:pt idx="38">
                <c:v>0.30113743215480443</c:v>
              </c:pt>
              <c:pt idx="39">
                <c:v>0.27205499837854352</c:v>
              </c:pt>
              <c:pt idx="40">
                <c:v>0.24197072451914337</c:v>
              </c:pt>
              <c:pt idx="41">
                <c:v>0.21187664577569948</c:v>
              </c:pt>
              <c:pt idx="42">
                <c:v>0.18264908538902191</c:v>
              </c:pt>
              <c:pt idx="43">
                <c:v>0.15501226545829322</c:v>
              </c:pt>
              <c:pt idx="44">
                <c:v>0.12951759566589174</c:v>
              </c:pt>
              <c:pt idx="45">
                <c:v>0.10653826813058508</c:v>
              </c:pt>
              <c:pt idx="46">
                <c:v>8.6277318826511518E-2</c:v>
              </c:pt>
              <c:pt idx="47">
                <c:v>6.8786275826691903E-2</c:v>
              </c:pt>
              <c:pt idx="48">
                <c:v>5.3990966513188063E-2</c:v>
              </c:pt>
              <c:pt idx="49">
                <c:v>4.1720985256338612E-2</c:v>
              </c:pt>
              <c:pt idx="50">
                <c:v>3.1739651835667418E-2</c:v>
              </c:pt>
              <c:pt idx="51">
                <c:v>2.3771900829913806E-2</c:v>
              </c:pt>
              <c:pt idx="52">
                <c:v>1.752830049356854E-2</c:v>
              </c:pt>
              <c:pt idx="53">
                <c:v>1.2724181596831433E-2</c:v>
              </c:pt>
              <c:pt idx="54">
                <c:v>9.0935625015910546E-3</c:v>
              </c:pt>
              <c:pt idx="55">
                <c:v>6.3981203107235573E-3</c:v>
              </c:pt>
              <c:pt idx="56">
                <c:v>4.4318484119380075E-3</c:v>
              </c:pt>
              <c:pt idx="57">
                <c:v>3.0222580351987566E-3</c:v>
              </c:pt>
              <c:pt idx="58">
                <c:v>2.0290480572997681E-3</c:v>
              </c:pt>
              <c:pt idx="59">
                <c:v>1.3411188734903778E-3</c:v>
              </c:pt>
              <c:pt idx="60">
                <c:v>8.7268269504576015E-4</c:v>
              </c:pt>
              <c:pt idx="61">
                <c:v>5.5906152223216487E-4</c:v>
              </c:pt>
              <c:pt idx="62">
                <c:v>3.5259568236744546E-4</c:v>
              </c:pt>
              <c:pt idx="63">
                <c:v>2.189316377646121E-4</c:v>
              </c:pt>
              <c:pt idx="64">
                <c:v>1.3383022576488537E-4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CA8-FC45-931A-B12B192C12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Test statistic under H₀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7E7E81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 b="1">
                    <a:solidFill>
                      <a:srgbClr val="17324D"/>
                    </a:solidFill>
                  </a:rPr>
                  <a:t>Density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7E7E81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y=0</c:v>
          </c:tx>
          <c:spPr>
            <a:ln w="28575">
              <a:solidFill>
                <a:srgbClr val="00A6A6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0.03</c:v>
              </c:pt>
              <c:pt idx="2">
                <c:v>0.05</c:v>
              </c:pt>
              <c:pt idx="3">
                <c:v>7.0000000000000007E-2</c:v>
              </c:pt>
              <c:pt idx="4">
                <c:v>0.1</c:v>
              </c:pt>
              <c:pt idx="5">
                <c:v>0.13</c:v>
              </c:pt>
              <c:pt idx="6">
                <c:v>0.15</c:v>
              </c:pt>
              <c:pt idx="7">
                <c:v>0.17</c:v>
              </c:pt>
              <c:pt idx="8">
                <c:v>0.2</c:v>
              </c:pt>
              <c:pt idx="9">
                <c:v>0.23</c:v>
              </c:pt>
              <c:pt idx="10">
                <c:v>0.25</c:v>
              </c:pt>
              <c:pt idx="11">
                <c:v>0.28000000000000003</c:v>
              </c:pt>
              <c:pt idx="12">
                <c:v>0.3</c:v>
              </c:pt>
              <c:pt idx="13">
                <c:v>0.33</c:v>
              </c:pt>
              <c:pt idx="14">
                <c:v>0.35</c:v>
              </c:pt>
              <c:pt idx="15">
                <c:v>0.38</c:v>
              </c:pt>
              <c:pt idx="16">
                <c:v>0.4</c:v>
              </c:pt>
              <c:pt idx="17">
                <c:v>0.42</c:v>
              </c:pt>
              <c:pt idx="18">
                <c:v>0.45</c:v>
              </c:pt>
              <c:pt idx="19">
                <c:v>0.47</c:v>
              </c:pt>
              <c:pt idx="20">
                <c:v>0.5</c:v>
              </c:pt>
              <c:pt idx="21">
                <c:v>0.53</c:v>
              </c:pt>
              <c:pt idx="22">
                <c:v>0.55000000000000004</c:v>
              </c:pt>
              <c:pt idx="23">
                <c:v>0.56999999999999995</c:v>
              </c:pt>
              <c:pt idx="24">
                <c:v>0.6</c:v>
              </c:pt>
              <c:pt idx="25">
                <c:v>0.63</c:v>
              </c:pt>
              <c:pt idx="26">
                <c:v>0.65</c:v>
              </c:pt>
              <c:pt idx="27">
                <c:v>0.68</c:v>
              </c:pt>
              <c:pt idx="28">
                <c:v>0.7</c:v>
              </c:pt>
              <c:pt idx="29">
                <c:v>0.72</c:v>
              </c:pt>
              <c:pt idx="30">
                <c:v>0.75</c:v>
              </c:pt>
              <c:pt idx="31">
                <c:v>0.78</c:v>
              </c:pt>
              <c:pt idx="32">
                <c:v>0.8</c:v>
              </c:pt>
              <c:pt idx="33">
                <c:v>0.82</c:v>
              </c:pt>
              <c:pt idx="34">
                <c:v>0.85</c:v>
              </c:pt>
              <c:pt idx="35">
                <c:v>0.88</c:v>
              </c:pt>
              <c:pt idx="36">
                <c:v>0.9</c:v>
              </c:pt>
              <c:pt idx="37">
                <c:v>0.93</c:v>
              </c:pt>
              <c:pt idx="38">
                <c:v>0.95</c:v>
              </c:pt>
              <c:pt idx="39">
                <c:v>0.97</c:v>
              </c:pt>
              <c:pt idx="40">
                <c:v>1</c:v>
              </c:pt>
            </c:numLit>
          </c:cat>
          <c:val>
            <c:numLit>
              <c:formatCode>0%</c:formatCode>
              <c:ptCount val="41"/>
              <c:pt idx="0">
                <c:v>1</c:v>
              </c:pt>
              <c:pt idx="1">
                <c:v>0.77632962085643764</c:v>
              </c:pt>
              <c:pt idx="2">
                <c:v>0.59873693923837867</c:v>
              </c:pt>
              <c:pt idx="3">
                <c:v>0.45858234142473708</c:v>
              </c:pt>
              <c:pt idx="4">
                <c:v>0.3486784401000001</c:v>
              </c:pt>
              <c:pt idx="5">
                <c:v>0.26307557616382837</c:v>
              </c:pt>
              <c:pt idx="6">
                <c:v>0.19687440434072259</c:v>
              </c:pt>
              <c:pt idx="7">
                <c:v>0.14606275417942507</c:v>
              </c:pt>
              <c:pt idx="8">
                <c:v>0.10737418240000006</c:v>
              </c:pt>
              <c:pt idx="9">
                <c:v>7.8165844629364128E-2</c:v>
              </c:pt>
              <c:pt idx="10">
                <c:v>5.6313514709472656E-2</c:v>
              </c:pt>
              <c:pt idx="11">
                <c:v>4.0121768312473383E-2</c:v>
              </c:pt>
              <c:pt idx="12">
                <c:v>2.8247524899999984E-2</c:v>
              </c:pt>
              <c:pt idx="13">
                <c:v>1.9635308465447344E-2</c:v>
              </c:pt>
              <c:pt idx="14">
                <c:v>1.3462743344628911E-2</c:v>
              </c:pt>
              <c:pt idx="15">
                <c:v>9.0949470177292824E-3</c:v>
              </c:pt>
              <c:pt idx="16">
                <c:v>6.0466175999999974E-3</c:v>
              </c:pt>
              <c:pt idx="17">
                <c:v>3.9507399762772526E-3</c:v>
              </c:pt>
              <c:pt idx="18">
                <c:v>2.5329516211914085E-3</c:v>
              </c:pt>
              <c:pt idx="19">
                <c:v>1.5907174089623457E-3</c:v>
              </c:pt>
              <c:pt idx="20">
                <c:v>9.765625E-4</c:v>
              </c:pt>
              <c:pt idx="21">
                <c:v>5.8470404222497917E-4</c:v>
              </c:pt>
              <c:pt idx="22">
                <c:v>3.4050628916015591E-4</c:v>
              </c:pt>
              <c:pt idx="23">
                <c:v>1.9226016048898718E-4</c:v>
              </c:pt>
              <c:pt idx="24">
                <c:v>1.0485760000000006E-4</c:v>
              </c:pt>
              <c:pt idx="25">
                <c:v>5.4993666708469391E-5</c:v>
              </c:pt>
              <c:pt idx="26">
                <c:v>2.7585473535156234E-5</c:v>
              </c:pt>
              <c:pt idx="27">
                <c:v>1.3147210297489148E-5</c:v>
              </c:pt>
              <c:pt idx="28">
                <c:v>5.9049000000000085E-6</c:v>
              </c:pt>
              <c:pt idx="29">
                <c:v>2.4735855675697349E-6</c:v>
              </c:pt>
              <c:pt idx="30">
                <c:v>9.5367431640625E-7</c:v>
              </c:pt>
              <c:pt idx="31">
                <c:v>3.3252567300796476E-7</c:v>
              </c:pt>
              <c:pt idx="32">
                <c:v>1.0239999999999978E-7</c:v>
              </c:pt>
              <c:pt idx="33">
                <c:v>2.6938938999176093E-8</c:v>
              </c:pt>
              <c:pt idx="34">
                <c:v>5.7665039062500083E-9</c:v>
              </c:pt>
              <c:pt idx="35">
                <c:v>9.3132257461547852E-10</c:v>
              </c:pt>
              <c:pt idx="36">
                <c:v>9.9999999999999784E-11</c:v>
              </c:pt>
              <c:pt idx="37">
                <c:v>5.6313514709472325E-12</c:v>
              </c:pt>
              <c:pt idx="38">
                <c:v>9.7656250000000862E-14</c:v>
              </c:pt>
              <c:pt idx="39">
                <c:v>9.5367431640625842E-17</c:v>
              </c:pt>
              <c:pt idx="4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EE14-D34A-BFD6-DBA36A73A03A}"/>
            </c:ext>
          </c:extLst>
        </c:ser>
        <c:ser>
          <c:idx val="1"/>
          <c:order val="1"/>
          <c:tx>
            <c:v>y=6</c:v>
          </c:tx>
          <c:spPr>
            <a:ln w="28575">
              <a:solidFill>
                <a:srgbClr val="F05A2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41"/>
              <c:pt idx="0">
                <c:v>0</c:v>
              </c:pt>
              <c:pt idx="1">
                <c:v>0.03</c:v>
              </c:pt>
              <c:pt idx="2">
                <c:v>0.05</c:v>
              </c:pt>
              <c:pt idx="3">
                <c:v>7.0000000000000007E-2</c:v>
              </c:pt>
              <c:pt idx="4">
                <c:v>0.1</c:v>
              </c:pt>
              <c:pt idx="5">
                <c:v>0.13</c:v>
              </c:pt>
              <c:pt idx="6">
                <c:v>0.15</c:v>
              </c:pt>
              <c:pt idx="7">
                <c:v>0.17</c:v>
              </c:pt>
              <c:pt idx="8">
                <c:v>0.2</c:v>
              </c:pt>
              <c:pt idx="9">
                <c:v>0.23</c:v>
              </c:pt>
              <c:pt idx="10">
                <c:v>0.25</c:v>
              </c:pt>
              <c:pt idx="11">
                <c:v>0.28000000000000003</c:v>
              </c:pt>
              <c:pt idx="12">
                <c:v>0.3</c:v>
              </c:pt>
              <c:pt idx="13">
                <c:v>0.33</c:v>
              </c:pt>
              <c:pt idx="14">
                <c:v>0.35</c:v>
              </c:pt>
              <c:pt idx="15">
                <c:v>0.38</c:v>
              </c:pt>
              <c:pt idx="16">
                <c:v>0.4</c:v>
              </c:pt>
              <c:pt idx="17">
                <c:v>0.42</c:v>
              </c:pt>
              <c:pt idx="18">
                <c:v>0.45</c:v>
              </c:pt>
              <c:pt idx="19">
                <c:v>0.47</c:v>
              </c:pt>
              <c:pt idx="20">
                <c:v>0.5</c:v>
              </c:pt>
              <c:pt idx="21">
                <c:v>0.53</c:v>
              </c:pt>
              <c:pt idx="22">
                <c:v>0.55000000000000004</c:v>
              </c:pt>
              <c:pt idx="23">
                <c:v>0.56999999999999995</c:v>
              </c:pt>
              <c:pt idx="24">
                <c:v>0.6</c:v>
              </c:pt>
              <c:pt idx="25">
                <c:v>0.63</c:v>
              </c:pt>
              <c:pt idx="26">
                <c:v>0.65</c:v>
              </c:pt>
              <c:pt idx="27">
                <c:v>0.68</c:v>
              </c:pt>
              <c:pt idx="28">
                <c:v>0.7</c:v>
              </c:pt>
              <c:pt idx="29">
                <c:v>0.72</c:v>
              </c:pt>
              <c:pt idx="30">
                <c:v>0.75</c:v>
              </c:pt>
              <c:pt idx="31">
                <c:v>0.78</c:v>
              </c:pt>
              <c:pt idx="32">
                <c:v>0.8</c:v>
              </c:pt>
              <c:pt idx="33">
                <c:v>0.82</c:v>
              </c:pt>
              <c:pt idx="34">
                <c:v>0.85</c:v>
              </c:pt>
              <c:pt idx="35">
                <c:v>0.88</c:v>
              </c:pt>
              <c:pt idx="36">
                <c:v>0.9</c:v>
              </c:pt>
              <c:pt idx="37">
                <c:v>0.93</c:v>
              </c:pt>
              <c:pt idx="38">
                <c:v>0.95</c:v>
              </c:pt>
              <c:pt idx="39">
                <c:v>0.97</c:v>
              </c:pt>
              <c:pt idx="40">
                <c:v>1</c:v>
              </c:pt>
            </c:numLit>
          </c:cat>
          <c:val>
            <c:numLit>
              <c:formatCode>0%</c:formatCode>
              <c:ptCount val="41"/>
              <c:pt idx="0">
                <c:v>0</c:v>
              </c:pt>
              <c:pt idx="1">
                <c:v>1.8471877814994923E-7</c:v>
              </c:pt>
              <c:pt idx="2">
                <c:v>1.0655331840567468E-5</c:v>
              </c:pt>
              <c:pt idx="3">
                <c:v>1.0909052798524498E-4</c:v>
              </c:pt>
              <c:pt idx="4">
                <c:v>5.4931640625000022E-4</c:v>
              </c:pt>
              <c:pt idx="5">
                <c:v>1.8721680203676275E-3</c:v>
              </c:pt>
              <c:pt idx="6">
                <c:v>4.9782395362853987E-3</c:v>
              </c:pt>
              <c:pt idx="7">
                <c:v>1.114029313773951E-2</c:v>
              </c:pt>
              <c:pt idx="8">
                <c:v>2.1947873799725664E-2</c:v>
              </c:pt>
              <c:pt idx="9">
                <c:v>3.9188121969345964E-2</c:v>
              </c:pt>
              <c:pt idx="10">
                <c:v>6.4675178792741567E-2</c:v>
              </c:pt>
              <c:pt idx="11">
                <c:v>0.10004622855043907</c:v>
              </c:pt>
              <c:pt idx="12">
                <c:v>0.14654541015624994</c:v>
              </c:pt>
              <c:pt idx="13">
                <c:v>0.20481784368166708</c:v>
              </c:pt>
              <c:pt idx="14">
                <c:v>0.27473514863329496</c:v>
              </c:pt>
              <c:pt idx="15">
                <c:v>0.35527136788005009</c:v>
              </c:pt>
              <c:pt idx="16">
                <c:v>0.44444444444444464</c:v>
              </c:pt>
              <c:pt idx="17">
                <c:v>0.5393336175830582</c:v>
              </c:pt>
              <c:pt idx="18">
                <c:v>0.63617759943008456</c:v>
              </c:pt>
              <c:pt idx="19">
                <c:v>0.73055245370940403</c:v>
              </c:pt>
              <c:pt idx="20">
                <c:v>0.81762201337984397</c:v>
              </c:pt>
              <c:pt idx="21">
                <c:v>0.89244773430982616</c:v>
              </c:pt>
              <c:pt idx="22">
                <c:v>0.95033937692642234</c:v>
              </c:pt>
              <c:pt idx="23">
                <c:v>0.9872231269945948</c:v>
              </c:pt>
              <c:pt idx="24">
                <c:v>1</c:v>
              </c:pt>
              <c:pt idx="25">
                <c:v>0.98686491077791694</c:v>
              </c:pt>
              <c:pt idx="26">
                <c:v>0.94755592079646622</c:v>
              </c:pt>
              <c:pt idx="27">
                <c:v>0.88350418960908406</c:v>
              </c:pt>
              <c:pt idx="28">
                <c:v>0.79785834418402801</c:v>
              </c:pt>
              <c:pt idx="29">
                <c:v>0.69536262984230768</c:v>
              </c:pt>
              <c:pt idx="30">
                <c:v>0.58207660913467407</c:v>
              </c:pt>
              <c:pt idx="31">
                <c:v>0.46493561990791926</c:v>
              </c:pt>
              <c:pt idx="32">
                <c:v>0.35116598079561029</c:v>
              </c:pt>
              <c:pt idx="33">
                <c:v>0.24758733116323145</c:v>
              </c:pt>
              <c:pt idx="34">
                <c:v>0.15985680288738682</c:v>
              </c:pt>
              <c:pt idx="35">
                <c:v>9.1736232998013756E-2</c:v>
              </c:pt>
              <c:pt idx="36">
                <c:v>4.4494628906249965E-2</c:v>
              </c:pt>
              <c:pt idx="37">
                <c:v>1.6593881423533342E-2</c:v>
              </c:pt>
              <c:pt idx="38">
                <c:v>3.8465747944448673E-3</c:v>
              </c:pt>
              <c:pt idx="39">
                <c:v>2.8095726156607368E-4</c:v>
              </c:pt>
              <c:pt idx="40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EE14-D34A-BFD6-DBA36A73A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Candidate population proportion p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w="9525">
              <a:solidFill>
                <a:srgbClr val="DCE6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t>Relative likelihood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E7184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E7184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Null density</c:v>
          </c:tx>
          <c:spPr>
            <a:ln w="28575">
              <a:solidFill>
                <a:srgbClr val="0076A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7"/>
              <c:pt idx="0">
                <c:v>-3.5</c:v>
              </c:pt>
              <c:pt idx="1">
                <c:v>-3.38</c:v>
              </c:pt>
              <c:pt idx="2">
                <c:v>-3.25</c:v>
              </c:pt>
              <c:pt idx="3">
                <c:v>-3.13</c:v>
              </c:pt>
              <c:pt idx="4">
                <c:v>-3</c:v>
              </c:pt>
              <c:pt idx="5">
                <c:v>-2.88</c:v>
              </c:pt>
              <c:pt idx="6">
                <c:v>-2.75</c:v>
              </c:pt>
              <c:pt idx="7">
                <c:v>-2.63</c:v>
              </c:pt>
              <c:pt idx="8">
                <c:v>-2.5</c:v>
              </c:pt>
              <c:pt idx="9">
                <c:v>-2.38</c:v>
              </c:pt>
              <c:pt idx="10">
                <c:v>-2.25</c:v>
              </c:pt>
              <c:pt idx="11">
                <c:v>-2.13</c:v>
              </c:pt>
              <c:pt idx="12">
                <c:v>-2</c:v>
              </c:pt>
              <c:pt idx="13">
                <c:v>-1.88</c:v>
              </c:pt>
              <c:pt idx="14">
                <c:v>-1.75</c:v>
              </c:pt>
              <c:pt idx="15">
                <c:v>-1.63</c:v>
              </c:pt>
              <c:pt idx="16">
                <c:v>-1.5</c:v>
              </c:pt>
              <c:pt idx="17">
                <c:v>-1.38</c:v>
              </c:pt>
              <c:pt idx="18">
                <c:v>-1.25</c:v>
              </c:pt>
              <c:pt idx="19">
                <c:v>-1.1299999999999999</c:v>
              </c:pt>
              <c:pt idx="20">
                <c:v>-1</c:v>
              </c:pt>
              <c:pt idx="21">
                <c:v>-0.88</c:v>
              </c:pt>
              <c:pt idx="22">
                <c:v>-0.75</c:v>
              </c:pt>
              <c:pt idx="23">
                <c:v>-0.63</c:v>
              </c:pt>
              <c:pt idx="24">
                <c:v>-0.5</c:v>
              </c:pt>
              <c:pt idx="25">
                <c:v>-0.38</c:v>
              </c:pt>
              <c:pt idx="26">
                <c:v>-0.25</c:v>
              </c:pt>
              <c:pt idx="27">
                <c:v>-0.13</c:v>
              </c:pt>
              <c:pt idx="28">
                <c:v>0</c:v>
              </c:pt>
              <c:pt idx="29">
                <c:v>0.13</c:v>
              </c:pt>
              <c:pt idx="30">
                <c:v>0.25</c:v>
              </c:pt>
              <c:pt idx="31">
                <c:v>0.38</c:v>
              </c:pt>
              <c:pt idx="32">
                <c:v>0.5</c:v>
              </c:pt>
              <c:pt idx="33">
                <c:v>0.63</c:v>
              </c:pt>
              <c:pt idx="34">
                <c:v>0.75</c:v>
              </c:pt>
              <c:pt idx="35">
                <c:v>0.88</c:v>
              </c:pt>
              <c:pt idx="36">
                <c:v>1</c:v>
              </c:pt>
              <c:pt idx="37">
                <c:v>1.1299999999999999</c:v>
              </c:pt>
              <c:pt idx="38">
                <c:v>1.25</c:v>
              </c:pt>
              <c:pt idx="39">
                <c:v>1.38</c:v>
              </c:pt>
              <c:pt idx="40">
                <c:v>1.5</c:v>
              </c:pt>
              <c:pt idx="41">
                <c:v>1.63</c:v>
              </c:pt>
              <c:pt idx="42">
                <c:v>1.75</c:v>
              </c:pt>
              <c:pt idx="43">
                <c:v>1.88</c:v>
              </c:pt>
              <c:pt idx="44">
                <c:v>2</c:v>
              </c:pt>
              <c:pt idx="45">
                <c:v>2.13</c:v>
              </c:pt>
              <c:pt idx="46">
                <c:v>2.25</c:v>
              </c:pt>
              <c:pt idx="47">
                <c:v>2.38</c:v>
              </c:pt>
              <c:pt idx="48">
                <c:v>2.5</c:v>
              </c:pt>
              <c:pt idx="49">
                <c:v>2.63</c:v>
              </c:pt>
              <c:pt idx="50">
                <c:v>2.75</c:v>
              </c:pt>
              <c:pt idx="51">
                <c:v>2.88</c:v>
              </c:pt>
              <c:pt idx="52">
                <c:v>3</c:v>
              </c:pt>
              <c:pt idx="53">
                <c:v>3.13</c:v>
              </c:pt>
              <c:pt idx="54">
                <c:v>3.25</c:v>
              </c:pt>
              <c:pt idx="55">
                <c:v>3.38</c:v>
              </c:pt>
              <c:pt idx="56">
                <c:v>3.5</c:v>
              </c:pt>
            </c:numLit>
          </c:cat>
          <c:val>
            <c:numLit>
              <c:formatCode>General</c:formatCode>
              <c:ptCount val="57"/>
              <c:pt idx="0">
                <c:v>8.7268269504576015E-4</c:v>
              </c:pt>
              <c:pt idx="1">
                <c:v>1.3411188734903778E-3</c:v>
              </c:pt>
              <c:pt idx="2">
                <c:v>2.0290480572997681E-3</c:v>
              </c:pt>
              <c:pt idx="3">
                <c:v>3.0222580351987566E-3</c:v>
              </c:pt>
              <c:pt idx="4">
                <c:v>4.4318484119380075E-3</c:v>
              </c:pt>
              <c:pt idx="5">
                <c:v>6.3981203107235573E-3</c:v>
              </c:pt>
              <c:pt idx="6">
                <c:v>9.0935625015910546E-3</c:v>
              </c:pt>
              <c:pt idx="7">
                <c:v>1.2724181596831433E-2</c:v>
              </c:pt>
              <c:pt idx="8">
                <c:v>1.752830049356854E-2</c:v>
              </c:pt>
              <c:pt idx="9">
                <c:v>2.3771900829913806E-2</c:v>
              </c:pt>
              <c:pt idx="10">
                <c:v>3.1739651835667418E-2</c:v>
              </c:pt>
              <c:pt idx="11">
                <c:v>4.1720985256338612E-2</c:v>
              </c:pt>
              <c:pt idx="12">
                <c:v>5.3990966513188063E-2</c:v>
              </c:pt>
              <c:pt idx="13">
                <c:v>6.8786275826691903E-2</c:v>
              </c:pt>
              <c:pt idx="14">
                <c:v>8.6277318826511518E-2</c:v>
              </c:pt>
              <c:pt idx="15">
                <c:v>0.10653826813058508</c:v>
              </c:pt>
              <c:pt idx="16">
                <c:v>0.12951759566589174</c:v>
              </c:pt>
              <c:pt idx="17">
                <c:v>0.15501226545829322</c:v>
              </c:pt>
              <c:pt idx="18">
                <c:v>0.18264908538902191</c:v>
              </c:pt>
              <c:pt idx="19">
                <c:v>0.21187664577569948</c:v>
              </c:pt>
              <c:pt idx="20">
                <c:v>0.24197072451914337</c:v>
              </c:pt>
              <c:pt idx="21">
                <c:v>0.27205499837854352</c:v>
              </c:pt>
              <c:pt idx="22">
                <c:v>0.30113743215480443</c:v>
              </c:pt>
              <c:pt idx="23">
                <c:v>0.32816096855037508</c:v>
              </c:pt>
              <c:pt idx="24">
                <c:v>0.35206532676429952</c:v>
              </c:pt>
              <c:pt idx="25">
                <c:v>0.37185509386976895</c:v>
              </c:pt>
              <c:pt idx="26">
                <c:v>0.38666811680284929</c:v>
              </c:pt>
              <c:pt idx="27">
                <c:v>0.39583768694474952</c:v>
              </c:pt>
              <c:pt idx="28">
                <c:v>0.3989422804014327</c:v>
              </c:pt>
              <c:pt idx="29">
                <c:v>0.39583768694474952</c:v>
              </c:pt>
              <c:pt idx="30">
                <c:v>0.38666811680284929</c:v>
              </c:pt>
              <c:pt idx="31">
                <c:v>0.37185509386976895</c:v>
              </c:pt>
              <c:pt idx="32">
                <c:v>0.35206532676429952</c:v>
              </c:pt>
              <c:pt idx="33">
                <c:v>0.32816096855037508</c:v>
              </c:pt>
              <c:pt idx="34">
                <c:v>0.30113743215480443</c:v>
              </c:pt>
              <c:pt idx="35">
                <c:v>0.27205499837854352</c:v>
              </c:pt>
              <c:pt idx="36">
                <c:v>0.24197072451914337</c:v>
              </c:pt>
              <c:pt idx="37">
                <c:v>0.21187664577569948</c:v>
              </c:pt>
              <c:pt idx="38">
                <c:v>0.18264908538902191</c:v>
              </c:pt>
              <c:pt idx="39">
                <c:v>0.15501226545829322</c:v>
              </c:pt>
              <c:pt idx="40">
                <c:v>0.12951759566589174</c:v>
              </c:pt>
              <c:pt idx="41">
                <c:v>0.10653826813058508</c:v>
              </c:pt>
              <c:pt idx="42">
                <c:v>8.6277318826511518E-2</c:v>
              </c:pt>
              <c:pt idx="43">
                <c:v>6.8786275826691903E-2</c:v>
              </c:pt>
              <c:pt idx="44">
                <c:v>5.3990966513188063E-2</c:v>
              </c:pt>
              <c:pt idx="45">
                <c:v>4.1720985256338612E-2</c:v>
              </c:pt>
              <c:pt idx="46">
                <c:v>3.1739651835667418E-2</c:v>
              </c:pt>
              <c:pt idx="47">
                <c:v>2.3771900829913806E-2</c:v>
              </c:pt>
              <c:pt idx="48">
                <c:v>1.752830049356854E-2</c:v>
              </c:pt>
              <c:pt idx="49">
                <c:v>1.2724181596831433E-2</c:v>
              </c:pt>
              <c:pt idx="50">
                <c:v>9.0935625015910546E-3</c:v>
              </c:pt>
              <c:pt idx="51">
                <c:v>6.3981203107235573E-3</c:v>
              </c:pt>
              <c:pt idx="52">
                <c:v>4.4318484119380075E-3</c:v>
              </c:pt>
              <c:pt idx="53">
                <c:v>3.0222580351987566E-3</c:v>
              </c:pt>
              <c:pt idx="54">
                <c:v>2.0290480572997681E-3</c:v>
              </c:pt>
              <c:pt idx="55">
                <c:v>1.3411188734903778E-3</c:v>
              </c:pt>
              <c:pt idx="56">
                <c:v>8.7268269504576015E-4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F65-EE46-A315-54E795453247}"/>
            </c:ext>
          </c:extLst>
        </c:ser>
        <c:ser>
          <c:idx val="1"/>
          <c:order val="1"/>
          <c:tx>
            <c:v>Left tail</c:v>
          </c:tx>
          <c:spPr>
            <a:ln w="47625">
              <a:solidFill>
                <a:srgbClr val="F05A2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7"/>
              <c:pt idx="0">
                <c:v>-3.5</c:v>
              </c:pt>
              <c:pt idx="1">
                <c:v>-3.38</c:v>
              </c:pt>
              <c:pt idx="2">
                <c:v>-3.25</c:v>
              </c:pt>
              <c:pt idx="3">
                <c:v>-3.13</c:v>
              </c:pt>
              <c:pt idx="4">
                <c:v>-3</c:v>
              </c:pt>
              <c:pt idx="5">
                <c:v>-2.88</c:v>
              </c:pt>
              <c:pt idx="6">
                <c:v>-2.75</c:v>
              </c:pt>
              <c:pt idx="7">
                <c:v>-2.63</c:v>
              </c:pt>
              <c:pt idx="8">
                <c:v>-2.5</c:v>
              </c:pt>
              <c:pt idx="9">
                <c:v>-2.38</c:v>
              </c:pt>
              <c:pt idx="10">
                <c:v>-2.25</c:v>
              </c:pt>
              <c:pt idx="11">
                <c:v>-2.13</c:v>
              </c:pt>
              <c:pt idx="12">
                <c:v>-2</c:v>
              </c:pt>
              <c:pt idx="13">
                <c:v>-1.88</c:v>
              </c:pt>
              <c:pt idx="14">
                <c:v>-1.75</c:v>
              </c:pt>
              <c:pt idx="15">
                <c:v>-1.63</c:v>
              </c:pt>
              <c:pt idx="16">
                <c:v>-1.5</c:v>
              </c:pt>
              <c:pt idx="17">
                <c:v>-1.38</c:v>
              </c:pt>
              <c:pt idx="18">
                <c:v>-1.25</c:v>
              </c:pt>
              <c:pt idx="19">
                <c:v>-1.1299999999999999</c:v>
              </c:pt>
              <c:pt idx="20">
                <c:v>-1</c:v>
              </c:pt>
              <c:pt idx="21">
                <c:v>-0.88</c:v>
              </c:pt>
              <c:pt idx="22">
                <c:v>-0.75</c:v>
              </c:pt>
              <c:pt idx="23">
                <c:v>-0.63</c:v>
              </c:pt>
              <c:pt idx="24">
                <c:v>-0.5</c:v>
              </c:pt>
              <c:pt idx="25">
                <c:v>-0.38</c:v>
              </c:pt>
              <c:pt idx="26">
                <c:v>-0.25</c:v>
              </c:pt>
              <c:pt idx="27">
                <c:v>-0.13</c:v>
              </c:pt>
              <c:pt idx="28">
                <c:v>0</c:v>
              </c:pt>
              <c:pt idx="29">
                <c:v>0.13</c:v>
              </c:pt>
              <c:pt idx="30">
                <c:v>0.25</c:v>
              </c:pt>
              <c:pt idx="31">
                <c:v>0.38</c:v>
              </c:pt>
              <c:pt idx="32">
                <c:v>0.5</c:v>
              </c:pt>
              <c:pt idx="33">
                <c:v>0.63</c:v>
              </c:pt>
              <c:pt idx="34">
                <c:v>0.75</c:v>
              </c:pt>
              <c:pt idx="35">
                <c:v>0.88</c:v>
              </c:pt>
              <c:pt idx="36">
                <c:v>1</c:v>
              </c:pt>
              <c:pt idx="37">
                <c:v>1.1299999999999999</c:v>
              </c:pt>
              <c:pt idx="38">
                <c:v>1.25</c:v>
              </c:pt>
              <c:pt idx="39">
                <c:v>1.38</c:v>
              </c:pt>
              <c:pt idx="40">
                <c:v>1.5</c:v>
              </c:pt>
              <c:pt idx="41">
                <c:v>1.63</c:v>
              </c:pt>
              <c:pt idx="42">
                <c:v>1.75</c:v>
              </c:pt>
              <c:pt idx="43">
                <c:v>1.88</c:v>
              </c:pt>
              <c:pt idx="44">
                <c:v>2</c:v>
              </c:pt>
              <c:pt idx="45">
                <c:v>2.13</c:v>
              </c:pt>
              <c:pt idx="46">
                <c:v>2.25</c:v>
              </c:pt>
              <c:pt idx="47">
                <c:v>2.38</c:v>
              </c:pt>
              <c:pt idx="48">
                <c:v>2.5</c:v>
              </c:pt>
              <c:pt idx="49">
                <c:v>2.63</c:v>
              </c:pt>
              <c:pt idx="50">
                <c:v>2.75</c:v>
              </c:pt>
              <c:pt idx="51">
                <c:v>2.88</c:v>
              </c:pt>
              <c:pt idx="52">
                <c:v>3</c:v>
              </c:pt>
              <c:pt idx="53">
                <c:v>3.13</c:v>
              </c:pt>
              <c:pt idx="54">
                <c:v>3.25</c:v>
              </c:pt>
              <c:pt idx="55">
                <c:v>3.38</c:v>
              </c:pt>
              <c:pt idx="56">
                <c:v>3.5</c:v>
              </c:pt>
            </c:numLit>
          </c:cat>
          <c:val>
            <c:numLit>
              <c:formatCode>General</c:formatCode>
              <c:ptCount val="57"/>
              <c:pt idx="0">
                <c:v>8.7268269504576015E-4</c:v>
              </c:pt>
              <c:pt idx="1">
                <c:v>1.3411188734903778E-3</c:v>
              </c:pt>
              <c:pt idx="2">
                <c:v>2.0290480572997681E-3</c:v>
              </c:pt>
              <c:pt idx="3">
                <c:v>3.0222580351987566E-3</c:v>
              </c:pt>
              <c:pt idx="4">
                <c:v>4.4318484119380075E-3</c:v>
              </c:pt>
              <c:pt idx="5">
                <c:v>6.3981203107235573E-3</c:v>
              </c:pt>
              <c:pt idx="6">
                <c:v>9.0935625015910546E-3</c:v>
              </c:pt>
              <c:pt idx="7">
                <c:v>1.2724181596831433E-2</c:v>
              </c:pt>
              <c:pt idx="8">
                <c:v>1.752830049356854E-2</c:v>
              </c:pt>
              <c:pt idx="9">
                <c:v>2.3771900829913806E-2</c:v>
              </c:pt>
              <c:pt idx="10">
                <c:v>3.1739651835667418E-2</c:v>
              </c:pt>
              <c:pt idx="11">
                <c:v>4.1720985256338612E-2</c:v>
              </c:pt>
              <c:pt idx="12">
                <c:v>5.3990966513188063E-2</c:v>
              </c:pt>
              <c:pt idx="13">
                <c:v>6.8786275826691903E-2</c:v>
              </c:pt>
              <c:pt idx="14">
                <c:v>8.6277318826511518E-2</c:v>
              </c:pt>
              <c:pt idx="15">
                <c:v>0.10653826813058508</c:v>
              </c:pt>
              <c:pt idx="16">
                <c:v>0.12951759566589174</c:v>
              </c:pt>
              <c:pt idx="17">
                <c:v>0.15501226545829322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CF65-EE46-A315-54E795453247}"/>
            </c:ext>
          </c:extLst>
        </c:ser>
        <c:ser>
          <c:idx val="2"/>
          <c:order val="2"/>
          <c:tx>
            <c:v>Right tail</c:v>
          </c:tx>
          <c:spPr>
            <a:ln w="47625">
              <a:solidFill>
                <a:srgbClr val="F05A2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7"/>
              <c:pt idx="0">
                <c:v>-3.5</c:v>
              </c:pt>
              <c:pt idx="1">
                <c:v>-3.38</c:v>
              </c:pt>
              <c:pt idx="2">
                <c:v>-3.25</c:v>
              </c:pt>
              <c:pt idx="3">
                <c:v>-3.13</c:v>
              </c:pt>
              <c:pt idx="4">
                <c:v>-3</c:v>
              </c:pt>
              <c:pt idx="5">
                <c:v>-2.88</c:v>
              </c:pt>
              <c:pt idx="6">
                <c:v>-2.75</c:v>
              </c:pt>
              <c:pt idx="7">
                <c:v>-2.63</c:v>
              </c:pt>
              <c:pt idx="8">
                <c:v>-2.5</c:v>
              </c:pt>
              <c:pt idx="9">
                <c:v>-2.38</c:v>
              </c:pt>
              <c:pt idx="10">
                <c:v>-2.25</c:v>
              </c:pt>
              <c:pt idx="11">
                <c:v>-2.13</c:v>
              </c:pt>
              <c:pt idx="12">
                <c:v>-2</c:v>
              </c:pt>
              <c:pt idx="13">
                <c:v>-1.88</c:v>
              </c:pt>
              <c:pt idx="14">
                <c:v>-1.75</c:v>
              </c:pt>
              <c:pt idx="15">
                <c:v>-1.63</c:v>
              </c:pt>
              <c:pt idx="16">
                <c:v>-1.5</c:v>
              </c:pt>
              <c:pt idx="17">
                <c:v>-1.38</c:v>
              </c:pt>
              <c:pt idx="18">
                <c:v>-1.25</c:v>
              </c:pt>
              <c:pt idx="19">
                <c:v>-1.1299999999999999</c:v>
              </c:pt>
              <c:pt idx="20">
                <c:v>-1</c:v>
              </c:pt>
              <c:pt idx="21">
                <c:v>-0.88</c:v>
              </c:pt>
              <c:pt idx="22">
                <c:v>-0.75</c:v>
              </c:pt>
              <c:pt idx="23">
                <c:v>-0.63</c:v>
              </c:pt>
              <c:pt idx="24">
                <c:v>-0.5</c:v>
              </c:pt>
              <c:pt idx="25">
                <c:v>-0.38</c:v>
              </c:pt>
              <c:pt idx="26">
                <c:v>-0.25</c:v>
              </c:pt>
              <c:pt idx="27">
                <c:v>-0.13</c:v>
              </c:pt>
              <c:pt idx="28">
                <c:v>0</c:v>
              </c:pt>
              <c:pt idx="29">
                <c:v>0.13</c:v>
              </c:pt>
              <c:pt idx="30">
                <c:v>0.25</c:v>
              </c:pt>
              <c:pt idx="31">
                <c:v>0.38</c:v>
              </c:pt>
              <c:pt idx="32">
                <c:v>0.5</c:v>
              </c:pt>
              <c:pt idx="33">
                <c:v>0.63</c:v>
              </c:pt>
              <c:pt idx="34">
                <c:v>0.75</c:v>
              </c:pt>
              <c:pt idx="35">
                <c:v>0.88</c:v>
              </c:pt>
              <c:pt idx="36">
                <c:v>1</c:v>
              </c:pt>
              <c:pt idx="37">
                <c:v>1.1299999999999999</c:v>
              </c:pt>
              <c:pt idx="38">
                <c:v>1.25</c:v>
              </c:pt>
              <c:pt idx="39">
                <c:v>1.38</c:v>
              </c:pt>
              <c:pt idx="40">
                <c:v>1.5</c:v>
              </c:pt>
              <c:pt idx="41">
                <c:v>1.63</c:v>
              </c:pt>
              <c:pt idx="42">
                <c:v>1.75</c:v>
              </c:pt>
              <c:pt idx="43">
                <c:v>1.88</c:v>
              </c:pt>
              <c:pt idx="44">
                <c:v>2</c:v>
              </c:pt>
              <c:pt idx="45">
                <c:v>2.13</c:v>
              </c:pt>
              <c:pt idx="46">
                <c:v>2.25</c:v>
              </c:pt>
              <c:pt idx="47">
                <c:v>2.38</c:v>
              </c:pt>
              <c:pt idx="48">
                <c:v>2.5</c:v>
              </c:pt>
              <c:pt idx="49">
                <c:v>2.63</c:v>
              </c:pt>
              <c:pt idx="50">
                <c:v>2.75</c:v>
              </c:pt>
              <c:pt idx="51">
                <c:v>2.88</c:v>
              </c:pt>
              <c:pt idx="52">
                <c:v>3</c:v>
              </c:pt>
              <c:pt idx="53">
                <c:v>3.13</c:v>
              </c:pt>
              <c:pt idx="54">
                <c:v>3.25</c:v>
              </c:pt>
              <c:pt idx="55">
                <c:v>3.38</c:v>
              </c:pt>
              <c:pt idx="56">
                <c:v>3.5</c:v>
              </c:pt>
            </c:numLit>
          </c:cat>
          <c:val>
            <c:numLit>
              <c:formatCode>General</c:formatCode>
              <c:ptCount val="5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0.15501226545829322</c:v>
              </c:pt>
              <c:pt idx="40">
                <c:v>0.12951759566589174</c:v>
              </c:pt>
              <c:pt idx="41">
                <c:v>0.10653826813058508</c:v>
              </c:pt>
              <c:pt idx="42">
                <c:v>8.6277318826511518E-2</c:v>
              </c:pt>
              <c:pt idx="43">
                <c:v>6.8786275826691903E-2</c:v>
              </c:pt>
              <c:pt idx="44">
                <c:v>5.3990966513188063E-2</c:v>
              </c:pt>
              <c:pt idx="45">
                <c:v>4.1720985256338612E-2</c:v>
              </c:pt>
              <c:pt idx="46">
                <c:v>3.1739651835667418E-2</c:v>
              </c:pt>
              <c:pt idx="47">
                <c:v>2.3771900829913806E-2</c:v>
              </c:pt>
              <c:pt idx="48">
                <c:v>1.752830049356854E-2</c:v>
              </c:pt>
              <c:pt idx="49">
                <c:v>1.2724181596831433E-2</c:v>
              </c:pt>
              <c:pt idx="50">
                <c:v>9.0935625015910546E-3</c:v>
              </c:pt>
              <c:pt idx="51">
                <c:v>6.3981203107235573E-3</c:v>
              </c:pt>
              <c:pt idx="52">
                <c:v>4.4318484119380075E-3</c:v>
              </c:pt>
              <c:pt idx="53">
                <c:v>3.0222580351987566E-3</c:v>
              </c:pt>
              <c:pt idx="54">
                <c:v>2.0290480572997681E-3</c:v>
              </c:pt>
              <c:pt idx="55">
                <c:v>1.3411188734903778E-3</c:v>
              </c:pt>
              <c:pt idx="56">
                <c:v>8.7268269504576015E-4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CF65-EE46-A315-54E7954532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Standard Normal z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E7184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6EE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5E7184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>
        <a:alpha val="0"/>
      </a:srgbClr>
    </a:solidFill>
    <a:ln w="0">
      <a:solidFill>
        <a:srgbClr val="FFFFFF">
          <a:alpha val="0"/>
        </a:srgbClr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0A412B0-3A32-4D2D-AD77-85356E22FC30}"/>
              </a:ext>
            </a:extLst>
          </p:cNvPr>
          <p:cNvSpPr>
            <a:spLocks noGrp="1"/>
          </p:cNvSpPr>
          <p:nvPr/>
        </p:nvSpPr>
        <p:spPr>
          <a:xfrm>
            <a:off x="0" y="5962650"/>
            <a:ext cx="12192000" cy="8953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8DA91-42DB-4381-A698-FA294375F8E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AAI 500  ·  WEEK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9902C-7649-4992-8EE1-5404FB47815E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7429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Inferential Statistics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1D744-04E7-4EE0-B66F-76B19489924E}"/>
              </a:ext>
            </a:extLst>
          </p:cNvPr>
          <p:cNvSpPr>
            <a:spLocks noGrp="1"/>
          </p:cNvSpPr>
          <p:nvPr/>
        </p:nvSpPr>
        <p:spPr>
          <a:xfrm>
            <a:off x="714375" y="3390900"/>
            <a:ext cx="7429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Confidence intervals · Bayesian intervals · Hypothesis tests · Chi-square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3E744-71DC-4CE1-BD41-C2A411FB708C}"/>
              </a:ext>
            </a:extLst>
          </p:cNvPr>
          <p:cNvSpPr>
            <a:spLocks noGrp="1"/>
          </p:cNvSpPr>
          <p:nvPr/>
        </p:nvSpPr>
        <p:spPr>
          <a:xfrm>
            <a:off x="714375" y="409575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Daniel Smith, PhD, MBA  | 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BBA6D-B39D-4907-8169-ADF3A468962B}"/>
              </a:ext>
            </a:extLst>
          </p:cNvPr>
          <p:cNvSpPr>
            <a:spLocks noGrp="1"/>
          </p:cNvSpPr>
          <p:nvPr/>
        </p:nvSpPr>
        <p:spPr>
          <a:xfrm>
            <a:off x="8858250" y="590550"/>
            <a:ext cx="20955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741"/>
          </a:bodyPr>
          <a:lstStyle/>
          <a:p>
            <a:pPr algn="ctr">
              <a:buNone/>
              <a:defRPr sz="135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35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FD635-85D3-4890-94F6-83AD336CA983}"/>
              </a:ext>
            </a:extLst>
          </p:cNvPr>
          <p:cNvSpPr>
            <a:spLocks noGrp="1"/>
          </p:cNvSpPr>
          <p:nvPr/>
        </p:nvSpPr>
        <p:spPr>
          <a:xfrm>
            <a:off x="7886700" y="3524250"/>
            <a:ext cx="323850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41926-7E8A-41C9-B301-5366636B58C2}"/>
              </a:ext>
            </a:extLst>
          </p:cNvPr>
          <p:cNvSpPr>
            <a:spLocks noGrp="1"/>
          </p:cNvSpPr>
          <p:nvPr/>
        </p:nvSpPr>
        <p:spPr>
          <a:xfrm>
            <a:off x="9505950" y="3390900"/>
            <a:ext cx="19050" cy="285750"/>
          </a:xfrm>
          <a:prstGeom prst="rect">
            <a:avLst/>
          </a:prstGeom>
          <a:solidFill>
            <a:srgbClr val="7E7E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E3386-0D38-46FD-B7AD-07BBC4336270}"/>
              </a:ext>
            </a:extLst>
          </p:cNvPr>
          <p:cNvSpPr>
            <a:spLocks noGrp="1"/>
          </p:cNvSpPr>
          <p:nvPr/>
        </p:nvSpPr>
        <p:spPr>
          <a:xfrm>
            <a:off x="9182100" y="3505200"/>
            <a:ext cx="1943100" cy="5715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C0FAD7-C6C6-4EDA-95EA-24EDEC5674D1}"/>
              </a:ext>
            </a:extLst>
          </p:cNvPr>
          <p:cNvSpPr>
            <a:spLocks noGrp="1"/>
          </p:cNvSpPr>
          <p:nvPr/>
        </p:nvSpPr>
        <p:spPr>
          <a:xfrm>
            <a:off x="9172575" y="343852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9E76E-D353-453C-83B2-4409A890EF2E}"/>
              </a:ext>
            </a:extLst>
          </p:cNvPr>
          <p:cNvSpPr>
            <a:spLocks noGrp="1"/>
          </p:cNvSpPr>
          <p:nvPr/>
        </p:nvSpPr>
        <p:spPr>
          <a:xfrm>
            <a:off x="11115675" y="343852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05A7F3-78D0-41F9-BF72-B16986F5D326}"/>
              </a:ext>
            </a:extLst>
          </p:cNvPr>
          <p:cNvSpPr>
            <a:spLocks noGrp="1"/>
          </p:cNvSpPr>
          <p:nvPr/>
        </p:nvSpPr>
        <p:spPr>
          <a:xfrm>
            <a:off x="10096500" y="3467100"/>
            <a:ext cx="114300" cy="1143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D0127-8087-43A0-87BC-C844DF249968}"/>
              </a:ext>
            </a:extLst>
          </p:cNvPr>
          <p:cNvSpPr>
            <a:spLocks noGrp="1"/>
          </p:cNvSpPr>
          <p:nvPr/>
        </p:nvSpPr>
        <p:spPr>
          <a:xfrm>
            <a:off x="7772400" y="36385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−2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A4D58B-EBA1-46F1-8B4D-C517E20B049B}"/>
              </a:ext>
            </a:extLst>
          </p:cNvPr>
          <p:cNvSpPr>
            <a:spLocks noGrp="1"/>
          </p:cNvSpPr>
          <p:nvPr/>
        </p:nvSpPr>
        <p:spPr>
          <a:xfrm>
            <a:off x="10668000" y="36385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+2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6FEB7-E48B-40C3-8040-A1A54E82D346}"/>
              </a:ext>
            </a:extLst>
          </p:cNvPr>
          <p:cNvSpPr>
            <a:spLocks noGrp="1"/>
          </p:cNvSpPr>
          <p:nvPr/>
        </p:nvSpPr>
        <p:spPr>
          <a:xfrm>
            <a:off x="7581900" y="4171950"/>
            <a:ext cx="3905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An estimate matters. Its uncertainty decides what the evidence can support.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34500" y="6184442"/>
            <a:ext cx="2266950" cy="52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OPENING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A5F082-3546-430A-9286-6C6E7A33C66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72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Model B is 0.8 points higher—but is that enough evidence?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7276F9-5499-4349-8D86-30B78BD6A508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095750" cy="3238500"/>
          </a:xfrm>
          <a:prstGeom prst="roundRect">
            <a:avLst>
              <a:gd name="adj" fmla="val 588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EEC3E1-2F45-440C-9A48-A189B0341C8D}"/>
              </a:ext>
            </a:extLst>
          </p:cNvPr>
          <p:cNvSpPr>
            <a:spLocks noGrp="1"/>
          </p:cNvSpPr>
          <p:nvPr/>
        </p:nvSpPr>
        <p:spPr>
          <a:xfrm>
            <a:off x="1047750" y="18478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2695"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Illustrative paired-validation 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DBC84C-2290-4955-A495-34B1B56404B6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Model 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942E65-6C46-4386-BF4B-FACCDC3A64A7}"/>
              </a:ext>
            </a:extLst>
          </p:cNvPr>
          <p:cNvSpPr>
            <a:spLocks noGrp="1"/>
          </p:cNvSpPr>
          <p:nvPr/>
        </p:nvSpPr>
        <p:spPr>
          <a:xfrm>
            <a:off x="2762250" y="2438400"/>
            <a:ext cx="1619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9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84.6%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4CF7B9-0A24-4E1D-9D0A-EABDAF4E1A23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Model 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2998A6-DE6F-4417-90DE-27AD6D188CB6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1619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9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9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85.4%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3E7179-8081-43EF-BA8B-C8C6291F1FEE}"/>
              </a:ext>
            </a:extLst>
          </p:cNvPr>
          <p:cNvSpPr>
            <a:spLocks noGrp="1"/>
          </p:cNvSpPr>
          <p:nvPr/>
        </p:nvSpPr>
        <p:spPr>
          <a:xfrm>
            <a:off x="1085850" y="4267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+0.8 percentage points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89C321-7A8C-4883-9998-F6BA2DF75EDB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Difference: Model B − Model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091E39-1683-442C-8DDD-EF556C029FCB}"/>
              </a:ext>
            </a:extLst>
          </p:cNvPr>
          <p:cNvSpPr>
            <a:spLocks noGrp="1"/>
          </p:cNvSpPr>
          <p:nvPr/>
        </p:nvSpPr>
        <p:spPr>
          <a:xfrm>
            <a:off x="5810250" y="2895600"/>
            <a:ext cx="495300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CE884F-7C41-49D2-A003-9D319D206B9B}"/>
              </a:ext>
            </a:extLst>
          </p:cNvPr>
          <p:cNvSpPr>
            <a:spLocks noGrp="1"/>
          </p:cNvSpPr>
          <p:nvPr/>
        </p:nvSpPr>
        <p:spPr>
          <a:xfrm>
            <a:off x="8286750" y="2762250"/>
            <a:ext cx="19050" cy="285750"/>
          </a:xfrm>
          <a:prstGeom prst="rect">
            <a:avLst/>
          </a:prstGeom>
          <a:solidFill>
            <a:srgbClr val="7E7E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77BD1B-10EF-48D8-9E54-C21AF8950D05}"/>
              </a:ext>
            </a:extLst>
          </p:cNvPr>
          <p:cNvSpPr>
            <a:spLocks noGrp="1"/>
          </p:cNvSpPr>
          <p:nvPr/>
        </p:nvSpPr>
        <p:spPr>
          <a:xfrm>
            <a:off x="7791450" y="2876550"/>
            <a:ext cx="2971800" cy="5715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6D920D-82F2-4B49-BE3A-BABA4897E21B}"/>
              </a:ext>
            </a:extLst>
          </p:cNvPr>
          <p:cNvSpPr>
            <a:spLocks noGrp="1"/>
          </p:cNvSpPr>
          <p:nvPr/>
        </p:nvSpPr>
        <p:spPr>
          <a:xfrm>
            <a:off x="7781925" y="2809875"/>
            <a:ext cx="19050" cy="1905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000E1F-F12D-43FE-997C-69B81B8C0021}"/>
              </a:ext>
            </a:extLst>
          </p:cNvPr>
          <p:cNvSpPr>
            <a:spLocks noGrp="1"/>
          </p:cNvSpPr>
          <p:nvPr/>
        </p:nvSpPr>
        <p:spPr>
          <a:xfrm>
            <a:off x="10753725" y="2809875"/>
            <a:ext cx="19050" cy="1905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EB791-8FB8-485D-BDA1-3D1606BC36B4}"/>
              </a:ext>
            </a:extLst>
          </p:cNvPr>
          <p:cNvSpPr>
            <a:spLocks noGrp="1"/>
          </p:cNvSpPr>
          <p:nvPr/>
        </p:nvSpPr>
        <p:spPr>
          <a:xfrm>
            <a:off x="9220200" y="2838450"/>
            <a:ext cx="114300" cy="1143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064FD4-3299-47D4-AF33-6D63937983C5}"/>
              </a:ext>
            </a:extLst>
          </p:cNvPr>
          <p:cNvSpPr>
            <a:spLocks noGrp="1"/>
          </p:cNvSpPr>
          <p:nvPr/>
        </p:nvSpPr>
        <p:spPr>
          <a:xfrm>
            <a:off x="5810250" y="2552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95% CI: −0.4 to +2.0 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A64EFD-EB9B-4DF3-A318-981302BD1054}"/>
              </a:ext>
            </a:extLst>
          </p:cNvPr>
          <p:cNvSpPr>
            <a:spLocks noGrp="1"/>
          </p:cNvSpPr>
          <p:nvPr/>
        </p:nvSpPr>
        <p:spPr>
          <a:xfrm>
            <a:off x="5695950" y="30099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−2 pp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70743B-B0C4-43A8-AC26-788CD4D35B6E}"/>
              </a:ext>
            </a:extLst>
          </p:cNvPr>
          <p:cNvSpPr>
            <a:spLocks noGrp="1"/>
          </p:cNvSpPr>
          <p:nvPr/>
        </p:nvSpPr>
        <p:spPr>
          <a:xfrm>
            <a:off x="10306050" y="30099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+2 pp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C20F15-16E4-4A32-B8F8-43E9CC6AFCC2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556"/>
          </a:bodyPr>
          <a:lstStyle/>
          <a:p>
            <a:pPr algn="ctr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interval includes 0.</a:t>
            </a:r>
          </a:p>
          <a:p>
            <a:pPr algn="ctr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That does not prove the models are equivalent.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4C0211D-3FBD-42D1-A7DC-AAC0031ABD74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258C72-940F-4EDE-A063-BB2337BFE8B1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Decision question: how much lift is worth deployment cost and risk?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5F1220A-5A6F-4B8A-A45D-470D2F69F1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DB7F61-0ACB-4D6F-B18D-156B78963A0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8E741C-A0A5-4FD1-BC0C-034429E6EDE6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D0930-4FAA-4286-9920-2644942D0F42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50B04-1EA3-47E5-952C-48482CCF9B61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DCF79F-3EF3-4BDC-9535-CE5CDD24C3C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OUTCOMES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7949C-7595-4ABE-B3BB-C664EB05CD7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8B4C1-C694-4960-9A3C-9E067C71380A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988106-118B-4E3A-8925-40B2CC93DFB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ED939E-69C7-4315-B29A-858F315AC06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19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By the end of Module 4, you can quantify and test uncertainty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465B9C-E69E-46E0-BB4F-CDA45C102589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704850" cy="7048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9DC52-13E5-414C-8F03-B0D907ABC8F6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704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E95A83-531B-4C5B-967C-2AC923325376}"/>
              </a:ext>
            </a:extLst>
          </p:cNvPr>
          <p:cNvSpPr>
            <a:spLocks noGrp="1"/>
          </p:cNvSpPr>
          <p:nvPr/>
        </p:nvSpPr>
        <p:spPr>
          <a:xfrm>
            <a:off x="1924050" y="1676400"/>
            <a:ext cx="8858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Construct confidence intervals around a sample mean in a Normal population.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AC882B-3393-4973-8161-968D5D324D34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704850" cy="70485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60E4C-9BB5-46F8-A855-A67344A89BF0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704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B1E70-2475-4BE9-AF02-5A1D4BAF9AEF}"/>
              </a:ext>
            </a:extLst>
          </p:cNvPr>
          <p:cNvSpPr>
            <a:spLocks noGrp="1"/>
          </p:cNvSpPr>
          <p:nvPr/>
        </p:nvSpPr>
        <p:spPr>
          <a:xfrm>
            <a:off x="1924050" y="2857500"/>
            <a:ext cx="8858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Construct Bayesian credible and predictive intervals from a probability model.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11FF49-B42E-4EA9-AA72-0D9FE8E815EA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704850" cy="7048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4CF300-9C41-4524-A22D-91A34AFEF63E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704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32FABD-9E67-4D7D-BA74-04896E6AFAD1}"/>
              </a:ext>
            </a:extLst>
          </p:cNvPr>
          <p:cNvSpPr>
            <a:spLocks noGrp="1"/>
          </p:cNvSpPr>
          <p:nvPr/>
        </p:nvSpPr>
        <p:spPr>
          <a:xfrm>
            <a:off x="1924050" y="4038600"/>
            <a:ext cx="8858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20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Perform significance tests in Python for means, proportions, and categorical association.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C59528F-0F87-4132-BABC-15A3376467AA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19FB0-0A62-4F7B-A1D4-37D1572F80FE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459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Professional standard: report the estimate, uncertainty, assumptions, and context—not only a threshold.</a:t>
            </a:r>
          </a:p>
        </p:txBody>
      </p:sp>
    </p:spTree>
    <p:extLst>
      <p:ext uri="{BB962C8B-B14F-4D97-AF65-F5344CB8AC3E}">
        <p14:creationId xmlns:p14="http://schemas.microsoft.com/office/powerpoint/2010/main" val="199776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10A6420-4E0C-49C2-82B3-ED0BD34B29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B5A63C-5B7A-4338-8877-89C3023C0D9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B0E5B-C9A2-4C70-A187-2E4A7863BA48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90A8B-21AF-484A-899D-DCFE19997079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5ECE7-0EE8-4995-A515-AA365A88F24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43FD81-E298-4048-96C0-DC7036054EF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98FB14-9013-49C5-B671-539F7FC6317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353368-FE36-482D-89BB-DEB41C22D30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D687E-D9AB-49D0-87D8-9962364DC77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FD5453-2C3A-4A24-99F6-524480960AE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98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One workflow connects estimation, intervals, and decisions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DD2834-DC54-48A9-9B3F-210AB98D0121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400300" cy="2781300"/>
          </a:xfrm>
          <a:prstGeom prst="roundRect">
            <a:avLst>
              <a:gd name="adj" fmla="val 7143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7B92D6-6767-4679-ADA1-748A808C8F62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76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F225B-D6D0-485C-BB66-EE9E1E91E3C9}"/>
              </a:ext>
            </a:extLst>
          </p:cNvPr>
          <p:cNvSpPr>
            <a:spLocks noGrp="1"/>
          </p:cNvSpPr>
          <p:nvPr/>
        </p:nvSpPr>
        <p:spPr>
          <a:xfrm>
            <a:off x="933450" y="27051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Estimate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9C203-6D7C-4CA4-AD2B-1C3E4E015688}"/>
              </a:ext>
            </a:extLst>
          </p:cNvPr>
          <p:cNvSpPr>
            <a:spLocks noGrp="1"/>
          </p:cNvSpPr>
          <p:nvPr/>
        </p:nvSpPr>
        <p:spPr>
          <a:xfrm>
            <a:off x="933450" y="3333750"/>
            <a:ext cx="1943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Name the parameter and compute a statistic.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4B427A-7517-4C47-AD26-E862774B6030}"/>
              </a:ext>
            </a:extLst>
          </p:cNvPr>
          <p:cNvSpPr>
            <a:spLocks noGrp="1"/>
          </p:cNvSpPr>
          <p:nvPr/>
        </p:nvSpPr>
        <p:spPr>
          <a:xfrm>
            <a:off x="3505200" y="1790700"/>
            <a:ext cx="2400300" cy="2781300"/>
          </a:xfrm>
          <a:prstGeom prst="roundRect">
            <a:avLst>
              <a:gd name="adj" fmla="val 7143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222074-21DE-4908-88DA-C28921BA0585}"/>
              </a:ext>
            </a:extLst>
          </p:cNvPr>
          <p:cNvSpPr>
            <a:spLocks noGrp="1"/>
          </p:cNvSpPr>
          <p:nvPr/>
        </p:nvSpPr>
        <p:spPr>
          <a:xfrm>
            <a:off x="3714750" y="1943100"/>
            <a:ext cx="76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00A4B3"/>
                </a:solidFill>
                <a:latin typeface="Sofia Sans Extra Condensed"/>
                <a:ea typeface="Sofia Sans Extra Condensed"/>
                <a:cs typeface="Sofia Sans Extra Condensed"/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80E815-3637-4CE9-AA27-B0C90C92B274}"/>
              </a:ext>
            </a:extLst>
          </p:cNvPr>
          <p:cNvSpPr>
            <a:spLocks noGrp="1"/>
          </p:cNvSpPr>
          <p:nvPr/>
        </p:nvSpPr>
        <p:spPr>
          <a:xfrm>
            <a:off x="3733800" y="27051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Quantify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90137B-2411-4C9D-98C7-4FA68BB64598}"/>
              </a:ext>
            </a:extLst>
          </p:cNvPr>
          <p:cNvSpPr>
            <a:spLocks noGrp="1"/>
          </p:cNvSpPr>
          <p:nvPr/>
        </p:nvSpPr>
        <p:spPr>
          <a:xfrm>
            <a:off x="3733800" y="3333750"/>
            <a:ext cx="1943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SE and an interval matched to the target.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1CD6B2C-334A-4244-89AC-AC6CC06A16CB}"/>
              </a:ext>
            </a:extLst>
          </p:cNvPr>
          <p:cNvSpPr>
            <a:spLocks noGrp="1"/>
          </p:cNvSpPr>
          <p:nvPr/>
        </p:nvSpPr>
        <p:spPr>
          <a:xfrm>
            <a:off x="6305550" y="1790700"/>
            <a:ext cx="2400300" cy="2781300"/>
          </a:xfrm>
          <a:prstGeom prst="roundRect">
            <a:avLst>
              <a:gd name="adj" fmla="val 7143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9C5128-068E-42B6-BCE3-13C441EEE3AE}"/>
              </a:ext>
            </a:extLst>
          </p:cNvPr>
          <p:cNvSpPr>
            <a:spLocks noGrp="1"/>
          </p:cNvSpPr>
          <p:nvPr/>
        </p:nvSpPr>
        <p:spPr>
          <a:xfrm>
            <a:off x="6515100" y="1943100"/>
            <a:ext cx="76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EAEB0B-00FF-4DDD-9C8F-6FD8E4D83C5C}"/>
              </a:ext>
            </a:extLst>
          </p:cNvPr>
          <p:cNvSpPr>
            <a:spLocks noGrp="1"/>
          </p:cNvSpPr>
          <p:nvPr/>
        </p:nvSpPr>
        <p:spPr>
          <a:xfrm>
            <a:off x="6534150" y="27051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Test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D1CAEE-9B3B-48D4-BDF8-53795F1AE0EF}"/>
              </a:ext>
            </a:extLst>
          </p:cNvPr>
          <p:cNvSpPr>
            <a:spLocks noGrp="1"/>
          </p:cNvSpPr>
          <p:nvPr/>
        </p:nvSpPr>
        <p:spPr>
          <a:xfrm>
            <a:off x="6534150" y="3333750"/>
            <a:ext cx="1943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Compare the data with a clearly stated null model.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DAC2301-FF7D-4337-B98C-72DAC76E02C0}"/>
              </a:ext>
            </a:extLst>
          </p:cNvPr>
          <p:cNvSpPr>
            <a:spLocks noGrp="1"/>
          </p:cNvSpPr>
          <p:nvPr/>
        </p:nvSpPr>
        <p:spPr>
          <a:xfrm>
            <a:off x="9105900" y="1790700"/>
            <a:ext cx="2400300" cy="2781300"/>
          </a:xfrm>
          <a:prstGeom prst="roundRect">
            <a:avLst>
              <a:gd name="adj" fmla="val 7143"/>
            </a:avLst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0CDFA4-A705-4AF1-B60D-5E499B765BC2}"/>
              </a:ext>
            </a:extLst>
          </p:cNvPr>
          <p:cNvSpPr>
            <a:spLocks noGrp="1"/>
          </p:cNvSpPr>
          <p:nvPr/>
        </p:nvSpPr>
        <p:spPr>
          <a:xfrm>
            <a:off x="9315450" y="1943100"/>
            <a:ext cx="76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20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20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B8AEC-6513-4E92-A7B4-56F65073C05A}"/>
              </a:ext>
            </a:extLst>
          </p:cNvPr>
          <p:cNvSpPr>
            <a:spLocks noGrp="1"/>
          </p:cNvSpPr>
          <p:nvPr/>
        </p:nvSpPr>
        <p:spPr>
          <a:xfrm>
            <a:off x="9334500" y="270510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l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B1DB8D-3524-444C-9C6B-C730758A95F1}"/>
              </a:ext>
            </a:extLst>
          </p:cNvPr>
          <p:cNvSpPr>
            <a:spLocks noGrp="1"/>
          </p:cNvSpPr>
          <p:nvPr/>
        </p:nvSpPr>
        <p:spPr>
          <a:xfrm>
            <a:off x="9334500" y="3333750"/>
            <a:ext cx="19431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Combine effect size, interval, p-value, and limitations.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3038387-145E-4A03-837F-2A2B7E04EC50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200247-3005-466A-95A5-9F8AE859FF7B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Every inferential result is conditional on the design and model that produced it.</a:t>
            </a:r>
          </a:p>
        </p:txBody>
      </p:sp>
    </p:spTree>
    <p:extLst>
      <p:ext uri="{BB962C8B-B14F-4D97-AF65-F5344CB8AC3E}">
        <p14:creationId xmlns:p14="http://schemas.microsoft.com/office/powerpoint/2010/main" val="86597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4AF1321-58D1-4A58-9AD3-CDFDA1795D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468B4-BA59-48D6-B91F-B96A38EDED5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62C8C-79DD-4899-B989-7403B1B6E666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7391C-AA6D-4081-AB56-5412811A849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930CF-CA12-41C3-8128-BADDCE038C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1E462-8235-4D9A-8866-AD280156EB9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CH4–5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935D76-2FBB-4E6F-9AA2-742701BA668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5A068-ABEB-4391-B049-31836A0083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8767C-1442-4291-B15E-91D064767BF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994FA2-07C2-49FD-AE4B-2A56D882816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38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Chapters 4–5 connect estimation, uncertainty, and 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58C1A-506A-4B98-B7BE-9903A21F8C75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4707331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DDB062-ADB5-438A-91FB-ECD960D2CC59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23944-1521-4660-B808-F539D05D4D27}"/>
              </a:ext>
            </a:extLst>
          </p:cNvPr>
          <p:cNvSpPr>
            <a:spLocks noGrp="1"/>
          </p:cNvSpPr>
          <p:nvPr/>
        </p:nvSpPr>
        <p:spPr>
          <a:xfrm>
            <a:off x="5355031" y="1562100"/>
            <a:ext cx="2004974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24DD1-5A82-4655-85FD-54A6B294709F}"/>
              </a:ext>
            </a:extLst>
          </p:cNvPr>
          <p:cNvSpPr>
            <a:spLocks noGrp="1"/>
          </p:cNvSpPr>
          <p:nvPr/>
        </p:nvSpPr>
        <p:spPr>
          <a:xfrm>
            <a:off x="5412181" y="159067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Textbook chapter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0B4D3-FBCF-4129-9388-BAA36285935A}"/>
              </a:ext>
            </a:extLst>
          </p:cNvPr>
          <p:cNvSpPr>
            <a:spLocks noGrp="1"/>
          </p:cNvSpPr>
          <p:nvPr/>
        </p:nvSpPr>
        <p:spPr>
          <a:xfrm>
            <a:off x="7360006" y="1562100"/>
            <a:ext cx="4184294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71D18-5EEB-45E2-AF94-9A84893482FB}"/>
              </a:ext>
            </a:extLst>
          </p:cNvPr>
          <p:cNvSpPr>
            <a:spLocks noGrp="1"/>
          </p:cNvSpPr>
          <p:nvPr/>
        </p:nvSpPr>
        <p:spPr>
          <a:xfrm>
            <a:off x="7417156" y="159067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Core language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C1D7E-244A-4E8B-B3B4-9C6918A2B918}"/>
              </a:ext>
            </a:extLst>
          </p:cNvPr>
          <p:cNvSpPr>
            <a:spLocks noGrp="1"/>
          </p:cNvSpPr>
          <p:nvPr/>
        </p:nvSpPr>
        <p:spPr>
          <a:xfrm>
            <a:off x="647700" y="2263140"/>
            <a:ext cx="4707331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EFE4A4-4514-42BC-95A1-EEFAF7A244C5}"/>
              </a:ext>
            </a:extLst>
          </p:cNvPr>
          <p:cNvSpPr>
            <a:spLocks noGrp="1"/>
          </p:cNvSpPr>
          <p:nvPr/>
        </p:nvSpPr>
        <p:spPr>
          <a:xfrm>
            <a:off x="704850" y="229171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do we estimate a population parameter?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5DB677-E807-43B0-852C-C4DB711F172F}"/>
              </a:ext>
            </a:extLst>
          </p:cNvPr>
          <p:cNvSpPr>
            <a:spLocks noGrp="1"/>
          </p:cNvSpPr>
          <p:nvPr/>
        </p:nvSpPr>
        <p:spPr>
          <a:xfrm>
            <a:off x="5355031" y="2263140"/>
            <a:ext cx="200497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5E2CAC-A4BC-4355-8429-C0F95F7AFEE1}"/>
              </a:ext>
            </a:extLst>
          </p:cNvPr>
          <p:cNvSpPr>
            <a:spLocks noGrp="1"/>
          </p:cNvSpPr>
          <p:nvPr/>
        </p:nvSpPr>
        <p:spPr>
          <a:xfrm>
            <a:off x="5412181" y="229171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Chapter 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C8FDB4-5FAF-42ED-8151-5DC950AA13F3}"/>
              </a:ext>
            </a:extLst>
          </p:cNvPr>
          <p:cNvSpPr>
            <a:spLocks noGrp="1"/>
          </p:cNvSpPr>
          <p:nvPr/>
        </p:nvSpPr>
        <p:spPr>
          <a:xfrm>
            <a:off x="7360006" y="2263140"/>
            <a:ext cx="418429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2518BA-8222-40E2-8485-7BAF1E2D7B32}"/>
              </a:ext>
            </a:extLst>
          </p:cNvPr>
          <p:cNvSpPr>
            <a:spLocks noGrp="1"/>
          </p:cNvSpPr>
          <p:nvPr/>
        </p:nvSpPr>
        <p:spPr>
          <a:xfrm>
            <a:off x="7417156" y="229171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point estimate • standard error • confidence interval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FC5C31-78CA-4A5A-8B2D-BD775574B56D}"/>
              </a:ext>
            </a:extLst>
          </p:cNvPr>
          <p:cNvSpPr>
            <a:spLocks noGrp="1"/>
          </p:cNvSpPr>
          <p:nvPr/>
        </p:nvSpPr>
        <p:spPr>
          <a:xfrm>
            <a:off x="647700" y="2964180"/>
            <a:ext cx="4707331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35D0A8-483C-4156-BE2E-0270EF7F9B1F}"/>
              </a:ext>
            </a:extLst>
          </p:cNvPr>
          <p:cNvSpPr>
            <a:spLocks noGrp="1"/>
          </p:cNvSpPr>
          <p:nvPr/>
        </p:nvSpPr>
        <p:spPr>
          <a:xfrm>
            <a:off x="704850" y="299275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do we compare populations or groups?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3B0BF4-0607-4C6C-BD13-28DA27C66FD0}"/>
              </a:ext>
            </a:extLst>
          </p:cNvPr>
          <p:cNvSpPr>
            <a:spLocks noGrp="1"/>
          </p:cNvSpPr>
          <p:nvPr/>
        </p:nvSpPr>
        <p:spPr>
          <a:xfrm>
            <a:off x="5355031" y="2964180"/>
            <a:ext cx="200497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505D04-B914-4238-AF0C-D18AF7F4AEB3}"/>
              </a:ext>
            </a:extLst>
          </p:cNvPr>
          <p:cNvSpPr>
            <a:spLocks noGrp="1"/>
          </p:cNvSpPr>
          <p:nvPr/>
        </p:nvSpPr>
        <p:spPr>
          <a:xfrm>
            <a:off x="5412181" y="299275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Chapter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5B0617-A983-4ABA-9856-832C4FD8167A}"/>
              </a:ext>
            </a:extLst>
          </p:cNvPr>
          <p:cNvSpPr>
            <a:spLocks noGrp="1"/>
          </p:cNvSpPr>
          <p:nvPr/>
        </p:nvSpPr>
        <p:spPr>
          <a:xfrm>
            <a:off x="7360006" y="2964180"/>
            <a:ext cx="418429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5D4627-7642-4CF6-B29E-ADF45BA9E3AE}"/>
              </a:ext>
            </a:extLst>
          </p:cNvPr>
          <p:cNvSpPr>
            <a:spLocks noGrp="1"/>
          </p:cNvSpPr>
          <p:nvPr/>
        </p:nvSpPr>
        <p:spPr>
          <a:xfrm>
            <a:off x="7417156" y="299275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difference or ratio • interval target • design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B7057D-86E3-4CDF-93CE-DA05D69EB2EE}"/>
              </a:ext>
            </a:extLst>
          </p:cNvPr>
          <p:cNvSpPr>
            <a:spLocks noGrp="1"/>
          </p:cNvSpPr>
          <p:nvPr/>
        </p:nvSpPr>
        <p:spPr>
          <a:xfrm>
            <a:off x="647700" y="3665220"/>
            <a:ext cx="4707331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7F1B3D-C93E-4B0A-9EC4-EB7CA38F0DF1}"/>
              </a:ext>
            </a:extLst>
          </p:cNvPr>
          <p:cNvSpPr>
            <a:spLocks noGrp="1"/>
          </p:cNvSpPr>
          <p:nvPr/>
        </p:nvSpPr>
        <p:spPr>
          <a:xfrm>
            <a:off x="704850" y="369379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do we test a claim?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464702-A546-4A3C-BDC9-5B549EF4B18C}"/>
              </a:ext>
            </a:extLst>
          </p:cNvPr>
          <p:cNvSpPr>
            <a:spLocks noGrp="1"/>
          </p:cNvSpPr>
          <p:nvPr/>
        </p:nvSpPr>
        <p:spPr>
          <a:xfrm>
            <a:off x="5355031" y="3665220"/>
            <a:ext cx="200497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EF26AD-1C64-4B4D-8479-F0E40FBA7CD6}"/>
              </a:ext>
            </a:extLst>
          </p:cNvPr>
          <p:cNvSpPr>
            <a:spLocks noGrp="1"/>
          </p:cNvSpPr>
          <p:nvPr/>
        </p:nvSpPr>
        <p:spPr>
          <a:xfrm>
            <a:off x="5412181" y="369379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Chapter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121216-1471-4BC1-A8D8-05829BA78166}"/>
              </a:ext>
            </a:extLst>
          </p:cNvPr>
          <p:cNvSpPr>
            <a:spLocks noGrp="1"/>
          </p:cNvSpPr>
          <p:nvPr/>
        </p:nvSpPr>
        <p:spPr>
          <a:xfrm>
            <a:off x="7360006" y="3665220"/>
            <a:ext cx="418429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0C4560-B1E4-4295-BA69-D13E0E1B51A7}"/>
              </a:ext>
            </a:extLst>
          </p:cNvPr>
          <p:cNvSpPr>
            <a:spLocks noGrp="1"/>
          </p:cNvSpPr>
          <p:nvPr/>
        </p:nvSpPr>
        <p:spPr>
          <a:xfrm>
            <a:off x="7417156" y="369379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H₀ • Hₐ • test statistic • p-value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882C47-8F13-424E-962C-C93366C2FA26}"/>
              </a:ext>
            </a:extLst>
          </p:cNvPr>
          <p:cNvSpPr>
            <a:spLocks noGrp="1"/>
          </p:cNvSpPr>
          <p:nvPr/>
        </p:nvSpPr>
        <p:spPr>
          <a:xfrm>
            <a:off x="647700" y="4366260"/>
            <a:ext cx="4707331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DB1D19-54E7-4707-A59F-A613F12CA799}"/>
              </a:ext>
            </a:extLst>
          </p:cNvPr>
          <p:cNvSpPr>
            <a:spLocks noGrp="1"/>
          </p:cNvSpPr>
          <p:nvPr/>
        </p:nvSpPr>
        <p:spPr>
          <a:xfrm>
            <a:off x="704850" y="439483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do we interpret a result?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69A270-9EFE-490A-BFCB-345F640AB9C9}"/>
              </a:ext>
            </a:extLst>
          </p:cNvPr>
          <p:cNvSpPr>
            <a:spLocks noGrp="1"/>
          </p:cNvSpPr>
          <p:nvPr/>
        </p:nvSpPr>
        <p:spPr>
          <a:xfrm>
            <a:off x="5355031" y="4366260"/>
            <a:ext cx="200497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E76437-FF5A-43E9-A261-6BBA88764244}"/>
              </a:ext>
            </a:extLst>
          </p:cNvPr>
          <p:cNvSpPr>
            <a:spLocks noGrp="1"/>
          </p:cNvSpPr>
          <p:nvPr/>
        </p:nvSpPr>
        <p:spPr>
          <a:xfrm>
            <a:off x="5412181" y="439483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Chapters 4–5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95E7A-2940-44FC-A7B5-1CB1775C631B}"/>
              </a:ext>
            </a:extLst>
          </p:cNvPr>
          <p:cNvSpPr>
            <a:spLocks noGrp="1"/>
          </p:cNvSpPr>
          <p:nvPr/>
        </p:nvSpPr>
        <p:spPr>
          <a:xfrm>
            <a:off x="7360006" y="4366260"/>
            <a:ext cx="418429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A31AFA-C33B-4EE4-A00C-272A2A05F840}"/>
              </a:ext>
            </a:extLst>
          </p:cNvPr>
          <p:cNvSpPr>
            <a:spLocks noGrp="1"/>
          </p:cNvSpPr>
          <p:nvPr/>
        </p:nvSpPr>
        <p:spPr>
          <a:xfrm>
            <a:off x="7417156" y="439483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effect size + uncertainty + assumptions + context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522BDF5-504E-4F54-99F7-E326397A915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D557BE-CEC4-4AC6-8CFC-84484A598F29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estimand and study design come before the software call.</a:t>
            </a:r>
          </a:p>
        </p:txBody>
      </p:sp>
    </p:spTree>
    <p:extLst>
      <p:ext uri="{BB962C8B-B14F-4D97-AF65-F5344CB8AC3E}">
        <p14:creationId xmlns:p14="http://schemas.microsoft.com/office/powerpoint/2010/main" val="10066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85A07-3F0D-45DF-87BF-EFCA6B63633E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69A40-3438-427B-8185-31C3F3F137C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61667-E833-4A3F-B6AA-7E4D4A2BCCC3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Estimation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ADDEE-8EB8-4808-B446-A41D3A820817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D1D0E-400F-427E-91BA-23B6D83E7500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point estimate is a claim about a population. A standard error and interval show how stable that claim would be under repetition.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39C74-662C-433D-8857-2C132142A23D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2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7ADEE91-EB0E-4B02-A25D-BF0DB840DA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FA77D-B554-47B4-B76A-1957C4217F89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E59AD-F1FC-40B3-A4AE-63CED49768A1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BAD44-8D65-4BF1-81C5-E49E761EF0C9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93E03-E5B2-4356-8301-9ABB3E6DC2A1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482B01-E020-4082-9CCC-E3F510D32EC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D31D9-84C3-4425-9425-0F3694C50C8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72B5C6-C4C6-4506-9D35-F6A71A2CF4D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55D67-4959-43AE-A7F5-9CF7D8CEDB4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5891F84-CE9E-4FAB-98BB-2CEE99FF3E1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52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point estimate locates; an interval communicates precision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9FD1BC-7FA2-4247-8A43-B5AB1EF2DC8E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4000500" cy="3009900"/>
          </a:xfrm>
          <a:prstGeom prst="roundRect">
            <a:avLst>
              <a:gd name="adj" fmla="val 696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685078-40A5-4F8A-A4B3-9445DF9369BE}"/>
              </a:ext>
            </a:extLst>
          </p:cNvPr>
          <p:cNvSpPr>
            <a:spLocks noGrp="1"/>
          </p:cNvSpPr>
          <p:nvPr/>
        </p:nvSpPr>
        <p:spPr>
          <a:xfrm>
            <a:off x="1181100" y="2000250"/>
            <a:ext cx="323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222"/>
          </a:bodyPr>
          <a:lstStyle/>
          <a:p>
            <a:pPr algn="ctr">
              <a:buNone/>
              <a:def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Point estimate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FCDE3D-55C1-470F-81B9-8C1BA658ED99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323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5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51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x̄ = 500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959BC-F33F-402C-A038-014B0E1815A4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6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One best estimate of μ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23AE9C5-0064-4907-9720-D170D5458297}"/>
              </a:ext>
            </a:extLst>
          </p:cNvPr>
          <p:cNvSpPr>
            <a:spLocks noGrp="1"/>
          </p:cNvSpPr>
          <p:nvPr/>
        </p:nvSpPr>
        <p:spPr>
          <a:xfrm>
            <a:off x="5467350" y="1676400"/>
            <a:ext cx="5905500" cy="3009900"/>
          </a:xfrm>
          <a:prstGeom prst="roundRect">
            <a:avLst>
              <a:gd name="adj" fmla="val 696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996E3D-8F5E-490A-9364-FFE9E25D90A0}"/>
              </a:ext>
            </a:extLst>
          </p:cNvPr>
          <p:cNvSpPr>
            <a:spLocks noGrp="1"/>
          </p:cNvSpPr>
          <p:nvPr/>
        </p:nvSpPr>
        <p:spPr>
          <a:xfrm>
            <a:off x="5962650" y="2000250"/>
            <a:ext cx="4914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222"/>
          </a:bodyPr>
          <a:lstStyle/>
          <a:p>
            <a:pPr algn="ctr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Interval estimate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FB0CA9-55C9-4880-AA4E-04E217A186D5}"/>
              </a:ext>
            </a:extLst>
          </p:cNvPr>
          <p:cNvSpPr>
            <a:spLocks noGrp="1"/>
          </p:cNvSpPr>
          <p:nvPr/>
        </p:nvSpPr>
        <p:spPr>
          <a:xfrm>
            <a:off x="6286500" y="3086100"/>
            <a:ext cx="428625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3A1F7F-F3E4-4D68-A179-2233E95C9FB2}"/>
              </a:ext>
            </a:extLst>
          </p:cNvPr>
          <p:cNvSpPr>
            <a:spLocks noGrp="1"/>
          </p:cNvSpPr>
          <p:nvPr/>
        </p:nvSpPr>
        <p:spPr>
          <a:xfrm>
            <a:off x="7709535" y="3067050"/>
            <a:ext cx="1440180" cy="5715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A2E212-F246-43FA-A6A6-271F03CDD972}"/>
              </a:ext>
            </a:extLst>
          </p:cNvPr>
          <p:cNvSpPr>
            <a:spLocks noGrp="1"/>
          </p:cNvSpPr>
          <p:nvPr/>
        </p:nvSpPr>
        <p:spPr>
          <a:xfrm>
            <a:off x="7700010" y="300037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8A93A2-F9FD-4A3F-BA11-8DE6324006C1}"/>
              </a:ext>
            </a:extLst>
          </p:cNvPr>
          <p:cNvSpPr>
            <a:spLocks noGrp="1"/>
          </p:cNvSpPr>
          <p:nvPr/>
        </p:nvSpPr>
        <p:spPr>
          <a:xfrm>
            <a:off x="9140190" y="300037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B6330C0-A143-4603-9BB7-BACA73360F21}"/>
              </a:ext>
            </a:extLst>
          </p:cNvPr>
          <p:cNvSpPr>
            <a:spLocks noGrp="1"/>
          </p:cNvSpPr>
          <p:nvPr/>
        </p:nvSpPr>
        <p:spPr>
          <a:xfrm>
            <a:off x="8372475" y="3028950"/>
            <a:ext cx="114300" cy="1143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7CB91B-FE36-4ADB-8912-0F3DA291371A}"/>
              </a:ext>
            </a:extLst>
          </p:cNvPr>
          <p:cNvSpPr>
            <a:spLocks noGrp="1"/>
          </p:cNvSpPr>
          <p:nvPr/>
        </p:nvSpPr>
        <p:spPr>
          <a:xfrm>
            <a:off x="6172200" y="32004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490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14D71-20FE-4B17-913F-DD3D002EB2D7}"/>
              </a:ext>
            </a:extLst>
          </p:cNvPr>
          <p:cNvSpPr>
            <a:spLocks noGrp="1"/>
          </p:cNvSpPr>
          <p:nvPr/>
        </p:nvSpPr>
        <p:spPr>
          <a:xfrm>
            <a:off x="10115550" y="32004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510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2C923E-6CCB-46C7-8B68-DC6F82FDD168}"/>
              </a:ext>
            </a:extLst>
          </p:cNvPr>
          <p:cNvSpPr>
            <a:spLocks noGrp="1"/>
          </p:cNvSpPr>
          <p:nvPr/>
        </p:nvSpPr>
        <p:spPr>
          <a:xfrm>
            <a:off x="6419850" y="3848100"/>
            <a:ext cx="401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95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95% CI: 496.64 to 503.36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C9A9817-75C1-4822-9755-6B9DAA06D75F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4BE20F-3024-4EC8-A48A-65073B498507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Precision is reflected by interval width: narrower intervals indicate greater precision.</a:t>
            </a:r>
          </a:p>
        </p:txBody>
      </p:sp>
    </p:spTree>
    <p:extLst>
      <p:ext uri="{BB962C8B-B14F-4D97-AF65-F5344CB8AC3E}">
        <p14:creationId xmlns:p14="http://schemas.microsoft.com/office/powerpoint/2010/main" val="179571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7C3177D-EBAF-45D3-ADCF-E10CE98FB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3F822A-BA41-4F9E-925F-F86196DCDB6A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E167C-F0D0-4BEF-AF06-418D652AF77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D6483-3DFA-4BE2-8A60-AB2F32B765B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D9D680-A560-49F5-9905-C5FA24E1B58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10F95-F612-4559-849D-3DE2E945855D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CDF75-EE76-4E50-AFEC-A41A90C6245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FF683-B243-4549-B261-DA2904764BB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F6CEA-2386-4963-BC1D-E1B10C8D46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C881B7-E00C-43D6-B43A-988E6B2C3A0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72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Keep the target, the calculation, and its uncertainty distinct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BDA796-3A32-459C-BD68-1F9C5CCFB03A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2519229" cy="5905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E5247D-1704-4631-867F-1C87680162E5}"/>
              </a:ext>
            </a:extLst>
          </p:cNvPr>
          <p:cNvSpPr>
            <a:spLocks noGrp="1"/>
          </p:cNvSpPr>
          <p:nvPr/>
        </p:nvSpPr>
        <p:spPr>
          <a:xfrm>
            <a:off x="762000" y="162877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D4777-98E4-41F2-8F50-29515DE73943}"/>
              </a:ext>
            </a:extLst>
          </p:cNvPr>
          <p:cNvSpPr>
            <a:spLocks noGrp="1"/>
          </p:cNvSpPr>
          <p:nvPr/>
        </p:nvSpPr>
        <p:spPr>
          <a:xfrm>
            <a:off x="3224079" y="1600200"/>
            <a:ext cx="2619998" cy="5905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845123-A87B-43DB-87E8-AB98D16FBB7D}"/>
              </a:ext>
            </a:extLst>
          </p:cNvPr>
          <p:cNvSpPr>
            <a:spLocks noGrp="1"/>
          </p:cNvSpPr>
          <p:nvPr/>
        </p:nvSpPr>
        <p:spPr>
          <a:xfrm>
            <a:off x="3281229" y="162877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Example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E082E3-71BF-4802-BC17-B51DDF08DBD9}"/>
              </a:ext>
            </a:extLst>
          </p:cNvPr>
          <p:cNvSpPr>
            <a:spLocks noGrp="1"/>
          </p:cNvSpPr>
          <p:nvPr/>
        </p:nvSpPr>
        <p:spPr>
          <a:xfrm>
            <a:off x="5844077" y="1600200"/>
            <a:ext cx="5643073" cy="59055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B2B93-151C-4F51-A54A-A630D77780A8}"/>
              </a:ext>
            </a:extLst>
          </p:cNvPr>
          <p:cNvSpPr>
            <a:spLocks noGrp="1"/>
          </p:cNvSpPr>
          <p:nvPr/>
        </p:nvSpPr>
        <p:spPr>
          <a:xfrm>
            <a:off x="5901227" y="162877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3C3B7A-D6B1-44D2-B6CA-4DCCC43F408F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2519229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D019A-CD32-4966-80B7-CF08E4C3DB12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Parameter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D8E142-BC8F-4ED3-BA39-15BA08E3E075}"/>
              </a:ext>
            </a:extLst>
          </p:cNvPr>
          <p:cNvSpPr>
            <a:spLocks noGrp="1"/>
          </p:cNvSpPr>
          <p:nvPr/>
        </p:nvSpPr>
        <p:spPr>
          <a:xfrm>
            <a:off x="3224079" y="2190750"/>
            <a:ext cx="2619998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761AEA-6F1A-407A-81FC-79B9F86BF73A}"/>
              </a:ext>
            </a:extLst>
          </p:cNvPr>
          <p:cNvSpPr>
            <a:spLocks noGrp="1"/>
          </p:cNvSpPr>
          <p:nvPr/>
        </p:nvSpPr>
        <p:spPr>
          <a:xfrm>
            <a:off x="3281229" y="221932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μ, π, μ₁ − μ₂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78D448-3CBA-446A-BBB3-D489D599CDEE}"/>
              </a:ext>
            </a:extLst>
          </p:cNvPr>
          <p:cNvSpPr>
            <a:spLocks noGrp="1"/>
          </p:cNvSpPr>
          <p:nvPr/>
        </p:nvSpPr>
        <p:spPr>
          <a:xfrm>
            <a:off x="5844077" y="2190750"/>
            <a:ext cx="5643073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79C083-D829-420A-A446-ABA9040A1931}"/>
              </a:ext>
            </a:extLst>
          </p:cNvPr>
          <p:cNvSpPr>
            <a:spLocks noGrp="1"/>
          </p:cNvSpPr>
          <p:nvPr/>
        </p:nvSpPr>
        <p:spPr>
          <a:xfrm>
            <a:off x="5901227" y="221932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Fixed but unknown population target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FEC14-A5ED-4219-B76A-72DA0CCA5E52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2519229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D7D91-B4AF-40B4-8944-3E1366BBD82F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779E46-DA07-45A2-84E1-7C81B36EDE8E}"/>
              </a:ext>
            </a:extLst>
          </p:cNvPr>
          <p:cNvSpPr>
            <a:spLocks noGrp="1"/>
          </p:cNvSpPr>
          <p:nvPr/>
        </p:nvSpPr>
        <p:spPr>
          <a:xfrm>
            <a:off x="3224079" y="2781300"/>
            <a:ext cx="2619998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9DFAB7-87D0-4376-A4CB-5D454D0EF555}"/>
              </a:ext>
            </a:extLst>
          </p:cNvPr>
          <p:cNvSpPr>
            <a:spLocks noGrp="1"/>
          </p:cNvSpPr>
          <p:nvPr/>
        </p:nvSpPr>
        <p:spPr>
          <a:xfrm>
            <a:off x="3281229" y="280987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x̄, p̂, x̄₁ − x̄₂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2D1AF6-A225-4CA5-8BC2-F5101A2FE5A6}"/>
              </a:ext>
            </a:extLst>
          </p:cNvPr>
          <p:cNvSpPr>
            <a:spLocks noGrp="1"/>
          </p:cNvSpPr>
          <p:nvPr/>
        </p:nvSpPr>
        <p:spPr>
          <a:xfrm>
            <a:off x="5844077" y="2781300"/>
            <a:ext cx="5643073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3B77ED-D0CF-49BC-9383-B85C62BA3E20}"/>
              </a:ext>
            </a:extLst>
          </p:cNvPr>
          <p:cNvSpPr>
            <a:spLocks noGrp="1"/>
          </p:cNvSpPr>
          <p:nvPr/>
        </p:nvSpPr>
        <p:spPr>
          <a:xfrm>
            <a:off x="5901227" y="280987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Rule applied to sample data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DFB43A-055C-4DE7-AA6F-634508B3516F}"/>
              </a:ext>
            </a:extLst>
          </p:cNvPr>
          <p:cNvSpPr>
            <a:spLocks noGrp="1"/>
          </p:cNvSpPr>
          <p:nvPr/>
        </p:nvSpPr>
        <p:spPr>
          <a:xfrm>
            <a:off x="704850" y="3371850"/>
            <a:ext cx="2519229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B847E7-C298-4545-8B49-86F6C3D387D0}"/>
              </a:ext>
            </a:extLst>
          </p:cNvPr>
          <p:cNvSpPr>
            <a:spLocks noGrp="1"/>
          </p:cNvSpPr>
          <p:nvPr/>
        </p:nvSpPr>
        <p:spPr>
          <a:xfrm>
            <a:off x="762000" y="340042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032FFE-6B59-4523-9252-C49CCCFF150D}"/>
              </a:ext>
            </a:extLst>
          </p:cNvPr>
          <p:cNvSpPr>
            <a:spLocks noGrp="1"/>
          </p:cNvSpPr>
          <p:nvPr/>
        </p:nvSpPr>
        <p:spPr>
          <a:xfrm>
            <a:off x="3224079" y="3371850"/>
            <a:ext cx="2619998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786DFF-B448-4D3C-B448-6304E9C28050}"/>
              </a:ext>
            </a:extLst>
          </p:cNvPr>
          <p:cNvSpPr>
            <a:spLocks noGrp="1"/>
          </p:cNvSpPr>
          <p:nvPr/>
        </p:nvSpPr>
        <p:spPr>
          <a:xfrm>
            <a:off x="3281229" y="340042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500, 0.44, 3.46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E2CC1D-8FD9-45F6-858D-3CB3D67D04CC}"/>
              </a:ext>
            </a:extLst>
          </p:cNvPr>
          <p:cNvSpPr>
            <a:spLocks noGrp="1"/>
          </p:cNvSpPr>
          <p:nvPr/>
        </p:nvSpPr>
        <p:spPr>
          <a:xfrm>
            <a:off x="5844077" y="3371850"/>
            <a:ext cx="5643073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6BD814-65F9-4B29-BA2B-4653513BC7AE}"/>
              </a:ext>
            </a:extLst>
          </p:cNvPr>
          <p:cNvSpPr>
            <a:spLocks noGrp="1"/>
          </p:cNvSpPr>
          <p:nvPr/>
        </p:nvSpPr>
        <p:spPr>
          <a:xfrm>
            <a:off x="5901227" y="340042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value of the estimator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D11F30-4A8A-4C9B-89A5-3A54D3FEC898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2519229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D3FB36-A010-4703-8093-A9CD574849DC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Standard error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633224-C4F3-4856-9DC3-D15AB4AE606B}"/>
              </a:ext>
            </a:extLst>
          </p:cNvPr>
          <p:cNvSpPr>
            <a:spLocks noGrp="1"/>
          </p:cNvSpPr>
          <p:nvPr/>
        </p:nvSpPr>
        <p:spPr>
          <a:xfrm>
            <a:off x="3224079" y="3962400"/>
            <a:ext cx="2619998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CB465B-28A0-425B-955D-8484376426B3}"/>
              </a:ext>
            </a:extLst>
          </p:cNvPr>
          <p:cNvSpPr>
            <a:spLocks noGrp="1"/>
          </p:cNvSpPr>
          <p:nvPr/>
        </p:nvSpPr>
        <p:spPr>
          <a:xfrm>
            <a:off x="3281229" y="399097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 / √n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10D3551-851A-4CB1-97EC-3435955D6F43}"/>
              </a:ext>
            </a:extLst>
          </p:cNvPr>
          <p:cNvSpPr>
            <a:spLocks noGrp="1"/>
          </p:cNvSpPr>
          <p:nvPr/>
        </p:nvSpPr>
        <p:spPr>
          <a:xfrm>
            <a:off x="5844077" y="3962400"/>
            <a:ext cx="5643073" cy="59055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27E7A2-64A1-4A25-BB7F-3A107FDAA8E1}"/>
              </a:ext>
            </a:extLst>
          </p:cNvPr>
          <p:cNvSpPr>
            <a:spLocks noGrp="1"/>
          </p:cNvSpPr>
          <p:nvPr/>
        </p:nvSpPr>
        <p:spPr>
          <a:xfrm>
            <a:off x="5901227" y="399097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Estimated sampling spread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6175FB-75F9-4239-86A4-5301F308AF98}"/>
              </a:ext>
            </a:extLst>
          </p:cNvPr>
          <p:cNvSpPr>
            <a:spLocks noGrp="1"/>
          </p:cNvSpPr>
          <p:nvPr/>
        </p:nvSpPr>
        <p:spPr>
          <a:xfrm>
            <a:off x="704850" y="4552950"/>
            <a:ext cx="2519229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9645DE-5F2F-4DDF-8F75-50E32CDF2C26}"/>
              </a:ext>
            </a:extLst>
          </p:cNvPr>
          <p:cNvSpPr>
            <a:spLocks noGrp="1"/>
          </p:cNvSpPr>
          <p:nvPr/>
        </p:nvSpPr>
        <p:spPr>
          <a:xfrm>
            <a:off x="762000" y="4581525"/>
            <a:ext cx="240492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Interval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AFBE09-BC81-4079-8A68-F065EC6FBA2E}"/>
              </a:ext>
            </a:extLst>
          </p:cNvPr>
          <p:cNvSpPr>
            <a:spLocks noGrp="1"/>
          </p:cNvSpPr>
          <p:nvPr/>
        </p:nvSpPr>
        <p:spPr>
          <a:xfrm>
            <a:off x="3224079" y="4552950"/>
            <a:ext cx="2619998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0A2A4C-C6F2-47F4-9844-8B0A484A3E23}"/>
              </a:ext>
            </a:extLst>
          </p:cNvPr>
          <p:cNvSpPr>
            <a:spLocks noGrp="1"/>
          </p:cNvSpPr>
          <p:nvPr/>
        </p:nvSpPr>
        <p:spPr>
          <a:xfrm>
            <a:off x="3281229" y="4581525"/>
            <a:ext cx="250569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estimate ± critical × 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A1E49D-FBCF-4E11-BFFD-AC5ED452C183}"/>
              </a:ext>
            </a:extLst>
          </p:cNvPr>
          <p:cNvSpPr>
            <a:spLocks noGrp="1"/>
          </p:cNvSpPr>
          <p:nvPr/>
        </p:nvSpPr>
        <p:spPr>
          <a:xfrm>
            <a:off x="5844077" y="4552950"/>
            <a:ext cx="5643073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B388006-60CD-4E43-B0EE-30D62CEC25FE}"/>
              </a:ext>
            </a:extLst>
          </p:cNvPr>
          <p:cNvSpPr>
            <a:spLocks noGrp="1"/>
          </p:cNvSpPr>
          <p:nvPr/>
        </p:nvSpPr>
        <p:spPr>
          <a:xfrm>
            <a:off x="5901227" y="4581525"/>
            <a:ext cx="5528773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Range calibrated to a target and method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A3754B7-7008-4A1D-8729-FAFAEE96651E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19BEC10-80F3-4CC1-BBBD-D87C5BE3F253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parameter does not vary across repeated samples; the estimator does.</a:t>
            </a:r>
          </a:p>
        </p:txBody>
      </p:sp>
    </p:spTree>
    <p:extLst>
      <p:ext uri="{BB962C8B-B14F-4D97-AF65-F5344CB8AC3E}">
        <p14:creationId xmlns:p14="http://schemas.microsoft.com/office/powerpoint/2010/main" val="121450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C3294BC-4AEA-4B18-B4E5-3219C57B1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0B3B6F-8126-4962-9E74-E4C37E39AEB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3E6AF-2B39-4AE6-AC79-5708549C5B8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35F7B-85C1-4387-83A9-DE9BCCCF1751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1637A3-4272-4433-BB29-9B2CA1F3837D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0A3A2-86EA-40BD-B10B-6CD5863464E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AB418-CCF4-44D1-9CF2-6A8F6728963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14E28-CBC0-445B-900D-B6D529FA2EF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CA778-1A27-47C9-A3F9-905077CB9F8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6E32D3-F101-444D-9770-4F924C70C81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808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Frequentist confidence intervals use an estimator’s sampling distribution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914400" y="1600200"/>
          <a:ext cx="6762750" cy="32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722DBD-9B2D-40A5-A98E-EA0C68B2B804}"/>
              </a:ext>
            </a:extLst>
          </p:cNvPr>
          <p:cNvSpPr>
            <a:spLocks noGrp="1"/>
          </p:cNvSpPr>
          <p:nvPr/>
        </p:nvSpPr>
        <p:spPr>
          <a:xfrm>
            <a:off x="8324850" y="1657350"/>
            <a:ext cx="2914650" cy="2895600"/>
          </a:xfrm>
          <a:prstGeom prst="roundRect">
            <a:avLst>
              <a:gd name="adj" fmla="val 5921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F8202-0844-4C17-808F-3CC32B54461A}"/>
              </a:ext>
            </a:extLst>
          </p:cNvPr>
          <p:cNvSpPr>
            <a:spLocks noGrp="1"/>
          </p:cNvSpPr>
          <p:nvPr/>
        </p:nvSpPr>
        <p:spPr>
          <a:xfrm>
            <a:off x="8686800" y="19431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960"/>
          </a:bodyPr>
          <a:lstStyle/>
          <a:p>
            <a:pPr algn="ctr">
              <a:buNone/>
              <a:def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Pivotal idea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FFAA7D-7E7C-4A13-B980-D474A550692E}"/>
              </a:ext>
            </a:extLst>
          </p:cNvPr>
          <p:cNvSpPr>
            <a:spLocks noGrp="1"/>
          </p:cNvSpPr>
          <p:nvPr/>
        </p:nvSpPr>
        <p:spPr>
          <a:xfrm>
            <a:off x="8667750" y="2628900"/>
            <a:ext cx="2228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5000"/>
          </a:bodyPr>
          <a:lstStyle/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(estimate − target)</a:t>
            </a:r>
          </a:p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──────────────</a:t>
            </a:r>
          </a:p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standard error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E75C2-92CD-4684-B70F-E3919488323B}"/>
              </a:ext>
            </a:extLst>
          </p:cNvPr>
          <p:cNvSpPr>
            <a:spLocks noGrp="1"/>
          </p:cNvSpPr>
          <p:nvPr/>
        </p:nvSpPr>
        <p:spPr>
          <a:xfrm>
            <a:off x="8610600" y="3771900"/>
            <a:ext cx="2343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506"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If this quantity has a known reference distribution, invert it to obtain an interval.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8DA0CA7-E091-43A5-A9F4-D6ECF2FA0098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1AD0F2-D43C-44B2-A9AD-92278AB9DBDC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standard error estimates repeated-sampling variation in the estimator.</a:t>
            </a:r>
          </a:p>
        </p:txBody>
      </p:sp>
    </p:spTree>
    <p:extLst>
      <p:ext uri="{BB962C8B-B14F-4D97-AF65-F5344CB8AC3E}">
        <p14:creationId xmlns:p14="http://schemas.microsoft.com/office/powerpoint/2010/main" val="30427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170EC62D-061E-486A-9F74-2A68E1D45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9F452A-24B8-4480-8DB6-7974D3FA529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5DED2A-2353-4998-886A-9D81B31CD318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8FB33-6906-411F-B014-529DF8C5D72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9B57A-774D-4162-BFE3-8508FA326D80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89BF8A-AA86-4D35-AF99-13299269412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FE0BE-499E-40EA-ACCC-10FEFAD8FF3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DA2BF-DC38-4B15-8852-3BD56294A21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024642-175D-45D6-87BC-8333D08FF36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11304D-AD11-440A-ACCE-F55D1625E98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608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95% confidence procedure succeeds in about 95% of repetitions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8A938-65F1-4E0D-97F6-733030F1F2C3}"/>
              </a:ext>
            </a:extLst>
          </p:cNvPr>
          <p:cNvSpPr>
            <a:spLocks noGrp="1"/>
          </p:cNvSpPr>
          <p:nvPr/>
        </p:nvSpPr>
        <p:spPr>
          <a:xfrm>
            <a:off x="6858000" y="1581150"/>
            <a:ext cx="28575" cy="33528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99F2E5-D319-4761-820F-DAE778090A08}"/>
              </a:ext>
            </a:extLst>
          </p:cNvPr>
          <p:cNvSpPr>
            <a:spLocks noGrp="1"/>
          </p:cNvSpPr>
          <p:nvPr/>
        </p:nvSpPr>
        <p:spPr>
          <a:xfrm>
            <a:off x="6534150" y="13144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true 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356FCC-09DC-4C0B-BBC3-D89A4CD51B1C}"/>
              </a:ext>
            </a:extLst>
          </p:cNvPr>
          <p:cNvSpPr>
            <a:spLocks noGrp="1"/>
          </p:cNvSpPr>
          <p:nvPr/>
        </p:nvSpPr>
        <p:spPr>
          <a:xfrm>
            <a:off x="5429250" y="1676400"/>
            <a:ext cx="18097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0D656C7-6281-406B-BE06-D19B417CE5E1}"/>
              </a:ext>
            </a:extLst>
          </p:cNvPr>
          <p:cNvSpPr>
            <a:spLocks noGrp="1"/>
          </p:cNvSpPr>
          <p:nvPr/>
        </p:nvSpPr>
        <p:spPr>
          <a:xfrm>
            <a:off x="6305550" y="164782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9E6294-AA33-41BA-9699-9E8BFAC707C2}"/>
              </a:ext>
            </a:extLst>
          </p:cNvPr>
          <p:cNvSpPr>
            <a:spLocks noGrp="1"/>
          </p:cNvSpPr>
          <p:nvPr/>
        </p:nvSpPr>
        <p:spPr>
          <a:xfrm>
            <a:off x="5924550" y="1838325"/>
            <a:ext cx="15430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AC3D5FA-2A03-4DE3-98F9-54EA27C5789B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341DB8-B1DB-43DD-8061-8BE7F541E10D}"/>
              </a:ext>
            </a:extLst>
          </p:cNvPr>
          <p:cNvSpPr>
            <a:spLocks noGrp="1"/>
          </p:cNvSpPr>
          <p:nvPr/>
        </p:nvSpPr>
        <p:spPr>
          <a:xfrm>
            <a:off x="6172200" y="2000250"/>
            <a:ext cx="16383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383E4E-63D6-49EC-A003-AE25A3432BE5}"/>
              </a:ext>
            </a:extLst>
          </p:cNvPr>
          <p:cNvSpPr>
            <a:spLocks noGrp="1"/>
          </p:cNvSpPr>
          <p:nvPr/>
        </p:nvSpPr>
        <p:spPr>
          <a:xfrm>
            <a:off x="6962775" y="197167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429B44-1498-4EE9-A2C0-BD509E95AE61}"/>
              </a:ext>
            </a:extLst>
          </p:cNvPr>
          <p:cNvSpPr>
            <a:spLocks noGrp="1"/>
          </p:cNvSpPr>
          <p:nvPr/>
        </p:nvSpPr>
        <p:spPr>
          <a:xfrm>
            <a:off x="5715000" y="2162175"/>
            <a:ext cx="14287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571294-9980-4610-BFEB-88D98C93F631}"/>
              </a:ext>
            </a:extLst>
          </p:cNvPr>
          <p:cNvSpPr>
            <a:spLocks noGrp="1"/>
          </p:cNvSpPr>
          <p:nvPr/>
        </p:nvSpPr>
        <p:spPr>
          <a:xfrm>
            <a:off x="6400800" y="213360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6E2C6E-553D-4509-B2A8-0EF4159D3308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14478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8B0174-1D7E-4E7D-83E7-14F92DEAD53B}"/>
              </a:ext>
            </a:extLst>
          </p:cNvPr>
          <p:cNvSpPr>
            <a:spLocks noGrp="1"/>
          </p:cNvSpPr>
          <p:nvPr/>
        </p:nvSpPr>
        <p:spPr>
          <a:xfrm>
            <a:off x="7267575" y="229552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52C88C-B252-4C89-BC77-FC243428A201}"/>
              </a:ext>
            </a:extLst>
          </p:cNvPr>
          <p:cNvSpPr>
            <a:spLocks noGrp="1"/>
          </p:cNvSpPr>
          <p:nvPr/>
        </p:nvSpPr>
        <p:spPr>
          <a:xfrm>
            <a:off x="5143500" y="2486025"/>
            <a:ext cx="1562100" cy="28575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A412C67-E74D-45FB-9D01-F0880A066B72}"/>
              </a:ext>
            </a:extLst>
          </p:cNvPr>
          <p:cNvSpPr>
            <a:spLocks noGrp="1"/>
          </p:cNvSpPr>
          <p:nvPr/>
        </p:nvSpPr>
        <p:spPr>
          <a:xfrm>
            <a:off x="5895975" y="2457450"/>
            <a:ext cx="66675" cy="66675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F0A2E9-3D26-411C-9389-79DF787F3AD0}"/>
              </a:ext>
            </a:extLst>
          </p:cNvPr>
          <p:cNvSpPr>
            <a:spLocks noGrp="1"/>
          </p:cNvSpPr>
          <p:nvPr/>
        </p:nvSpPr>
        <p:spPr>
          <a:xfrm>
            <a:off x="6267450" y="2647950"/>
            <a:ext cx="11430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5E5E929-560D-44E4-B306-48CA2F69D56D}"/>
              </a:ext>
            </a:extLst>
          </p:cNvPr>
          <p:cNvSpPr>
            <a:spLocks noGrp="1"/>
          </p:cNvSpPr>
          <p:nvPr/>
        </p:nvSpPr>
        <p:spPr>
          <a:xfrm>
            <a:off x="6810375" y="261937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4AF051-D2E6-48E9-926F-876714E28293}"/>
              </a:ext>
            </a:extLst>
          </p:cNvPr>
          <p:cNvSpPr>
            <a:spLocks noGrp="1"/>
          </p:cNvSpPr>
          <p:nvPr/>
        </p:nvSpPr>
        <p:spPr>
          <a:xfrm>
            <a:off x="5810250" y="2809875"/>
            <a:ext cx="12573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36E4EF5-4ACD-4BAF-910E-64011B381E97}"/>
              </a:ext>
            </a:extLst>
          </p:cNvPr>
          <p:cNvSpPr>
            <a:spLocks noGrp="1"/>
          </p:cNvSpPr>
          <p:nvPr/>
        </p:nvSpPr>
        <p:spPr>
          <a:xfrm>
            <a:off x="6410325" y="278130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00755D-772C-4CCD-98C2-08F8FCF50D70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13525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56FF6F1-A832-4B74-AC32-7F1022A44A01}"/>
              </a:ext>
            </a:extLst>
          </p:cNvPr>
          <p:cNvSpPr>
            <a:spLocks noGrp="1"/>
          </p:cNvSpPr>
          <p:nvPr/>
        </p:nvSpPr>
        <p:spPr>
          <a:xfrm>
            <a:off x="7086600" y="294322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9CA8E3-95C3-4B97-99A4-00E588327192}"/>
              </a:ext>
            </a:extLst>
          </p:cNvPr>
          <p:cNvSpPr>
            <a:spLocks noGrp="1"/>
          </p:cNvSpPr>
          <p:nvPr/>
        </p:nvSpPr>
        <p:spPr>
          <a:xfrm>
            <a:off x="5524500" y="3133725"/>
            <a:ext cx="1295400" cy="28575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172790-9992-46E1-A3B3-EF348712E27F}"/>
              </a:ext>
            </a:extLst>
          </p:cNvPr>
          <p:cNvSpPr>
            <a:spLocks noGrp="1"/>
          </p:cNvSpPr>
          <p:nvPr/>
        </p:nvSpPr>
        <p:spPr>
          <a:xfrm>
            <a:off x="6143625" y="3105150"/>
            <a:ext cx="66675" cy="66675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98C32-FF87-4791-B51E-3F20149A9994}"/>
              </a:ext>
            </a:extLst>
          </p:cNvPr>
          <p:cNvSpPr>
            <a:spLocks noGrp="1"/>
          </p:cNvSpPr>
          <p:nvPr/>
        </p:nvSpPr>
        <p:spPr>
          <a:xfrm>
            <a:off x="6019800" y="3295650"/>
            <a:ext cx="13144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3B893FB-E4A1-41C9-8440-236F4A392AB9}"/>
              </a:ext>
            </a:extLst>
          </p:cNvPr>
          <p:cNvSpPr>
            <a:spLocks noGrp="1"/>
          </p:cNvSpPr>
          <p:nvPr/>
        </p:nvSpPr>
        <p:spPr>
          <a:xfrm>
            <a:off x="6648450" y="326707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7F7B1A-A064-4B65-92C4-2214A5C73BD9}"/>
              </a:ext>
            </a:extLst>
          </p:cNvPr>
          <p:cNvSpPr>
            <a:spLocks noGrp="1"/>
          </p:cNvSpPr>
          <p:nvPr/>
        </p:nvSpPr>
        <p:spPr>
          <a:xfrm>
            <a:off x="7124700" y="3457575"/>
            <a:ext cx="1371600" cy="28575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D86A865-E272-434F-983E-3B634E8EBB36}"/>
              </a:ext>
            </a:extLst>
          </p:cNvPr>
          <p:cNvSpPr>
            <a:spLocks noGrp="1"/>
          </p:cNvSpPr>
          <p:nvPr/>
        </p:nvSpPr>
        <p:spPr>
          <a:xfrm>
            <a:off x="7781925" y="3429000"/>
            <a:ext cx="66675" cy="66675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8CF69E-AE8C-4768-8E99-F56CB7E51382}"/>
              </a:ext>
            </a:extLst>
          </p:cNvPr>
          <p:cNvSpPr>
            <a:spLocks noGrp="1"/>
          </p:cNvSpPr>
          <p:nvPr/>
        </p:nvSpPr>
        <p:spPr>
          <a:xfrm>
            <a:off x="6153150" y="3619500"/>
            <a:ext cx="13716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77943DB-F98C-4F45-B59F-A5675A9A4A89}"/>
              </a:ext>
            </a:extLst>
          </p:cNvPr>
          <p:cNvSpPr>
            <a:spLocks noGrp="1"/>
          </p:cNvSpPr>
          <p:nvPr/>
        </p:nvSpPr>
        <p:spPr>
          <a:xfrm>
            <a:off x="6810375" y="359092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22ED09-8A2F-46DF-A7AD-1D13F1BA483E}"/>
              </a:ext>
            </a:extLst>
          </p:cNvPr>
          <p:cNvSpPr>
            <a:spLocks noGrp="1"/>
          </p:cNvSpPr>
          <p:nvPr/>
        </p:nvSpPr>
        <p:spPr>
          <a:xfrm>
            <a:off x="5657850" y="3781425"/>
            <a:ext cx="13335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9EAEBD7-18CC-4A98-8F3D-7E6FE99415B9}"/>
              </a:ext>
            </a:extLst>
          </p:cNvPr>
          <p:cNvSpPr>
            <a:spLocks noGrp="1"/>
          </p:cNvSpPr>
          <p:nvPr/>
        </p:nvSpPr>
        <p:spPr>
          <a:xfrm>
            <a:off x="6296025" y="375285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3C7F417-191A-4DF0-B01D-AACE6CE704D4}"/>
              </a:ext>
            </a:extLst>
          </p:cNvPr>
          <p:cNvSpPr>
            <a:spLocks noGrp="1"/>
          </p:cNvSpPr>
          <p:nvPr/>
        </p:nvSpPr>
        <p:spPr>
          <a:xfrm>
            <a:off x="6496050" y="3943350"/>
            <a:ext cx="12192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CAC30DD-B987-4EAC-A211-D5D8AA8EB0E5}"/>
              </a:ext>
            </a:extLst>
          </p:cNvPr>
          <p:cNvSpPr>
            <a:spLocks noGrp="1"/>
          </p:cNvSpPr>
          <p:nvPr/>
        </p:nvSpPr>
        <p:spPr>
          <a:xfrm>
            <a:off x="7077075" y="391477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9AB130-42CB-4E6E-AD0A-9086213392DB}"/>
              </a:ext>
            </a:extLst>
          </p:cNvPr>
          <p:cNvSpPr>
            <a:spLocks noGrp="1"/>
          </p:cNvSpPr>
          <p:nvPr/>
        </p:nvSpPr>
        <p:spPr>
          <a:xfrm>
            <a:off x="5334000" y="4105275"/>
            <a:ext cx="1333500" cy="28575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FF167E1-D7DA-42DB-A194-3EF06474F8D8}"/>
              </a:ext>
            </a:extLst>
          </p:cNvPr>
          <p:cNvSpPr>
            <a:spLocks noGrp="1"/>
          </p:cNvSpPr>
          <p:nvPr/>
        </p:nvSpPr>
        <p:spPr>
          <a:xfrm>
            <a:off x="5972175" y="4076700"/>
            <a:ext cx="66675" cy="66675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1CB822-D1DC-40EA-98C9-3A8FFE6C2860}"/>
              </a:ext>
            </a:extLst>
          </p:cNvPr>
          <p:cNvSpPr>
            <a:spLocks noGrp="1"/>
          </p:cNvSpPr>
          <p:nvPr/>
        </p:nvSpPr>
        <p:spPr>
          <a:xfrm>
            <a:off x="6000750" y="4267200"/>
            <a:ext cx="12001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CEC70AA-471D-4FB6-B22E-03BBE17B8D75}"/>
              </a:ext>
            </a:extLst>
          </p:cNvPr>
          <p:cNvSpPr>
            <a:spLocks noGrp="1"/>
          </p:cNvSpPr>
          <p:nvPr/>
        </p:nvSpPr>
        <p:spPr>
          <a:xfrm>
            <a:off x="6572250" y="423862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D8DB80-E236-4849-9066-84DB7DE20768}"/>
              </a:ext>
            </a:extLst>
          </p:cNvPr>
          <p:cNvSpPr>
            <a:spLocks noGrp="1"/>
          </p:cNvSpPr>
          <p:nvPr/>
        </p:nvSpPr>
        <p:spPr>
          <a:xfrm>
            <a:off x="6610350" y="4429125"/>
            <a:ext cx="13335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4DCC494-A709-44C0-8EEE-7AB5C6565E72}"/>
              </a:ext>
            </a:extLst>
          </p:cNvPr>
          <p:cNvSpPr>
            <a:spLocks noGrp="1"/>
          </p:cNvSpPr>
          <p:nvPr/>
        </p:nvSpPr>
        <p:spPr>
          <a:xfrm>
            <a:off x="7248525" y="440055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362F8F-CA12-4E36-905E-DC4288163068}"/>
              </a:ext>
            </a:extLst>
          </p:cNvPr>
          <p:cNvSpPr>
            <a:spLocks noGrp="1"/>
          </p:cNvSpPr>
          <p:nvPr/>
        </p:nvSpPr>
        <p:spPr>
          <a:xfrm>
            <a:off x="5734050" y="4591050"/>
            <a:ext cx="135255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7FD3AA-2BFA-4E45-8F11-53600654FC8B}"/>
              </a:ext>
            </a:extLst>
          </p:cNvPr>
          <p:cNvSpPr>
            <a:spLocks noGrp="1"/>
          </p:cNvSpPr>
          <p:nvPr/>
        </p:nvSpPr>
        <p:spPr>
          <a:xfrm>
            <a:off x="6381750" y="4562475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36496-D15C-47A0-9E26-A8749B0F9543}"/>
              </a:ext>
            </a:extLst>
          </p:cNvPr>
          <p:cNvSpPr>
            <a:spLocks noGrp="1"/>
          </p:cNvSpPr>
          <p:nvPr/>
        </p:nvSpPr>
        <p:spPr>
          <a:xfrm>
            <a:off x="6191250" y="4752975"/>
            <a:ext cx="1257300" cy="28575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AF331CE-403C-40AB-A47F-FDF3AA8F28AC}"/>
              </a:ext>
            </a:extLst>
          </p:cNvPr>
          <p:cNvSpPr>
            <a:spLocks noGrp="1"/>
          </p:cNvSpPr>
          <p:nvPr/>
        </p:nvSpPr>
        <p:spPr>
          <a:xfrm>
            <a:off x="6791325" y="4724400"/>
            <a:ext cx="66675" cy="66675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547FE33-67D3-4771-B263-E833CADAA8EA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3562350" cy="2933700"/>
          </a:xfrm>
          <a:prstGeom prst="roundRect">
            <a:avLst>
              <a:gd name="adj" fmla="val 6494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021834A-0DDC-4381-A63C-ED2D04ED7AC2}"/>
              </a:ext>
            </a:extLst>
          </p:cNvPr>
          <p:cNvSpPr>
            <a:spLocks noGrp="1"/>
          </p:cNvSpPr>
          <p:nvPr/>
        </p:nvSpPr>
        <p:spPr>
          <a:xfrm>
            <a:off x="1123950" y="1981200"/>
            <a:ext cx="2876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656"/>
          </a:bodyPr>
          <a:lstStyle/>
          <a:p>
            <a:pPr algn="ctr">
              <a:buNone/>
              <a:defRPr sz="24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Repeated-sampling meaning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725AA0-9C2A-4E1F-BEE9-70480568888A}"/>
              </a:ext>
            </a:extLst>
          </p:cNvPr>
          <p:cNvSpPr>
            <a:spLocks noGrp="1"/>
          </p:cNvSpPr>
          <p:nvPr/>
        </p:nvSpPr>
        <p:spPr>
          <a:xfrm>
            <a:off x="1181100" y="2800350"/>
            <a:ext cx="2762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Long-run target: 95%. This illustrated run has 18 of 20 intervals covering μ (90%).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D620BDE-B701-4615-8C10-B520AFF09B5D}"/>
              </a:ext>
            </a:extLst>
          </p:cNvPr>
          <p:cNvSpPr>
            <a:spLocks noGrp="1"/>
          </p:cNvSpPr>
          <p:nvPr/>
        </p:nvSpPr>
        <p:spPr>
          <a:xfrm>
            <a:off x="1181100" y="40767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09"/>
          </a:bodyPr>
          <a:lstStyle/>
          <a:p>
            <a:pPr algn="ctr">
              <a:buNone/>
              <a:defRPr sz="12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Red intervals miss. That is expected—not evidence that the method is broken.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913D889-BD0A-49F0-B076-A077FB5B9382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9C29855-314C-4EA8-AEF1-278D54598048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883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Coverage belongs to the procedure over repetitions, not to a fixed parameter after data are observed.</a:t>
            </a:r>
          </a:p>
        </p:txBody>
      </p:sp>
    </p:spTree>
    <p:extLst>
      <p:ext uri="{BB962C8B-B14F-4D97-AF65-F5344CB8AC3E}">
        <p14:creationId xmlns:p14="http://schemas.microsoft.com/office/powerpoint/2010/main" val="1300320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4AF1321-58D1-4A58-9AD3-CDFDA1795D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468B4-BA59-48D6-B91F-B96A38EDED5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E62C8C-79DD-4899-B989-7403B1B6E666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7391C-AA6D-4081-AB56-5412811A849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930CF-CA12-41C3-8128-BADDCE038C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1E462-8235-4D9A-8866-AD280156EB9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935D76-2FBB-4E6F-9AA2-742701BA668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5A068-ABEB-4391-B049-31836A00832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18767C-1442-4291-B15E-91D064767BF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994FA2-07C2-49FD-AE4B-2A56D882816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19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Interpret the interval without turning it into a probability claim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B58C1A-506A-4B98-B7BE-9903A21F8C75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4707331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DDB062-ADB5-438A-91FB-ECD960D2CC59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23944-1521-4660-B808-F539D05D4D27}"/>
              </a:ext>
            </a:extLst>
          </p:cNvPr>
          <p:cNvSpPr>
            <a:spLocks noGrp="1"/>
          </p:cNvSpPr>
          <p:nvPr/>
        </p:nvSpPr>
        <p:spPr>
          <a:xfrm>
            <a:off x="5355031" y="1562100"/>
            <a:ext cx="2004974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224DD1-5A82-4655-85FD-54A6B294709F}"/>
              </a:ext>
            </a:extLst>
          </p:cNvPr>
          <p:cNvSpPr>
            <a:spLocks noGrp="1"/>
          </p:cNvSpPr>
          <p:nvPr/>
        </p:nvSpPr>
        <p:spPr>
          <a:xfrm>
            <a:off x="5412181" y="159067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Assessment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0B4D3-FBCF-4129-9388-BAA36285935A}"/>
              </a:ext>
            </a:extLst>
          </p:cNvPr>
          <p:cNvSpPr>
            <a:spLocks noGrp="1"/>
          </p:cNvSpPr>
          <p:nvPr/>
        </p:nvSpPr>
        <p:spPr>
          <a:xfrm>
            <a:off x="7360006" y="1562100"/>
            <a:ext cx="4184294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71D18-5EEB-45E2-AF94-9A84893482FB}"/>
              </a:ext>
            </a:extLst>
          </p:cNvPr>
          <p:cNvSpPr>
            <a:spLocks noGrp="1"/>
          </p:cNvSpPr>
          <p:nvPr/>
        </p:nvSpPr>
        <p:spPr>
          <a:xfrm>
            <a:off x="7417156" y="159067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Why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AC1D7E-244A-4E8B-B3B4-9C6918A2B918}"/>
              </a:ext>
            </a:extLst>
          </p:cNvPr>
          <p:cNvSpPr>
            <a:spLocks noGrp="1"/>
          </p:cNvSpPr>
          <p:nvPr/>
        </p:nvSpPr>
        <p:spPr>
          <a:xfrm>
            <a:off x="647700" y="2263140"/>
            <a:ext cx="4707331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EFE4A4-4514-42BC-95A1-EEFAF7A244C5}"/>
              </a:ext>
            </a:extLst>
          </p:cNvPr>
          <p:cNvSpPr>
            <a:spLocks noGrp="1"/>
          </p:cNvSpPr>
          <p:nvPr/>
        </p:nvSpPr>
        <p:spPr>
          <a:xfrm>
            <a:off x="704850" y="229171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method has 95% long-run coverage under its assumptions.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5DB677-E807-43B0-852C-C4DB711F172F}"/>
              </a:ext>
            </a:extLst>
          </p:cNvPr>
          <p:cNvSpPr>
            <a:spLocks noGrp="1"/>
          </p:cNvSpPr>
          <p:nvPr/>
        </p:nvSpPr>
        <p:spPr>
          <a:xfrm>
            <a:off x="5355031" y="2263140"/>
            <a:ext cx="200497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5E2CAC-A4BC-4355-8429-C0F95F7AFEE1}"/>
              </a:ext>
            </a:extLst>
          </p:cNvPr>
          <p:cNvSpPr>
            <a:spLocks noGrp="1"/>
          </p:cNvSpPr>
          <p:nvPr/>
        </p:nvSpPr>
        <p:spPr>
          <a:xfrm>
            <a:off x="5412181" y="229171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Defensible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C8FDB4-5FAF-42ED-8151-5DC950AA13F3}"/>
              </a:ext>
            </a:extLst>
          </p:cNvPr>
          <p:cNvSpPr>
            <a:spLocks noGrp="1"/>
          </p:cNvSpPr>
          <p:nvPr/>
        </p:nvSpPr>
        <p:spPr>
          <a:xfrm>
            <a:off x="7360006" y="2263140"/>
            <a:ext cx="418429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2518BA-8222-40E2-8485-7BAF1E2D7B32}"/>
              </a:ext>
            </a:extLst>
          </p:cNvPr>
          <p:cNvSpPr>
            <a:spLocks noGrp="1"/>
          </p:cNvSpPr>
          <p:nvPr/>
        </p:nvSpPr>
        <p:spPr>
          <a:xfrm>
            <a:off x="7417156" y="229171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This is the frequentist calibration.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FC5C31-78CA-4A5A-8B2D-BD775574B56D}"/>
              </a:ext>
            </a:extLst>
          </p:cNvPr>
          <p:cNvSpPr>
            <a:spLocks noGrp="1"/>
          </p:cNvSpPr>
          <p:nvPr/>
        </p:nvSpPr>
        <p:spPr>
          <a:xfrm>
            <a:off x="647700" y="2964180"/>
            <a:ext cx="4707331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35D0A8-483C-4156-BE2E-0270EF7F9B1F}"/>
              </a:ext>
            </a:extLst>
          </p:cNvPr>
          <p:cNvSpPr>
            <a:spLocks noGrp="1"/>
          </p:cNvSpPr>
          <p:nvPr/>
        </p:nvSpPr>
        <p:spPr>
          <a:xfrm>
            <a:off x="704850" y="299275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Values inside the interval are reasonably compatible with the data and model.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D3B0BF4-0607-4C6C-BD13-28DA27C66FD0}"/>
              </a:ext>
            </a:extLst>
          </p:cNvPr>
          <p:cNvSpPr>
            <a:spLocks noGrp="1"/>
          </p:cNvSpPr>
          <p:nvPr/>
        </p:nvSpPr>
        <p:spPr>
          <a:xfrm>
            <a:off x="5355031" y="2964180"/>
            <a:ext cx="200497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505D04-B914-4238-AF0C-D18AF7F4AEB3}"/>
              </a:ext>
            </a:extLst>
          </p:cNvPr>
          <p:cNvSpPr>
            <a:spLocks noGrp="1"/>
          </p:cNvSpPr>
          <p:nvPr/>
        </p:nvSpPr>
        <p:spPr>
          <a:xfrm>
            <a:off x="5412181" y="299275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Useful shorthand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5B0617-A983-4ABA-9856-832C4FD8167A}"/>
              </a:ext>
            </a:extLst>
          </p:cNvPr>
          <p:cNvSpPr>
            <a:spLocks noGrp="1"/>
          </p:cNvSpPr>
          <p:nvPr/>
        </p:nvSpPr>
        <p:spPr>
          <a:xfrm>
            <a:off x="7360006" y="2964180"/>
            <a:ext cx="418429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5D4627-7642-4CF6-B29E-ADF45BA9E3AE}"/>
              </a:ext>
            </a:extLst>
          </p:cNvPr>
          <p:cNvSpPr>
            <a:spLocks noGrp="1"/>
          </p:cNvSpPr>
          <p:nvPr/>
        </p:nvSpPr>
        <p:spPr>
          <a:xfrm>
            <a:off x="7417156" y="299275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Avoids a binary plausible / impossible boundary.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B7057D-86E3-4CDF-93CE-DA05D69EB2EE}"/>
              </a:ext>
            </a:extLst>
          </p:cNvPr>
          <p:cNvSpPr>
            <a:spLocks noGrp="1"/>
          </p:cNvSpPr>
          <p:nvPr/>
        </p:nvSpPr>
        <p:spPr>
          <a:xfrm>
            <a:off x="647700" y="3665220"/>
            <a:ext cx="4707331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7F1B3D-C93E-4B0A-9EC4-EB7CA38F0DF1}"/>
              </a:ext>
            </a:extLst>
          </p:cNvPr>
          <p:cNvSpPr>
            <a:spLocks noGrp="1"/>
          </p:cNvSpPr>
          <p:nvPr/>
        </p:nvSpPr>
        <p:spPr>
          <a:xfrm>
            <a:off x="704850" y="369379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There is a 95% chance that μ is inside this realized interval.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464702-A546-4A3C-BDC9-5B549EF4B18C}"/>
              </a:ext>
            </a:extLst>
          </p:cNvPr>
          <p:cNvSpPr>
            <a:spLocks noGrp="1"/>
          </p:cNvSpPr>
          <p:nvPr/>
        </p:nvSpPr>
        <p:spPr>
          <a:xfrm>
            <a:off x="5355031" y="3665220"/>
            <a:ext cx="200497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EF26AD-1C64-4B4D-8479-F0E40FBA7CD6}"/>
              </a:ext>
            </a:extLst>
          </p:cNvPr>
          <p:cNvSpPr>
            <a:spLocks noGrp="1"/>
          </p:cNvSpPr>
          <p:nvPr/>
        </p:nvSpPr>
        <p:spPr>
          <a:xfrm>
            <a:off x="5412181" y="369379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Not frequentist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121216-1471-4BC1-A8D8-05829BA78166}"/>
              </a:ext>
            </a:extLst>
          </p:cNvPr>
          <p:cNvSpPr>
            <a:spLocks noGrp="1"/>
          </p:cNvSpPr>
          <p:nvPr/>
        </p:nvSpPr>
        <p:spPr>
          <a:xfrm>
            <a:off x="7360006" y="3665220"/>
            <a:ext cx="4184294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0C4560-B1E4-4295-BA69-D13E0E1B51A7}"/>
              </a:ext>
            </a:extLst>
          </p:cNvPr>
          <p:cNvSpPr>
            <a:spLocks noGrp="1"/>
          </p:cNvSpPr>
          <p:nvPr/>
        </p:nvSpPr>
        <p:spPr>
          <a:xfrm>
            <a:off x="7417156" y="369379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After sampling, μ and the interval endpoints are fixed.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882C47-8F13-424E-962C-C93366C2FA26}"/>
              </a:ext>
            </a:extLst>
          </p:cNvPr>
          <p:cNvSpPr>
            <a:spLocks noGrp="1"/>
          </p:cNvSpPr>
          <p:nvPr/>
        </p:nvSpPr>
        <p:spPr>
          <a:xfrm>
            <a:off x="647700" y="4366260"/>
            <a:ext cx="4707331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DB1D19-54E7-4707-A59F-A613F12CA799}"/>
              </a:ext>
            </a:extLst>
          </p:cNvPr>
          <p:cNvSpPr>
            <a:spLocks noGrp="1"/>
          </p:cNvSpPr>
          <p:nvPr/>
        </p:nvSpPr>
        <p:spPr>
          <a:xfrm>
            <a:off x="704850" y="4394835"/>
            <a:ext cx="4593031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interval contains 95% of individual future outcomes.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69A270-9EFE-490A-BFCB-345F640AB9C9}"/>
              </a:ext>
            </a:extLst>
          </p:cNvPr>
          <p:cNvSpPr>
            <a:spLocks noGrp="1"/>
          </p:cNvSpPr>
          <p:nvPr/>
        </p:nvSpPr>
        <p:spPr>
          <a:xfrm>
            <a:off x="5355031" y="4366260"/>
            <a:ext cx="200497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E76437-FF5A-43E9-A261-6BBA88764244}"/>
              </a:ext>
            </a:extLst>
          </p:cNvPr>
          <p:cNvSpPr>
            <a:spLocks noGrp="1"/>
          </p:cNvSpPr>
          <p:nvPr/>
        </p:nvSpPr>
        <p:spPr>
          <a:xfrm>
            <a:off x="5412181" y="4394835"/>
            <a:ext cx="189067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Wrong target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95E7A-2940-44FC-A7B5-1CB1775C631B}"/>
              </a:ext>
            </a:extLst>
          </p:cNvPr>
          <p:cNvSpPr>
            <a:spLocks noGrp="1"/>
          </p:cNvSpPr>
          <p:nvPr/>
        </p:nvSpPr>
        <p:spPr>
          <a:xfrm>
            <a:off x="7360006" y="4366260"/>
            <a:ext cx="4184294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A31AFA-C33B-4EE4-A00C-272A2A05F840}"/>
              </a:ext>
            </a:extLst>
          </p:cNvPr>
          <p:cNvSpPr>
            <a:spLocks noGrp="1"/>
          </p:cNvSpPr>
          <p:nvPr/>
        </p:nvSpPr>
        <p:spPr>
          <a:xfrm>
            <a:off x="7417156" y="4394835"/>
            <a:ext cx="4069994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That would require a predictive interval.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522BDF5-504E-4F54-99F7-E326397A915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0D557BE-CEC4-4AC6-8CFC-84484A598F29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Say what the interval targets: a parameter, a difference, or a future observation.</a:t>
            </a:r>
          </a:p>
        </p:txBody>
      </p:sp>
    </p:spTree>
    <p:extLst>
      <p:ext uri="{BB962C8B-B14F-4D97-AF65-F5344CB8AC3E}">
        <p14:creationId xmlns:p14="http://schemas.microsoft.com/office/powerpoint/2010/main" val="10066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C20A43-04BD-4C33-B993-28C1D1C112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C3DE5B-923B-4446-BE08-CFF2C5B2E4C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021B5-DF6E-413C-ABFA-9191A81E1749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40502-2A54-4244-8229-8E3D564EE439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B7AAA4-D8A8-4AA8-B2C9-276976DBE59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2CFA4E-2D2A-4873-9C92-CD5E08A0FF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71ED5-705E-49DA-B4F2-481A538EB35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7F1F6-29D2-4EB0-94BE-33F33A62ACE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5A4D6-72E9-427B-A1D4-4537FF15929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6C84DE-3ECD-401F-BC73-0C4955C5482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768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Margin of error shrinks with the square root of sample size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781050" y="1562100"/>
          <a:ext cx="6858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5348A3-E485-40ED-B513-D6F85972C8F0}"/>
              </a:ext>
            </a:extLst>
          </p:cNvPr>
          <p:cNvSpPr>
            <a:spLocks noGrp="1"/>
          </p:cNvSpPr>
          <p:nvPr/>
        </p:nvSpPr>
        <p:spPr>
          <a:xfrm>
            <a:off x="8172450" y="1657350"/>
            <a:ext cx="2990850" cy="2819400"/>
          </a:xfrm>
          <a:prstGeom prst="roundRect">
            <a:avLst>
              <a:gd name="adj" fmla="val 6757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06C29-B697-49BF-9C02-5B1F2F74CF7C}"/>
              </a:ext>
            </a:extLst>
          </p:cNvPr>
          <p:cNvSpPr>
            <a:spLocks noGrp="1"/>
          </p:cNvSpPr>
          <p:nvPr/>
        </p:nvSpPr>
        <p:spPr>
          <a:xfrm>
            <a:off x="8572500" y="1962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General form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1C489C-1C70-464F-82D6-425AEFF8370F}"/>
              </a:ext>
            </a:extLst>
          </p:cNvPr>
          <p:cNvSpPr>
            <a:spLocks noGrp="1"/>
          </p:cNvSpPr>
          <p:nvPr/>
        </p:nvSpPr>
        <p:spPr>
          <a:xfrm>
            <a:off x="8496300" y="2628900"/>
            <a:ext cx="2343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1987"/>
          </a:bodyPr>
          <a:lstStyle/>
          <a:p>
            <a:pPr algn="ctr">
              <a:buNone/>
              <a:defRPr sz="25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estimate ±</a:t>
            </a:r>
          </a:p>
          <a:p>
            <a:pPr algn="ctr">
              <a:buNone/>
              <a:defRPr sz="25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critical value × 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8E74DD-648A-487B-BB45-04821D89B34E}"/>
              </a:ext>
            </a:extLst>
          </p:cNvPr>
          <p:cNvSpPr>
            <a:spLocks noGrp="1"/>
          </p:cNvSpPr>
          <p:nvPr/>
        </p:nvSpPr>
        <p:spPr>
          <a:xfrm>
            <a:off x="8477250" y="3790950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833"/>
          </a:bodyPr>
          <a:lstStyle/>
          <a:p>
            <a:pPr algn="ctr">
              <a:buNone/>
              <a:def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4× the sample size → half the SE and margin of error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0E740BA-0CB6-445D-A4EA-E22F6BC4CB67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A6ACBE-2315-4F94-B65F-927CD7A1A3AB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Illustration assumes σ = 1 and a 95% z interval; all else equal, 4× n halves the margin of error.</a:t>
            </a:r>
          </a:p>
        </p:txBody>
      </p:sp>
    </p:spTree>
    <p:extLst>
      <p:ext uri="{BB962C8B-B14F-4D97-AF65-F5344CB8AC3E}">
        <p14:creationId xmlns:p14="http://schemas.microsoft.com/office/powerpoint/2010/main" val="2120254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DE78A5F-4288-4C68-87C6-80D81EFCB9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3B21AA-E776-4F8E-95D2-ED277101E1A9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B3D38-D041-4872-9783-DA3C767970C6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D3D87-1E54-44E2-B6AB-CA7731B6C3A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AC27C-F43E-4BC7-8E0C-C813914501C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B9F95B-1764-49E4-B9BC-02D88729F51C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1FE10-D1EB-4587-B914-71830F9D975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F44154-20A8-4155-8A63-F2D10A44DDE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DCC0A8-FE55-4E35-8FE2-ED873FC75EE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FE3FAF-6070-416B-90C8-AD9E56BA0F1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z or t from what is known—not from habit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B68A7-972A-451F-B501-2B52645CF720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3398762" cy="65151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E17060-F069-42DB-B020-F61790D27764}"/>
              </a:ext>
            </a:extLst>
          </p:cNvPr>
          <p:cNvSpPr>
            <a:spLocks noGrp="1"/>
          </p:cNvSpPr>
          <p:nvPr/>
        </p:nvSpPr>
        <p:spPr>
          <a:xfrm>
            <a:off x="800100" y="1647825"/>
            <a:ext cx="3284462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Situation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CA4680-66E5-4ED2-92DC-2802966787F2}"/>
              </a:ext>
            </a:extLst>
          </p:cNvPr>
          <p:cNvSpPr>
            <a:spLocks noGrp="1"/>
          </p:cNvSpPr>
          <p:nvPr/>
        </p:nvSpPr>
        <p:spPr>
          <a:xfrm>
            <a:off x="4141712" y="1619250"/>
            <a:ext cx="2549071" cy="65151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5F739E-72D2-416D-B025-651E8FE09BEE}"/>
              </a:ext>
            </a:extLst>
          </p:cNvPr>
          <p:cNvSpPr>
            <a:spLocks noGrp="1"/>
          </p:cNvSpPr>
          <p:nvPr/>
        </p:nvSpPr>
        <p:spPr>
          <a:xfrm>
            <a:off x="4198862" y="1647825"/>
            <a:ext cx="2434771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Reference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33414-F0C4-406C-91B9-D8CF7C5DFE28}"/>
              </a:ext>
            </a:extLst>
          </p:cNvPr>
          <p:cNvSpPr>
            <a:spLocks noGrp="1"/>
          </p:cNvSpPr>
          <p:nvPr/>
        </p:nvSpPr>
        <p:spPr>
          <a:xfrm>
            <a:off x="6690783" y="1619250"/>
            <a:ext cx="4758267" cy="65151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F3BBE-CAA4-41B6-92EB-4C7D8D1506D6}"/>
              </a:ext>
            </a:extLst>
          </p:cNvPr>
          <p:cNvSpPr>
            <a:spLocks noGrp="1"/>
          </p:cNvSpPr>
          <p:nvPr/>
        </p:nvSpPr>
        <p:spPr>
          <a:xfrm>
            <a:off x="6747933" y="1647825"/>
            <a:ext cx="4643967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95% interval for 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BE3A9-D1EF-4361-B4D3-54034061F2A2}"/>
              </a:ext>
            </a:extLst>
          </p:cNvPr>
          <p:cNvSpPr>
            <a:spLocks noGrp="1"/>
          </p:cNvSpPr>
          <p:nvPr/>
        </p:nvSpPr>
        <p:spPr>
          <a:xfrm>
            <a:off x="742950" y="2270760"/>
            <a:ext cx="3398762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FE3F48-4854-4898-BC9C-DF87A0AC16E9}"/>
              </a:ext>
            </a:extLst>
          </p:cNvPr>
          <p:cNvSpPr>
            <a:spLocks noGrp="1"/>
          </p:cNvSpPr>
          <p:nvPr/>
        </p:nvSpPr>
        <p:spPr>
          <a:xfrm>
            <a:off x="800100" y="2299335"/>
            <a:ext cx="3284462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Normal population (or large n), σ known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6F60CD-1EA9-4B72-A3EF-4CE0F77DEBFE}"/>
              </a:ext>
            </a:extLst>
          </p:cNvPr>
          <p:cNvSpPr>
            <a:spLocks noGrp="1"/>
          </p:cNvSpPr>
          <p:nvPr/>
        </p:nvSpPr>
        <p:spPr>
          <a:xfrm>
            <a:off x="4141712" y="2270760"/>
            <a:ext cx="2549071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C4AB8B-7B66-4D43-B521-88BDFC13E1F4}"/>
              </a:ext>
            </a:extLst>
          </p:cNvPr>
          <p:cNvSpPr>
            <a:spLocks noGrp="1"/>
          </p:cNvSpPr>
          <p:nvPr/>
        </p:nvSpPr>
        <p:spPr>
          <a:xfrm>
            <a:off x="4198862" y="2299335"/>
            <a:ext cx="2434771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Standard Normal z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CD19D2-05F2-4ABD-B5D5-9087DB472A69}"/>
              </a:ext>
            </a:extLst>
          </p:cNvPr>
          <p:cNvSpPr>
            <a:spLocks noGrp="1"/>
          </p:cNvSpPr>
          <p:nvPr/>
        </p:nvSpPr>
        <p:spPr>
          <a:xfrm>
            <a:off x="6690783" y="2270760"/>
            <a:ext cx="4758267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90FA0E-2DF0-41B9-A2D0-CEBBDCA069EC}"/>
              </a:ext>
            </a:extLst>
          </p:cNvPr>
          <p:cNvSpPr>
            <a:spLocks noGrp="1"/>
          </p:cNvSpPr>
          <p:nvPr/>
        </p:nvSpPr>
        <p:spPr>
          <a:xfrm>
            <a:off x="6747933" y="2299335"/>
            <a:ext cx="4643967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x̄ ± 1.96 · σ/√n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FADF61-8368-460E-9B9D-E06E90462902}"/>
              </a:ext>
            </a:extLst>
          </p:cNvPr>
          <p:cNvSpPr>
            <a:spLocks noGrp="1"/>
          </p:cNvSpPr>
          <p:nvPr/>
        </p:nvSpPr>
        <p:spPr>
          <a:xfrm>
            <a:off x="742950" y="2922270"/>
            <a:ext cx="3398762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95384D-C6D9-4BDF-9FF1-443AA2940CF5}"/>
              </a:ext>
            </a:extLst>
          </p:cNvPr>
          <p:cNvSpPr>
            <a:spLocks noGrp="1"/>
          </p:cNvSpPr>
          <p:nvPr/>
        </p:nvSpPr>
        <p:spPr>
          <a:xfrm>
            <a:off x="800100" y="2950845"/>
            <a:ext cx="3284462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Normal population (or large n), σ unknown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51956C-54CE-4499-B690-3D4E38F0D0ED}"/>
              </a:ext>
            </a:extLst>
          </p:cNvPr>
          <p:cNvSpPr>
            <a:spLocks noGrp="1"/>
          </p:cNvSpPr>
          <p:nvPr/>
        </p:nvSpPr>
        <p:spPr>
          <a:xfrm>
            <a:off x="4141712" y="2922270"/>
            <a:ext cx="2549071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3363AE-D050-4FD3-B7F3-FE22AB80FDE5}"/>
              </a:ext>
            </a:extLst>
          </p:cNvPr>
          <p:cNvSpPr>
            <a:spLocks noGrp="1"/>
          </p:cNvSpPr>
          <p:nvPr/>
        </p:nvSpPr>
        <p:spPr>
          <a:xfrm>
            <a:off x="4198862" y="2950845"/>
            <a:ext cx="2434771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 with df = n−1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B4247D-28B7-4300-A0D5-158EE7E4623C}"/>
              </a:ext>
            </a:extLst>
          </p:cNvPr>
          <p:cNvSpPr>
            <a:spLocks noGrp="1"/>
          </p:cNvSpPr>
          <p:nvPr/>
        </p:nvSpPr>
        <p:spPr>
          <a:xfrm>
            <a:off x="6690783" y="2922270"/>
            <a:ext cx="4758267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07EF43-B719-40B7-A8D2-21C33EBB3F45}"/>
              </a:ext>
            </a:extLst>
          </p:cNvPr>
          <p:cNvSpPr>
            <a:spLocks noGrp="1"/>
          </p:cNvSpPr>
          <p:nvPr/>
        </p:nvSpPr>
        <p:spPr>
          <a:xfrm>
            <a:off x="6747933" y="2950845"/>
            <a:ext cx="4643967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x̄ ± t* · s/√n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D95ED6-D61F-4251-9F70-72F27CA13D05}"/>
              </a:ext>
            </a:extLst>
          </p:cNvPr>
          <p:cNvSpPr>
            <a:spLocks noGrp="1"/>
          </p:cNvSpPr>
          <p:nvPr/>
        </p:nvSpPr>
        <p:spPr>
          <a:xfrm>
            <a:off x="742950" y="3573780"/>
            <a:ext cx="3398762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126CAA-526C-4838-954F-90A29F94EFC8}"/>
              </a:ext>
            </a:extLst>
          </p:cNvPr>
          <p:cNvSpPr>
            <a:spLocks noGrp="1"/>
          </p:cNvSpPr>
          <p:nvPr/>
        </p:nvSpPr>
        <p:spPr>
          <a:xfrm>
            <a:off x="800100" y="3602355"/>
            <a:ext cx="3284462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Large n, mild conditions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1E6B1E-C2A1-44D3-A1E5-622C866FF1BB}"/>
              </a:ext>
            </a:extLst>
          </p:cNvPr>
          <p:cNvSpPr>
            <a:spLocks noGrp="1"/>
          </p:cNvSpPr>
          <p:nvPr/>
        </p:nvSpPr>
        <p:spPr>
          <a:xfrm>
            <a:off x="4141712" y="3573780"/>
            <a:ext cx="2549071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CCEDED-F5CD-4741-BADA-01BB722A312E}"/>
              </a:ext>
            </a:extLst>
          </p:cNvPr>
          <p:cNvSpPr>
            <a:spLocks noGrp="1"/>
          </p:cNvSpPr>
          <p:nvPr/>
        </p:nvSpPr>
        <p:spPr>
          <a:xfrm>
            <a:off x="4198862" y="3602355"/>
            <a:ext cx="2434771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 approaches z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FA3BE0-2568-4B02-8091-DBE2276D16E4}"/>
              </a:ext>
            </a:extLst>
          </p:cNvPr>
          <p:cNvSpPr>
            <a:spLocks noGrp="1"/>
          </p:cNvSpPr>
          <p:nvPr/>
        </p:nvSpPr>
        <p:spPr>
          <a:xfrm>
            <a:off x="6690783" y="3573780"/>
            <a:ext cx="4758267" cy="65151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543174-0E84-431A-9BBE-450C92FB5484}"/>
              </a:ext>
            </a:extLst>
          </p:cNvPr>
          <p:cNvSpPr>
            <a:spLocks noGrp="1"/>
          </p:cNvSpPr>
          <p:nvPr/>
        </p:nvSpPr>
        <p:spPr>
          <a:xfrm>
            <a:off x="6747933" y="3602355"/>
            <a:ext cx="4643967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Difference becomes small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7DDA35-931A-499B-BA11-354A4F037BFD}"/>
              </a:ext>
            </a:extLst>
          </p:cNvPr>
          <p:cNvSpPr>
            <a:spLocks noGrp="1"/>
          </p:cNvSpPr>
          <p:nvPr/>
        </p:nvSpPr>
        <p:spPr>
          <a:xfrm>
            <a:off x="742950" y="4225290"/>
            <a:ext cx="3398762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A31F28-D43D-4097-8B69-312F584CDFA8}"/>
              </a:ext>
            </a:extLst>
          </p:cNvPr>
          <p:cNvSpPr>
            <a:spLocks noGrp="1"/>
          </p:cNvSpPr>
          <p:nvPr/>
        </p:nvSpPr>
        <p:spPr>
          <a:xfrm>
            <a:off x="800100" y="4253865"/>
            <a:ext cx="3284462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Skewed or outlier-prone small sample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8BC132-7DD1-4EE4-9140-ADF44D013B2F}"/>
              </a:ext>
            </a:extLst>
          </p:cNvPr>
          <p:cNvSpPr>
            <a:spLocks noGrp="1"/>
          </p:cNvSpPr>
          <p:nvPr/>
        </p:nvSpPr>
        <p:spPr>
          <a:xfrm>
            <a:off x="4141712" y="4225290"/>
            <a:ext cx="2549071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79772A-B9C9-42B5-9B6E-911C19C58CAF}"/>
              </a:ext>
            </a:extLst>
          </p:cNvPr>
          <p:cNvSpPr>
            <a:spLocks noGrp="1"/>
          </p:cNvSpPr>
          <p:nvPr/>
        </p:nvSpPr>
        <p:spPr>
          <a:xfrm>
            <a:off x="4198862" y="4253865"/>
            <a:ext cx="2434771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Model check first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DE1743-493B-429E-9972-710FA9051428}"/>
              </a:ext>
            </a:extLst>
          </p:cNvPr>
          <p:cNvSpPr>
            <a:spLocks noGrp="1"/>
          </p:cNvSpPr>
          <p:nvPr/>
        </p:nvSpPr>
        <p:spPr>
          <a:xfrm>
            <a:off x="6690783" y="4225290"/>
            <a:ext cx="4758267" cy="65151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64DC9D-33F7-45E9-93E7-111874EDBF65}"/>
              </a:ext>
            </a:extLst>
          </p:cNvPr>
          <p:cNvSpPr>
            <a:spLocks noGrp="1"/>
          </p:cNvSpPr>
          <p:nvPr/>
        </p:nvSpPr>
        <p:spPr>
          <a:xfrm>
            <a:off x="6747933" y="4253865"/>
            <a:ext cx="4643967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Transform, robust method, or bootstrap may be needed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5DB9170-CD3F-44D3-8B95-F8AA35F14A34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D67942-29CB-4356-9284-A05A0DD50DE7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Use t when σ is estimated; exact for Normal populations and generally approximate otherwise.</a:t>
            </a:r>
          </a:p>
        </p:txBody>
      </p:sp>
    </p:spTree>
    <p:extLst>
      <p:ext uri="{BB962C8B-B14F-4D97-AF65-F5344CB8AC3E}">
        <p14:creationId xmlns:p14="http://schemas.microsoft.com/office/powerpoint/2010/main" val="669090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AA87918-E1CE-42C3-858B-737B41CCED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D9310E-6549-4EF4-BA7F-976D3B09088C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D5D71-403A-486F-B59A-9B25AEF8037B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F8A36-7694-495F-83D0-F2FC76B1610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44469B-66C7-43B2-A529-D5A47506F65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7E4198-8178-4BE4-A8E3-2494273FB483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BF8B6A-01D2-41B2-989F-0F0CAA9A027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1C5F18-4C64-4557-9111-BB405E3C5DA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0B1841-23B8-4D6A-8CD8-D3493E9BDDF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642EF94-B324-4D9C-B777-A4F258C2B40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2186"/>
          </a:bodyPr>
          <a:lstStyle/>
          <a:p>
            <a:pPr algn="l">
              <a:buNone/>
              <a:def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t distribution pays for estimating the population SD with heavier tails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933450" y="1581150"/>
          <a:ext cx="7810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FA6978D-8CDF-4B2F-95AD-0F41B2FCB9F9}"/>
              </a:ext>
            </a:extLst>
          </p:cNvPr>
          <p:cNvSpPr>
            <a:spLocks noGrp="1"/>
          </p:cNvSpPr>
          <p:nvPr/>
        </p:nvSpPr>
        <p:spPr>
          <a:xfrm>
            <a:off x="9105900" y="18859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863"/>
          </a:bodyPr>
          <a:lstStyle/>
          <a:p>
            <a:pPr algn="ctr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95% critical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F340A0-5BE2-474D-9A29-7C771646F2D7}"/>
              </a:ext>
            </a:extLst>
          </p:cNvPr>
          <p:cNvSpPr>
            <a:spLocks noGrp="1"/>
          </p:cNvSpPr>
          <p:nvPr/>
        </p:nvSpPr>
        <p:spPr>
          <a:xfrm>
            <a:off x="9277350" y="2609850"/>
            <a:ext cx="17716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df = 3     3.182</a:t>
            </a:r>
          </a:p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df = 10   2.228</a:t>
            </a:r>
          </a:p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df = 30   2.042</a:t>
            </a:r>
          </a:p>
          <a:p>
            <a:pPr algn="l">
              <a:buNone/>
              <a:def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800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Normal     1.960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DF30882-AC2D-4C4A-AACF-657308473F1B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98CDB0-5C2D-4D4F-9DCC-6D5E1A2DF356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As degrees of freedom grow, t converges to the 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70456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58F2259-DCEE-4869-A822-7FF07155B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D2453B-FEF6-4970-A7C2-5F9C9B64338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7EB496-E8F3-4343-BD46-87BF98F5F74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2903C8-DD38-4FCC-86C2-DBFB88B615D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81AFF-DF14-4650-8AB0-20EA12CD4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9C5DE-DC8E-4175-B68E-B8406D57CB8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WORKED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B82AE-EE9D-4D07-B4E6-4AF7C66BDEF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55AD8-8741-4E65-9DC4-FDB914B3573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10B16-C607-4079-A540-C49E4AB65DA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5CB9BF-1184-48FF-A1E3-8613DF749E8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51"/>
          </a:bodyPr>
          <a:lstStyle/>
          <a:p>
            <a:pPr algn="l">
              <a:buNone/>
              <a:def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For 11 kiosks, an unknown population SD calls for a t interval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C02F47-0D21-4B25-AE4E-DD4B2DE1D761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62F9A5-F023-4770-9011-8F8C4FDE955F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Observed mean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94823-E140-4FA1-BA7C-006C60D80DD2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x̄ = 500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891F07-637B-4004-9553-A7920D7DEF97}"/>
              </a:ext>
            </a:extLst>
          </p:cNvPr>
          <p:cNvSpPr>
            <a:spLocks noGrp="1"/>
          </p:cNvSpPr>
          <p:nvPr/>
        </p:nvSpPr>
        <p:spPr>
          <a:xfrm>
            <a:off x="337185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0DEBCA-012E-49E7-8025-A8D2881AC2D0}"/>
              </a:ext>
            </a:extLst>
          </p:cNvPr>
          <p:cNvSpPr>
            <a:spLocks noGrp="1"/>
          </p:cNvSpPr>
          <p:nvPr/>
        </p:nvSpPr>
        <p:spPr>
          <a:xfrm>
            <a:off x="354330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Sample SD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B349A-0EB2-4EDB-9244-2A47D95A371B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 = 5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2326F8-3BC0-46FE-B2CF-2E5096A60871}"/>
              </a:ext>
            </a:extLst>
          </p:cNvPr>
          <p:cNvSpPr>
            <a:spLocks noGrp="1"/>
          </p:cNvSpPr>
          <p:nvPr/>
        </p:nvSpPr>
        <p:spPr>
          <a:xfrm>
            <a:off x="605790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F4D5F-9F25-45D5-8435-72AF64387CB3}"/>
              </a:ext>
            </a:extLst>
          </p:cNvPr>
          <p:cNvSpPr>
            <a:spLocks noGrp="1"/>
          </p:cNvSpPr>
          <p:nvPr/>
        </p:nvSpPr>
        <p:spPr>
          <a:xfrm>
            <a:off x="622935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Sample size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77B75-14B0-4F74-BA99-3D088F2D3457}"/>
              </a:ext>
            </a:extLst>
          </p:cNvPr>
          <p:cNvSpPr>
            <a:spLocks noGrp="1"/>
          </p:cNvSpPr>
          <p:nvPr/>
        </p:nvSpPr>
        <p:spPr>
          <a:xfrm>
            <a:off x="622935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 = 11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4B5573-4A82-415C-A0EE-9BD4DC2A4AD1}"/>
              </a:ext>
            </a:extLst>
          </p:cNvPr>
          <p:cNvSpPr>
            <a:spLocks noGrp="1"/>
          </p:cNvSpPr>
          <p:nvPr/>
        </p:nvSpPr>
        <p:spPr>
          <a:xfrm>
            <a:off x="874395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888390-BCFA-4BD1-AB84-861BDF7966E0}"/>
              </a:ext>
            </a:extLst>
          </p:cNvPr>
          <p:cNvSpPr>
            <a:spLocks noGrp="1"/>
          </p:cNvSpPr>
          <p:nvPr/>
        </p:nvSpPr>
        <p:spPr>
          <a:xfrm>
            <a:off x="891540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Critical value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334D61-17ED-4A82-B6D0-05ECA539AC9C}"/>
              </a:ext>
            </a:extLst>
          </p:cNvPr>
          <p:cNvSpPr>
            <a:spLocks noGrp="1"/>
          </p:cNvSpPr>
          <p:nvPr/>
        </p:nvSpPr>
        <p:spPr>
          <a:xfrm>
            <a:off x="891540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t*₁₀ = 2.228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A139C02-6216-42EC-BE08-A24A7B4B0182}"/>
              </a:ext>
            </a:extLst>
          </p:cNvPr>
          <p:cNvSpPr>
            <a:spLocks noGrp="1"/>
          </p:cNvSpPr>
          <p:nvPr/>
        </p:nvSpPr>
        <p:spPr>
          <a:xfrm>
            <a:off x="1295400" y="3105150"/>
            <a:ext cx="9601200" cy="1562100"/>
          </a:xfrm>
          <a:prstGeom prst="roundRect">
            <a:avLst>
              <a:gd name="adj" fmla="val 1219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40DB9-84F3-4B73-8764-5DB3FC4B59BA}"/>
              </a:ext>
            </a:extLst>
          </p:cNvPr>
          <p:cNvSpPr>
            <a:spLocks noGrp="1"/>
          </p:cNvSpPr>
          <p:nvPr/>
        </p:nvSpPr>
        <p:spPr>
          <a:xfrm>
            <a:off x="1581150" y="33909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SE = 5 / √11 = 1.51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906D89-A3AA-4598-A40B-F1E65BBC4451}"/>
              </a:ext>
            </a:extLst>
          </p:cNvPr>
          <p:cNvSpPr>
            <a:spLocks noGrp="1"/>
          </p:cNvSpPr>
          <p:nvPr/>
        </p:nvSpPr>
        <p:spPr>
          <a:xfrm>
            <a:off x="4572000" y="3390900"/>
            <a:ext cx="3390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640"/>
          </a:bodyPr>
          <a:lstStyle/>
          <a:p>
            <a:pPr algn="ctr">
              <a:buNone/>
              <a:def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MOE = 2.228 × 1.51 = 3.36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9E8BB3-7A32-4540-A25A-D7CC2E9EA18C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buNone/>
              <a:defRPr sz="21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95% CI = [496.64, 503.36]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AA892B-CC9B-442D-AA50-452F8E18500B}"/>
              </a:ext>
            </a:extLst>
          </p:cNvPr>
          <p:cNvSpPr>
            <a:spLocks noGrp="1"/>
          </p:cNvSpPr>
          <p:nvPr/>
        </p:nvSpPr>
        <p:spPr>
          <a:xfrm>
            <a:off x="1771650" y="4095750"/>
            <a:ext cx="862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0157"/>
          </a:bodyPr>
          <a:lstStyle/>
          <a:p>
            <a:pPr algn="ctr">
              <a:buNone/>
              <a:def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Interpret the target as mean daily sales per kiosk under the sampling/design assumptions—not the range for a future kiosk day.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B119F73-3C10-49A3-B1B3-D149600DDF24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7D0D87-C418-45C1-B3C0-879C0FB05B51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If σ = 5 were genuinely known from the population process, the z interval would be justified.</a:t>
            </a:r>
          </a:p>
        </p:txBody>
      </p:sp>
    </p:spTree>
    <p:extLst>
      <p:ext uri="{BB962C8B-B14F-4D97-AF65-F5344CB8AC3E}">
        <p14:creationId xmlns:p14="http://schemas.microsoft.com/office/powerpoint/2010/main" val="1535123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D6C84F3-0390-43A3-8C0C-9BD6C417DE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B0833-9B15-4AA2-A0BC-4FDFCCF89634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D38DF-4095-49F2-8855-1C2634C7F1E5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97D2C-E9D8-4372-8785-628F60CA96C5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ECB0D-16AD-40D4-BF18-A0F58B126D20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DA839-6294-4CFD-AA8B-45002FD51EEB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6A33A5-0A25-40C2-88AD-F537B3656E7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AA9228-F716-49CB-89E6-D9007BE788E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07EF5-3D8D-4981-9318-A83B7A0927C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ED57ACC-C587-4A34-BBC6-9471217D857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154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Mean-based intervals inherit the mean's sensitivity to outliers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1A5471A-2C52-46CD-995D-D44A3FD79F60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4819650" cy="2781300"/>
          </a:xfrm>
          <a:prstGeom prst="roundRect">
            <a:avLst>
              <a:gd name="adj" fmla="val 6164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A98E79-7AE7-43B7-B043-D29851F85EDF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4057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Recorded values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15F93-9734-403F-BCD8-1E59CF77BB82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4210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02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 i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0  0  1  1  1  2  2  3  3  4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E5DEB-12D2-4037-84CC-F1D88BEEE376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4019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Now imagine 4 was miscoded as 24.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37811C0-D042-4984-A5DF-11656DD51E03}"/>
              </a:ext>
            </a:extLst>
          </p:cNvPr>
          <p:cNvSpPr>
            <a:spLocks noGrp="1"/>
          </p:cNvSpPr>
          <p:nvPr/>
        </p:nvSpPr>
        <p:spPr>
          <a:xfrm>
            <a:off x="6153150" y="1638300"/>
            <a:ext cx="5124450" cy="2781300"/>
          </a:xfrm>
          <a:prstGeom prst="roundRect">
            <a:avLst>
              <a:gd name="adj" fmla="val 6164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891801-F30C-42E3-A5D0-D06D30F72E84}"/>
              </a:ext>
            </a:extLst>
          </p:cNvPr>
          <p:cNvSpPr>
            <a:spLocks noGrp="1"/>
          </p:cNvSpPr>
          <p:nvPr/>
        </p:nvSpPr>
        <p:spPr>
          <a:xfrm>
            <a:off x="6591300" y="1924050"/>
            <a:ext cx="4248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Before computing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02CD69-4106-43B3-AC09-63EAC681D0C0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95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1587"/>
          </a:bodyPr>
          <a:lstStyle/>
          <a:p>
            <a:pPr marL="27" indent="-18">
              <a:spcAft>
                <a:spcPts val="11"/>
              </a:spcAft>
              <a:buChar char="•"/>
              <a:defRPr sz="1575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Plot the data and verify the recording.</a:t>
            </a:r>
          </a:p>
          <a:p>
            <a:pPr marL="27" indent="-18">
              <a:spcAft>
                <a:spcPts val="11"/>
              </a:spcAft>
              <a:buChar char="•"/>
              <a:defRPr sz="1575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Predict the direction of change in x̄, s, SE, and CI width.</a:t>
            </a:r>
          </a:p>
          <a:p>
            <a:pPr marL="27" indent="-18">
              <a:spcAft>
                <a:spcPts val="11"/>
              </a:spcAft>
              <a:buChar char="•"/>
              <a:defRPr sz="1575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Decide whether the population target is still the mean.</a:t>
            </a:r>
          </a:p>
          <a:p>
            <a:pPr marL="27" indent="-18">
              <a:spcAft>
                <a:spcPts val="11"/>
              </a:spcAft>
              <a:buChar char="•"/>
              <a:defRPr sz="1575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Report both the data-quality issue and the sensitivity analysis.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701529-2985-44F0-8423-C8E675B21685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984F79-0B3B-4930-BC67-4A805BE02E58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802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Robustness is not a license to delete surprising observations; investigate the data-generating process.</a:t>
            </a:r>
          </a:p>
        </p:txBody>
      </p:sp>
    </p:spTree>
    <p:extLst>
      <p:ext uri="{BB962C8B-B14F-4D97-AF65-F5344CB8AC3E}">
        <p14:creationId xmlns:p14="http://schemas.microsoft.com/office/powerpoint/2010/main" val="192707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D201B19-C6D9-4348-B855-90AB9E3AF4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75258-0354-45C6-B1CA-137FE89BF6D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6B367-557D-499F-A3EE-EE3A05509581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D8ACD-7D53-456D-8D86-31049CBA62A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F49EB6-C8C9-4D31-B9E5-BBC18F1F24A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A6982-7B83-4B1B-930F-521F935FEE2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52A83-1707-40C3-A40B-2E7385018A6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FACEE-9083-4628-8F40-28D4BCA920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38C53-37E5-403B-ADC3-953510661E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2744C4-9B13-43E6-81FC-C920C2308EC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Near 0 or 1, a Wilson interval behaves better than Wald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7ACFD-9ABC-44A1-8198-2D78DE48756D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418"/>
          </a:bodyPr>
          <a:lstStyle/>
          <a:p>
            <a:pPr algn="l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Example: 1 success in 20 trials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262554-BC9A-46A6-85AE-521CCEE9E271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857750" cy="2286000"/>
          </a:xfrm>
          <a:prstGeom prst="roundRect">
            <a:avLst>
              <a:gd name="adj" fmla="val 7500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B35B3-A593-4B26-91F3-C9FA96825F52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Wald (normal) interval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F14C2-CFC3-4D7E-8F43-4819557F6BBA}"/>
              </a:ext>
            </a:extLst>
          </p:cNvPr>
          <p:cNvSpPr>
            <a:spLocks noGrp="1"/>
          </p:cNvSpPr>
          <p:nvPr/>
        </p:nvSpPr>
        <p:spPr>
          <a:xfrm>
            <a:off x="1181100" y="30670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5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5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rPr>
              <a:t>−0.046 to 0.146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347C1-A5D5-4A5B-BDFF-A841C71F7EB4}"/>
              </a:ext>
            </a:extLst>
          </p:cNvPr>
          <p:cNvSpPr>
            <a:spLocks noGrp="1"/>
          </p:cNvSpPr>
          <p:nvPr/>
        </p:nvSpPr>
        <p:spPr>
          <a:xfrm>
            <a:off x="1181100" y="3867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Impossible negative endpoint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A18A7C-34DE-4198-8EE4-DAB27AFF46D9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4857750" cy="2286000"/>
          </a:xfrm>
          <a:prstGeom prst="roundRect">
            <a:avLst>
              <a:gd name="adj" fmla="val 7500"/>
            </a:avLst>
          </a:prstGeom>
          <a:solidFill>
            <a:srgbClr val="EEF7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5ACAA-EFC6-49BC-8ED3-BDBBC5EC9484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rPr>
              <a:t>Wilson score interval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E2D72D-00A6-4B5B-9112-B4A2D3F46D1A}"/>
              </a:ext>
            </a:extLst>
          </p:cNvPr>
          <p:cNvSpPr>
            <a:spLocks noGrp="1"/>
          </p:cNvSpPr>
          <p:nvPr/>
        </p:nvSpPr>
        <p:spPr>
          <a:xfrm>
            <a:off x="6534150" y="30670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5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5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0.009 to 0.236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BABBA0-AB73-4BDD-B9E5-88FC7DAA8983}"/>
              </a:ext>
            </a:extLst>
          </p:cNvPr>
          <p:cNvSpPr>
            <a:spLocks noGrp="1"/>
          </p:cNvSpPr>
          <p:nvPr/>
        </p:nvSpPr>
        <p:spPr>
          <a:xfrm>
            <a:off x="6534150" y="3867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6AA14A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6AA14A"/>
                </a:solidFill>
                <a:latin typeface="Sofia Sans"/>
                <a:ea typeface="Sofia Sans"/>
                <a:cs typeface="Sofia Sans"/>
              </a:rPr>
              <a:t>Respects the [0,1] parameter space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FF9A65-7E1E-470D-B72D-366D5E6B48DA}"/>
              </a:ext>
            </a:extLst>
          </p:cNvPr>
          <p:cNvSpPr>
            <a:spLocks noGrp="1"/>
          </p:cNvSpPr>
          <p:nvPr/>
        </p:nvSpPr>
        <p:spPr>
          <a:xfrm>
            <a:off x="2381250" y="4686300"/>
            <a:ext cx="7429500" cy="1009650"/>
          </a:xfrm>
          <a:prstGeom prst="roundRect">
            <a:avLst>
              <a:gd name="adj" fmla="val 1509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D9760A-1FCE-4AEC-8D60-C30E186279BB}"/>
              </a:ext>
            </a:extLst>
          </p:cNvPr>
          <p:cNvSpPr>
            <a:spLocks noGrp="1"/>
          </p:cNvSpPr>
          <p:nvPr/>
        </p:nvSpPr>
        <p:spPr>
          <a:xfrm>
            <a:off x="2590800" y="4819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PROPORTION CI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3E909B-A478-41F1-BA8C-8A378E40C15A}"/>
              </a:ext>
            </a:extLst>
          </p:cNvPr>
          <p:cNvSpPr>
            <a:spLocks noGrp="1"/>
          </p:cNvSpPr>
          <p:nvPr/>
        </p:nvSpPr>
        <p:spPr>
          <a:xfrm>
            <a:off x="2571750" y="512445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83333"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statsmodels.stats.proportion import proportion_confint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proportion_confint(1, 20, method="wilson")</a:t>
            </a:r>
          </a:p>
        </p:txBody>
      </p:sp>
    </p:spTree>
    <p:extLst>
      <p:ext uri="{BB962C8B-B14F-4D97-AF65-F5344CB8AC3E}">
        <p14:creationId xmlns:p14="http://schemas.microsoft.com/office/powerpoint/2010/main" val="42753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D201B19-C6D9-4348-B855-90AB9E3AF4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75258-0354-45C6-B1CA-137FE89BF6D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6B367-557D-499F-A3EE-EE3A05509581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D8ACD-7D53-456D-8D86-31049CBA62A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F49EB6-C8C9-4D31-B9E5-BBC18F1F24A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A6982-7B83-4B1B-930F-521F935FEE2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183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PROP CI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52A83-1707-40C3-A40B-2E7385018A6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FFACEE-9083-4628-8F40-28D4BCA9200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38C53-37E5-403B-ADC3-953510661E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B2744C4-9B13-43E6-81FC-C920C2308EC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604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estimate the Netherlands proportion with a Wilson interval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7ACFD-9ABC-44A1-8198-2D78DE48756D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55555"/>
          </a:bodyPr>
          <a:lstStyle/>
          <a:p>
            <a:pPr algn="l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778 of 1,497 respondents reported atheist or agnostic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262554-BC9A-46A6-85AE-521CCEE9E271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857750" cy="2286000"/>
          </a:xfrm>
          <a:prstGeom prst="roundRect">
            <a:avLst>
              <a:gd name="adj" fmla="val 7500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B35B3-A593-4B26-91F3-C9FA96825F52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Sample proportion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F14C2-CFC3-4D7E-8F43-4819557F6BBA}"/>
              </a:ext>
            </a:extLst>
          </p:cNvPr>
          <p:cNvSpPr>
            <a:spLocks noGrp="1"/>
          </p:cNvSpPr>
          <p:nvPr/>
        </p:nvSpPr>
        <p:spPr>
          <a:xfrm>
            <a:off x="1181100" y="30670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5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5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rPr>
              <a:t>0.5197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4347C1-A5D5-4A5B-BDFF-A841C71F7EB4}"/>
              </a:ext>
            </a:extLst>
          </p:cNvPr>
          <p:cNvSpPr>
            <a:spLocks noGrp="1"/>
          </p:cNvSpPr>
          <p:nvPr/>
        </p:nvSpPr>
        <p:spPr>
          <a:xfrm>
            <a:off x="1181100" y="3867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Point estimate of the population proportion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A18A7C-34DE-4198-8EE4-DAB27AFF46D9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4857750" cy="2286000"/>
          </a:xfrm>
          <a:prstGeom prst="roundRect">
            <a:avLst>
              <a:gd name="adj" fmla="val 7500"/>
            </a:avLst>
          </a:prstGeom>
          <a:solidFill>
            <a:srgbClr val="EEF7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05ACAA-EFC6-49BC-8ED3-BDBBC5EC9484}"/>
              </a:ext>
            </a:extLst>
          </p:cNvPr>
          <p:cNvSpPr>
            <a:spLocks noGrp="1"/>
          </p:cNvSpPr>
          <p:nvPr/>
        </p:nvSpPr>
        <p:spPr>
          <a:xfrm>
            <a:off x="6534150" y="23812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325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rPr>
              <a:t>95% Wilson interval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E2D72D-00A6-4B5B-9112-B4A2D3F46D1A}"/>
              </a:ext>
            </a:extLst>
          </p:cNvPr>
          <p:cNvSpPr>
            <a:spLocks noGrp="1"/>
          </p:cNvSpPr>
          <p:nvPr/>
        </p:nvSpPr>
        <p:spPr>
          <a:xfrm>
            <a:off x="6534150" y="30670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5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5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[0.4944, 0.5449]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BABBA0-AB73-4BDD-B9E5-88FC7DAA8983}"/>
              </a:ext>
            </a:extLst>
          </p:cNvPr>
          <p:cNvSpPr>
            <a:spLocks noGrp="1"/>
          </p:cNvSpPr>
          <p:nvPr/>
        </p:nvSpPr>
        <p:spPr>
          <a:xfrm>
            <a:off x="6534150" y="3867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6AA14A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6AA14A"/>
                </a:solidFill>
                <a:latin typeface="Sofia Sans"/>
                <a:ea typeface="Sofia Sans"/>
                <a:cs typeface="Sofia Sans"/>
              </a:rPr>
              <a:t>Score-based interval with [0, 1] behavior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FF9A65-7E1E-470D-B72D-366D5E6B48DA}"/>
              </a:ext>
            </a:extLst>
          </p:cNvPr>
          <p:cNvSpPr>
            <a:spLocks noGrp="1"/>
          </p:cNvSpPr>
          <p:nvPr/>
        </p:nvSpPr>
        <p:spPr>
          <a:xfrm>
            <a:off x="2381250" y="4686300"/>
            <a:ext cx="7429500" cy="1009650"/>
          </a:xfrm>
          <a:prstGeom prst="roundRect">
            <a:avLst>
              <a:gd name="adj" fmla="val 1509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D9760A-1FCE-4AEC-8D60-C30E186279BB}"/>
              </a:ext>
            </a:extLst>
          </p:cNvPr>
          <p:cNvSpPr>
            <a:spLocks noGrp="1"/>
          </p:cNvSpPr>
          <p:nvPr/>
        </p:nvSpPr>
        <p:spPr>
          <a:xfrm>
            <a:off x="2590800" y="4819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PROPORTION CI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3E909B-A478-41F1-BA8C-8A378E40C15A}"/>
              </a:ext>
            </a:extLst>
          </p:cNvPr>
          <p:cNvSpPr>
            <a:spLocks noGrp="1"/>
          </p:cNvSpPr>
          <p:nvPr/>
        </p:nvSpPr>
        <p:spPr>
          <a:xfrm>
            <a:off x="2571750" y="512445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50000"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statsmodels.stats.proportion import proportion_confint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0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proportion_confint(778, 1497, method="wilson")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(0.4944, 0.5449) · Appendix B4.1</a:t>
            </a:r>
          </a:p>
        </p:txBody>
      </p:sp>
    </p:spTree>
    <p:extLst>
      <p:ext uri="{BB962C8B-B14F-4D97-AF65-F5344CB8AC3E}">
        <p14:creationId xmlns:p14="http://schemas.microsoft.com/office/powerpoint/2010/main" val="42753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58F2259-DCEE-4869-A822-7FF07155B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D2453B-FEF6-4970-A7C2-5F9C9B643383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7EB496-E8F3-4343-BD46-87BF98F5F74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2903C8-DD38-4FCC-86C2-DBFB88B615D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81AFF-DF14-4650-8AB0-20EA12CD4E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9C5DE-DC8E-4175-B68E-B8406D57CB8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MEAN CI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3B82AE-EE9D-4D07-B4E6-4AF7C66BDEF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55AD8-8741-4E65-9DC4-FDB914B3573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10B16-C607-4079-A540-C49E4AB65DA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75CB9BF-1184-48FF-A1E3-8613DF749E8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a t interval quantifies mean weight change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C02F47-0D21-4B25-AE4E-DD4B2DE1D761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62F9A5-F023-4770-9011-8F8C4FDE955F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853"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Cognitive-behavioral group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94823-E140-4FA1-BA7C-006C60D80DD2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n = 29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891F07-637B-4004-9553-A7920D7DEF97}"/>
              </a:ext>
            </a:extLst>
          </p:cNvPr>
          <p:cNvSpPr>
            <a:spLocks noGrp="1"/>
          </p:cNvSpPr>
          <p:nvPr/>
        </p:nvSpPr>
        <p:spPr>
          <a:xfrm>
            <a:off x="337185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0DEBCA-012E-49E7-8025-A8D2881AC2D0}"/>
              </a:ext>
            </a:extLst>
          </p:cNvPr>
          <p:cNvSpPr>
            <a:spLocks noGrp="1"/>
          </p:cNvSpPr>
          <p:nvPr/>
        </p:nvSpPr>
        <p:spPr>
          <a:xfrm>
            <a:off x="354330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303"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Observed mean change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B349A-0EB2-4EDB-9244-2A47D95A371B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x̄ = 3.0069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2326F8-3BC0-46FE-B2CF-2E5096A60871}"/>
              </a:ext>
            </a:extLst>
          </p:cNvPr>
          <p:cNvSpPr>
            <a:spLocks noGrp="1"/>
          </p:cNvSpPr>
          <p:nvPr/>
        </p:nvSpPr>
        <p:spPr>
          <a:xfrm>
            <a:off x="605790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F4D5F-9F25-45D5-8435-72AF64387CB3}"/>
              </a:ext>
            </a:extLst>
          </p:cNvPr>
          <p:cNvSpPr>
            <a:spLocks noGrp="1"/>
          </p:cNvSpPr>
          <p:nvPr/>
        </p:nvSpPr>
        <p:spPr>
          <a:xfrm>
            <a:off x="622935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Sample SD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77B75-14B0-4F74-BA99-3D088F2D3457}"/>
              </a:ext>
            </a:extLst>
          </p:cNvPr>
          <p:cNvSpPr>
            <a:spLocks noGrp="1"/>
          </p:cNvSpPr>
          <p:nvPr/>
        </p:nvSpPr>
        <p:spPr>
          <a:xfrm>
            <a:off x="622935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 = 7.3085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74B5573-4A82-415C-A0EE-9BD4DC2A4AD1}"/>
              </a:ext>
            </a:extLst>
          </p:cNvPr>
          <p:cNvSpPr>
            <a:spLocks noGrp="1"/>
          </p:cNvSpPr>
          <p:nvPr/>
        </p:nvSpPr>
        <p:spPr>
          <a:xfrm>
            <a:off x="8743950" y="1562100"/>
            <a:ext cx="2343150" cy="1104900"/>
          </a:xfrm>
          <a:prstGeom prst="roundRect">
            <a:avLst>
              <a:gd name="adj" fmla="val 12069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888390-BCFA-4BD1-AB84-861BDF7966E0}"/>
              </a:ext>
            </a:extLst>
          </p:cNvPr>
          <p:cNvSpPr>
            <a:spLocks noGrp="1"/>
          </p:cNvSpPr>
          <p:nvPr/>
        </p:nvSpPr>
        <p:spPr>
          <a:xfrm>
            <a:off x="8915400" y="1714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Critical value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334D61-17ED-4A82-B6D0-05ECA539AC9C}"/>
              </a:ext>
            </a:extLst>
          </p:cNvPr>
          <p:cNvSpPr>
            <a:spLocks noGrp="1"/>
          </p:cNvSpPr>
          <p:nvPr/>
        </p:nvSpPr>
        <p:spPr>
          <a:xfrm>
            <a:off x="8915400" y="205740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4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t*₂₈ ≈ 2.048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A139C02-6216-42EC-BE08-A24A7B4B0182}"/>
              </a:ext>
            </a:extLst>
          </p:cNvPr>
          <p:cNvSpPr>
            <a:spLocks noGrp="1"/>
          </p:cNvSpPr>
          <p:nvPr/>
        </p:nvSpPr>
        <p:spPr>
          <a:xfrm>
            <a:off x="1295400" y="3105150"/>
            <a:ext cx="9601200" cy="1562100"/>
          </a:xfrm>
          <a:prstGeom prst="roundRect">
            <a:avLst>
              <a:gd name="adj" fmla="val 1219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40DB9-84F3-4B73-8764-5DB3FC4B59BA}"/>
              </a:ext>
            </a:extLst>
          </p:cNvPr>
          <p:cNvSpPr>
            <a:spLocks noGrp="1"/>
          </p:cNvSpPr>
          <p:nvPr/>
        </p:nvSpPr>
        <p:spPr>
          <a:xfrm>
            <a:off x="1581150" y="339090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863"/>
          </a:bodyPr>
          <a:lstStyle/>
          <a:p>
            <a:pPr algn="ctr">
              <a:buNone/>
              <a:def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SE = 7.3085 / √29 = 1.357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906D89-A3AA-4598-A40B-F1E65BBC4451}"/>
              </a:ext>
            </a:extLst>
          </p:cNvPr>
          <p:cNvSpPr>
            <a:spLocks noGrp="1"/>
          </p:cNvSpPr>
          <p:nvPr/>
        </p:nvSpPr>
        <p:spPr>
          <a:xfrm>
            <a:off x="4572000" y="3390900"/>
            <a:ext cx="3390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534"/>
          </a:bodyPr>
          <a:lstStyle/>
          <a:p>
            <a:pPr algn="ctr">
              <a:buNone/>
              <a:def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MOE ≈ 2.048 × 1.357 = 2.780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9E8BB3-7A32-4540-A25A-D7CC2E9EA18C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236"/>
          </a:bodyPr>
          <a:lstStyle/>
          <a:p>
            <a:pPr algn="ctr">
              <a:buNone/>
              <a:defRPr sz="21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95% CI = [0.227, 5.787]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AA892B-CC9B-442D-AA50-452F8E18500B}"/>
              </a:ext>
            </a:extLst>
          </p:cNvPr>
          <p:cNvSpPr>
            <a:spLocks noGrp="1"/>
          </p:cNvSpPr>
          <p:nvPr/>
        </p:nvSpPr>
        <p:spPr>
          <a:xfrm>
            <a:off x="1771650" y="4095750"/>
            <a:ext cx="8629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202"/>
          </a:bodyPr>
          <a:lstStyle/>
          <a:p>
            <a:pPr algn="ctr">
              <a:buNone/>
              <a:def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Under the sampling and Normal-model conditions, compatible population mean changes are positive but imprecise.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B119F73-3C10-49A3-B1B3-D149600DDF24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7D0D87-C418-45C1-B3C0-879C0FB05B51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274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99% CI crosses 0, showing how confidence level changes precision. · Textbook §4.4.3; Appendix B4.3</a:t>
            </a:r>
          </a:p>
        </p:txBody>
      </p:sp>
    </p:spTree>
    <p:extLst>
      <p:ext uri="{BB962C8B-B14F-4D97-AF65-F5344CB8AC3E}">
        <p14:creationId xmlns:p14="http://schemas.microsoft.com/office/powerpoint/2010/main" val="153512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94B6A7A-4A16-41A0-8085-716FD76F4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99FABC-67FF-4189-9BA1-3EC7E5183BB8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22BEC-365C-45AA-B39C-27FDB121486D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5AB92-9FD9-4141-AC71-B65A86F154CE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47759-8E4B-4DEF-A66C-0BB0E2CE3953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EA7BA-416A-47EC-8DC6-F3AB13FDC4B5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EBEBB-7ADD-43F2-B39C-9B67371B421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ABD6C4-0E47-4C11-B335-37AD75385BD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CD7092-23DF-49B4-A958-51FECDD8C1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805B38-4B77-4AA9-A6F9-AD76D6F247A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For independent means, estimate the difference directly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E65D74E-C314-450E-A1E0-81DC7429CE30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4762500" cy="3105150"/>
          </a:xfrm>
          <a:prstGeom prst="roundRect">
            <a:avLst>
              <a:gd name="adj" fmla="val 6135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4FBEA-8A34-4BD3-B1A1-32B523CC948B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392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Target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1E66F-BD02-4BCE-9D34-6A95F2A48939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3924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398"/>
          </a:bodyPr>
          <a:lstStyle/>
          <a:p>
            <a:pPr algn="ctr">
              <a:buNone/>
              <a:defRPr sz="46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65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μ₁ − μ₂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904F2-97C6-4D90-82EF-5D38F7D8E474}"/>
              </a:ext>
            </a:extLst>
          </p:cNvPr>
          <p:cNvSpPr>
            <a:spLocks noGrp="1"/>
          </p:cNvSpPr>
          <p:nvPr/>
        </p:nvSpPr>
        <p:spPr>
          <a:xfrm>
            <a:off x="1276350" y="3562350"/>
            <a:ext cx="3733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Estimate: x̄₁ − x̄₂</a:t>
            </a:r>
          </a:p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SE: √(s₁²/n₁ + s₂²/n₂)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40F3F6-EF8A-4E82-ABDA-76A1E4534DBB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039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Why Welch?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69A9CA-1722-4859-B542-052224E6A314}"/>
              </a:ext>
            </a:extLst>
          </p:cNvPr>
          <p:cNvSpPr>
            <a:spLocks noGrp="1"/>
          </p:cNvSpPr>
          <p:nvPr/>
        </p:nvSpPr>
        <p:spPr>
          <a:xfrm>
            <a:off x="6381750" y="2343150"/>
            <a:ext cx="4419600" cy="2076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8437"/>
          </a:bodyPr>
          <a:lstStyle/>
          <a:p>
            <a:pPr marL="27" indent="-18">
              <a:spcAft>
                <a:spcPts val="13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Does not require equal population variances.</a:t>
            </a:r>
          </a:p>
          <a:p>
            <a:pPr marL="27" indent="-18">
              <a:spcAft>
                <a:spcPts val="13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Retains the independent-samples estimand.</a:t>
            </a:r>
          </a:p>
          <a:p>
            <a:pPr marL="27" indent="-18">
              <a:spcAft>
                <a:spcPts val="13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Adjusts degrees of freedom to the estimated uncertainty.</a:t>
            </a:r>
          </a:p>
          <a:p>
            <a:pPr marL="27" indent="-18">
              <a:spcAft>
                <a:spcPts val="13"/>
              </a:spcAft>
              <a:buChar char="•"/>
              <a:defRPr sz="172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Still requires independent sampling units and a defensible mean target.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CD1327F-CCCE-47F9-B041-511D3345CA5E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9B9894-21C5-4251-B8BC-EC9A4BAD892B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CI for μ₁ − μ₂ should be reported with the group means and units.</a:t>
            </a:r>
          </a:p>
        </p:txBody>
      </p:sp>
    </p:spTree>
    <p:extLst>
      <p:ext uri="{BB962C8B-B14F-4D97-AF65-F5344CB8AC3E}">
        <p14:creationId xmlns:p14="http://schemas.microsoft.com/office/powerpoint/2010/main" val="1287140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88E0940-8549-4E5A-92DD-E1D5574C3B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BC7EDF-0B88-473F-ABA0-D6552808FE2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A0F17-E9A9-4CC2-8172-A8F8A684CDA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0F7C9E-48C8-4D04-BE7E-6A965C475DE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99FD2-CF22-4595-A40F-CD641406859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F8B1F-0953-42D6-BEC4-552E3C8BFC8F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ESTIMATION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24765-32F5-40F5-97A6-C1210BE47EB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3741A7-7CAF-408C-9CE5-33DA741F988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7A4A59-9433-454D-B947-E1897F43AB8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CB4C1C-8203-4EEE-95A5-CE3B55F41A7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For two proportions, report a decision-relevant effect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DEFFB9-D337-4E3A-93EF-BA506D785938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575631" cy="671513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EA0C08-FF33-41AF-8BEF-046635B10223}"/>
              </a:ext>
            </a:extLst>
          </p:cNvPr>
          <p:cNvSpPr>
            <a:spLocks noGrp="1"/>
          </p:cNvSpPr>
          <p:nvPr/>
        </p:nvSpPr>
        <p:spPr>
          <a:xfrm>
            <a:off x="781050" y="1647825"/>
            <a:ext cx="1461331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Scale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8A29F4-6D98-4B8B-9ABD-A58907A0A331}"/>
              </a:ext>
            </a:extLst>
          </p:cNvPr>
          <p:cNvSpPr>
            <a:spLocks noGrp="1"/>
          </p:cNvSpPr>
          <p:nvPr/>
        </p:nvSpPr>
        <p:spPr>
          <a:xfrm>
            <a:off x="2299531" y="1619250"/>
            <a:ext cx="1638656" cy="671513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9871E2-BF29-45AF-8979-F4BE74F54255}"/>
              </a:ext>
            </a:extLst>
          </p:cNvPr>
          <p:cNvSpPr>
            <a:spLocks noGrp="1"/>
          </p:cNvSpPr>
          <p:nvPr/>
        </p:nvSpPr>
        <p:spPr>
          <a:xfrm>
            <a:off x="2356681" y="1647825"/>
            <a:ext cx="1524356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Effect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779346-14F0-424C-9E74-ED5D23AE8479}"/>
              </a:ext>
            </a:extLst>
          </p:cNvPr>
          <p:cNvSpPr>
            <a:spLocks noGrp="1"/>
          </p:cNvSpPr>
          <p:nvPr/>
        </p:nvSpPr>
        <p:spPr>
          <a:xfrm>
            <a:off x="3938187" y="1619250"/>
            <a:ext cx="3529413" cy="671513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9B49C7-FB52-41FB-80E9-F2C7CF17B2F6}"/>
              </a:ext>
            </a:extLst>
          </p:cNvPr>
          <p:cNvSpPr>
            <a:spLocks noGrp="1"/>
          </p:cNvSpPr>
          <p:nvPr/>
        </p:nvSpPr>
        <p:spPr>
          <a:xfrm>
            <a:off x="3995337" y="1647825"/>
            <a:ext cx="3415113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Interpretation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10CD7F-E974-41AA-9AF1-C99D18811876}"/>
              </a:ext>
            </a:extLst>
          </p:cNvPr>
          <p:cNvSpPr>
            <a:spLocks noGrp="1"/>
          </p:cNvSpPr>
          <p:nvPr/>
        </p:nvSpPr>
        <p:spPr>
          <a:xfrm>
            <a:off x="723900" y="2290763"/>
            <a:ext cx="1575631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6ED473-CC43-4A5E-AFFC-4745FD6B0667}"/>
              </a:ext>
            </a:extLst>
          </p:cNvPr>
          <p:cNvSpPr>
            <a:spLocks noGrp="1"/>
          </p:cNvSpPr>
          <p:nvPr/>
        </p:nvSpPr>
        <p:spPr>
          <a:xfrm>
            <a:off x="781050" y="2319338"/>
            <a:ext cx="1461331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Difference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26FDBD-02F9-408E-B466-B64D9EA69F65}"/>
              </a:ext>
            </a:extLst>
          </p:cNvPr>
          <p:cNvSpPr>
            <a:spLocks noGrp="1"/>
          </p:cNvSpPr>
          <p:nvPr/>
        </p:nvSpPr>
        <p:spPr>
          <a:xfrm>
            <a:off x="2299531" y="2290763"/>
            <a:ext cx="1638656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28C9C6-FE23-4652-84A8-60706FF382F2}"/>
              </a:ext>
            </a:extLst>
          </p:cNvPr>
          <p:cNvSpPr>
            <a:spLocks noGrp="1"/>
          </p:cNvSpPr>
          <p:nvPr/>
        </p:nvSpPr>
        <p:spPr>
          <a:xfrm>
            <a:off x="2356681" y="2319338"/>
            <a:ext cx="1524356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p̂₁ − p̂₂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1FA2C9-D3F4-49B8-982F-533F931644D6}"/>
              </a:ext>
            </a:extLst>
          </p:cNvPr>
          <p:cNvSpPr>
            <a:spLocks noGrp="1"/>
          </p:cNvSpPr>
          <p:nvPr/>
        </p:nvSpPr>
        <p:spPr>
          <a:xfrm>
            <a:off x="3938187" y="2290763"/>
            <a:ext cx="3529413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37286-00C0-4C31-86DC-81342A5A79DE}"/>
              </a:ext>
            </a:extLst>
          </p:cNvPr>
          <p:cNvSpPr>
            <a:spLocks noGrp="1"/>
          </p:cNvSpPr>
          <p:nvPr/>
        </p:nvSpPr>
        <p:spPr>
          <a:xfrm>
            <a:off x="3995337" y="2319338"/>
            <a:ext cx="3415113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Percentage-point change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62D675-71B4-49E6-8641-96B33569794B}"/>
              </a:ext>
            </a:extLst>
          </p:cNvPr>
          <p:cNvSpPr>
            <a:spLocks noGrp="1"/>
          </p:cNvSpPr>
          <p:nvPr/>
        </p:nvSpPr>
        <p:spPr>
          <a:xfrm>
            <a:off x="723900" y="2962275"/>
            <a:ext cx="1575631" cy="671513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56AD7A-B551-4722-BEA6-1BAC1ABDED7F}"/>
              </a:ext>
            </a:extLst>
          </p:cNvPr>
          <p:cNvSpPr>
            <a:spLocks noGrp="1"/>
          </p:cNvSpPr>
          <p:nvPr/>
        </p:nvSpPr>
        <p:spPr>
          <a:xfrm>
            <a:off x="781050" y="2990850"/>
            <a:ext cx="1461331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Risk ratio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88F267-E5CD-41BD-9948-B6F779ADF56D}"/>
              </a:ext>
            </a:extLst>
          </p:cNvPr>
          <p:cNvSpPr>
            <a:spLocks noGrp="1"/>
          </p:cNvSpPr>
          <p:nvPr/>
        </p:nvSpPr>
        <p:spPr>
          <a:xfrm>
            <a:off x="2299531" y="2962275"/>
            <a:ext cx="1638656" cy="671513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BEF35E-EFAE-49F6-B807-041DDAA2B1BA}"/>
              </a:ext>
            </a:extLst>
          </p:cNvPr>
          <p:cNvSpPr>
            <a:spLocks noGrp="1"/>
          </p:cNvSpPr>
          <p:nvPr/>
        </p:nvSpPr>
        <p:spPr>
          <a:xfrm>
            <a:off x="2356681" y="2990850"/>
            <a:ext cx="1524356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p̂₁ / p̂₂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7DCDD6-385A-40B3-A57B-097EB18FA943}"/>
              </a:ext>
            </a:extLst>
          </p:cNvPr>
          <p:cNvSpPr>
            <a:spLocks noGrp="1"/>
          </p:cNvSpPr>
          <p:nvPr/>
        </p:nvSpPr>
        <p:spPr>
          <a:xfrm>
            <a:off x="3938187" y="2962275"/>
            <a:ext cx="3529413" cy="671513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468A8D-B921-4234-A404-68A05FBD4803}"/>
              </a:ext>
            </a:extLst>
          </p:cNvPr>
          <p:cNvSpPr>
            <a:spLocks noGrp="1"/>
          </p:cNvSpPr>
          <p:nvPr/>
        </p:nvSpPr>
        <p:spPr>
          <a:xfrm>
            <a:off x="3995337" y="2990850"/>
            <a:ext cx="3415113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Multiplicative change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48CD39-9D85-4A6B-9662-3E2C7641CBC0}"/>
              </a:ext>
            </a:extLst>
          </p:cNvPr>
          <p:cNvSpPr>
            <a:spLocks noGrp="1"/>
          </p:cNvSpPr>
          <p:nvPr/>
        </p:nvSpPr>
        <p:spPr>
          <a:xfrm>
            <a:off x="723900" y="3633788"/>
            <a:ext cx="1575631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47227-2FC8-41CC-A81A-8D47078E686C}"/>
              </a:ext>
            </a:extLst>
          </p:cNvPr>
          <p:cNvSpPr>
            <a:spLocks noGrp="1"/>
          </p:cNvSpPr>
          <p:nvPr/>
        </p:nvSpPr>
        <p:spPr>
          <a:xfrm>
            <a:off x="781050" y="3662363"/>
            <a:ext cx="1461331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Odds ratio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DA2A168-7C03-452E-814C-F278687C0452}"/>
              </a:ext>
            </a:extLst>
          </p:cNvPr>
          <p:cNvSpPr>
            <a:spLocks noGrp="1"/>
          </p:cNvSpPr>
          <p:nvPr/>
        </p:nvSpPr>
        <p:spPr>
          <a:xfrm>
            <a:off x="2299531" y="3633788"/>
            <a:ext cx="1638656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5DBCD7-963D-44AC-B16C-A2AAB81E0622}"/>
              </a:ext>
            </a:extLst>
          </p:cNvPr>
          <p:cNvSpPr>
            <a:spLocks noGrp="1"/>
          </p:cNvSpPr>
          <p:nvPr/>
        </p:nvSpPr>
        <p:spPr>
          <a:xfrm>
            <a:off x="2356681" y="3662363"/>
            <a:ext cx="1524356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odds₁ / odds₂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BE7429-7EBC-4991-A910-C5135F5D700E}"/>
              </a:ext>
            </a:extLst>
          </p:cNvPr>
          <p:cNvSpPr>
            <a:spLocks noGrp="1"/>
          </p:cNvSpPr>
          <p:nvPr/>
        </p:nvSpPr>
        <p:spPr>
          <a:xfrm>
            <a:off x="3938187" y="3633788"/>
            <a:ext cx="3529413" cy="671513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6B7553-DC21-4837-BB8B-714D43379F8A}"/>
              </a:ext>
            </a:extLst>
          </p:cNvPr>
          <p:cNvSpPr>
            <a:spLocks noGrp="1"/>
          </p:cNvSpPr>
          <p:nvPr/>
        </p:nvSpPr>
        <p:spPr>
          <a:xfrm>
            <a:off x="3995337" y="3662363"/>
            <a:ext cx="3415113" cy="6143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Change in odds; common in logistic models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9F980A9-5363-45A1-A40B-96BBB9BC3364}"/>
              </a:ext>
            </a:extLst>
          </p:cNvPr>
          <p:cNvSpPr>
            <a:spLocks noGrp="1"/>
          </p:cNvSpPr>
          <p:nvPr/>
        </p:nvSpPr>
        <p:spPr>
          <a:xfrm>
            <a:off x="8039100" y="1619250"/>
            <a:ext cx="3276600" cy="2686050"/>
          </a:xfrm>
          <a:prstGeom prst="roundRect">
            <a:avLst>
              <a:gd name="adj" fmla="val 638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5EF736-674D-4613-BFF1-7C2B98CC6857}"/>
              </a:ext>
            </a:extLst>
          </p:cNvPr>
          <p:cNvSpPr>
            <a:spLocks noGrp="1"/>
          </p:cNvSpPr>
          <p:nvPr/>
        </p:nvSpPr>
        <p:spPr>
          <a:xfrm>
            <a:off x="8420100" y="1924050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417"/>
          </a:bodyPr>
          <a:lstStyle/>
          <a:p>
            <a:pPr algn="ctr">
              <a:buNone/>
              <a:def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Large-sample Wald CI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51958C-8414-4F6D-B6E2-280C728648D5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2857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(p̂₁ − p̂₂) ± z*</a:t>
            </a:r>
          </a:p>
          <a:p>
            <a:pPr algn="ctr">
              <a:buNone/>
              <a:defRPr sz="18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√[p̂₁(1−p̂₁)/n₁ + p̂₂(1−p̂₂)/n₂]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D9913B-1F78-4EC3-9758-F4C5693C54B4}"/>
              </a:ext>
            </a:extLst>
          </p:cNvPr>
          <p:cNvSpPr>
            <a:spLocks noGrp="1"/>
          </p:cNvSpPr>
          <p:nvPr/>
        </p:nvSpPr>
        <p:spPr>
          <a:xfrm>
            <a:off x="8343900" y="37147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2128"/>
          </a:bodyPr>
          <a:lstStyle/>
          <a:p>
            <a:pPr algn="ctr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an unpooled SE for the CI.</a:t>
            </a:r>
          </a:p>
          <a:p>
            <a:pPr algn="ctr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Tests may use the null-constrained pooled SE.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A03A352-84A9-49F8-BEFA-65B5BC626165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0D62BC7-8E0E-4FD9-BB5B-D0A48F22D808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Sparse or extreme proportions: prefer score/Newcombe or suitable exact methods.</a:t>
            </a:r>
          </a:p>
        </p:txBody>
      </p:sp>
    </p:spTree>
    <p:extLst>
      <p:ext uri="{BB962C8B-B14F-4D97-AF65-F5344CB8AC3E}">
        <p14:creationId xmlns:p14="http://schemas.microsoft.com/office/powerpoint/2010/main" val="1914598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5DB78-DC2A-42E8-B3D5-B4B1C455A59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DE236-AB1A-454E-AE11-9B08D1814DB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34CE0-0DC7-4010-9689-71070E9752B4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Interval targets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A681F3-B8BC-4B37-9126-654D647A95C0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2A1BCA-4B6A-42A1-BFBF-F3C8CC088031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Confidence, credible, and predictive intervals may all use 95%, but they answer different questions and rely on different probability statements.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8AA3A-9A3C-441D-AFB6-F1E1AF6BF03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91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6DEA573-4DC7-401E-83F0-159D18CE1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B635F3-09E2-4BAC-B66E-CB5A6A8B432A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A8FE9-488F-405B-808A-F29A8BD131AC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F84F3-BA2D-4534-9BBD-9EE090A709A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70D17-68F0-4ED0-AC17-85D25EEB59EE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356707-819F-431A-A85C-E6197F26345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INTERVALS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7A48E6-C103-49F2-8E61-2091DE938F4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87A6DF-A04E-4F7E-AA03-43F4A22C8DA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A09F3A-E5ED-4CB7-99F4-64313F098E3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BF56AE9-4684-4105-9291-0850E1A474E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same 95% label can refer to three different targets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CF8DF-C911-46D8-97F0-DCB98B666BFD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705100" cy="73818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898311-5389-4E8D-8279-30079E09AFD8}"/>
              </a:ext>
            </a:extLst>
          </p:cNvPr>
          <p:cNvSpPr>
            <a:spLocks noGrp="1"/>
          </p:cNvSpPr>
          <p:nvPr/>
        </p:nvSpPr>
        <p:spPr>
          <a:xfrm>
            <a:off x="742950" y="1628775"/>
            <a:ext cx="2590800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Interval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D0C9AE-CAA2-43CF-80CE-D38A54897390}"/>
              </a:ext>
            </a:extLst>
          </p:cNvPr>
          <p:cNvSpPr>
            <a:spLocks noGrp="1"/>
          </p:cNvSpPr>
          <p:nvPr/>
        </p:nvSpPr>
        <p:spPr>
          <a:xfrm>
            <a:off x="3390900" y="1600200"/>
            <a:ext cx="3360882" cy="73818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14F50E-0080-41BA-AB97-837A1D553FF4}"/>
              </a:ext>
            </a:extLst>
          </p:cNvPr>
          <p:cNvSpPr>
            <a:spLocks noGrp="1"/>
          </p:cNvSpPr>
          <p:nvPr/>
        </p:nvSpPr>
        <p:spPr>
          <a:xfrm>
            <a:off x="3448050" y="1628775"/>
            <a:ext cx="3246582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B3269-2DDA-42F2-910D-75E39F62E54C}"/>
              </a:ext>
            </a:extLst>
          </p:cNvPr>
          <p:cNvSpPr>
            <a:spLocks noGrp="1"/>
          </p:cNvSpPr>
          <p:nvPr/>
        </p:nvSpPr>
        <p:spPr>
          <a:xfrm>
            <a:off x="6751782" y="1600200"/>
            <a:ext cx="4754418" cy="73818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86B02-196E-43B5-88BC-E4368F6DDD23}"/>
              </a:ext>
            </a:extLst>
          </p:cNvPr>
          <p:cNvSpPr>
            <a:spLocks noGrp="1"/>
          </p:cNvSpPr>
          <p:nvPr/>
        </p:nvSpPr>
        <p:spPr>
          <a:xfrm>
            <a:off x="6808932" y="1628775"/>
            <a:ext cx="4640118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Probability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912291-53EB-4679-BBDF-09959CC73FFA}"/>
              </a:ext>
            </a:extLst>
          </p:cNvPr>
          <p:cNvSpPr>
            <a:spLocks noGrp="1"/>
          </p:cNvSpPr>
          <p:nvPr/>
        </p:nvSpPr>
        <p:spPr>
          <a:xfrm>
            <a:off x="685800" y="2338388"/>
            <a:ext cx="2705100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6BF662-DD8B-4885-86EB-AA14584CEE96}"/>
              </a:ext>
            </a:extLst>
          </p:cNvPr>
          <p:cNvSpPr>
            <a:spLocks noGrp="1"/>
          </p:cNvSpPr>
          <p:nvPr/>
        </p:nvSpPr>
        <p:spPr>
          <a:xfrm>
            <a:off x="742950" y="2366963"/>
            <a:ext cx="2590800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Frequentist confidence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491F70-874E-441B-AEE1-A0796B935C90}"/>
              </a:ext>
            </a:extLst>
          </p:cNvPr>
          <p:cNvSpPr>
            <a:spLocks noGrp="1"/>
          </p:cNvSpPr>
          <p:nvPr/>
        </p:nvSpPr>
        <p:spPr>
          <a:xfrm>
            <a:off x="3390900" y="2338388"/>
            <a:ext cx="3360882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C82175-69AA-4985-A004-AF796A1A616D}"/>
              </a:ext>
            </a:extLst>
          </p:cNvPr>
          <p:cNvSpPr>
            <a:spLocks noGrp="1"/>
          </p:cNvSpPr>
          <p:nvPr/>
        </p:nvSpPr>
        <p:spPr>
          <a:xfrm>
            <a:off x="3448050" y="2366963"/>
            <a:ext cx="3246582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Fixed parameter 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B754C-F802-449F-BAD8-D7572A6DE094}"/>
              </a:ext>
            </a:extLst>
          </p:cNvPr>
          <p:cNvSpPr>
            <a:spLocks noGrp="1"/>
          </p:cNvSpPr>
          <p:nvPr/>
        </p:nvSpPr>
        <p:spPr>
          <a:xfrm>
            <a:off x="6751782" y="2338388"/>
            <a:ext cx="4754418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F5E166-EB35-4708-A1D1-F0AF0B4F1B48}"/>
              </a:ext>
            </a:extLst>
          </p:cNvPr>
          <p:cNvSpPr>
            <a:spLocks noGrp="1"/>
          </p:cNvSpPr>
          <p:nvPr/>
        </p:nvSpPr>
        <p:spPr>
          <a:xfrm>
            <a:off x="6808932" y="2366963"/>
            <a:ext cx="4640118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Procedure covers μ in 95% of repetitions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FEFDB1-C037-4DC3-8C47-A21C116E4BEC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2705100" cy="73818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51C81A-9F57-48AC-AB1A-C6E7165F62B4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2590800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Bayesian credible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2E7066-7F86-4549-A82E-F996BD7D1E39}"/>
              </a:ext>
            </a:extLst>
          </p:cNvPr>
          <p:cNvSpPr>
            <a:spLocks noGrp="1"/>
          </p:cNvSpPr>
          <p:nvPr/>
        </p:nvSpPr>
        <p:spPr>
          <a:xfrm>
            <a:off x="3390900" y="3076575"/>
            <a:ext cx="3360882" cy="73818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DE332A-19D1-47A0-BFCF-380336D87F91}"/>
              </a:ext>
            </a:extLst>
          </p:cNvPr>
          <p:cNvSpPr>
            <a:spLocks noGrp="1"/>
          </p:cNvSpPr>
          <p:nvPr/>
        </p:nvSpPr>
        <p:spPr>
          <a:xfrm>
            <a:off x="3448050" y="3105150"/>
            <a:ext cx="3246582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Parameter μ under prior + likelihood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402B93-3E98-48F7-9868-2F5DCB30606F}"/>
              </a:ext>
            </a:extLst>
          </p:cNvPr>
          <p:cNvSpPr>
            <a:spLocks noGrp="1"/>
          </p:cNvSpPr>
          <p:nvPr/>
        </p:nvSpPr>
        <p:spPr>
          <a:xfrm>
            <a:off x="6751782" y="3076575"/>
            <a:ext cx="4754418" cy="73818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93CC0-D3D6-4432-888A-A4C64265EBE4}"/>
              </a:ext>
            </a:extLst>
          </p:cNvPr>
          <p:cNvSpPr>
            <a:spLocks noGrp="1"/>
          </p:cNvSpPr>
          <p:nvPr/>
        </p:nvSpPr>
        <p:spPr>
          <a:xfrm>
            <a:off x="6808932" y="3105150"/>
            <a:ext cx="4640118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P(μ lies in the interval | data) = 95%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3D1748-BD58-48B9-A7B1-0AC337F2A59A}"/>
              </a:ext>
            </a:extLst>
          </p:cNvPr>
          <p:cNvSpPr>
            <a:spLocks noGrp="1"/>
          </p:cNvSpPr>
          <p:nvPr/>
        </p:nvSpPr>
        <p:spPr>
          <a:xfrm>
            <a:off x="685800" y="3814763"/>
            <a:ext cx="2705100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30B8C1-EA0F-4389-994C-28F470AB7332}"/>
              </a:ext>
            </a:extLst>
          </p:cNvPr>
          <p:cNvSpPr>
            <a:spLocks noGrp="1"/>
          </p:cNvSpPr>
          <p:nvPr/>
        </p:nvSpPr>
        <p:spPr>
          <a:xfrm>
            <a:off x="742950" y="3843338"/>
            <a:ext cx="2590800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Predictive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AE8F8F-F4DE-4FFA-A17B-54A776D8D7AC}"/>
              </a:ext>
            </a:extLst>
          </p:cNvPr>
          <p:cNvSpPr>
            <a:spLocks noGrp="1"/>
          </p:cNvSpPr>
          <p:nvPr/>
        </p:nvSpPr>
        <p:spPr>
          <a:xfrm>
            <a:off x="3390900" y="3814763"/>
            <a:ext cx="3360882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6E7711-8B94-4D33-ACD9-49B0FAB6D024}"/>
              </a:ext>
            </a:extLst>
          </p:cNvPr>
          <p:cNvSpPr>
            <a:spLocks noGrp="1"/>
          </p:cNvSpPr>
          <p:nvPr/>
        </p:nvSpPr>
        <p:spPr>
          <a:xfrm>
            <a:off x="3448050" y="3843338"/>
            <a:ext cx="3246582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Future observation Ynew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D78689-7C1F-4266-8952-67EAB1C952B4}"/>
              </a:ext>
            </a:extLst>
          </p:cNvPr>
          <p:cNvSpPr>
            <a:spLocks noGrp="1"/>
          </p:cNvSpPr>
          <p:nvPr/>
        </p:nvSpPr>
        <p:spPr>
          <a:xfrm>
            <a:off x="6751782" y="3814763"/>
            <a:ext cx="4754418" cy="73818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C4EE01-1FF0-4FAA-BD46-7E97C4AB3429}"/>
              </a:ext>
            </a:extLst>
          </p:cNvPr>
          <p:cNvSpPr>
            <a:spLocks noGrp="1"/>
          </p:cNvSpPr>
          <p:nvPr/>
        </p:nvSpPr>
        <p:spPr>
          <a:xfrm>
            <a:off x="6808932" y="3843338"/>
            <a:ext cx="4640118" cy="681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Bayesian: P(Ynew ∈ I | data)=.95; frequentist: 95% long-run coverage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3E75E7-BF54-407F-AA95-C2437752721C}"/>
              </a:ext>
            </a:extLst>
          </p:cNvPr>
          <p:cNvSpPr>
            <a:spLocks noGrp="1"/>
          </p:cNvSpPr>
          <p:nvPr/>
        </p:nvSpPr>
        <p:spPr>
          <a:xfrm>
            <a:off x="1143000" y="4857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1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Usually narrower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F6B8BE-2AF9-4323-9726-79F7A3EA636B}"/>
              </a:ext>
            </a:extLst>
          </p:cNvPr>
          <p:cNvSpPr>
            <a:spLocks noGrp="1"/>
          </p:cNvSpPr>
          <p:nvPr/>
        </p:nvSpPr>
        <p:spPr>
          <a:xfrm>
            <a:off x="3238500" y="4972050"/>
            <a:ext cx="5715000" cy="28575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C362FDC-F7AD-4C3A-8616-67393022A7A1}"/>
              </a:ext>
            </a:extLst>
          </p:cNvPr>
          <p:cNvSpPr>
            <a:spLocks noGrp="1"/>
          </p:cNvSpPr>
          <p:nvPr/>
        </p:nvSpPr>
        <p:spPr>
          <a:xfrm>
            <a:off x="4953000" y="4895850"/>
            <a:ext cx="2476500" cy="171450"/>
          </a:xfrm>
          <a:prstGeom prst="roundRect">
            <a:avLst>
              <a:gd name="adj" fmla="val 44444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82D38D9-65CE-46B0-B894-F487C02F1BEE}"/>
              </a:ext>
            </a:extLst>
          </p:cNvPr>
          <p:cNvSpPr>
            <a:spLocks noGrp="1"/>
          </p:cNvSpPr>
          <p:nvPr/>
        </p:nvSpPr>
        <p:spPr>
          <a:xfrm>
            <a:off x="4000500" y="5219700"/>
            <a:ext cx="4381500" cy="171450"/>
          </a:xfrm>
          <a:prstGeom prst="roundRect">
            <a:avLst>
              <a:gd name="adj" fmla="val 44444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12AFA52-96D3-4009-AB95-ACC233D29424}"/>
              </a:ext>
            </a:extLst>
          </p:cNvPr>
          <p:cNvSpPr>
            <a:spLocks noGrp="1"/>
          </p:cNvSpPr>
          <p:nvPr/>
        </p:nvSpPr>
        <p:spPr>
          <a:xfrm>
            <a:off x="4953000" y="46672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00" b="1" i="0">
                <a:solidFill>
                  <a:srgbClr val="0074C8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74C8"/>
                </a:solidFill>
                <a:latin typeface="Sofia Sans"/>
                <a:ea typeface="Sofia Sans"/>
                <a:cs typeface="Sofia Sans"/>
              </a:rPr>
              <a:t>Parameter interval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9FECEB-1A20-442F-9DA8-58EA8C18FD36}"/>
              </a:ext>
            </a:extLst>
          </p:cNvPr>
          <p:cNvSpPr>
            <a:spLocks noGrp="1"/>
          </p:cNvSpPr>
          <p:nvPr/>
        </p:nvSpPr>
        <p:spPr>
          <a:xfrm>
            <a:off x="3714750" y="5429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7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00A4B3"/>
                </a:solidFill>
                <a:latin typeface="Sofia Sans"/>
                <a:ea typeface="Sofia Sans"/>
                <a:cs typeface="Sofia Sans"/>
              </a:rPr>
              <a:t>Predictive interval: parameter uncertainty + outcome noise</a:t>
            </a:r>
          </a:p>
        </p:txBody>
      </p:sp>
    </p:spTree>
    <p:extLst>
      <p:ext uri="{BB962C8B-B14F-4D97-AF65-F5344CB8AC3E}">
        <p14:creationId xmlns:p14="http://schemas.microsoft.com/office/powerpoint/2010/main" val="517400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B30B939-D590-4E77-9A6F-E01ED7843D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07A969-677D-408F-B958-9095413DA57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65453D-C1CB-46E1-B539-5FBD6FF5228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2D2718-88A8-4A9B-83D3-ED053673F8B0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2F961-ECB8-4756-8F69-0B440C3525D8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C1A1D7-5DF1-42B9-B6E9-38578579D8E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BAYESIAN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6FF30-A90A-4AA4-A208-89FB3574248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9B9AA4-1986-4D36-A309-DAD75A0E8B0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87D2A2-639F-44B7-9F6B-41FE8481216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09288-26C1-417E-8DA5-6CD1EC13696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48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Bayesian inference updates uncertainty rather than erasing it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18B6845-45A2-4CC1-A250-E244C36B32D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105150" cy="2343150"/>
          </a:xfrm>
          <a:prstGeom prst="roundRect">
            <a:avLst>
              <a:gd name="adj" fmla="val 8130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469D56-137B-4088-AFDC-F1E480338D11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Prior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9AE203-C746-4B54-BF05-B0CD546ECEE7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2457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was plausible before these data?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A6099-8B0C-48E9-AA01-5BD9C0281513}"/>
              </a:ext>
            </a:extLst>
          </p:cNvPr>
          <p:cNvSpPr>
            <a:spLocks noGrp="1"/>
          </p:cNvSpPr>
          <p:nvPr/>
        </p:nvSpPr>
        <p:spPr>
          <a:xfrm>
            <a:off x="3886200" y="2628900"/>
            <a:ext cx="419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60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rPr>
              <a:t>×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825C0D-AE1C-4D7F-B4E3-4813B6E5D4B8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3105150" cy="2343150"/>
          </a:xfrm>
          <a:prstGeom prst="roundRect">
            <a:avLst>
              <a:gd name="adj" fmla="val 8130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86571-91C3-43E5-9B4B-B6C4DF7CFBD9}"/>
              </a:ext>
            </a:extLst>
          </p:cNvPr>
          <p:cNvSpPr>
            <a:spLocks noGrp="1"/>
          </p:cNvSpPr>
          <p:nvPr/>
        </p:nvSpPr>
        <p:spPr>
          <a:xfrm>
            <a:off x="4705350" y="21336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0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Likelihood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1E3F2-1391-41CD-8B83-F6F1D3792BFF}"/>
              </a:ext>
            </a:extLst>
          </p:cNvPr>
          <p:cNvSpPr>
            <a:spLocks noGrp="1"/>
          </p:cNvSpPr>
          <p:nvPr/>
        </p:nvSpPr>
        <p:spPr>
          <a:xfrm>
            <a:off x="4743450" y="2895600"/>
            <a:ext cx="2457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compatible are the data with each parameter value?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6ACF16-B0F6-424F-B1F7-76D62013172C}"/>
              </a:ext>
            </a:extLst>
          </p:cNvPr>
          <p:cNvSpPr>
            <a:spLocks noGrp="1"/>
          </p:cNvSpPr>
          <p:nvPr/>
        </p:nvSpPr>
        <p:spPr>
          <a:xfrm>
            <a:off x="7620000" y="2628900"/>
            <a:ext cx="419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5195"/>
          </a:bodyPr>
          <a:lstStyle/>
          <a:p>
            <a:pPr algn="ctr">
              <a:buNone/>
              <a:defRPr sz="360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60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rP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2EB5F1A-B634-42C6-BCEF-07C478B3F2CE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3105150" cy="2343150"/>
          </a:xfrm>
          <a:prstGeom prst="roundRect">
            <a:avLst>
              <a:gd name="adj" fmla="val 8130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5DBEB1-D3F4-4AE4-965D-2D01FB6258C6}"/>
              </a:ext>
            </a:extLst>
          </p:cNvPr>
          <p:cNvSpPr>
            <a:spLocks noGrp="1"/>
          </p:cNvSpPr>
          <p:nvPr/>
        </p:nvSpPr>
        <p:spPr>
          <a:xfrm>
            <a:off x="8439150" y="21336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Posterior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5170D-2FBD-4E10-9D40-950AFAC5DCE1}"/>
              </a:ext>
            </a:extLst>
          </p:cNvPr>
          <p:cNvSpPr>
            <a:spLocks noGrp="1"/>
          </p:cNvSpPr>
          <p:nvPr/>
        </p:nvSpPr>
        <p:spPr>
          <a:xfrm>
            <a:off x="8477250" y="2895600"/>
            <a:ext cx="2457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What is plausible after combining both?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C9834D-39C0-4A00-905A-101AB66C785B}"/>
              </a:ext>
            </a:extLst>
          </p:cNvPr>
          <p:cNvSpPr>
            <a:spLocks noGrp="1"/>
          </p:cNvSpPr>
          <p:nvPr/>
        </p:nvSpPr>
        <p:spPr>
          <a:xfrm>
            <a:off x="2095500" y="464820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6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6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posterior(θ | data) ∝ likelihood(data | θ) × prior(θ)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4C0FBD-260F-4E8A-AA79-4433495A9F00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A26958-50B9-4826-AC33-3F7CB23C1B36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 posterior statement is conditional on the prior, likelihood, and observed data.</a:t>
            </a:r>
          </a:p>
        </p:txBody>
      </p:sp>
    </p:spTree>
    <p:extLst>
      <p:ext uri="{BB962C8B-B14F-4D97-AF65-F5344CB8AC3E}">
        <p14:creationId xmlns:p14="http://schemas.microsoft.com/office/powerpoint/2010/main" val="468160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7125CD2-05B7-46CF-B5B6-63CAD245B4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2B2C8-C46A-48C9-ACE5-04609A2141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EFFCAE-3802-4F2E-AC49-858C6F1957C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6F9C5-6D94-41E2-B24E-34DC1DCF5531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C278BB-AC32-4181-A6F0-EFD54EA6EA0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C7B686-44BF-4D00-A587-B3B4C5BC3418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BAYESIAN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03E03-DA1F-49DA-A41B-EDD98E93E9F0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13B54A-ADF3-4B66-8E20-BBB32F9313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BF879C-88D8-4BB2-9601-8F3385F9993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F9072E-0257-47F6-9F29-432A5505D2F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401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Beta prior and Binomial likelihood yield a Beta posterior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781050" y="1600200"/>
          <a:ext cx="71247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286825B-0211-4149-8BDF-1EA47FE19BF8}"/>
              </a:ext>
            </a:extLst>
          </p:cNvPr>
          <p:cNvSpPr>
            <a:spLocks noGrp="1"/>
          </p:cNvSpPr>
          <p:nvPr/>
        </p:nvSpPr>
        <p:spPr>
          <a:xfrm>
            <a:off x="8439150" y="1657350"/>
            <a:ext cx="2800350" cy="2857500"/>
          </a:xfrm>
          <a:prstGeom prst="roundRect">
            <a:avLst>
              <a:gd name="adj" fmla="val 6122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46497-1239-4FDD-A382-485408C04AEE}"/>
              </a:ext>
            </a:extLst>
          </p:cNvPr>
          <p:cNvSpPr>
            <a:spLocks noGrp="1"/>
          </p:cNvSpPr>
          <p:nvPr/>
        </p:nvSpPr>
        <p:spPr>
          <a:xfrm>
            <a:off x="8839200" y="194310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Example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F9ACB7-BF0D-4D30-B57A-43304DB2C406}"/>
              </a:ext>
            </a:extLst>
          </p:cNvPr>
          <p:cNvSpPr>
            <a:spLocks noGrp="1"/>
          </p:cNvSpPr>
          <p:nvPr/>
        </p:nvSpPr>
        <p:spPr>
          <a:xfrm>
            <a:off x="8705850" y="2590800"/>
            <a:ext cx="22669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126"/>
          </a:bodyPr>
          <a:lstStyle/>
          <a:p>
            <a:pPr algn="ctr">
              <a:buNone/>
              <a:def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Prior: Beta(10,10)</a:t>
            </a:r>
          </a:p>
          <a:p>
            <a:pPr algn="ctr">
              <a:buNone/>
              <a:def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Data: 18 of 30</a:t>
            </a:r>
          </a:p>
          <a:p>
            <a:pPr algn="ctr">
              <a:buNone/>
              <a:def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Posterior: Beta(28,22)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D72361-6209-4AD2-8A6E-B6329F8081DC}"/>
              </a:ext>
            </a:extLst>
          </p:cNvPr>
          <p:cNvSpPr>
            <a:spLocks noGrp="1"/>
          </p:cNvSpPr>
          <p:nvPr/>
        </p:nvSpPr>
        <p:spPr>
          <a:xfrm>
            <a:off x="8648700" y="37909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9250"/>
          </a:bodyPr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Posterior mean = 0.56</a:t>
            </a:r>
          </a:p>
          <a:p>
            <a:pPr algn="ctr">
              <a:buNone/>
              <a:defRPr sz="12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95% equal-tail interval ≈ [0.42, 0.69]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79BCE4-A2F3-43E2-8F75-474C834ECC80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2AB02-CE78-454B-ADFD-D9E481E71B7C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Conjugacy makes the update transparent: add successes and failures to the prior counts.</a:t>
            </a:r>
          </a:p>
        </p:txBody>
      </p:sp>
    </p:spTree>
    <p:extLst>
      <p:ext uri="{BB962C8B-B14F-4D97-AF65-F5344CB8AC3E}">
        <p14:creationId xmlns:p14="http://schemas.microsoft.com/office/powerpoint/2010/main" val="155850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83F8B30-711E-4090-A7B3-78F466958C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FEA457-F536-459A-B45F-7B584C11253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683863-1B80-45CB-9EB6-EDCD5731E14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EF6BE-A9DA-438A-9547-2AE9117D39C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A0813B-B3BF-4C8E-B086-D6FED2AF40F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DF1E41-87FF-43D2-B468-DAC3F595960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BAYESIAN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F64F1-B84B-4E52-80CE-416F4CA2AAD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B64EBD-4BC8-4472-BC6A-E21BFEA107D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CB80F-FA17-4510-BAE8-69B4AF56F3A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CFFD160-7D0F-4084-A0EC-B3A99E264D5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99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Prediction adds future outcome noise to parameter uncertainty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EC451F5-6078-48F2-8BE2-4F01D93810D4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4762500" cy="2781300"/>
          </a:xfrm>
          <a:prstGeom prst="roundRect">
            <a:avLst>
              <a:gd name="adj" fmla="val 6164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13C0E2-EAAD-4943-9076-8DB2CAF24A06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3962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Posterior interval for 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81085-BED4-4BC6-A5EA-BD798BACAA9F}"/>
              </a:ext>
            </a:extLst>
          </p:cNvPr>
          <p:cNvSpPr>
            <a:spLocks noGrp="1"/>
          </p:cNvSpPr>
          <p:nvPr/>
        </p:nvSpPr>
        <p:spPr>
          <a:xfrm>
            <a:off x="1485900" y="3200400"/>
            <a:ext cx="333375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A22B0-8246-458D-A432-055D5CDA24F4}"/>
              </a:ext>
            </a:extLst>
          </p:cNvPr>
          <p:cNvSpPr>
            <a:spLocks noGrp="1"/>
          </p:cNvSpPr>
          <p:nvPr/>
        </p:nvSpPr>
        <p:spPr>
          <a:xfrm>
            <a:off x="2892743" y="3181350"/>
            <a:ext cx="903446" cy="5715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309C80-87D7-4149-83AF-471318A089E8}"/>
              </a:ext>
            </a:extLst>
          </p:cNvPr>
          <p:cNvSpPr>
            <a:spLocks noGrp="1"/>
          </p:cNvSpPr>
          <p:nvPr/>
        </p:nvSpPr>
        <p:spPr>
          <a:xfrm>
            <a:off x="2883218" y="3114675"/>
            <a:ext cx="19050" cy="19050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C9BF3-EFED-4707-B4F2-CDC0ED8296E2}"/>
              </a:ext>
            </a:extLst>
          </p:cNvPr>
          <p:cNvSpPr>
            <a:spLocks noGrp="1"/>
          </p:cNvSpPr>
          <p:nvPr/>
        </p:nvSpPr>
        <p:spPr>
          <a:xfrm>
            <a:off x="3786664" y="3114675"/>
            <a:ext cx="19050" cy="190500"/>
          </a:xfrm>
          <a:prstGeom prst="rect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F72EC8-0745-4EBC-871F-608EFF07DA36}"/>
              </a:ext>
            </a:extLst>
          </p:cNvPr>
          <p:cNvSpPr>
            <a:spLocks noGrp="1"/>
          </p:cNvSpPr>
          <p:nvPr/>
        </p:nvSpPr>
        <p:spPr>
          <a:xfrm>
            <a:off x="3295650" y="3143250"/>
            <a:ext cx="114300" cy="1143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D8EF18-9E43-41C5-B8B7-3F1431E79987}"/>
              </a:ext>
            </a:extLst>
          </p:cNvPr>
          <p:cNvSpPr>
            <a:spLocks noGrp="1"/>
          </p:cNvSpPr>
          <p:nvPr/>
        </p:nvSpPr>
        <p:spPr>
          <a:xfrm>
            <a:off x="1371600" y="3314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E4A2E-57D5-4242-8A96-52C6BCF2C9CD}"/>
              </a:ext>
            </a:extLst>
          </p:cNvPr>
          <p:cNvSpPr>
            <a:spLocks noGrp="1"/>
          </p:cNvSpPr>
          <p:nvPr/>
        </p:nvSpPr>
        <p:spPr>
          <a:xfrm>
            <a:off x="4362450" y="3314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7FF8D9-5525-48E1-8455-F2C32B86DD9F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3771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7963"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values of the success probability remain plausible?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98081A2-317D-4335-B519-F01FC6479BE5}"/>
              </a:ext>
            </a:extLst>
          </p:cNvPr>
          <p:cNvSpPr>
            <a:spLocks noGrp="1"/>
          </p:cNvSpPr>
          <p:nvPr/>
        </p:nvSpPr>
        <p:spPr>
          <a:xfrm>
            <a:off x="6115050" y="1695450"/>
            <a:ext cx="5238750" cy="2781300"/>
          </a:xfrm>
          <a:prstGeom prst="roundRect">
            <a:avLst>
              <a:gd name="adj" fmla="val 6164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8FF53E-E879-4E21-A3DF-5C2FD6B5EB1F}"/>
              </a:ext>
            </a:extLst>
          </p:cNvPr>
          <p:cNvSpPr>
            <a:spLocks noGrp="1"/>
          </p:cNvSpPr>
          <p:nvPr/>
        </p:nvSpPr>
        <p:spPr>
          <a:xfrm>
            <a:off x="6515100" y="2038350"/>
            <a:ext cx="4438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Posterior predictive interval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292BCB-14CF-4AC1-A585-BAB46447F0EE}"/>
              </a:ext>
            </a:extLst>
          </p:cNvPr>
          <p:cNvSpPr>
            <a:spLocks noGrp="1"/>
          </p:cNvSpPr>
          <p:nvPr/>
        </p:nvSpPr>
        <p:spPr>
          <a:xfrm>
            <a:off x="7086600" y="3200400"/>
            <a:ext cx="333375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DB16291-3FBC-4AE4-AFA6-A36FCC5C1E45}"/>
              </a:ext>
            </a:extLst>
          </p:cNvPr>
          <p:cNvSpPr>
            <a:spLocks noGrp="1"/>
          </p:cNvSpPr>
          <p:nvPr/>
        </p:nvSpPr>
        <p:spPr>
          <a:xfrm>
            <a:off x="8086725" y="3181350"/>
            <a:ext cx="1666875" cy="5715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2FCC0-B454-41C7-ADA1-D451DEDD2128}"/>
              </a:ext>
            </a:extLst>
          </p:cNvPr>
          <p:cNvSpPr>
            <a:spLocks noGrp="1"/>
          </p:cNvSpPr>
          <p:nvPr/>
        </p:nvSpPr>
        <p:spPr>
          <a:xfrm>
            <a:off x="8077200" y="311467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150B20-916C-4431-A858-9EBC35EA3FEE}"/>
              </a:ext>
            </a:extLst>
          </p:cNvPr>
          <p:cNvSpPr>
            <a:spLocks noGrp="1"/>
          </p:cNvSpPr>
          <p:nvPr/>
        </p:nvSpPr>
        <p:spPr>
          <a:xfrm>
            <a:off x="9744075" y="311467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79758B-EDB4-4378-87F6-98BDA9F91C77}"/>
              </a:ext>
            </a:extLst>
          </p:cNvPr>
          <p:cNvSpPr>
            <a:spLocks noGrp="1"/>
          </p:cNvSpPr>
          <p:nvPr/>
        </p:nvSpPr>
        <p:spPr>
          <a:xfrm>
            <a:off x="8896350" y="3143250"/>
            <a:ext cx="114300" cy="1143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3617D3-CD77-4C50-ADF2-7FEDCF092E06}"/>
              </a:ext>
            </a:extLst>
          </p:cNvPr>
          <p:cNvSpPr>
            <a:spLocks noGrp="1"/>
          </p:cNvSpPr>
          <p:nvPr/>
        </p:nvSpPr>
        <p:spPr>
          <a:xfrm>
            <a:off x="6972300" y="3314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939CF5-4AEA-4DD2-BEC3-77672E48A4C3}"/>
              </a:ext>
            </a:extLst>
          </p:cNvPr>
          <p:cNvSpPr>
            <a:spLocks noGrp="1"/>
          </p:cNvSpPr>
          <p:nvPr/>
        </p:nvSpPr>
        <p:spPr>
          <a:xfrm>
            <a:off x="9963150" y="33147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20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7D62ED-A102-43C5-B1EF-4C80418172D9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3943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For 20 future trials: about 6 to 16 successes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B5C694A-0DDF-491E-8709-DE1BD612D259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FDAE4E-4EE6-4285-A91A-CFBD320EDEFD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 future observation varies even if the parameter were known exactly.</a:t>
            </a:r>
          </a:p>
        </p:txBody>
      </p:sp>
    </p:spTree>
    <p:extLst>
      <p:ext uri="{BB962C8B-B14F-4D97-AF65-F5344CB8AC3E}">
        <p14:creationId xmlns:p14="http://schemas.microsoft.com/office/powerpoint/2010/main" val="1583374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F669C5A-4500-4ADA-B26D-A01DCB3C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2CC34A-5441-4B80-94D1-594D7EEF8EB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E8756A-AFBD-4397-AB7E-66E7F683DEA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9C019C-CAF3-4679-9E78-1FAF86C60A50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E730B-ECCC-4978-898F-25EA6CD4096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D5889-9637-4FCF-BDCC-853D3E43623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INTERVALS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426117-4D47-42AD-ABB0-1108149D734A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4ACA9-C5B0-4341-B178-CFE53B2C4AA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5636DB-5080-4B85-82E5-F05F8358E2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4E1C20-DBE2-4498-A494-56F2168ECE1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09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Bootstrap intervals extend estimation to complex statistics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E4EDF6-FC32-427C-9CD5-F4628E8B3EE1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5524500" cy="3390900"/>
          </a:xfrm>
          <a:prstGeom prst="roundRect">
            <a:avLst>
              <a:gd name="adj" fmla="val 4494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330F42-F13A-4735-AEE8-3DE79C32FB1C}"/>
              </a:ext>
            </a:extLst>
          </p:cNvPr>
          <p:cNvSpPr>
            <a:spLocks noGrp="1"/>
          </p:cNvSpPr>
          <p:nvPr/>
        </p:nvSpPr>
        <p:spPr>
          <a:xfrm>
            <a:off x="933450" y="1714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SCIPY BOOTSTRAP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89D8B2-BADB-4C02-8C8E-EE69E4F6E5EA}"/>
              </a:ext>
            </a:extLst>
          </p:cNvPr>
          <p:cNvSpPr>
            <a:spLocks noGrp="1"/>
          </p:cNvSpPr>
          <p:nvPr/>
        </p:nvSpPr>
        <p:spPr>
          <a:xfrm>
            <a:off x="914400" y="2019300"/>
            <a:ext cx="5143500" cy="281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numpy as np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scipy.stats import bootstrap</a:t>
            </a:r>
          </a:p>
          <a:p>
            <a:endParaRPr sz="1350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rng = np.random.default_rng(500)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 = bootstrap(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(x,), np.median,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n_resamples=10_000,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method="BCa", rng=rng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  <a:def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res.confidence_interval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CE4C5F-5E0B-47A8-A0A6-B3F165769567}"/>
              </a:ext>
            </a:extLst>
          </p:cNvPr>
          <p:cNvSpPr>
            <a:spLocks noGrp="1"/>
          </p:cNvSpPr>
          <p:nvPr/>
        </p:nvSpPr>
        <p:spPr>
          <a:xfrm>
            <a:off x="6724650" y="1657350"/>
            <a:ext cx="1112734" cy="6810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994EFB-737E-4D2A-BDED-89507783CB57}"/>
              </a:ext>
            </a:extLst>
          </p:cNvPr>
          <p:cNvSpPr>
            <a:spLocks noGrp="1"/>
          </p:cNvSpPr>
          <p:nvPr/>
        </p:nvSpPr>
        <p:spPr>
          <a:xfrm>
            <a:off x="6781800" y="1685925"/>
            <a:ext cx="99843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Method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1E4531-2105-4E16-9EF4-EFA678BAC09E}"/>
              </a:ext>
            </a:extLst>
          </p:cNvPr>
          <p:cNvSpPr>
            <a:spLocks noGrp="1"/>
          </p:cNvSpPr>
          <p:nvPr/>
        </p:nvSpPr>
        <p:spPr>
          <a:xfrm>
            <a:off x="7837384" y="1657350"/>
            <a:ext cx="1780374" cy="6810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1783DD-4776-4421-BBB1-063339AC65DC}"/>
              </a:ext>
            </a:extLst>
          </p:cNvPr>
          <p:cNvSpPr>
            <a:spLocks noGrp="1"/>
          </p:cNvSpPr>
          <p:nvPr/>
        </p:nvSpPr>
        <p:spPr>
          <a:xfrm>
            <a:off x="7894534" y="1685925"/>
            <a:ext cx="166607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Idea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109B00-D0FF-431E-B598-126078310081}"/>
              </a:ext>
            </a:extLst>
          </p:cNvPr>
          <p:cNvSpPr>
            <a:spLocks noGrp="1"/>
          </p:cNvSpPr>
          <p:nvPr/>
        </p:nvSpPr>
        <p:spPr>
          <a:xfrm>
            <a:off x="9617757" y="1657350"/>
            <a:ext cx="1869393" cy="681038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3EDBB-2DFB-4334-BA26-CDF8D92F2C0C}"/>
              </a:ext>
            </a:extLst>
          </p:cNvPr>
          <p:cNvSpPr>
            <a:spLocks noGrp="1"/>
          </p:cNvSpPr>
          <p:nvPr/>
        </p:nvSpPr>
        <p:spPr>
          <a:xfrm>
            <a:off x="9674907" y="1685925"/>
            <a:ext cx="1755093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Watch for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53B489-A316-4355-BBC7-E80D6CEC2AB6}"/>
              </a:ext>
            </a:extLst>
          </p:cNvPr>
          <p:cNvSpPr>
            <a:spLocks noGrp="1"/>
          </p:cNvSpPr>
          <p:nvPr/>
        </p:nvSpPr>
        <p:spPr>
          <a:xfrm>
            <a:off x="6724650" y="2338388"/>
            <a:ext cx="1112734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AF955E-86A2-414F-9ADD-EEC5800FB094}"/>
              </a:ext>
            </a:extLst>
          </p:cNvPr>
          <p:cNvSpPr>
            <a:spLocks noGrp="1"/>
          </p:cNvSpPr>
          <p:nvPr/>
        </p:nvSpPr>
        <p:spPr>
          <a:xfrm>
            <a:off x="6781800" y="2366963"/>
            <a:ext cx="99843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Percentile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5E528A-4E3C-497C-8F9A-D0969F0B536B}"/>
              </a:ext>
            </a:extLst>
          </p:cNvPr>
          <p:cNvSpPr>
            <a:spLocks noGrp="1"/>
          </p:cNvSpPr>
          <p:nvPr/>
        </p:nvSpPr>
        <p:spPr>
          <a:xfrm>
            <a:off x="7837384" y="2338388"/>
            <a:ext cx="1780374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67FDFC-43F4-4EDB-A70F-CE3DE9713483}"/>
              </a:ext>
            </a:extLst>
          </p:cNvPr>
          <p:cNvSpPr>
            <a:spLocks noGrp="1"/>
          </p:cNvSpPr>
          <p:nvPr/>
        </p:nvSpPr>
        <p:spPr>
          <a:xfrm>
            <a:off x="7894534" y="2366963"/>
            <a:ext cx="166607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Use bootstrap quantiles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482FAC-BE1D-4B88-9DA8-DB34EB639C8E}"/>
              </a:ext>
            </a:extLst>
          </p:cNvPr>
          <p:cNvSpPr>
            <a:spLocks noGrp="1"/>
          </p:cNvSpPr>
          <p:nvPr/>
        </p:nvSpPr>
        <p:spPr>
          <a:xfrm>
            <a:off x="9617757" y="2338388"/>
            <a:ext cx="1869393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76FBF-BC2E-45E4-8FC0-538708B652B6}"/>
              </a:ext>
            </a:extLst>
          </p:cNvPr>
          <p:cNvSpPr>
            <a:spLocks noGrp="1"/>
          </p:cNvSpPr>
          <p:nvPr/>
        </p:nvSpPr>
        <p:spPr>
          <a:xfrm>
            <a:off x="9674907" y="2366963"/>
            <a:ext cx="1755093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Bias/skew can reduce coverage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83325B-14BF-4717-A5EF-E540F4994B5C}"/>
              </a:ext>
            </a:extLst>
          </p:cNvPr>
          <p:cNvSpPr>
            <a:spLocks noGrp="1"/>
          </p:cNvSpPr>
          <p:nvPr/>
        </p:nvSpPr>
        <p:spPr>
          <a:xfrm>
            <a:off x="6724650" y="3019425"/>
            <a:ext cx="1112734" cy="6810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AF7EAF-3756-4362-8BC9-CEB02891223A}"/>
              </a:ext>
            </a:extLst>
          </p:cNvPr>
          <p:cNvSpPr>
            <a:spLocks noGrp="1"/>
          </p:cNvSpPr>
          <p:nvPr/>
        </p:nvSpPr>
        <p:spPr>
          <a:xfrm>
            <a:off x="6781800" y="3048000"/>
            <a:ext cx="99843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Basic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D0F6EC-02E3-47D2-BB11-7A20CD50CB26}"/>
              </a:ext>
            </a:extLst>
          </p:cNvPr>
          <p:cNvSpPr>
            <a:spLocks noGrp="1"/>
          </p:cNvSpPr>
          <p:nvPr/>
        </p:nvSpPr>
        <p:spPr>
          <a:xfrm>
            <a:off x="7837384" y="3019425"/>
            <a:ext cx="1780374" cy="6810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E16A9A-377D-4997-A0E0-3BF83F004A5B}"/>
              </a:ext>
            </a:extLst>
          </p:cNvPr>
          <p:cNvSpPr>
            <a:spLocks noGrp="1"/>
          </p:cNvSpPr>
          <p:nvPr/>
        </p:nvSpPr>
        <p:spPr>
          <a:xfrm>
            <a:off x="7894534" y="3048000"/>
            <a:ext cx="166607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Reflect percentile errors around estimate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8F843A-49D8-41A5-A659-883DF12E9A6A}"/>
              </a:ext>
            </a:extLst>
          </p:cNvPr>
          <p:cNvSpPr>
            <a:spLocks noGrp="1"/>
          </p:cNvSpPr>
          <p:nvPr/>
        </p:nvSpPr>
        <p:spPr>
          <a:xfrm>
            <a:off x="9617757" y="3019425"/>
            <a:ext cx="1869393" cy="681038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F1CFA2-2A52-4CDD-A668-C8CA6B5BCEA9}"/>
              </a:ext>
            </a:extLst>
          </p:cNvPr>
          <p:cNvSpPr>
            <a:spLocks noGrp="1"/>
          </p:cNvSpPr>
          <p:nvPr/>
        </p:nvSpPr>
        <p:spPr>
          <a:xfrm>
            <a:off x="9674907" y="3048000"/>
            <a:ext cx="1755093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Still sensitive to shape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7E31DA-1DCA-43E2-BA7E-CDCBA07341EA}"/>
              </a:ext>
            </a:extLst>
          </p:cNvPr>
          <p:cNvSpPr>
            <a:spLocks noGrp="1"/>
          </p:cNvSpPr>
          <p:nvPr/>
        </p:nvSpPr>
        <p:spPr>
          <a:xfrm>
            <a:off x="6724650" y="3700463"/>
            <a:ext cx="1112734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AF961D-7292-4AB5-A1D7-9F1BB10D055D}"/>
              </a:ext>
            </a:extLst>
          </p:cNvPr>
          <p:cNvSpPr>
            <a:spLocks noGrp="1"/>
          </p:cNvSpPr>
          <p:nvPr/>
        </p:nvSpPr>
        <p:spPr>
          <a:xfrm>
            <a:off x="6781800" y="3729038"/>
            <a:ext cx="99843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BCa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025FB0-7123-450A-A1FA-A7441612F966}"/>
              </a:ext>
            </a:extLst>
          </p:cNvPr>
          <p:cNvSpPr>
            <a:spLocks noGrp="1"/>
          </p:cNvSpPr>
          <p:nvPr/>
        </p:nvSpPr>
        <p:spPr>
          <a:xfrm>
            <a:off x="7837384" y="3700463"/>
            <a:ext cx="1780374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85D489-C618-40AC-8215-EE09EBA9B77E}"/>
              </a:ext>
            </a:extLst>
          </p:cNvPr>
          <p:cNvSpPr>
            <a:spLocks noGrp="1"/>
          </p:cNvSpPr>
          <p:nvPr/>
        </p:nvSpPr>
        <p:spPr>
          <a:xfrm>
            <a:off x="7894534" y="3729038"/>
            <a:ext cx="1666074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Bias-corrected and accelerated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07B347-CC0C-438E-A8DD-E5621F5B551F}"/>
              </a:ext>
            </a:extLst>
          </p:cNvPr>
          <p:cNvSpPr>
            <a:spLocks noGrp="1"/>
          </p:cNvSpPr>
          <p:nvPr/>
        </p:nvSpPr>
        <p:spPr>
          <a:xfrm>
            <a:off x="9617757" y="3700463"/>
            <a:ext cx="1869393" cy="681038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BAB6CF-5DE1-4BB7-B557-10DD69876686}"/>
              </a:ext>
            </a:extLst>
          </p:cNvPr>
          <p:cNvSpPr>
            <a:spLocks noGrp="1"/>
          </p:cNvSpPr>
          <p:nvPr/>
        </p:nvSpPr>
        <p:spPr>
          <a:xfrm>
            <a:off x="9674907" y="3729038"/>
            <a:ext cx="1755093" cy="6238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Needs stable statistic and resampling unit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E8BEF-7587-4782-98EA-A21461603911}"/>
              </a:ext>
            </a:extLst>
          </p:cNvPr>
          <p:cNvSpPr>
            <a:spLocks noGrp="1"/>
          </p:cNvSpPr>
          <p:nvPr/>
        </p:nvSpPr>
        <p:spPr>
          <a:xfrm>
            <a:off x="6915150" y="4629150"/>
            <a:ext cx="436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Bootstrap does not repair bias, dependence, or missing subgroups.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43A5FBC-C2BE-4ECC-B05F-165E1DB99DEB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84142F-F4F5-4CFF-BC70-F15CE07E15B6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Resample the independent study unit, then diagnose the bootstrap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177534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8763834-8FB4-4E7A-BB51-1211DBA01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8F2F8-2F34-4192-B07F-163ED6A22711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067232-3634-4B2E-8521-B100C63B27C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C6188-0C87-4F6B-878B-3D7E6B5CB712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619876-13BA-4DFE-A029-9C072A7C022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219187-A6F2-47AD-BDFA-23C154AE530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BE0B4-5D0E-4836-A96C-C805CE112A3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28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401ADE-73E3-44A5-8FF3-E5206A0AA63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333118-9F32-4967-AA2A-DE7BD82A585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CFBCA5-F37C-4D16-B38D-397EAB98FDE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883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an interval from the estimand and probability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83421B-8328-4F7A-AE99-A75564358607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5015895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3790B1-ED36-4DBA-B53B-76E294B8833D}"/>
              </a:ext>
            </a:extLst>
          </p:cNvPr>
          <p:cNvSpPr>
            <a:spLocks noGrp="1"/>
          </p:cNvSpPr>
          <p:nvPr/>
        </p:nvSpPr>
        <p:spPr>
          <a:xfrm>
            <a:off x="704850" y="1552575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B00FCF-4942-4A54-B7F9-31EB9EDE3A63}"/>
              </a:ext>
            </a:extLst>
          </p:cNvPr>
          <p:cNvSpPr>
            <a:spLocks noGrp="1"/>
          </p:cNvSpPr>
          <p:nvPr/>
        </p:nvSpPr>
        <p:spPr>
          <a:xfrm>
            <a:off x="5663595" y="1524000"/>
            <a:ext cx="2075543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BA22FB-4D4F-4594-9475-CDB260AA287B}"/>
              </a:ext>
            </a:extLst>
          </p:cNvPr>
          <p:cNvSpPr>
            <a:spLocks noGrp="1"/>
          </p:cNvSpPr>
          <p:nvPr/>
        </p:nvSpPr>
        <p:spPr>
          <a:xfrm>
            <a:off x="5720745" y="1552575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10769-8986-4010-9F9F-B3B5A5ADE6A5}"/>
              </a:ext>
            </a:extLst>
          </p:cNvPr>
          <p:cNvSpPr>
            <a:spLocks noGrp="1"/>
          </p:cNvSpPr>
          <p:nvPr/>
        </p:nvSpPr>
        <p:spPr>
          <a:xfrm>
            <a:off x="7739138" y="1524000"/>
            <a:ext cx="3805162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08522-63AA-4705-ADF4-BA02CFA3A205}"/>
              </a:ext>
            </a:extLst>
          </p:cNvPr>
          <p:cNvSpPr>
            <a:spLocks noGrp="1"/>
          </p:cNvSpPr>
          <p:nvPr/>
        </p:nvSpPr>
        <p:spPr>
          <a:xfrm>
            <a:off x="7796288" y="1552575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Candidate interval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D99E6D-8B7E-4A23-88BA-268BDD040FB1}"/>
              </a:ext>
            </a:extLst>
          </p:cNvPr>
          <p:cNvSpPr>
            <a:spLocks noGrp="1"/>
          </p:cNvSpPr>
          <p:nvPr/>
        </p:nvSpPr>
        <p:spPr>
          <a:xfrm>
            <a:off x="647700" y="2143125"/>
            <a:ext cx="501589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3D207B-C9A1-4B51-AF10-6812CDC47791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is the population mean?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C46457-E59D-4162-897F-3201CFB780F6}"/>
              </a:ext>
            </a:extLst>
          </p:cNvPr>
          <p:cNvSpPr>
            <a:spLocks noGrp="1"/>
          </p:cNvSpPr>
          <p:nvPr/>
        </p:nvSpPr>
        <p:spPr>
          <a:xfrm>
            <a:off x="5663595" y="2143125"/>
            <a:ext cx="207554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1ED47C-7C71-4FDC-9B88-BB59851BCB3C}"/>
              </a:ext>
            </a:extLst>
          </p:cNvPr>
          <p:cNvSpPr>
            <a:spLocks noGrp="1"/>
          </p:cNvSpPr>
          <p:nvPr/>
        </p:nvSpPr>
        <p:spPr>
          <a:xfrm>
            <a:off x="5720745" y="2171700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5317B7-50E7-4125-A072-D714D3E50A8E}"/>
              </a:ext>
            </a:extLst>
          </p:cNvPr>
          <p:cNvSpPr>
            <a:spLocks noGrp="1"/>
          </p:cNvSpPr>
          <p:nvPr/>
        </p:nvSpPr>
        <p:spPr>
          <a:xfrm>
            <a:off x="7739138" y="2143125"/>
            <a:ext cx="3805162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8D0C95-C811-4F73-A279-0BD0F4947DEC}"/>
              </a:ext>
            </a:extLst>
          </p:cNvPr>
          <p:cNvSpPr>
            <a:spLocks noGrp="1"/>
          </p:cNvSpPr>
          <p:nvPr/>
        </p:nvSpPr>
        <p:spPr>
          <a:xfrm>
            <a:off x="7796288" y="2171700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 confidence interval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149305-994E-4BF8-8C28-901E7053BD84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5015895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72979-6A23-4A31-9F6D-73D3C3DDB8DC}"/>
              </a:ext>
            </a:extLst>
          </p:cNvPr>
          <p:cNvSpPr>
            <a:spLocks noGrp="1"/>
          </p:cNvSpPr>
          <p:nvPr/>
        </p:nvSpPr>
        <p:spPr>
          <a:xfrm>
            <a:off x="704850" y="2790825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is the difference between two group means?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301B12-FDE2-48A1-8E68-7EFFBC899843}"/>
              </a:ext>
            </a:extLst>
          </p:cNvPr>
          <p:cNvSpPr>
            <a:spLocks noGrp="1"/>
          </p:cNvSpPr>
          <p:nvPr/>
        </p:nvSpPr>
        <p:spPr>
          <a:xfrm>
            <a:off x="5663595" y="2762250"/>
            <a:ext cx="2075543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E3C319-A8C6-4EE5-B187-44E883B6904A}"/>
              </a:ext>
            </a:extLst>
          </p:cNvPr>
          <p:cNvSpPr>
            <a:spLocks noGrp="1"/>
          </p:cNvSpPr>
          <p:nvPr/>
        </p:nvSpPr>
        <p:spPr>
          <a:xfrm>
            <a:off x="5720745" y="2790825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μ₁ − μ₂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22C011-69CC-4642-87F4-D39B815FCD61}"/>
              </a:ext>
            </a:extLst>
          </p:cNvPr>
          <p:cNvSpPr>
            <a:spLocks noGrp="1"/>
          </p:cNvSpPr>
          <p:nvPr/>
        </p:nvSpPr>
        <p:spPr>
          <a:xfrm>
            <a:off x="7739138" y="2762250"/>
            <a:ext cx="3805162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EDDDE6-E1D6-48C0-A393-C36F072B4A84}"/>
              </a:ext>
            </a:extLst>
          </p:cNvPr>
          <p:cNvSpPr>
            <a:spLocks noGrp="1"/>
          </p:cNvSpPr>
          <p:nvPr/>
        </p:nvSpPr>
        <p:spPr>
          <a:xfrm>
            <a:off x="7796288" y="2790825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Welch confidence interval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A2976B-B815-46F7-B7DA-D77B86C5AC79}"/>
              </a:ext>
            </a:extLst>
          </p:cNvPr>
          <p:cNvSpPr>
            <a:spLocks noGrp="1"/>
          </p:cNvSpPr>
          <p:nvPr/>
        </p:nvSpPr>
        <p:spPr>
          <a:xfrm>
            <a:off x="647700" y="3381375"/>
            <a:ext cx="501589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C96C33-5D71-4327-81E0-2018D349D35B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Given a prior and data, what values of π are plausible?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8B4379-7001-4E20-8366-64ECE91260A5}"/>
              </a:ext>
            </a:extLst>
          </p:cNvPr>
          <p:cNvSpPr>
            <a:spLocks noGrp="1"/>
          </p:cNvSpPr>
          <p:nvPr/>
        </p:nvSpPr>
        <p:spPr>
          <a:xfrm>
            <a:off x="5663595" y="3381375"/>
            <a:ext cx="207554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D40E76-6997-4FD2-8DC9-0D3B1C8BA946}"/>
              </a:ext>
            </a:extLst>
          </p:cNvPr>
          <p:cNvSpPr>
            <a:spLocks noGrp="1"/>
          </p:cNvSpPr>
          <p:nvPr/>
        </p:nvSpPr>
        <p:spPr>
          <a:xfrm>
            <a:off x="5720745" y="3409950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π |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BA1FE7-4F91-4751-97C1-05BC321AFE40}"/>
              </a:ext>
            </a:extLst>
          </p:cNvPr>
          <p:cNvSpPr>
            <a:spLocks noGrp="1"/>
          </p:cNvSpPr>
          <p:nvPr/>
        </p:nvSpPr>
        <p:spPr>
          <a:xfrm>
            <a:off x="7739138" y="3381375"/>
            <a:ext cx="3805162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76CEF3-A98C-4919-8B56-F616F0DBA459}"/>
              </a:ext>
            </a:extLst>
          </p:cNvPr>
          <p:cNvSpPr>
            <a:spLocks noGrp="1"/>
          </p:cNvSpPr>
          <p:nvPr/>
        </p:nvSpPr>
        <p:spPr>
          <a:xfrm>
            <a:off x="7796288" y="3409950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Beta posterior credible interval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97DAE6-9B19-441D-86C8-341EAC0EA170}"/>
              </a:ext>
            </a:extLst>
          </p:cNvPr>
          <p:cNvSpPr>
            <a:spLocks noGrp="1"/>
          </p:cNvSpPr>
          <p:nvPr/>
        </p:nvSpPr>
        <p:spPr>
          <a:xfrm>
            <a:off x="647700" y="4000500"/>
            <a:ext cx="5015895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E2701D-DB18-41BE-8AC2-EA595B36ED26}"/>
              </a:ext>
            </a:extLst>
          </p:cNvPr>
          <p:cNvSpPr>
            <a:spLocks noGrp="1"/>
          </p:cNvSpPr>
          <p:nvPr/>
        </p:nvSpPr>
        <p:spPr>
          <a:xfrm>
            <a:off x="704850" y="4029075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many successes might occur in 20 future trials?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419500-DE3C-4A8A-B0A6-909AE501627D}"/>
              </a:ext>
            </a:extLst>
          </p:cNvPr>
          <p:cNvSpPr>
            <a:spLocks noGrp="1"/>
          </p:cNvSpPr>
          <p:nvPr/>
        </p:nvSpPr>
        <p:spPr>
          <a:xfrm>
            <a:off x="5663595" y="4000500"/>
            <a:ext cx="2075543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FDE995-2517-414F-836D-A391EE6F1982}"/>
              </a:ext>
            </a:extLst>
          </p:cNvPr>
          <p:cNvSpPr>
            <a:spLocks noGrp="1"/>
          </p:cNvSpPr>
          <p:nvPr/>
        </p:nvSpPr>
        <p:spPr>
          <a:xfrm>
            <a:off x="5720745" y="4029075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Ynew | data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B04E2E-3A34-4C2D-A332-DCEBDBF7F858}"/>
              </a:ext>
            </a:extLst>
          </p:cNvPr>
          <p:cNvSpPr>
            <a:spLocks noGrp="1"/>
          </p:cNvSpPr>
          <p:nvPr/>
        </p:nvSpPr>
        <p:spPr>
          <a:xfrm>
            <a:off x="7739138" y="4000500"/>
            <a:ext cx="3805162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C5DBB6B-17BA-405A-8DE3-1B5FF4EE0E2C}"/>
              </a:ext>
            </a:extLst>
          </p:cNvPr>
          <p:cNvSpPr>
            <a:spLocks noGrp="1"/>
          </p:cNvSpPr>
          <p:nvPr/>
        </p:nvSpPr>
        <p:spPr>
          <a:xfrm>
            <a:off x="7796288" y="4029075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Beta-binomial predictive interval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E50F9C-DE62-4ADE-8032-4991789BAFD3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5015895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B5753D-A268-42B7-8486-DAA767FFC6D4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490159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What is the sampling uncertainty of a median?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CC0157-E781-43FD-9C57-897885DAD8CB}"/>
              </a:ext>
            </a:extLst>
          </p:cNvPr>
          <p:cNvSpPr>
            <a:spLocks noGrp="1"/>
          </p:cNvSpPr>
          <p:nvPr/>
        </p:nvSpPr>
        <p:spPr>
          <a:xfrm>
            <a:off x="5663595" y="4619625"/>
            <a:ext cx="207554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3B2CF8-013C-4762-81D8-8A22F7B9959C}"/>
              </a:ext>
            </a:extLst>
          </p:cNvPr>
          <p:cNvSpPr>
            <a:spLocks noGrp="1"/>
          </p:cNvSpPr>
          <p:nvPr/>
        </p:nvSpPr>
        <p:spPr>
          <a:xfrm>
            <a:off x="5720745" y="4648200"/>
            <a:ext cx="196124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median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DDA803-11C0-46CA-AB74-668FF66D2091}"/>
              </a:ext>
            </a:extLst>
          </p:cNvPr>
          <p:cNvSpPr>
            <a:spLocks noGrp="1"/>
          </p:cNvSpPr>
          <p:nvPr/>
        </p:nvSpPr>
        <p:spPr>
          <a:xfrm>
            <a:off x="7739138" y="4619625"/>
            <a:ext cx="3805162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5DF5E4-170A-4D90-AADA-FAE50A11CBD2}"/>
              </a:ext>
            </a:extLst>
          </p:cNvPr>
          <p:cNvSpPr>
            <a:spLocks noGrp="1"/>
          </p:cNvSpPr>
          <p:nvPr/>
        </p:nvSpPr>
        <p:spPr>
          <a:xfrm>
            <a:off x="7796288" y="4648200"/>
            <a:ext cx="3690862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Bootstrap confidence interval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4EECEB1-D3AA-462C-A159-3C8AB8C46363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3EEA00-265B-41EF-9BD9-EF93ECFBA1FF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Do not choose a method until the target and sampling unit are explicit.</a:t>
            </a:r>
          </a:p>
        </p:txBody>
      </p:sp>
    </p:spTree>
    <p:extLst>
      <p:ext uri="{BB962C8B-B14F-4D97-AF65-F5344CB8AC3E}">
        <p14:creationId xmlns:p14="http://schemas.microsoft.com/office/powerpoint/2010/main" val="1912843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025170-6269-4CAF-9455-C8691844C06D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21EC11-DB3E-4F2F-983E-8D46761CC45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1ED3A-4170-4267-AFF4-30E53BD6E641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Significance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802A8-B49A-4BBD-8B26-9855C5CF9A83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E4813-4571-49AD-BC44-BFADC9963241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 test compares the observed statistic with a null model. It is one component of evidence—not a machine for declaring truth or causation.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07D46-638D-4F2C-B0C4-86C48847C67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11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B5A4C7A-FC13-42EC-8DEF-028D262FD4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01178-4CBF-49E6-B9CC-69B9F2A70F2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0C73AA-60E2-40C0-B89B-EBECFBDEB1DC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BCE3F7-DF49-4BE9-B5CE-E23EAF2C6E4C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4830D7-AF32-45E3-8B88-B693AA81266E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AB5D7-119B-45AD-AED9-901239F29862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E38153-4C67-468B-B5B8-F1733903924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DD2D48-3047-4116-B6F8-893379FE842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71B69C-360A-4F6B-B896-B905C4C0BE0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FB8391-D4D6-4D23-8EF2-8E1C1EE1BB7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030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hypothesis test is a five-step argument, not a software button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05EF2D-4365-4733-8465-27DFE3E28497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514350" cy="5143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5B59E-D59D-460A-BDA3-F885961EF666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C6C7A-15A3-4585-89B7-A5EC0E260FC5}"/>
              </a:ext>
            </a:extLst>
          </p:cNvPr>
          <p:cNvSpPr>
            <a:spLocks noGrp="1"/>
          </p:cNvSpPr>
          <p:nvPr/>
        </p:nvSpPr>
        <p:spPr>
          <a:xfrm>
            <a:off x="1752600" y="15430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Specify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D91540-6F4F-4E5E-AF22-EA33FEEAC372}"/>
              </a:ext>
            </a:extLst>
          </p:cNvPr>
          <p:cNvSpPr>
            <a:spLocks noGrp="1"/>
          </p:cNvSpPr>
          <p:nvPr/>
        </p:nvSpPr>
        <p:spPr>
          <a:xfrm>
            <a:off x="3714750" y="154305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Parameter, H₀, Hₐ, direction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CBCFF4-F64E-43C9-9536-1A2B4C6E1C6D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514350" cy="5143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F0674C-77A5-486A-B722-1152142910F2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63FFF9-F3A6-4CCE-84AB-E039FC5DFA7A}"/>
              </a:ext>
            </a:extLst>
          </p:cNvPr>
          <p:cNvSpPr>
            <a:spLocks noGrp="1"/>
          </p:cNvSpPr>
          <p:nvPr/>
        </p:nvSpPr>
        <p:spPr>
          <a:xfrm>
            <a:off x="1752600" y="232410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BF4067-2256-428A-BEE9-C3664385788C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Sampling unit, assumptions, α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72CF19-794C-4A21-98D0-7086F012CA17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514350" cy="5143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35699D-E5AC-49CD-A07C-C2EFC6AF214B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ACA281-1A8F-4C9F-B0B5-0A7BA07E2F77}"/>
              </a:ext>
            </a:extLst>
          </p:cNvPr>
          <p:cNvSpPr>
            <a:spLocks noGrp="1"/>
          </p:cNvSpPr>
          <p:nvPr/>
        </p:nvSpPr>
        <p:spPr>
          <a:xfrm>
            <a:off x="1752600" y="31051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Compute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1154CA-1148-4039-AC2B-966F973111E8}"/>
              </a:ext>
            </a:extLst>
          </p:cNvPr>
          <p:cNvSpPr>
            <a:spLocks noGrp="1"/>
          </p:cNvSpPr>
          <p:nvPr/>
        </p:nvSpPr>
        <p:spPr>
          <a:xfrm>
            <a:off x="3714750" y="310515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Statistic and reference distribution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384734-71BD-46FA-B5C1-F7CC36A239D3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514350" cy="51435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68C502-938F-4324-B25C-96485EB489F2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6C59A9-C501-4FB0-9153-35C1859F5098}"/>
              </a:ext>
            </a:extLst>
          </p:cNvPr>
          <p:cNvSpPr>
            <a:spLocks noGrp="1"/>
          </p:cNvSpPr>
          <p:nvPr/>
        </p:nvSpPr>
        <p:spPr>
          <a:xfrm>
            <a:off x="1752600" y="388620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B25CB5-3701-4CA0-8B58-371A3316AAD7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p-value, effect size, CI, diagnostics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E33BEA-7557-4C0D-83EB-F25C7AA2E81E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514350" cy="51435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E1612A-50C7-42BB-8E42-9756C211BE3B}"/>
              </a:ext>
            </a:extLst>
          </p:cNvPr>
          <p:cNvSpPr>
            <a:spLocks noGrp="1"/>
          </p:cNvSpPr>
          <p:nvPr/>
        </p:nvSpPr>
        <p:spPr>
          <a:xfrm>
            <a:off x="895350" y="464820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2B2D3F-B5E4-4369-801D-1FBB22BF920D}"/>
              </a:ext>
            </a:extLst>
          </p:cNvPr>
          <p:cNvSpPr>
            <a:spLocks noGrp="1"/>
          </p:cNvSpPr>
          <p:nvPr/>
        </p:nvSpPr>
        <p:spPr>
          <a:xfrm>
            <a:off x="1752600" y="46672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Conclude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DBDCFA-9310-423B-84C9-1DEED89DD87B}"/>
              </a:ext>
            </a:extLst>
          </p:cNvPr>
          <p:cNvSpPr>
            <a:spLocks noGrp="1"/>
          </p:cNvSpPr>
          <p:nvPr/>
        </p:nvSpPr>
        <p:spPr>
          <a:xfrm>
            <a:off x="3714750" y="4667250"/>
            <a:ext cx="704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Contextual evidence and limitations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7BD3BB5-9824-4F48-A983-8E5AE45B2C01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24C7F2-0024-4BB0-B410-256DA7589F61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State the alternative before looking at the result; one-sided tests require advance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251206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FEA1DC-7B54-4878-BF7C-0FBC51534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6BD17C-3138-4CE9-BCEA-468F1B7A4A5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A7502-90ED-4953-8577-07365F31895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65701-65C9-4389-AD2A-BD717D99319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A2D84-6FF7-4CD5-94BB-A96B8A9DED64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BFA29-B612-42E4-B767-9FDC3D735439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8F26C-1C3B-4072-B2EF-97E4617AE02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BC4FA9-A216-4BC5-8198-E8DBF5AF331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4A1E2-76D9-490D-A66A-A43F233CEEF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49D9F4-902B-4D6E-A1B0-5D72E4457CE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084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test a climate-change proportion and report the interval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2F843A-4180-46A1-901F-EABD8B174D9D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6381750" cy="3714750"/>
          </a:xfrm>
          <a:prstGeom prst="roundRect">
            <a:avLst>
              <a:gd name="adj" fmla="val 4103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D6785-ABC2-4BF4-8D60-69EBC3FCA345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STATSMODELS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50BA0-F7AB-4627-B6A3-C3CE7E2EB0A9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6000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statsmodels.stats.proportion import (</a:t>
            </a:r>
          </a:p>
          <a:p>
            <a:r>
              <a:t>    proportions_ztest, proportion_confint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313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z, p = proportions_ztest(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count=524, nobs=1008, value=0.50</a:t>
            </a:r>
          </a:p>
          <a:p>
            <a:r>
              <a:t>)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ci = proportion_confint(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524, 1008, method="wilson"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270C3F-6F27-4458-A3BD-C9A2BFAA9C99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790950" cy="3181350"/>
          </a:xfrm>
          <a:prstGeom prst="roundRect">
            <a:avLst>
              <a:gd name="adj" fmla="val 538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07D50-57FE-44A3-96BB-D8D9D1813C9B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137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Read the result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D390C-FF34-49B1-B818-9AAAA2C1E554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30670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6207"/>
          </a:bodyPr>
          <a:lstStyle/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p̂ = 0.5198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z = 1.2609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two-sided p = 0.2074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95% Wilson CI = [0.4890, 0.5505]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endParaRPr sz="1575">
              <a:solidFill>
                <a:srgbClr val="17324D"/>
              </a:solidFill>
              <a:latin typeface="Sofia Sans"/>
              <a:ea typeface="Sofia Sans"/>
              <a:cs typeface="Sofia Sans"/>
            </a:endParaRP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Evidence is insufficient to show π differs from 0.50; this does not prove π = 0.50.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5F73FE-3563-442D-BFC5-CDC5627DD837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F7E33C-B87B-4BD0-9E71-A77CFEEF1CF4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3140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Report the estimate, interval, p-value, alternative, design assumptions, and practical meaning together. · Textbook §5.2.2; Appendix B5.1</a:t>
            </a:r>
          </a:p>
        </p:txBody>
      </p:sp>
    </p:spTree>
    <p:extLst>
      <p:ext uri="{BB962C8B-B14F-4D97-AF65-F5344CB8AC3E}">
        <p14:creationId xmlns:p14="http://schemas.microsoft.com/office/powerpoint/2010/main" val="69561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6B08013-A3C2-4250-8DDC-AF74E59335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83CDD5-7F62-4A22-813E-D39F4CC181E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72894-C896-4655-BA74-2DBC9F68DEBE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B5E2DA-B0BE-4FE4-AF2F-23A6347365FF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46FCD2-D60B-44FB-A22A-5C3B23CEA6BA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26076-E953-47D9-B0FF-5E3806E5E07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CD0F3-E86E-42C1-85A1-E2073C17B7A8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C73EA-858F-478E-96A4-42B3C050685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27B89C-C628-4D91-BB97-E053413FA2D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A14EED-4E3D-4719-8C4C-BB56A9CC80F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p-value measures extremeness under the null model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762000" y="1619250"/>
          <a:ext cx="68580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D74C793C-64AE-470D-9445-91B11853FAE4}"/>
              </a:ext>
            </a:extLst>
          </p:cNvPr>
          <p:cNvSpPr>
            <a:spLocks noGrp="1"/>
          </p:cNvSpPr>
          <p:nvPr/>
        </p:nvSpPr>
        <p:spPr>
          <a:xfrm>
            <a:off x="5962650" y="2019300"/>
            <a:ext cx="28575" cy="219075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814F00-6D34-433F-8325-EADDA4FC6760}"/>
              </a:ext>
            </a:extLst>
          </p:cNvPr>
          <p:cNvSpPr>
            <a:spLocks noGrp="1"/>
          </p:cNvSpPr>
          <p:nvPr/>
        </p:nvSpPr>
        <p:spPr>
          <a:xfrm>
            <a:off x="5372100" y="1752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417"/>
          </a:bodyPr>
          <a:lstStyle/>
          <a:p>
            <a:pPr algn="ctr">
              <a:buNone/>
              <a:defRPr sz="11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observed statistic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FCCC37-446A-4F3A-A1AC-2650921AC2C5}"/>
              </a:ext>
            </a:extLst>
          </p:cNvPr>
          <p:cNvSpPr>
            <a:spLocks noGrp="1"/>
          </p:cNvSpPr>
          <p:nvPr/>
        </p:nvSpPr>
        <p:spPr>
          <a:xfrm>
            <a:off x="8134350" y="1676400"/>
            <a:ext cx="3105150" cy="2971800"/>
          </a:xfrm>
          <a:prstGeom prst="roundRect">
            <a:avLst>
              <a:gd name="adj" fmla="val 6410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155A47-3D73-41D7-A554-3C41F1C8696C}"/>
              </a:ext>
            </a:extLst>
          </p:cNvPr>
          <p:cNvSpPr>
            <a:spLocks noGrp="1"/>
          </p:cNvSpPr>
          <p:nvPr/>
        </p:nvSpPr>
        <p:spPr>
          <a:xfrm>
            <a:off x="8591550" y="19812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958"/>
          </a:bodyPr>
          <a:lstStyle/>
          <a:p>
            <a:pPr algn="ctr">
              <a:buNone/>
              <a:def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4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Definition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421A13-D67C-4158-ADF4-920D6AB37563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4193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693"/>
          </a:bodyPr>
          <a:lstStyle/>
          <a:p>
            <a:pPr algn="ctr">
              <a:buNone/>
              <a:defRPr sz="17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Assuming H₀ and the model are true, the p-value is the probability of a test statistic at least as extreme as observed.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0316C7-D83C-425D-9B62-5858D5D53C05}"/>
              </a:ext>
            </a:extLst>
          </p:cNvPr>
          <p:cNvSpPr>
            <a:spLocks noGrp="1"/>
          </p:cNvSpPr>
          <p:nvPr/>
        </p:nvSpPr>
        <p:spPr>
          <a:xfrm>
            <a:off x="8496300" y="417195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542"/>
          </a:bodyPr>
          <a:lstStyle/>
          <a:p>
            <a:pPr algn="ctr">
              <a:buNone/>
              <a:defRPr sz="12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Small p → data are relatively incompatible with the null model.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9508CC6-3D4F-4375-AEBA-99E73E0F3E1B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43664B-43D2-4D25-AD6A-0B1F696B873E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p-value is conditional on H₀; it is not the probability that H₀ is true.</a:t>
            </a:r>
          </a:p>
        </p:txBody>
      </p:sp>
    </p:spTree>
    <p:extLst>
      <p:ext uri="{BB962C8B-B14F-4D97-AF65-F5344CB8AC3E}">
        <p14:creationId xmlns:p14="http://schemas.microsoft.com/office/powerpoint/2010/main" val="2052960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8D75EF3-FC2E-4137-ADBE-95D4383896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30D27-97F9-49C0-ABB6-E3CD4F3AC76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E40AD-5A64-4CDA-B98E-DB1BF4B80268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E219BF-1BAC-4064-8D97-57D39D2AD154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C8805C-01F0-4EF1-9FF7-CF253DC70A9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925A0-08E9-4502-9D32-E6BCFA6B029F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F0E2F-EE18-45CA-A9F4-886901F09FE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C4C980-9425-45AC-8957-32064AAA215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6B5EB-33BA-4F0E-90AE-D86940B8FD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73C2097-CF7B-48D0-B7BA-C7EC034372C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Use evidence language; do not accept the null by default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996BDC-FA6F-41F4-B744-94F6B451453D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1933268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344D3-31BE-4DB2-8F61-FB8BF3DF2D69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1818968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Result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A561E-479E-4E4A-94E5-F4D0D06DB636}"/>
              </a:ext>
            </a:extLst>
          </p:cNvPr>
          <p:cNvSpPr>
            <a:spLocks noGrp="1"/>
          </p:cNvSpPr>
          <p:nvPr/>
        </p:nvSpPr>
        <p:spPr>
          <a:xfrm>
            <a:off x="2580968" y="1562100"/>
            <a:ext cx="2812026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A3665E-2E0E-4EA6-8D6A-FAD91A2A59DF}"/>
              </a:ext>
            </a:extLst>
          </p:cNvPr>
          <p:cNvSpPr>
            <a:spLocks noGrp="1"/>
          </p:cNvSpPr>
          <p:nvPr/>
        </p:nvSpPr>
        <p:spPr>
          <a:xfrm>
            <a:off x="2638118" y="1590675"/>
            <a:ext cx="269772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Decision shorthand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3C1F0C-9D82-4112-A963-688CFF3A8EF4}"/>
              </a:ext>
            </a:extLst>
          </p:cNvPr>
          <p:cNvSpPr>
            <a:spLocks noGrp="1"/>
          </p:cNvSpPr>
          <p:nvPr/>
        </p:nvSpPr>
        <p:spPr>
          <a:xfrm>
            <a:off x="5392994" y="1562100"/>
            <a:ext cx="6151306" cy="70104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B9BB16-9F0C-4DA2-9770-50282A9F13CA}"/>
              </a:ext>
            </a:extLst>
          </p:cNvPr>
          <p:cNvSpPr>
            <a:spLocks noGrp="1"/>
          </p:cNvSpPr>
          <p:nvPr/>
        </p:nvSpPr>
        <p:spPr>
          <a:xfrm>
            <a:off x="5450144" y="1590675"/>
            <a:ext cx="603700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Defensible interpretation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ED1CBF-D8F4-4A06-98F0-7380315C53F9}"/>
              </a:ext>
            </a:extLst>
          </p:cNvPr>
          <p:cNvSpPr>
            <a:spLocks noGrp="1"/>
          </p:cNvSpPr>
          <p:nvPr/>
        </p:nvSpPr>
        <p:spPr>
          <a:xfrm>
            <a:off x="647700" y="2263140"/>
            <a:ext cx="1933268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79C66-4D4F-4AB0-8C24-36D4E908F7E4}"/>
              </a:ext>
            </a:extLst>
          </p:cNvPr>
          <p:cNvSpPr>
            <a:spLocks noGrp="1"/>
          </p:cNvSpPr>
          <p:nvPr/>
        </p:nvSpPr>
        <p:spPr>
          <a:xfrm>
            <a:off x="704850" y="2291715"/>
            <a:ext cx="1818968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 ≤ α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41F4AF-BE41-408B-A47B-40336A309CF2}"/>
              </a:ext>
            </a:extLst>
          </p:cNvPr>
          <p:cNvSpPr>
            <a:spLocks noGrp="1"/>
          </p:cNvSpPr>
          <p:nvPr/>
        </p:nvSpPr>
        <p:spPr>
          <a:xfrm>
            <a:off x="2580968" y="2263140"/>
            <a:ext cx="2812026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6FA277-9FD1-4333-80C1-546C4055AA85}"/>
              </a:ext>
            </a:extLst>
          </p:cNvPr>
          <p:cNvSpPr>
            <a:spLocks noGrp="1"/>
          </p:cNvSpPr>
          <p:nvPr/>
        </p:nvSpPr>
        <p:spPr>
          <a:xfrm>
            <a:off x="2638118" y="2291715"/>
            <a:ext cx="269772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Reject H₀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43B4AF-B7DD-4A29-98CF-F699753D4746}"/>
              </a:ext>
            </a:extLst>
          </p:cNvPr>
          <p:cNvSpPr>
            <a:spLocks noGrp="1"/>
          </p:cNvSpPr>
          <p:nvPr/>
        </p:nvSpPr>
        <p:spPr>
          <a:xfrm>
            <a:off x="5392994" y="2263140"/>
            <a:ext cx="6151306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B20445-9AA7-422E-97D9-F2AD08FF685B}"/>
              </a:ext>
            </a:extLst>
          </p:cNvPr>
          <p:cNvSpPr>
            <a:spLocks noGrp="1"/>
          </p:cNvSpPr>
          <p:nvPr/>
        </p:nvSpPr>
        <p:spPr>
          <a:xfrm>
            <a:off x="5450144" y="2291715"/>
            <a:ext cx="603700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Data are sufficiently incompatible with H₀ under the prespecified rule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64C7FA-2519-475F-A490-5444F6C30911}"/>
              </a:ext>
            </a:extLst>
          </p:cNvPr>
          <p:cNvSpPr>
            <a:spLocks noGrp="1"/>
          </p:cNvSpPr>
          <p:nvPr/>
        </p:nvSpPr>
        <p:spPr>
          <a:xfrm>
            <a:off x="647700" y="2964180"/>
            <a:ext cx="1933268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D2132B-8045-4027-9D50-50A7B210D9DE}"/>
              </a:ext>
            </a:extLst>
          </p:cNvPr>
          <p:cNvSpPr>
            <a:spLocks noGrp="1"/>
          </p:cNvSpPr>
          <p:nvPr/>
        </p:nvSpPr>
        <p:spPr>
          <a:xfrm>
            <a:off x="704850" y="2992755"/>
            <a:ext cx="1818968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 &gt; α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9DE651-6507-4FC0-847B-2A5EA3F4982A}"/>
              </a:ext>
            </a:extLst>
          </p:cNvPr>
          <p:cNvSpPr>
            <a:spLocks noGrp="1"/>
          </p:cNvSpPr>
          <p:nvPr/>
        </p:nvSpPr>
        <p:spPr>
          <a:xfrm>
            <a:off x="2580968" y="2964180"/>
            <a:ext cx="2812026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A41F60-B62C-497A-87A1-96968DD31590}"/>
              </a:ext>
            </a:extLst>
          </p:cNvPr>
          <p:cNvSpPr>
            <a:spLocks noGrp="1"/>
          </p:cNvSpPr>
          <p:nvPr/>
        </p:nvSpPr>
        <p:spPr>
          <a:xfrm>
            <a:off x="2638118" y="2992755"/>
            <a:ext cx="269772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Fail to reject H₀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C6F6E4-07CC-455C-9110-698C0D5E1920}"/>
              </a:ext>
            </a:extLst>
          </p:cNvPr>
          <p:cNvSpPr>
            <a:spLocks noGrp="1"/>
          </p:cNvSpPr>
          <p:nvPr/>
        </p:nvSpPr>
        <p:spPr>
          <a:xfrm>
            <a:off x="5392994" y="2964180"/>
            <a:ext cx="6151306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706591-FF00-486B-AADF-9123E1539E8C}"/>
              </a:ext>
            </a:extLst>
          </p:cNvPr>
          <p:cNvSpPr>
            <a:spLocks noGrp="1"/>
          </p:cNvSpPr>
          <p:nvPr/>
        </p:nvSpPr>
        <p:spPr>
          <a:xfrm>
            <a:off x="5450144" y="2992755"/>
            <a:ext cx="603700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Evidence is insufficient to reject H₀; H₀ is not proven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927EB6-A437-4C3D-A40F-CB5C67C2C515}"/>
              </a:ext>
            </a:extLst>
          </p:cNvPr>
          <p:cNvSpPr>
            <a:spLocks noGrp="1"/>
          </p:cNvSpPr>
          <p:nvPr/>
        </p:nvSpPr>
        <p:spPr>
          <a:xfrm>
            <a:off x="647700" y="3665220"/>
            <a:ext cx="1933268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D31DD4-428E-4625-BB3C-BBDB8B1339F2}"/>
              </a:ext>
            </a:extLst>
          </p:cNvPr>
          <p:cNvSpPr>
            <a:spLocks noGrp="1"/>
          </p:cNvSpPr>
          <p:nvPr/>
        </p:nvSpPr>
        <p:spPr>
          <a:xfrm>
            <a:off x="704850" y="3693795"/>
            <a:ext cx="1818968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CI includes the null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38F292-B915-4EA3-B8B3-3153DC344906}"/>
              </a:ext>
            </a:extLst>
          </p:cNvPr>
          <p:cNvSpPr>
            <a:spLocks noGrp="1"/>
          </p:cNvSpPr>
          <p:nvPr/>
        </p:nvSpPr>
        <p:spPr>
          <a:xfrm>
            <a:off x="2580968" y="3665220"/>
            <a:ext cx="2812026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25031C-DF09-4FA6-8662-E959AE65FA47}"/>
              </a:ext>
            </a:extLst>
          </p:cNvPr>
          <p:cNvSpPr>
            <a:spLocks noGrp="1"/>
          </p:cNvSpPr>
          <p:nvPr/>
        </p:nvSpPr>
        <p:spPr>
          <a:xfrm>
            <a:off x="2638118" y="3693795"/>
            <a:ext cx="269772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Compatible with null value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22A875-1121-45C6-BF3A-41C93C3D9E70}"/>
              </a:ext>
            </a:extLst>
          </p:cNvPr>
          <p:cNvSpPr>
            <a:spLocks noGrp="1"/>
          </p:cNvSpPr>
          <p:nvPr/>
        </p:nvSpPr>
        <p:spPr>
          <a:xfrm>
            <a:off x="5392994" y="3665220"/>
            <a:ext cx="6151306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F2159E-DAFA-4092-9EDB-3459EF1376EC}"/>
              </a:ext>
            </a:extLst>
          </p:cNvPr>
          <p:cNvSpPr>
            <a:spLocks noGrp="1"/>
          </p:cNvSpPr>
          <p:nvPr/>
        </p:nvSpPr>
        <p:spPr>
          <a:xfrm>
            <a:off x="5450144" y="3693795"/>
            <a:ext cx="603700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Also may include practically important effects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266573-3C9C-40A8-91CA-4BE0099E2148}"/>
              </a:ext>
            </a:extLst>
          </p:cNvPr>
          <p:cNvSpPr>
            <a:spLocks noGrp="1"/>
          </p:cNvSpPr>
          <p:nvPr/>
        </p:nvSpPr>
        <p:spPr>
          <a:xfrm>
            <a:off x="647700" y="4366260"/>
            <a:ext cx="1933268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A7503F-5BE5-4F6B-B8BC-695753D279F5}"/>
              </a:ext>
            </a:extLst>
          </p:cNvPr>
          <p:cNvSpPr>
            <a:spLocks noGrp="1"/>
          </p:cNvSpPr>
          <p:nvPr/>
        </p:nvSpPr>
        <p:spPr>
          <a:xfrm>
            <a:off x="704850" y="4394835"/>
            <a:ext cx="1818968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CI excludes the null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E591A3-0495-485A-B481-BD5D6A9A1CBC}"/>
              </a:ext>
            </a:extLst>
          </p:cNvPr>
          <p:cNvSpPr>
            <a:spLocks noGrp="1"/>
          </p:cNvSpPr>
          <p:nvPr/>
        </p:nvSpPr>
        <p:spPr>
          <a:xfrm>
            <a:off x="2580968" y="4366260"/>
            <a:ext cx="2812026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BFCB7D-4837-473C-BDC0-C4A0C8B4D92E}"/>
              </a:ext>
            </a:extLst>
          </p:cNvPr>
          <p:cNvSpPr>
            <a:spLocks noGrp="1"/>
          </p:cNvSpPr>
          <p:nvPr/>
        </p:nvSpPr>
        <p:spPr>
          <a:xfrm>
            <a:off x="2638118" y="4394835"/>
            <a:ext cx="269772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Evidence against null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AC60BA-B144-4216-ADB9-03CA8A484081}"/>
              </a:ext>
            </a:extLst>
          </p:cNvPr>
          <p:cNvSpPr>
            <a:spLocks noGrp="1"/>
          </p:cNvSpPr>
          <p:nvPr/>
        </p:nvSpPr>
        <p:spPr>
          <a:xfrm>
            <a:off x="5392994" y="4366260"/>
            <a:ext cx="6151306" cy="70104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82C071-4108-4A35-A1DC-DAF12191F14F}"/>
              </a:ext>
            </a:extLst>
          </p:cNvPr>
          <p:cNvSpPr>
            <a:spLocks noGrp="1"/>
          </p:cNvSpPr>
          <p:nvPr/>
        </p:nvSpPr>
        <p:spPr>
          <a:xfrm>
            <a:off x="5450144" y="4394835"/>
            <a:ext cx="6037006" cy="643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Magnitude and design still determine importance and causality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5B7AE99-8C4C-449A-BDB8-0A3D78F6FCB1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AE0B62D-E0A5-4A83-87A1-FCB48B6284B3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3526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Absence of evidence is not evidence of absence—unless the study was designed to establish equivalence.</a:t>
            </a:r>
          </a:p>
        </p:txBody>
      </p:sp>
    </p:spTree>
    <p:extLst>
      <p:ext uri="{BB962C8B-B14F-4D97-AF65-F5344CB8AC3E}">
        <p14:creationId xmlns:p14="http://schemas.microsoft.com/office/powerpoint/2010/main" val="541627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0FDA0D1-70E3-4B9E-B410-B3E2E7321A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8A7745-4BD2-4E6C-9720-2E4FD14E031A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AE4FE-CCDF-446E-85F5-0241EF88540B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A5A26-9A75-42E2-B9F3-15451510CB1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1A240-28DF-49AA-B2F0-231F33753C2B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8F0D1-4942-4569-8E16-4B0DF012F168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32BA86-8120-4CE3-B0EB-B9A14984880B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72BC3-9A29-414B-B1AF-E0E493A8C32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03F7F-20F3-4B7A-8EF7-D042CBEF83D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D51C64-AD86-41A8-AEDD-607D71D4948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72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Type I and Type II errors trade off through the decision rule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A0400-6410-438B-A9BE-C8CBA7C984AF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1944037" cy="82550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EDF38D-069A-4F32-89F4-11276B5F2C40}"/>
              </a:ext>
            </a:extLst>
          </p:cNvPr>
          <p:cNvSpPr>
            <a:spLocks noGrp="1"/>
          </p:cNvSpPr>
          <p:nvPr/>
        </p:nvSpPr>
        <p:spPr>
          <a:xfrm>
            <a:off x="857250" y="1704975"/>
            <a:ext cx="1829737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7AEE59-7F3A-4484-B797-B7897F7CCB88}"/>
              </a:ext>
            </a:extLst>
          </p:cNvPr>
          <p:cNvSpPr>
            <a:spLocks noGrp="1"/>
          </p:cNvSpPr>
          <p:nvPr/>
        </p:nvSpPr>
        <p:spPr>
          <a:xfrm>
            <a:off x="2744137" y="1676400"/>
            <a:ext cx="2851254" cy="82550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671B7B-7A64-4C0D-B62F-AB5846816C43}"/>
              </a:ext>
            </a:extLst>
          </p:cNvPr>
          <p:cNvSpPr>
            <a:spLocks noGrp="1"/>
          </p:cNvSpPr>
          <p:nvPr/>
        </p:nvSpPr>
        <p:spPr>
          <a:xfrm>
            <a:off x="2801287" y="1704975"/>
            <a:ext cx="2736954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H₀ true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14C4D-4C93-48DC-895B-58D5B69030F0}"/>
              </a:ext>
            </a:extLst>
          </p:cNvPr>
          <p:cNvSpPr>
            <a:spLocks noGrp="1"/>
          </p:cNvSpPr>
          <p:nvPr/>
        </p:nvSpPr>
        <p:spPr>
          <a:xfrm>
            <a:off x="5595391" y="1676400"/>
            <a:ext cx="3110459" cy="82550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4C4E1-D0A5-4C8F-9DE6-CB727D8A66D7}"/>
              </a:ext>
            </a:extLst>
          </p:cNvPr>
          <p:cNvSpPr>
            <a:spLocks noGrp="1"/>
          </p:cNvSpPr>
          <p:nvPr/>
        </p:nvSpPr>
        <p:spPr>
          <a:xfrm>
            <a:off x="5652541" y="1704975"/>
            <a:ext cx="2996159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H₀ false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A34360-3E27-46EE-9166-FFB342EC10D8}"/>
              </a:ext>
            </a:extLst>
          </p:cNvPr>
          <p:cNvSpPr>
            <a:spLocks noGrp="1"/>
          </p:cNvSpPr>
          <p:nvPr/>
        </p:nvSpPr>
        <p:spPr>
          <a:xfrm>
            <a:off x="800100" y="2501900"/>
            <a:ext cx="1944037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6D47A-E6A2-43E8-875B-B9CE7A118D17}"/>
              </a:ext>
            </a:extLst>
          </p:cNvPr>
          <p:cNvSpPr>
            <a:spLocks noGrp="1"/>
          </p:cNvSpPr>
          <p:nvPr/>
        </p:nvSpPr>
        <p:spPr>
          <a:xfrm>
            <a:off x="857250" y="2530475"/>
            <a:ext cx="1829737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Reject H₀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20A5C0-9553-4A54-8F93-5D4048FD6FD3}"/>
              </a:ext>
            </a:extLst>
          </p:cNvPr>
          <p:cNvSpPr>
            <a:spLocks noGrp="1"/>
          </p:cNvSpPr>
          <p:nvPr/>
        </p:nvSpPr>
        <p:spPr>
          <a:xfrm>
            <a:off x="2744137" y="2501900"/>
            <a:ext cx="2851254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0EB723-E70F-4C94-9E94-512D060EC3D9}"/>
              </a:ext>
            </a:extLst>
          </p:cNvPr>
          <p:cNvSpPr>
            <a:spLocks noGrp="1"/>
          </p:cNvSpPr>
          <p:nvPr/>
        </p:nvSpPr>
        <p:spPr>
          <a:xfrm>
            <a:off x="2801287" y="2530475"/>
            <a:ext cx="2736954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Type I error (probability α)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192286-9E72-4602-AE70-B3DEFAAAAE6D}"/>
              </a:ext>
            </a:extLst>
          </p:cNvPr>
          <p:cNvSpPr>
            <a:spLocks noGrp="1"/>
          </p:cNvSpPr>
          <p:nvPr/>
        </p:nvSpPr>
        <p:spPr>
          <a:xfrm>
            <a:off x="5595391" y="2501900"/>
            <a:ext cx="3110459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068D9C-0233-4204-B5D5-16A7645090F1}"/>
              </a:ext>
            </a:extLst>
          </p:cNvPr>
          <p:cNvSpPr>
            <a:spLocks noGrp="1"/>
          </p:cNvSpPr>
          <p:nvPr/>
        </p:nvSpPr>
        <p:spPr>
          <a:xfrm>
            <a:off x="5652541" y="2530475"/>
            <a:ext cx="2996159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Correct detection (power = 1−β)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B9D885-D90C-47F0-83A2-4FCF6580CC76}"/>
              </a:ext>
            </a:extLst>
          </p:cNvPr>
          <p:cNvSpPr>
            <a:spLocks noGrp="1"/>
          </p:cNvSpPr>
          <p:nvPr/>
        </p:nvSpPr>
        <p:spPr>
          <a:xfrm>
            <a:off x="800100" y="3327400"/>
            <a:ext cx="1944037" cy="82550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F3B43A-1070-4342-8A62-01AC470CE85A}"/>
              </a:ext>
            </a:extLst>
          </p:cNvPr>
          <p:cNvSpPr>
            <a:spLocks noGrp="1"/>
          </p:cNvSpPr>
          <p:nvPr/>
        </p:nvSpPr>
        <p:spPr>
          <a:xfrm>
            <a:off x="857250" y="3355975"/>
            <a:ext cx="1829737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Fail to reject H₀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63CF97-B326-4C3C-949F-8B2C128CB609}"/>
              </a:ext>
            </a:extLst>
          </p:cNvPr>
          <p:cNvSpPr>
            <a:spLocks noGrp="1"/>
          </p:cNvSpPr>
          <p:nvPr/>
        </p:nvSpPr>
        <p:spPr>
          <a:xfrm>
            <a:off x="2744137" y="3327400"/>
            <a:ext cx="2851254" cy="82550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6A4614-CE35-405F-8600-4099FEBBA8F7}"/>
              </a:ext>
            </a:extLst>
          </p:cNvPr>
          <p:cNvSpPr>
            <a:spLocks noGrp="1"/>
          </p:cNvSpPr>
          <p:nvPr/>
        </p:nvSpPr>
        <p:spPr>
          <a:xfrm>
            <a:off x="2801287" y="3355975"/>
            <a:ext cx="2736954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Correct non-rejection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57E4E3-2414-4668-9C04-123AA03CAFCA}"/>
              </a:ext>
            </a:extLst>
          </p:cNvPr>
          <p:cNvSpPr>
            <a:spLocks noGrp="1"/>
          </p:cNvSpPr>
          <p:nvPr/>
        </p:nvSpPr>
        <p:spPr>
          <a:xfrm>
            <a:off x="5595391" y="3327400"/>
            <a:ext cx="3110459" cy="82550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E58BD2-F095-4C56-880C-F7A20824DEE5}"/>
              </a:ext>
            </a:extLst>
          </p:cNvPr>
          <p:cNvSpPr>
            <a:spLocks noGrp="1"/>
          </p:cNvSpPr>
          <p:nvPr/>
        </p:nvSpPr>
        <p:spPr>
          <a:xfrm>
            <a:off x="5652541" y="3355975"/>
            <a:ext cx="2996159" cy="76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42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Type II error (probability β)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7B8693-0EF7-4045-BD87-14A44A0731DC}"/>
              </a:ext>
            </a:extLst>
          </p:cNvPr>
          <p:cNvSpPr>
            <a:spLocks noGrp="1"/>
          </p:cNvSpPr>
          <p:nvPr/>
        </p:nvSpPr>
        <p:spPr>
          <a:xfrm>
            <a:off x="9163050" y="1676400"/>
            <a:ext cx="2228850" cy="2476500"/>
          </a:xfrm>
          <a:prstGeom prst="roundRect">
            <a:avLst>
              <a:gd name="adj" fmla="val 7692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2C9981-068C-421F-A954-277BD588BDE9}"/>
              </a:ext>
            </a:extLst>
          </p:cNvPr>
          <p:cNvSpPr>
            <a:spLocks noGrp="1"/>
          </p:cNvSpPr>
          <p:nvPr/>
        </p:nvSpPr>
        <p:spPr>
          <a:xfrm>
            <a:off x="9448800" y="200025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2224"/>
          </a:bodyPr>
          <a:lstStyle/>
          <a:p>
            <a:pPr algn="ctr">
              <a:buNone/>
              <a:def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0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Power grows with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D38A012-CE94-45A5-9160-15069C118480}"/>
              </a:ext>
            </a:extLst>
          </p:cNvPr>
          <p:cNvSpPr>
            <a:spLocks noGrp="1"/>
          </p:cNvSpPr>
          <p:nvPr/>
        </p:nvSpPr>
        <p:spPr>
          <a:xfrm>
            <a:off x="9486900" y="2667000"/>
            <a:ext cx="15811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424"/>
          </a:bodyPr>
          <a:lstStyle/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larger n</a:t>
            </a:r>
          </a:p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larger true effect</a:t>
            </a:r>
          </a:p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lower noise</a:t>
            </a:r>
          </a:p>
          <a:p>
            <a:pPr algn="ctr">
              <a:buNone/>
              <a:def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less stringent α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3D5695-1EAF-4D9D-92D0-DF38D98920BE}"/>
              </a:ext>
            </a:extLst>
          </p:cNvPr>
          <p:cNvSpPr>
            <a:spLocks noGrp="1"/>
          </p:cNvSpPr>
          <p:nvPr/>
        </p:nvSpPr>
        <p:spPr>
          <a:xfrm>
            <a:off x="1428750" y="4572000"/>
            <a:ext cx="933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667"/>
          </a:bodyPr>
          <a:lstStyle/>
          <a:p>
            <a:pPr algn="ctr">
              <a:buNone/>
              <a:defRPr sz="18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A large p-value may reflect a small effect, noisy data, or low power. These explanations are not equivalent.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16D3FAC-2E15-42B0-A4DD-91598A064F69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249DB8-518F-47A4-8B67-0759F40EEBFD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Plan power before data collection; post hoc storytelling cannot restore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0469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8CD117A-C849-466B-990C-60180919FD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A632E4-4399-4060-B711-9A644E44DB0B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521589-74AD-4FA1-BB6C-8F8A97D54AB0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FB36C-28CC-45DA-BE9C-AAE3CA84AF9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40704D-652E-4241-B3C9-433D6E793410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A4A18-ECFB-4392-8A99-528D7A1367BC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B8FFA-AFEF-40A1-AB7B-477285676BB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7990C-1A78-4AF1-B539-B8CFB55591F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86C4A3-2ED9-42E5-AACF-A4A5FC75AF3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70C716-054D-4156-8FF7-9B745083239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7761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matching two-sided test and confidence interval are dual views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DD77E-888E-42C2-935C-8DB864744E7A}"/>
              </a:ext>
            </a:extLst>
          </p:cNvPr>
          <p:cNvSpPr>
            <a:spLocks noGrp="1"/>
          </p:cNvSpPr>
          <p:nvPr/>
        </p:nvSpPr>
        <p:spPr>
          <a:xfrm>
            <a:off x="4914900" y="1428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Null difference =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601B69-7F89-4152-8B74-1EC67277AD2E}"/>
              </a:ext>
            </a:extLst>
          </p:cNvPr>
          <p:cNvSpPr>
            <a:spLocks noGrp="1"/>
          </p:cNvSpPr>
          <p:nvPr/>
        </p:nvSpPr>
        <p:spPr>
          <a:xfrm>
            <a:off x="2095500" y="2343150"/>
            <a:ext cx="800100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1C419-1A38-4F10-A4DF-332770EE841A}"/>
              </a:ext>
            </a:extLst>
          </p:cNvPr>
          <p:cNvSpPr>
            <a:spLocks noGrp="1"/>
          </p:cNvSpPr>
          <p:nvPr/>
        </p:nvSpPr>
        <p:spPr>
          <a:xfrm>
            <a:off x="5172808" y="2209800"/>
            <a:ext cx="19050" cy="285750"/>
          </a:xfrm>
          <a:prstGeom prst="rect">
            <a:avLst/>
          </a:prstGeom>
          <a:solidFill>
            <a:srgbClr val="7E7E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EEC46F-74D7-49BB-9A2C-06D550217CA6}"/>
              </a:ext>
            </a:extLst>
          </p:cNvPr>
          <p:cNvSpPr>
            <a:spLocks noGrp="1"/>
          </p:cNvSpPr>
          <p:nvPr/>
        </p:nvSpPr>
        <p:spPr>
          <a:xfrm>
            <a:off x="4741985" y="2324100"/>
            <a:ext cx="5108331" cy="5715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37187E-5E9D-458A-9143-9B1E1559EE19}"/>
              </a:ext>
            </a:extLst>
          </p:cNvPr>
          <p:cNvSpPr>
            <a:spLocks noGrp="1"/>
          </p:cNvSpPr>
          <p:nvPr/>
        </p:nvSpPr>
        <p:spPr>
          <a:xfrm>
            <a:off x="4732460" y="225742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AEE3F7-5FA6-49C2-A471-11391A0782D6}"/>
              </a:ext>
            </a:extLst>
          </p:cNvPr>
          <p:cNvSpPr>
            <a:spLocks noGrp="1"/>
          </p:cNvSpPr>
          <p:nvPr/>
        </p:nvSpPr>
        <p:spPr>
          <a:xfrm>
            <a:off x="9840790" y="2257425"/>
            <a:ext cx="19050" cy="190500"/>
          </a:xfrm>
          <a:prstGeom prst="rect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83B7D4-1DD7-4859-A8FF-AEF45E9E4C78}"/>
              </a:ext>
            </a:extLst>
          </p:cNvPr>
          <p:cNvSpPr>
            <a:spLocks noGrp="1"/>
          </p:cNvSpPr>
          <p:nvPr/>
        </p:nvSpPr>
        <p:spPr>
          <a:xfrm>
            <a:off x="7245155" y="2286000"/>
            <a:ext cx="114300" cy="1143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1579AF-E443-46BB-B0BF-8269DFED7F5B}"/>
              </a:ext>
            </a:extLst>
          </p:cNvPr>
          <p:cNvSpPr>
            <a:spLocks noGrp="1"/>
          </p:cNvSpPr>
          <p:nvPr/>
        </p:nvSpPr>
        <p:spPr>
          <a:xfrm>
            <a:off x="2095500" y="2000250"/>
            <a:ext cx="800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CI includes 0 → matching test does not reject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051E9-9FEE-4981-B190-78C017427CE8}"/>
              </a:ext>
            </a:extLst>
          </p:cNvPr>
          <p:cNvSpPr>
            <a:spLocks noGrp="1"/>
          </p:cNvSpPr>
          <p:nvPr/>
        </p:nvSpPr>
        <p:spPr>
          <a:xfrm>
            <a:off x="1981200" y="24574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−5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E28477-CF6A-42FF-9FD9-0DD80E4CA2EE}"/>
              </a:ext>
            </a:extLst>
          </p:cNvPr>
          <p:cNvSpPr>
            <a:spLocks noGrp="1"/>
          </p:cNvSpPr>
          <p:nvPr/>
        </p:nvSpPr>
        <p:spPr>
          <a:xfrm>
            <a:off x="9639300" y="24574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+5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A6F14-5F6B-4909-A7F0-9FA59AA20A6B}"/>
              </a:ext>
            </a:extLst>
          </p:cNvPr>
          <p:cNvSpPr>
            <a:spLocks noGrp="1"/>
          </p:cNvSpPr>
          <p:nvPr/>
        </p:nvSpPr>
        <p:spPr>
          <a:xfrm>
            <a:off x="2095500" y="3600450"/>
            <a:ext cx="8001000" cy="19050"/>
          </a:xfrm>
          <a:prstGeom prst="rect">
            <a:avLst/>
          </a:prstGeom>
          <a:solidFill>
            <a:srgbClr val="E9EA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01776A-A825-4496-AA39-F973B016027F}"/>
              </a:ext>
            </a:extLst>
          </p:cNvPr>
          <p:cNvSpPr>
            <a:spLocks noGrp="1"/>
          </p:cNvSpPr>
          <p:nvPr/>
        </p:nvSpPr>
        <p:spPr>
          <a:xfrm>
            <a:off x="5172808" y="3467100"/>
            <a:ext cx="19050" cy="285750"/>
          </a:xfrm>
          <a:prstGeom prst="rect">
            <a:avLst/>
          </a:prstGeom>
          <a:solidFill>
            <a:srgbClr val="7E7E8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14496-C773-473D-8901-551E619F95A6}"/>
              </a:ext>
            </a:extLst>
          </p:cNvPr>
          <p:cNvSpPr>
            <a:spLocks noGrp="1"/>
          </p:cNvSpPr>
          <p:nvPr/>
        </p:nvSpPr>
        <p:spPr>
          <a:xfrm>
            <a:off x="5665177" y="3581400"/>
            <a:ext cx="2092569" cy="5715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E2887B-7189-4706-9BA1-7C79D3853CB7}"/>
              </a:ext>
            </a:extLst>
          </p:cNvPr>
          <p:cNvSpPr>
            <a:spLocks noGrp="1"/>
          </p:cNvSpPr>
          <p:nvPr/>
        </p:nvSpPr>
        <p:spPr>
          <a:xfrm>
            <a:off x="5655652" y="3514725"/>
            <a:ext cx="19050" cy="1905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DAFE8E-08B6-48CB-9B3A-3B9996E2295D}"/>
              </a:ext>
            </a:extLst>
          </p:cNvPr>
          <p:cNvSpPr>
            <a:spLocks noGrp="1"/>
          </p:cNvSpPr>
          <p:nvPr/>
        </p:nvSpPr>
        <p:spPr>
          <a:xfrm>
            <a:off x="7748221" y="3514725"/>
            <a:ext cx="19050" cy="190500"/>
          </a:xfrm>
          <a:prstGeom prst="rect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DE50CF-71D3-4821-8F02-4F01E00E1B59}"/>
              </a:ext>
            </a:extLst>
          </p:cNvPr>
          <p:cNvSpPr>
            <a:spLocks noGrp="1"/>
          </p:cNvSpPr>
          <p:nvPr/>
        </p:nvSpPr>
        <p:spPr>
          <a:xfrm>
            <a:off x="6654312" y="3543300"/>
            <a:ext cx="114300" cy="1143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231C5-2AC4-4B35-8705-699ADA3A4DCC}"/>
              </a:ext>
            </a:extLst>
          </p:cNvPr>
          <p:cNvSpPr>
            <a:spLocks noGrp="1"/>
          </p:cNvSpPr>
          <p:nvPr/>
        </p:nvSpPr>
        <p:spPr>
          <a:xfrm>
            <a:off x="2095500" y="3257550"/>
            <a:ext cx="800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CI excludes 0 → matching test rejects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E75E715-A91A-49FF-AECF-9F3327EB8F0C}"/>
              </a:ext>
            </a:extLst>
          </p:cNvPr>
          <p:cNvSpPr>
            <a:spLocks noGrp="1"/>
          </p:cNvSpPr>
          <p:nvPr/>
        </p:nvSpPr>
        <p:spPr>
          <a:xfrm>
            <a:off x="1981200" y="3714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−5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FEE334-A5E7-4B5A-B0E2-40E1D87416CC}"/>
              </a:ext>
            </a:extLst>
          </p:cNvPr>
          <p:cNvSpPr>
            <a:spLocks noGrp="1"/>
          </p:cNvSpPr>
          <p:nvPr/>
        </p:nvSpPr>
        <p:spPr>
          <a:xfrm>
            <a:off x="9639300" y="3714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buNone/>
              <a:def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90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+5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5115F1-F5D5-4042-881D-02756DE64232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26"/>
          </a:bodyPr>
          <a:lstStyle/>
          <a:p>
            <a:pPr algn="ctr">
              <a:buNone/>
              <a:def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The equivalence holds only when the test and interval use the same model, sidedness, and α level.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32ED498-9BA4-41C7-BD70-7232E6884343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1B89AB-DB12-4549-B31D-B6EEB7F00AE5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Intervals add magnitude and precision; the binary test decision does not.</a:t>
            </a:r>
          </a:p>
        </p:txBody>
      </p:sp>
    </p:spTree>
    <p:extLst>
      <p:ext uri="{BB962C8B-B14F-4D97-AF65-F5344CB8AC3E}">
        <p14:creationId xmlns:p14="http://schemas.microsoft.com/office/powerpoint/2010/main" val="890445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592901B-F7AD-4F7D-934A-AA09005D26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B83F66-EFF1-4D65-A679-13CC9332B3DD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D97ED-4F7E-473A-BA7E-55C5CBAD80ED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16C488-16BA-4799-AC90-3FD5431AA0B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D84101-58A0-459E-AAA3-6E6E1362D6F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DB216-673D-4AA7-86C1-CB6A55FF142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24D8B0-CCA2-49CC-8556-E16A7809314E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66B534-E354-4B7E-9028-A0FCFFE8E04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85DBA-EC4D-4C5B-8A55-773F0FE5DE0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CC3816A-2F00-4B80-BE49-3CA93CBED39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6346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Statistical significance and practical importance are separate axes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ECF1833-2214-4CEB-8F11-795FE30D1792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4381500" cy="1466850"/>
          </a:xfrm>
          <a:prstGeom prst="roundRect">
            <a:avLst>
              <a:gd name="adj" fmla="val 10390"/>
            </a:avLst>
          </a:prstGeom>
          <a:solidFill>
            <a:srgbClr val="EEF7EA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BBF6B-DF57-4EFF-998E-BC5622ADB8C4}"/>
              </a:ext>
            </a:extLst>
          </p:cNvPr>
          <p:cNvSpPr>
            <a:spLocks noGrp="1"/>
          </p:cNvSpPr>
          <p:nvPr/>
        </p:nvSpPr>
        <p:spPr>
          <a:xfrm>
            <a:off x="1657350" y="1809750"/>
            <a:ext cx="152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148"/>
          </a:bodyPr>
          <a:lstStyle/>
          <a:p>
            <a:pPr algn="ctr">
              <a:buNone/>
              <a:defRPr sz="225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rPr>
              <a:t>Large effect</a:t>
            </a:r>
          </a:p>
          <a:p>
            <a:pPr algn="ctr">
              <a:buNone/>
              <a:defRPr sz="225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6AA14A"/>
                </a:solidFill>
                <a:latin typeface="Sofia Sans Extra Condensed"/>
                <a:ea typeface="Sofia Sans Extra Condensed"/>
                <a:cs typeface="Sofia Sans Extra Condensed"/>
              </a:rPr>
              <a:t>Precise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6A2C39-506D-4533-B002-4C27DC096699}"/>
              </a:ext>
            </a:extLst>
          </p:cNvPr>
          <p:cNvSpPr>
            <a:spLocks noGrp="1"/>
          </p:cNvSpPr>
          <p:nvPr/>
        </p:nvSpPr>
        <p:spPr>
          <a:xfrm>
            <a:off x="3390900" y="190500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Actionable evidence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0F51B7D-B94E-4718-88C4-FF6FB8D13AEA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4381500" cy="1466850"/>
          </a:xfrm>
          <a:prstGeom prst="roundRect">
            <a:avLst>
              <a:gd name="adj" fmla="val 10390"/>
            </a:avLst>
          </a:prstGeom>
          <a:solidFill>
            <a:srgbClr val="FFF1E8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71DAA-1666-4F8D-BCCB-82EB4784AB79}"/>
              </a:ext>
            </a:extLst>
          </p:cNvPr>
          <p:cNvSpPr>
            <a:spLocks noGrp="1"/>
          </p:cNvSpPr>
          <p:nvPr/>
        </p:nvSpPr>
        <p:spPr>
          <a:xfrm>
            <a:off x="6515100" y="1809750"/>
            <a:ext cx="152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148"/>
          </a:bodyPr>
          <a:lstStyle/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Large effect</a:t>
            </a:r>
          </a:p>
          <a:p>
            <a:pPr algn="ctr">
              <a:buNone/>
              <a:def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2650D"/>
                </a:solidFill>
                <a:latin typeface="Sofia Sans Extra Condensed"/>
                <a:ea typeface="Sofia Sans Extra Condensed"/>
                <a:cs typeface="Sofia Sans Extra Condensed"/>
              </a:rPr>
              <a:t>Imprecise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0B9ED2-DE4C-4997-85C9-FDACF5D9E7AD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Promising; collect information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9D3795-BA1B-42BA-92DE-F82CBB0EFFA6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4381500" cy="1466850"/>
          </a:xfrm>
          <a:prstGeom prst="roundRect">
            <a:avLst>
              <a:gd name="adj" fmla="val 10390"/>
            </a:avLst>
          </a:prstGeom>
          <a:solidFill>
            <a:srgbClr val="EAF5FC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C754F6-56E7-44BF-85C5-000803C0A3C9}"/>
              </a:ext>
            </a:extLst>
          </p:cNvPr>
          <p:cNvSpPr>
            <a:spLocks noGrp="1"/>
          </p:cNvSpPr>
          <p:nvPr/>
        </p:nvSpPr>
        <p:spPr>
          <a:xfrm>
            <a:off x="1657350" y="3619500"/>
            <a:ext cx="152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148"/>
          </a:bodyPr>
          <a:lstStyle/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Small effect</a:t>
            </a:r>
          </a:p>
          <a:p>
            <a:pPr algn="ctr">
              <a:buNone/>
              <a:def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74C8"/>
                </a:solidFill>
                <a:latin typeface="Sofia Sans Extra Condensed"/>
                <a:ea typeface="Sofia Sans Extra Condensed"/>
                <a:cs typeface="Sofia Sans Extra Condensed"/>
              </a:rPr>
              <a:t>Precise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AD685F-03A6-44D0-9ED4-393F9A9F1234}"/>
              </a:ext>
            </a:extLst>
          </p:cNvPr>
          <p:cNvSpPr>
            <a:spLocks noGrp="1"/>
          </p:cNvSpPr>
          <p:nvPr/>
        </p:nvSpPr>
        <p:spPr>
          <a:xfrm>
            <a:off x="3390900" y="371475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May be statistically significant but trivial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7D8EF74-D5FB-4ABA-981C-BE988B0CF550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4381500" cy="1466850"/>
          </a:xfrm>
          <a:prstGeom prst="roundRect">
            <a:avLst>
              <a:gd name="adj" fmla="val 10390"/>
            </a:avLst>
          </a:prstGeom>
          <a:solidFill>
            <a:srgbClr val="F6F5F1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B9F8AE-519F-4190-B34E-0A2101FF6579}"/>
              </a:ext>
            </a:extLst>
          </p:cNvPr>
          <p:cNvSpPr>
            <a:spLocks noGrp="1"/>
          </p:cNvSpPr>
          <p:nvPr/>
        </p:nvSpPr>
        <p:spPr>
          <a:xfrm>
            <a:off x="6515100" y="3619500"/>
            <a:ext cx="152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8148"/>
          </a:bodyPr>
          <a:lstStyle/>
          <a:p>
            <a:pPr algn="ctr">
              <a:buNone/>
              <a:defRPr sz="225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rPr>
              <a:t>Small effect</a:t>
            </a:r>
          </a:p>
          <a:p>
            <a:pPr algn="ctr">
              <a:buNone/>
              <a:defRPr sz="225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7E7E81"/>
                </a:solidFill>
                <a:latin typeface="Sofia Sans Extra Condensed"/>
                <a:ea typeface="Sofia Sans Extra Condensed"/>
                <a:cs typeface="Sofia Sans Extra Condensed"/>
              </a:rPr>
              <a:t>Imprecise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768E82-F2FD-434B-8D3E-C31F32EF48FE}"/>
              </a:ext>
            </a:extLst>
          </p:cNvPr>
          <p:cNvSpPr>
            <a:spLocks noGrp="1"/>
          </p:cNvSpPr>
          <p:nvPr/>
        </p:nvSpPr>
        <p:spPr>
          <a:xfrm>
            <a:off x="8248650" y="3714750"/>
            <a:ext cx="2152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Weak basis for a decision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D3890B-E63F-45A1-9DD6-008483BAED89}"/>
              </a:ext>
            </a:extLst>
          </p:cNvPr>
          <p:cNvSpPr>
            <a:spLocks noGrp="1"/>
          </p:cNvSpPr>
          <p:nvPr/>
        </p:nvSpPr>
        <p:spPr>
          <a:xfrm>
            <a:off x="4572000" y="51625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142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Effect magnitude →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33129-1959-4FDF-964F-1A4BF50AB48B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85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576"/>
          </a:bodyPr>
          <a:lstStyle/>
          <a:p>
            <a:pPr algn="ctr">
              <a:buNone/>
              <a:defRPr sz="142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Precision ↑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2ED4E2B-6C90-495B-8ACA-BBE457BF4EDE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5B9CCE-C45F-4521-B737-EBCED19D178B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Prespecify the smallest effect that would change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060330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FC5B5F-E952-456C-8680-F743233B2A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6C0BF3-5FEA-47A9-960E-AE6E15B21C66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CF9595-B91B-4EE4-912F-23A9120BBC8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C7971-1442-44B1-85EA-AF6358E96B8E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F50F35-1C2D-4E04-9D81-0E1E7B82F1B5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20482-06A6-47F8-935C-524E64D46130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REQUIRED READING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82C4A-676E-48FC-B500-50BE9856F3F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F73F64-6CB2-4C7A-9EF2-5E64782638F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69F06-83D6-45D5-862C-37CB0062A28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94F670D-A858-4591-B53A-A7399786BB6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98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threshold cannot carry the full burden of causal inference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26521" y="1562100"/>
            <a:ext cx="2652409" cy="3752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A11A64-7119-4B3E-BF23-3232F342581F}"/>
              </a:ext>
            </a:extLst>
          </p:cNvPr>
          <p:cNvSpPr>
            <a:spLocks noGrp="1"/>
          </p:cNvSpPr>
          <p:nvPr/>
        </p:nvSpPr>
        <p:spPr>
          <a:xfrm>
            <a:off x="5562600" y="1714500"/>
            <a:ext cx="495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222"/>
          </a:bodyPr>
          <a:lstStyle/>
          <a:p>
            <a:pPr algn="l">
              <a:buNone/>
              <a:def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7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Evidence bundle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52058-AAF0-4B3C-8022-28266DA91B04}"/>
              </a:ext>
            </a:extLst>
          </p:cNvPr>
          <p:cNvSpPr>
            <a:spLocks noGrp="1"/>
          </p:cNvSpPr>
          <p:nvPr/>
        </p:nvSpPr>
        <p:spPr>
          <a:xfrm>
            <a:off x="5562600" y="2400300"/>
            <a:ext cx="54292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Effect magnitude and confidence limits</a:t>
            </a:r>
          </a:p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Study design, bias, and sampling quality</a:t>
            </a:r>
          </a:p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Dose-response and temporal ordering</a:t>
            </a:r>
          </a:p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Consistency across data sources and studies</a:t>
            </a:r>
          </a:p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Biological or domain plausibility</a:t>
            </a:r>
          </a:p>
          <a:p>
            <a:pPr marL="27" indent="-18">
              <a:spcAft>
                <a:spcPts val="12"/>
              </a:spcAft>
              <a:buChar char="•"/>
              <a:defRPr sz="165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Consequences of false positive and false negative decisions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380671-A665-4544-AD17-EB70E11B1B73}"/>
              </a:ext>
            </a:extLst>
          </p:cNvPr>
          <p:cNvSpPr>
            <a:spLocks noGrp="1"/>
          </p:cNvSpPr>
          <p:nvPr/>
        </p:nvSpPr>
        <p:spPr>
          <a:xfrm>
            <a:off x="5334000" y="4914900"/>
            <a:ext cx="581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826"/>
          </a:bodyPr>
          <a:lstStyle/>
          <a:p>
            <a:pPr algn="ctr">
              <a:buNone/>
              <a:def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defRPr>
            </a:pPr>
            <a:r>
              <a:rPr sz="1725" b="1" i="0">
                <a:solidFill>
                  <a:srgbClr val="F2650D"/>
                </a:solidFill>
                <a:latin typeface="Sofia Sans"/>
                <a:ea typeface="Sofia Sans"/>
                <a:cs typeface="Sofia Sans"/>
              </a:rPr>
              <a:t>Discussion: What evidence beyond p &lt; .05 would you require before deploying a high-risk AI system?</a:t>
            </a:r>
          </a:p>
        </p:txBody>
      </p:sp>
    </p:spTree>
    <p:extLst>
      <p:ext uri="{BB962C8B-B14F-4D97-AF65-F5344CB8AC3E}">
        <p14:creationId xmlns:p14="http://schemas.microsoft.com/office/powerpoint/2010/main" val="229718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650A0105-5B85-4CA2-9F6A-2CB19E2EA1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29126-0138-46A4-A934-9B5C0077BC8A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0B72A-7867-4E31-8516-6838080C0F7D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83518B-1C09-4FB4-9397-6B82B67C324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438A3C-F876-454E-9A7A-057419C8ACCD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11D068-64BF-4EA6-9331-1BC6533E706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PRACTICE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C82F71-50BC-4A89-BA7A-70F27B413AB7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E1788-ED6D-41AD-8C39-38CB33EC83B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452568-8338-44E2-9A16-F27BB6D84E0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5E533C-72FE-4520-BEA7-03A24046E49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Choose a test from the outcome, design, and estimand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553D1B-3161-4D15-8A53-B0A04A129668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3565478" cy="61277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5BC433-BC77-448B-AE0F-8AC6F9C28444}"/>
              </a:ext>
            </a:extLst>
          </p:cNvPr>
          <p:cNvSpPr>
            <a:spLocks noGrp="1"/>
          </p:cNvSpPr>
          <p:nvPr/>
        </p:nvSpPr>
        <p:spPr>
          <a:xfrm>
            <a:off x="723900" y="155257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Question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90F354-A142-412F-9B79-55E7937D4204}"/>
              </a:ext>
            </a:extLst>
          </p:cNvPr>
          <p:cNvSpPr>
            <a:spLocks noGrp="1"/>
          </p:cNvSpPr>
          <p:nvPr/>
        </p:nvSpPr>
        <p:spPr>
          <a:xfrm>
            <a:off x="4232228" y="1524000"/>
            <a:ext cx="3727545" cy="61277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1F106-75EB-4999-9D3F-3166F7011B21}"/>
              </a:ext>
            </a:extLst>
          </p:cNvPr>
          <p:cNvSpPr>
            <a:spLocks noGrp="1"/>
          </p:cNvSpPr>
          <p:nvPr/>
        </p:nvSpPr>
        <p:spPr>
          <a:xfrm>
            <a:off x="4289378" y="1552575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Design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B1DEF2-7F49-4B38-900A-A1024E016FB9}"/>
              </a:ext>
            </a:extLst>
          </p:cNvPr>
          <p:cNvSpPr>
            <a:spLocks noGrp="1"/>
          </p:cNvSpPr>
          <p:nvPr/>
        </p:nvSpPr>
        <p:spPr>
          <a:xfrm>
            <a:off x="7959772" y="1524000"/>
            <a:ext cx="3565478" cy="61277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5C190B-5A1D-45B6-B30E-1C14432CC76C}"/>
              </a:ext>
            </a:extLst>
          </p:cNvPr>
          <p:cNvSpPr>
            <a:spLocks noGrp="1"/>
          </p:cNvSpPr>
          <p:nvPr/>
        </p:nvSpPr>
        <p:spPr>
          <a:xfrm>
            <a:off x="8016922" y="155257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Common method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B484D3-5311-439B-96CF-6828F1E07394}"/>
              </a:ext>
            </a:extLst>
          </p:cNvPr>
          <p:cNvSpPr>
            <a:spLocks noGrp="1"/>
          </p:cNvSpPr>
          <p:nvPr/>
        </p:nvSpPr>
        <p:spPr>
          <a:xfrm>
            <a:off x="666750" y="213677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DF8B67-03A8-4A76-8539-1274912146B0}"/>
              </a:ext>
            </a:extLst>
          </p:cNvPr>
          <p:cNvSpPr>
            <a:spLocks noGrp="1"/>
          </p:cNvSpPr>
          <p:nvPr/>
        </p:nvSpPr>
        <p:spPr>
          <a:xfrm>
            <a:off x="723900" y="216535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 mean vs benchmark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A912B1-87FE-4741-BE72-53CFAE0A40F2}"/>
              </a:ext>
            </a:extLst>
          </p:cNvPr>
          <p:cNvSpPr>
            <a:spLocks noGrp="1"/>
          </p:cNvSpPr>
          <p:nvPr/>
        </p:nvSpPr>
        <p:spPr>
          <a:xfrm>
            <a:off x="4232228" y="2136775"/>
            <a:ext cx="3727545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63C663-DE10-4625-8F9D-3632E28EBDAA}"/>
              </a:ext>
            </a:extLst>
          </p:cNvPr>
          <p:cNvSpPr>
            <a:spLocks noGrp="1"/>
          </p:cNvSpPr>
          <p:nvPr/>
        </p:nvSpPr>
        <p:spPr>
          <a:xfrm>
            <a:off x="4289378" y="2165350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 quantitative sample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C9A12D-42B5-4656-90F7-32F9F00F8ABE}"/>
              </a:ext>
            </a:extLst>
          </p:cNvPr>
          <p:cNvSpPr>
            <a:spLocks noGrp="1"/>
          </p:cNvSpPr>
          <p:nvPr/>
        </p:nvSpPr>
        <p:spPr>
          <a:xfrm>
            <a:off x="7959772" y="213677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C5551-1AD9-4362-851A-A234F4A387E4}"/>
              </a:ext>
            </a:extLst>
          </p:cNvPr>
          <p:cNvSpPr>
            <a:spLocks noGrp="1"/>
          </p:cNvSpPr>
          <p:nvPr/>
        </p:nvSpPr>
        <p:spPr>
          <a:xfrm>
            <a:off x="8016922" y="216535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One-sample t 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6991A7-FAC7-4E9B-A4D1-1A775AAC68C6}"/>
              </a:ext>
            </a:extLst>
          </p:cNvPr>
          <p:cNvSpPr>
            <a:spLocks noGrp="1"/>
          </p:cNvSpPr>
          <p:nvPr/>
        </p:nvSpPr>
        <p:spPr>
          <a:xfrm>
            <a:off x="666750" y="2749550"/>
            <a:ext cx="3565478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A5A71C-520F-4273-B1FC-DE595D131155}"/>
              </a:ext>
            </a:extLst>
          </p:cNvPr>
          <p:cNvSpPr>
            <a:spLocks noGrp="1"/>
          </p:cNvSpPr>
          <p:nvPr/>
        </p:nvSpPr>
        <p:spPr>
          <a:xfrm>
            <a:off x="723900" y="277812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independent means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EE2C0C-3918-4653-AA8D-7E4E3DD67955}"/>
              </a:ext>
            </a:extLst>
          </p:cNvPr>
          <p:cNvSpPr>
            <a:spLocks noGrp="1"/>
          </p:cNvSpPr>
          <p:nvPr/>
        </p:nvSpPr>
        <p:spPr>
          <a:xfrm>
            <a:off x="4232228" y="2749550"/>
            <a:ext cx="3727545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477CB9-4137-45B8-8AC0-DC7B5163396B}"/>
              </a:ext>
            </a:extLst>
          </p:cNvPr>
          <p:cNvSpPr>
            <a:spLocks noGrp="1"/>
          </p:cNvSpPr>
          <p:nvPr/>
        </p:nvSpPr>
        <p:spPr>
          <a:xfrm>
            <a:off x="4289378" y="2778125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quantitative groups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8B5EC0-8254-4592-86C6-BB727EE5971F}"/>
              </a:ext>
            </a:extLst>
          </p:cNvPr>
          <p:cNvSpPr>
            <a:spLocks noGrp="1"/>
          </p:cNvSpPr>
          <p:nvPr/>
        </p:nvSpPr>
        <p:spPr>
          <a:xfrm>
            <a:off x="7959772" y="2749550"/>
            <a:ext cx="3565478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97D34F-17B0-45A2-86AB-29BFF5284AE7}"/>
              </a:ext>
            </a:extLst>
          </p:cNvPr>
          <p:cNvSpPr>
            <a:spLocks noGrp="1"/>
          </p:cNvSpPr>
          <p:nvPr/>
        </p:nvSpPr>
        <p:spPr>
          <a:xfrm>
            <a:off x="8016922" y="277812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Welch t 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681B88-1E7F-40DF-9DF7-C567A3DA53DF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6D68F4-DFB0-4673-8260-0157E35BEB6C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Paired mean change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DBB1BD-2446-438A-ACCB-4102E7EA9237}"/>
              </a:ext>
            </a:extLst>
          </p:cNvPr>
          <p:cNvSpPr>
            <a:spLocks noGrp="1"/>
          </p:cNvSpPr>
          <p:nvPr/>
        </p:nvSpPr>
        <p:spPr>
          <a:xfrm>
            <a:off x="4232228" y="3362325"/>
            <a:ext cx="3727545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5986E3-4B41-46AA-8072-C455C3F7BEEC}"/>
              </a:ext>
            </a:extLst>
          </p:cNvPr>
          <p:cNvSpPr>
            <a:spLocks noGrp="1"/>
          </p:cNvSpPr>
          <p:nvPr/>
        </p:nvSpPr>
        <p:spPr>
          <a:xfrm>
            <a:off x="4289378" y="3390900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Repeated/matched quantitative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D4DC3A-EB6A-4355-8486-7D1B0CD84474}"/>
              </a:ext>
            </a:extLst>
          </p:cNvPr>
          <p:cNvSpPr>
            <a:spLocks noGrp="1"/>
          </p:cNvSpPr>
          <p:nvPr/>
        </p:nvSpPr>
        <p:spPr>
          <a:xfrm>
            <a:off x="7959772" y="336232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FE58C2-F738-40ED-B16C-42916BFBF069}"/>
              </a:ext>
            </a:extLst>
          </p:cNvPr>
          <p:cNvSpPr>
            <a:spLocks noGrp="1"/>
          </p:cNvSpPr>
          <p:nvPr/>
        </p:nvSpPr>
        <p:spPr>
          <a:xfrm>
            <a:off x="8016922" y="339090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Paired t test on differences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96AFF2-5CEA-4AC6-A9D0-707EB0DF35C6}"/>
              </a:ext>
            </a:extLst>
          </p:cNvPr>
          <p:cNvSpPr>
            <a:spLocks noGrp="1"/>
          </p:cNvSpPr>
          <p:nvPr/>
        </p:nvSpPr>
        <p:spPr>
          <a:xfrm>
            <a:off x="666750" y="3975100"/>
            <a:ext cx="3565478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E61762-57D7-452E-8DD1-A1F3DB066DBA}"/>
              </a:ext>
            </a:extLst>
          </p:cNvPr>
          <p:cNvSpPr>
            <a:spLocks noGrp="1"/>
          </p:cNvSpPr>
          <p:nvPr/>
        </p:nvSpPr>
        <p:spPr>
          <a:xfrm>
            <a:off x="723900" y="400367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 proportion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660F9F-2DD8-4E38-AEE5-F05A6B0A34DE}"/>
              </a:ext>
            </a:extLst>
          </p:cNvPr>
          <p:cNvSpPr>
            <a:spLocks noGrp="1"/>
          </p:cNvSpPr>
          <p:nvPr/>
        </p:nvSpPr>
        <p:spPr>
          <a:xfrm>
            <a:off x="4232228" y="3975100"/>
            <a:ext cx="3727545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B08604-27D7-4354-BCB8-A2D4BD3B8EEC}"/>
              </a:ext>
            </a:extLst>
          </p:cNvPr>
          <p:cNvSpPr>
            <a:spLocks noGrp="1"/>
          </p:cNvSpPr>
          <p:nvPr/>
        </p:nvSpPr>
        <p:spPr>
          <a:xfrm>
            <a:off x="4289378" y="4003675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 Bernoulli sample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9CBE7C-42FE-489B-AAC3-A1B1F9F18A45}"/>
              </a:ext>
            </a:extLst>
          </p:cNvPr>
          <p:cNvSpPr>
            <a:spLocks noGrp="1"/>
          </p:cNvSpPr>
          <p:nvPr/>
        </p:nvSpPr>
        <p:spPr>
          <a:xfrm>
            <a:off x="7959772" y="3975100"/>
            <a:ext cx="3565478" cy="61277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4A85BA-1C8B-48B6-BC79-9DA2AAA2D2B4}"/>
              </a:ext>
            </a:extLst>
          </p:cNvPr>
          <p:cNvSpPr>
            <a:spLocks noGrp="1"/>
          </p:cNvSpPr>
          <p:nvPr/>
        </p:nvSpPr>
        <p:spPr>
          <a:xfrm>
            <a:off x="8016922" y="4003675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Exact binomial or one-sample z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F9574F-FD8E-46DA-8866-A0DE7D7B528F}"/>
              </a:ext>
            </a:extLst>
          </p:cNvPr>
          <p:cNvSpPr>
            <a:spLocks noGrp="1"/>
          </p:cNvSpPr>
          <p:nvPr/>
        </p:nvSpPr>
        <p:spPr>
          <a:xfrm>
            <a:off x="666750" y="458787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E8E309-1266-4232-931D-981FBF000994}"/>
              </a:ext>
            </a:extLst>
          </p:cNvPr>
          <p:cNvSpPr>
            <a:spLocks noGrp="1"/>
          </p:cNvSpPr>
          <p:nvPr/>
        </p:nvSpPr>
        <p:spPr>
          <a:xfrm>
            <a:off x="723900" y="461645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independent proportions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8CDD1E-C1B1-4B72-972E-4F895D501F85}"/>
              </a:ext>
            </a:extLst>
          </p:cNvPr>
          <p:cNvSpPr>
            <a:spLocks noGrp="1"/>
          </p:cNvSpPr>
          <p:nvPr/>
        </p:nvSpPr>
        <p:spPr>
          <a:xfrm>
            <a:off x="4232228" y="4587875"/>
            <a:ext cx="3727545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1EE4EB-1A96-4B49-9B88-54FE9464F0CD}"/>
              </a:ext>
            </a:extLst>
          </p:cNvPr>
          <p:cNvSpPr>
            <a:spLocks noGrp="1"/>
          </p:cNvSpPr>
          <p:nvPr/>
        </p:nvSpPr>
        <p:spPr>
          <a:xfrm>
            <a:off x="4289378" y="4616450"/>
            <a:ext cx="3613245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Bernoulli groups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E362811-8830-4273-9DC9-60F3A63412A3}"/>
              </a:ext>
            </a:extLst>
          </p:cNvPr>
          <p:cNvSpPr>
            <a:spLocks noGrp="1"/>
          </p:cNvSpPr>
          <p:nvPr/>
        </p:nvSpPr>
        <p:spPr>
          <a:xfrm>
            <a:off x="7959772" y="4587875"/>
            <a:ext cx="3565478" cy="61277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40A0A8-6B44-4D30-9A34-F9669BDCA134}"/>
              </a:ext>
            </a:extLst>
          </p:cNvPr>
          <p:cNvSpPr>
            <a:spLocks noGrp="1"/>
          </p:cNvSpPr>
          <p:nvPr/>
        </p:nvSpPr>
        <p:spPr>
          <a:xfrm>
            <a:off x="8016922" y="4616450"/>
            <a:ext cx="3451178" cy="55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Two-sample z; exact 2×2 if sparse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780526-93D5-4441-8607-8A467E84DE7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57F24C-FC5F-4F1F-9871-3D218F857C77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Categorical tables: chi-square; use exact/resampling if sparse. No test repairs poor design.</a:t>
            </a:r>
          </a:p>
        </p:txBody>
      </p:sp>
    </p:spTree>
    <p:extLst>
      <p:ext uri="{BB962C8B-B14F-4D97-AF65-F5344CB8AC3E}">
        <p14:creationId xmlns:p14="http://schemas.microsoft.com/office/powerpoint/2010/main" val="681314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FEA1DC-7B54-4878-BF7C-0FBC51534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6BD17C-3138-4CE9-BCEA-468F1B7A4A5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A7502-90ED-4953-8577-07365F31895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65701-65C9-4389-AD2A-BD717D99319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A2D84-6FF7-4CD5-94BB-A96B8A9DED64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BFA29-B612-42E4-B767-9FDC3D735439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8F26C-1C3B-4072-B2EF-97E4617AE02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39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BC4FA9-A216-4BC5-8198-E8DBF5AF331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4A1E2-76D9-490D-A66A-A43F233CEEF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49D9F4-902B-4D6E-A1B0-5D72E4457CE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1332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SciPy returns the statistic, p-value, degrees of freedom, and CI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2F843A-4180-46A1-901F-EABD8B174D9D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6381750" cy="3714750"/>
          </a:xfrm>
          <a:prstGeom prst="roundRect">
            <a:avLst>
              <a:gd name="adj" fmla="val 4103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D6785-ABC2-4BF4-8D60-69EBC3FCA345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CURRENT SCIPY 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50BA0-F7AB-4627-B6A3-C3CE7E2EB0A9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6000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scipy import stats</a:t>
            </a:r>
          </a:p>
          <a:p>
            <a:endParaRPr sz="1313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One mean versus 4.0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one = stats.ttest_1samp(x, popmean=4.0)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one.statistic, one.pvalue, one.df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one.confidence_interval(0.95)</a:t>
            </a:r>
          </a:p>
          <a:p>
            <a:endParaRPr sz="1313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Two independent means: Welch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two = stats.ttest_ind(a, b, equal_var=False)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two.statistic, two.pvalue, two.df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two.confidence_interval(0.95)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270C3F-6F27-4458-A3BD-C9A2BFAA9C99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790950" cy="3181350"/>
          </a:xfrm>
          <a:prstGeom prst="roundRect">
            <a:avLst>
              <a:gd name="adj" fmla="val 538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07D50-57FE-44A3-96BB-D8D9D1813C9B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137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D390C-FF34-49B1-B818-9AAAA2C1E554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30670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/>
          </a:bodyPr>
          <a:lstStyle/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Group n, mean, and SD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Mean difference and units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95% CI for the target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Exact p-value and alternative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Sampling unit and assumptions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Practical interpretation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5F73FE-3563-442D-BFC5-CDC5627DD837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F7E33C-B87B-4BD0-9E71-A77CFEEF1CF4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The software output is not the analysis; the estimand and design give it meaning.</a:t>
            </a:r>
          </a:p>
        </p:txBody>
      </p:sp>
    </p:spTree>
    <p:extLst>
      <p:ext uri="{BB962C8B-B14F-4D97-AF65-F5344CB8AC3E}">
        <p14:creationId xmlns:p14="http://schemas.microsoft.com/office/powerpoint/2010/main" val="6956150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630CE0A-6CF6-4CAF-A989-A276D6EBA0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8C99CD-00FA-447B-B024-FDE52C1DC387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935B4-52D9-4999-8A53-6211F3F8CBB5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1D968-12CC-493E-9BC9-030AC7D6F336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DAED5-8091-4441-B9C2-9E7352AB21B7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B6C50B-3255-4DEB-8054-F5CFC2A6EBF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1C11A-F133-4840-AA34-21111EA465B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57C3AC-E5B4-495C-A14F-9E9E1EBC2BE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B8143-5F91-4740-B2C8-B498281A183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6C3E8-95F1-4195-BCA6-EF7D3D54E71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418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For proportions, distinguish an interval method from a test method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02A4BBE-E3F5-4324-8D8B-A2186AE913D6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6858000" cy="3771900"/>
          </a:xfrm>
          <a:prstGeom prst="roundRect">
            <a:avLst>
              <a:gd name="adj" fmla="val 4040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2AC00-585D-4750-B31F-EBEC77F17710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PROPORTION INFERENCE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0933E-2BD0-4029-BDF2-F25342A0560C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6477000" cy="3200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scipy.stats import binomtest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from statsmodels.stats.proportion import (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proportion_confint, proportions_ztest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One proportion, one-sided exact test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test = binomtest(k, n, p=0.50, alternative="greater")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Wilson 95% CI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ci = proportion_confint(k, n, method="wilson")</a:t>
            </a:r>
          </a:p>
          <a:p>
            <a:endParaRPr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Two-proportion z test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stat, p = proportions_ztest([x1, x2], [n1, n2])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530BEE-53EA-4814-AD4D-D765252AB657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295650" cy="3238500"/>
          </a:xfrm>
          <a:prstGeom prst="roundRect">
            <a:avLst>
              <a:gd name="adj" fmla="val 5294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F2144-5BB0-4F5F-9C4A-B5CD2104D62D}"/>
              </a:ext>
            </a:extLst>
          </p:cNvPr>
          <p:cNvSpPr>
            <a:spLocks noGrp="1"/>
          </p:cNvSpPr>
          <p:nvPr/>
        </p:nvSpPr>
        <p:spPr>
          <a:xfrm>
            <a:off x="8401050" y="194310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137"/>
          </a:bodyPr>
          <a:lstStyle/>
          <a:p>
            <a:pPr algn="ctr">
              <a:buNone/>
              <a:def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Audit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41FE8F-84D1-4F35-826F-4A64627F640B}"/>
              </a:ext>
            </a:extLst>
          </p:cNvPr>
          <p:cNvSpPr>
            <a:spLocks noGrp="1"/>
          </p:cNvSpPr>
          <p:nvPr/>
        </p:nvSpPr>
        <p:spPr>
          <a:xfrm>
            <a:off x="8305800" y="2628900"/>
            <a:ext cx="27241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92497"/>
          </a:bodyPr>
          <a:lstStyle/>
          <a:p>
            <a:pPr marL="27" indent="-18">
              <a:spcAft>
                <a:spcPts val="13"/>
              </a:spcAft>
              <a:buChar char="•"/>
              <a:defRPr sz="150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Was the alternative specified before the result?</a:t>
            </a:r>
          </a:p>
          <a:p>
            <a:pPr marL="27" indent="-18">
              <a:spcAft>
                <a:spcPts val="13"/>
              </a:spcAft>
              <a:buChar char="•"/>
              <a:defRPr sz="150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Are expected successes/failures large enough for z?</a:t>
            </a:r>
          </a:p>
          <a:p>
            <a:pPr marL="27" indent="-18">
              <a:spcAft>
                <a:spcPts val="13"/>
              </a:spcAft>
              <a:buChar char="•"/>
              <a:defRPr sz="150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Is Wilson preferable to Wald for the CI?</a:t>
            </a:r>
          </a:p>
          <a:p>
            <a:pPr marL="27" indent="-18">
              <a:spcAft>
                <a:spcPts val="13"/>
              </a:spcAft>
              <a:buChar char="•"/>
              <a:defRPr sz="150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Does the sample represent the target population?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919E5E6-EAA6-4DE8-8CAF-7A7AF2AB154F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E5263-E9F3-442B-B997-898877B33F2E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 one-sided p-value and a two-sided 95% CI are not exact duals; match sidedness deliberately.</a:t>
            </a:r>
          </a:p>
        </p:txBody>
      </p:sp>
    </p:spTree>
    <p:extLst>
      <p:ext uri="{BB962C8B-B14F-4D97-AF65-F5344CB8AC3E}">
        <p14:creationId xmlns:p14="http://schemas.microsoft.com/office/powerpoint/2010/main" val="290958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B43D4D5-FBB8-4A7C-B3D3-91C067406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9655B-0FC2-4C86-8FB3-8BF819D8864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76B2A-0CB7-4496-971A-CE902A9F217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4D4E4-1C1D-4D9B-8502-FBD569F5EF4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2D74D-CC10-4FB2-AF16-28305E99363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F16B9-E4B9-4CF7-983F-50AA9191450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FF0F4-3E5A-4DEC-B5D5-B4B6D16EF515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E2374-6AB3-4388-BF92-B110C5B2377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A2024-AE24-4E18-B654-D719A97593D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0A4800-01FD-4A02-B0BA-EAC83A06736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9830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Chi-square compares observed counts with counts expected under independence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13D17C-215E-4100-8681-F4A339FF5F1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30D2D7-E9D0-446F-9B2A-36AA3B115E61}"/>
              </a:ext>
            </a:extLst>
          </p:cNvPr>
          <p:cNvSpPr>
            <a:spLocks noGrp="1"/>
          </p:cNvSpPr>
          <p:nvPr/>
        </p:nvSpPr>
        <p:spPr>
          <a:xfrm>
            <a:off x="150495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E4A4AF-80DD-476C-B35C-D6AC385041C8}"/>
              </a:ext>
            </a:extLst>
          </p:cNvPr>
          <p:cNvSpPr>
            <a:spLocks noGrp="1"/>
          </p:cNvSpPr>
          <p:nvPr/>
        </p:nvSpPr>
        <p:spPr>
          <a:xfrm>
            <a:off x="150495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A46D0-857B-437E-A6B9-C77B68791FBC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Cross-tab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EEC2F8-8A6D-4EE9-A407-A9AF88F5DE4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Observed cell counts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66190D2-A862-480F-8B35-D552F21687E9}"/>
              </a:ext>
            </a:extLst>
          </p:cNvPr>
          <p:cNvSpPr>
            <a:spLocks noGrp="1"/>
          </p:cNvSpPr>
          <p:nvPr/>
        </p:nvSpPr>
        <p:spPr>
          <a:xfrm>
            <a:off x="348615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9B8AB7-379E-4F3E-ADE4-3C84E6FE134A}"/>
              </a:ext>
            </a:extLst>
          </p:cNvPr>
          <p:cNvSpPr>
            <a:spLocks noGrp="1"/>
          </p:cNvSpPr>
          <p:nvPr/>
        </p:nvSpPr>
        <p:spPr>
          <a:xfrm>
            <a:off x="430530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A5844B-2E34-4BF7-930F-8B2016392A37}"/>
              </a:ext>
            </a:extLst>
          </p:cNvPr>
          <p:cNvSpPr>
            <a:spLocks noGrp="1"/>
          </p:cNvSpPr>
          <p:nvPr/>
        </p:nvSpPr>
        <p:spPr>
          <a:xfrm>
            <a:off x="430530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CD6886-9BB1-4366-97C9-CAF84225704A}"/>
              </a:ext>
            </a:extLst>
          </p:cNvPr>
          <p:cNvSpPr>
            <a:spLocks noGrp="1"/>
          </p:cNvSpPr>
          <p:nvPr/>
        </p:nvSpPr>
        <p:spPr>
          <a:xfrm>
            <a:off x="371475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Fit H₀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A6B85-0FD1-494F-AE01-EF9C772F08B5}"/>
              </a:ext>
            </a:extLst>
          </p:cNvPr>
          <p:cNvSpPr>
            <a:spLocks noGrp="1"/>
          </p:cNvSpPr>
          <p:nvPr/>
        </p:nvSpPr>
        <p:spPr>
          <a:xfrm>
            <a:off x="371475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131"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Expected = row total × column total / grand total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5E303E-E231-4644-833E-AE1B7C5913C9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B3D59B-D8E3-4784-B664-975F5C9F6EE1}"/>
              </a:ext>
            </a:extLst>
          </p:cNvPr>
          <p:cNvSpPr>
            <a:spLocks noGrp="1"/>
          </p:cNvSpPr>
          <p:nvPr/>
        </p:nvSpPr>
        <p:spPr>
          <a:xfrm>
            <a:off x="710565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E7156-A004-4DC6-A40C-CCEDC4E08C5A}"/>
              </a:ext>
            </a:extLst>
          </p:cNvPr>
          <p:cNvSpPr>
            <a:spLocks noGrp="1"/>
          </p:cNvSpPr>
          <p:nvPr/>
        </p:nvSpPr>
        <p:spPr>
          <a:xfrm>
            <a:off x="710565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E4FCA7-F4E7-443F-94D9-8AF72FD96507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Aggregate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1F4B99-3968-40F7-AEBC-75D9A323819E}"/>
              </a:ext>
            </a:extLst>
          </p:cNvPr>
          <p:cNvSpPr>
            <a:spLocks noGrp="1"/>
          </p:cNvSpPr>
          <p:nvPr/>
        </p:nvSpPr>
        <p:spPr>
          <a:xfrm>
            <a:off x="651510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χ² = Σ (O−E)² / 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9A6535-D2B2-44DE-BDAA-71631F015A80}"/>
              </a:ext>
            </a:extLst>
          </p:cNvPr>
          <p:cNvSpPr>
            <a:spLocks noGrp="1"/>
          </p:cNvSpPr>
          <p:nvPr/>
        </p:nvSpPr>
        <p:spPr>
          <a:xfrm>
            <a:off x="908685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40FA58F-8D3D-4B65-A20D-68B29CDA7D36}"/>
              </a:ext>
            </a:extLst>
          </p:cNvPr>
          <p:cNvSpPr>
            <a:spLocks noGrp="1"/>
          </p:cNvSpPr>
          <p:nvPr/>
        </p:nvSpPr>
        <p:spPr>
          <a:xfrm>
            <a:off x="9906000" y="1943100"/>
            <a:ext cx="762000" cy="7620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1C7449-59E8-4DF2-AF25-C1150649002C}"/>
              </a:ext>
            </a:extLst>
          </p:cNvPr>
          <p:cNvSpPr>
            <a:spLocks noGrp="1"/>
          </p:cNvSpPr>
          <p:nvPr/>
        </p:nvSpPr>
        <p:spPr>
          <a:xfrm>
            <a:off x="990600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BA4CD5-9A67-479D-BCAF-DFBD35A5B32B}"/>
              </a:ext>
            </a:extLst>
          </p:cNvPr>
          <p:cNvSpPr>
            <a:spLocks noGrp="1"/>
          </p:cNvSpPr>
          <p:nvPr/>
        </p:nvSpPr>
        <p:spPr>
          <a:xfrm>
            <a:off x="931545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Diagnose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BEAE27-E4CC-4659-AD53-3E8A93C6CE79}"/>
              </a:ext>
            </a:extLst>
          </p:cNvPr>
          <p:cNvSpPr>
            <a:spLocks noGrp="1"/>
          </p:cNvSpPr>
          <p:nvPr/>
        </p:nvSpPr>
        <p:spPr>
          <a:xfrm>
            <a:off x="931545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Expected counts, residuals, effect size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C790B37-1328-4F8F-9066-C15BC12FEF0F}"/>
              </a:ext>
            </a:extLst>
          </p:cNvPr>
          <p:cNvSpPr>
            <a:spLocks noGrp="1"/>
          </p:cNvSpPr>
          <p:nvPr/>
        </p:nvSpPr>
        <p:spPr>
          <a:xfrm>
            <a:off x="2400300" y="4686300"/>
            <a:ext cx="7391400" cy="990600"/>
          </a:xfrm>
          <a:prstGeom prst="roundRect">
            <a:avLst>
              <a:gd name="adj" fmla="val 15385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54A39A-4497-45BB-9562-6C26874D1601}"/>
              </a:ext>
            </a:extLst>
          </p:cNvPr>
          <p:cNvSpPr>
            <a:spLocks noGrp="1"/>
          </p:cNvSpPr>
          <p:nvPr/>
        </p:nvSpPr>
        <p:spPr>
          <a:xfrm>
            <a:off x="2609850" y="4819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CORE CALL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7D3775-0A7A-4376-96AC-67D3EAAA1E0B}"/>
              </a:ext>
            </a:extLst>
          </p:cNvPr>
          <p:cNvSpPr>
            <a:spLocks noGrp="1"/>
          </p:cNvSpPr>
          <p:nvPr/>
        </p:nvSpPr>
        <p:spPr>
          <a:xfrm>
            <a:off x="2590800" y="4933950"/>
            <a:ext cx="701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98039"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import pandas as pd, scipy.stats as stats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table = pd.crosstab(df["sentiment"], df["gender"])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res = stats.chi2_contingency(table, correction=False)</a:t>
            </a:r>
          </a:p>
        </p:txBody>
      </p:sp>
    </p:spTree>
    <p:extLst>
      <p:ext uri="{BB962C8B-B14F-4D97-AF65-F5344CB8AC3E}">
        <p14:creationId xmlns:p14="http://schemas.microsoft.com/office/powerpoint/2010/main" val="2980142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B43D4D5-FBB8-4A7C-B3D3-91C067406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9655B-0FC2-4C86-8FB3-8BF819D8864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76B2A-0CB7-4496-971A-CE902A9F2172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4D4E4-1C1D-4D9B-8502-FBD569F5EF47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2D74D-CC10-4FB2-AF16-28305E99363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F16B9-E4B9-4CF7-983F-50AA9191450E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BOOK · CHI²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AFF0F4-3E5A-4DEC-B5D5-B4B6D16EF515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E2374-6AB3-4388-BF92-B110C5B2377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A2024-AE24-4E18-B654-D719A97593D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0A4800-01FD-4A02-B0BA-EAC83A06736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0999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Book example: chi-square finds association; residuals locate it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13D17C-215E-4100-8681-F4A339FF5F1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30D2D7-E9D0-446F-9B2A-36AA3B115E61}"/>
              </a:ext>
            </a:extLst>
          </p:cNvPr>
          <p:cNvSpPr>
            <a:spLocks noGrp="1"/>
          </p:cNvSpPr>
          <p:nvPr/>
        </p:nvSpPr>
        <p:spPr>
          <a:xfrm>
            <a:off x="150495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E4A4AF-80DD-476C-B35C-D6AC385041C8}"/>
              </a:ext>
            </a:extLst>
          </p:cNvPr>
          <p:cNvSpPr>
            <a:spLocks noGrp="1"/>
          </p:cNvSpPr>
          <p:nvPr/>
        </p:nvSpPr>
        <p:spPr>
          <a:xfrm>
            <a:off x="150495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A46D0-857B-437E-A6B9-C77B68791FBC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Cross-tab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EEC2F8-8A6D-4EE9-A407-A9AF88F5DE4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Marital status × happiness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66190D2-A862-480F-8B35-D552F21687E9}"/>
              </a:ext>
            </a:extLst>
          </p:cNvPr>
          <p:cNvSpPr>
            <a:spLocks noGrp="1"/>
          </p:cNvSpPr>
          <p:nvPr/>
        </p:nvSpPr>
        <p:spPr>
          <a:xfrm>
            <a:off x="348615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9B8AB7-379E-4F3E-ADE4-3C84E6FE134A}"/>
              </a:ext>
            </a:extLst>
          </p:cNvPr>
          <p:cNvSpPr>
            <a:spLocks noGrp="1"/>
          </p:cNvSpPr>
          <p:nvPr/>
        </p:nvSpPr>
        <p:spPr>
          <a:xfrm>
            <a:off x="430530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A5844B-2E34-4BF7-930F-8B2016392A37}"/>
              </a:ext>
            </a:extLst>
          </p:cNvPr>
          <p:cNvSpPr>
            <a:spLocks noGrp="1"/>
          </p:cNvSpPr>
          <p:nvPr/>
        </p:nvSpPr>
        <p:spPr>
          <a:xfrm>
            <a:off x="430530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CD6886-9BB1-4366-97C9-CAF84225704A}"/>
              </a:ext>
            </a:extLst>
          </p:cNvPr>
          <p:cNvSpPr>
            <a:spLocks noGrp="1"/>
          </p:cNvSpPr>
          <p:nvPr/>
        </p:nvSpPr>
        <p:spPr>
          <a:xfrm>
            <a:off x="371475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2292"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Test independence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A6B85-0FD1-494F-AE01-EF9C772F08B5}"/>
              </a:ext>
            </a:extLst>
          </p:cNvPr>
          <p:cNvSpPr>
            <a:spLocks noGrp="1"/>
          </p:cNvSpPr>
          <p:nvPr/>
        </p:nvSpPr>
        <p:spPr>
          <a:xfrm>
            <a:off x="371475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χ² = 197.41, df = 4, p &lt; .001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5E303E-E231-4644-833E-AE1B7C5913C9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B3D59B-D8E3-4784-B664-975F5C9F6EE1}"/>
              </a:ext>
            </a:extLst>
          </p:cNvPr>
          <p:cNvSpPr>
            <a:spLocks noGrp="1"/>
          </p:cNvSpPr>
          <p:nvPr/>
        </p:nvSpPr>
        <p:spPr>
          <a:xfrm>
            <a:off x="7105650" y="1943100"/>
            <a:ext cx="762000" cy="7620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E7156-A004-4DC6-A40C-CCEDC4E08C5A}"/>
              </a:ext>
            </a:extLst>
          </p:cNvPr>
          <p:cNvSpPr>
            <a:spLocks noGrp="1"/>
          </p:cNvSpPr>
          <p:nvPr/>
        </p:nvSpPr>
        <p:spPr>
          <a:xfrm>
            <a:off x="710565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E4FCA7-F4E7-443F-94D9-8AF72FD96507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9585"/>
          </a:bodyPr>
          <a:lstStyle/>
          <a:p>
            <a:pPr algn="ctr">
              <a:buNone/>
              <a:def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Inspect residuals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1F4B99-3968-40F7-AEBC-75D9A323819E}"/>
              </a:ext>
            </a:extLst>
          </p:cNvPr>
          <p:cNvSpPr>
            <a:spLocks noGrp="1"/>
          </p:cNvSpPr>
          <p:nvPr/>
        </p:nvSpPr>
        <p:spPr>
          <a:xfrm>
            <a:off x="651510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3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Married / very happy: +12.30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9A6535-D2B2-44DE-BDAA-71631F015A80}"/>
              </a:ext>
            </a:extLst>
          </p:cNvPr>
          <p:cNvSpPr>
            <a:spLocks noGrp="1"/>
          </p:cNvSpPr>
          <p:nvPr/>
        </p:nvSpPr>
        <p:spPr>
          <a:xfrm>
            <a:off x="9086850" y="1714500"/>
            <a:ext cx="2400300" cy="2571750"/>
          </a:xfrm>
          <a:prstGeom prst="roundRect">
            <a:avLst>
              <a:gd name="adj" fmla="val 7143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40FA58F-8D3D-4B65-A20D-68B29CDA7D36}"/>
              </a:ext>
            </a:extLst>
          </p:cNvPr>
          <p:cNvSpPr>
            <a:spLocks noGrp="1"/>
          </p:cNvSpPr>
          <p:nvPr/>
        </p:nvSpPr>
        <p:spPr>
          <a:xfrm>
            <a:off x="9906000" y="1943100"/>
            <a:ext cx="762000" cy="7620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1C7449-59E8-4DF2-AF25-C1150649002C}"/>
              </a:ext>
            </a:extLst>
          </p:cNvPr>
          <p:cNvSpPr>
            <a:spLocks noGrp="1"/>
          </p:cNvSpPr>
          <p:nvPr/>
        </p:nvSpPr>
        <p:spPr>
          <a:xfrm>
            <a:off x="9906000" y="1943100"/>
            <a:ext cx="76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0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BA4CD5-9A67-479D-BCAF-DFBD35A5B32B}"/>
              </a:ext>
            </a:extLst>
          </p:cNvPr>
          <p:cNvSpPr>
            <a:spLocks noGrp="1"/>
          </p:cNvSpPr>
          <p:nvPr/>
        </p:nvSpPr>
        <p:spPr>
          <a:xfrm>
            <a:off x="9315450" y="295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4428"/>
          </a:bodyPr>
          <a:lstStyle/>
          <a:p>
            <a:pPr algn="ctr">
              <a:buNone/>
              <a:def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25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Interpret pattern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BEAE27-E4CC-4659-AD53-3E8A93C6CE79}"/>
              </a:ext>
            </a:extLst>
          </p:cNvPr>
          <p:cNvSpPr>
            <a:spLocks noGrp="1"/>
          </p:cNvSpPr>
          <p:nvPr/>
        </p:nvSpPr>
        <p:spPr>
          <a:xfrm>
            <a:off x="9315450" y="3505200"/>
            <a:ext cx="1943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buNone/>
              <a:def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Association is strong; causality is not established.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C790B37-1328-4F8F-9066-C15BC12FEF0F}"/>
              </a:ext>
            </a:extLst>
          </p:cNvPr>
          <p:cNvSpPr>
            <a:spLocks noGrp="1"/>
          </p:cNvSpPr>
          <p:nvPr/>
        </p:nvSpPr>
        <p:spPr>
          <a:xfrm>
            <a:off x="2400300" y="4686300"/>
            <a:ext cx="7391400" cy="990600"/>
          </a:xfrm>
          <a:prstGeom prst="roundRect">
            <a:avLst>
              <a:gd name="adj" fmla="val 15385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54A39A-4497-45BB-9562-6C26874D1601}"/>
              </a:ext>
            </a:extLst>
          </p:cNvPr>
          <p:cNvSpPr>
            <a:spLocks noGrp="1"/>
          </p:cNvSpPr>
          <p:nvPr/>
        </p:nvSpPr>
        <p:spPr>
          <a:xfrm>
            <a:off x="2609850" y="4819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CORE CALL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7D3775-0A7A-4376-96AC-67D3EAAA1E0B}"/>
              </a:ext>
            </a:extLst>
          </p:cNvPr>
          <p:cNvSpPr>
            <a:spLocks noGrp="1"/>
          </p:cNvSpPr>
          <p:nvPr/>
        </p:nvSpPr>
        <p:spPr>
          <a:xfrm>
            <a:off x="2590800" y="4933950"/>
            <a:ext cx="701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 fontScale="96154"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counts = pd.crosstab(happy["marital"], happy["happiness"])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tab = sm.stats.Table(counts)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tab.test_nominal_association(); tab.standardized_resids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Textbook §5.4.5; Appendix B5.2</a:t>
            </a:r>
          </a:p>
        </p:txBody>
      </p:sp>
    </p:spTree>
    <p:extLst>
      <p:ext uri="{BB962C8B-B14F-4D97-AF65-F5344CB8AC3E}">
        <p14:creationId xmlns:p14="http://schemas.microsoft.com/office/powerpoint/2010/main" val="2980142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DF021D5E-09F2-4E4E-BC6D-1EDE2001BD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0E76C-9C2A-4753-831A-BA07F8D7A115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CD853-E2D4-4830-B345-2B6FA7673004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04B88-1635-4DD0-9AB8-D12B7345C2CA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D7DFFA-312F-44A0-9D09-A0877751D7D2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F17510-5B1E-49F2-A4BA-744253AA5834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TESTING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30D65-38AA-4589-9DE7-A3DAE9F318F9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33E6B5-7877-4CEB-B031-3C2AC0D0BD4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0EAC6B-29A0-44CB-89BE-7B01AE77329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4E307A-4BEE-4ABF-982B-DFED55CAC61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 chi-square p-value is only the first diagnostic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D5524-185D-473B-BAA6-25CD55FEC643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2272709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79DB51-D6F6-487F-A503-60DF0B736690}"/>
              </a:ext>
            </a:extLst>
          </p:cNvPr>
          <p:cNvSpPr>
            <a:spLocks noGrp="1"/>
          </p:cNvSpPr>
          <p:nvPr/>
        </p:nvSpPr>
        <p:spPr>
          <a:xfrm>
            <a:off x="723900" y="1533525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Check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E6A40C-C06A-4BD7-B3A4-C1AAE0F2F6F3}"/>
              </a:ext>
            </a:extLst>
          </p:cNvPr>
          <p:cNvSpPr>
            <a:spLocks noGrp="1"/>
          </p:cNvSpPr>
          <p:nvPr/>
        </p:nvSpPr>
        <p:spPr>
          <a:xfrm>
            <a:off x="2939459" y="1504950"/>
            <a:ext cx="3872023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3790C2-021E-4EB6-97E8-B5959C49920A}"/>
              </a:ext>
            </a:extLst>
          </p:cNvPr>
          <p:cNvSpPr>
            <a:spLocks noGrp="1"/>
          </p:cNvSpPr>
          <p:nvPr/>
        </p:nvSpPr>
        <p:spPr>
          <a:xfrm>
            <a:off x="2996609" y="1533525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DF7CF-EDF4-4C52-B14F-73B6F20C5EBC}"/>
              </a:ext>
            </a:extLst>
          </p:cNvPr>
          <p:cNvSpPr>
            <a:spLocks noGrp="1"/>
          </p:cNvSpPr>
          <p:nvPr/>
        </p:nvSpPr>
        <p:spPr>
          <a:xfrm>
            <a:off x="6811483" y="1504950"/>
            <a:ext cx="4713767" cy="6191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9927E0-BF4C-4199-A764-CDE9AB3C99D5}"/>
              </a:ext>
            </a:extLst>
          </p:cNvPr>
          <p:cNvSpPr>
            <a:spLocks noGrp="1"/>
          </p:cNvSpPr>
          <p:nvPr/>
        </p:nvSpPr>
        <p:spPr>
          <a:xfrm>
            <a:off x="6868633" y="1533525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63B79-1B5A-44C2-B235-9E70F1548B5E}"/>
              </a:ext>
            </a:extLst>
          </p:cNvPr>
          <p:cNvSpPr>
            <a:spLocks noGrp="1"/>
          </p:cNvSpPr>
          <p:nvPr/>
        </p:nvSpPr>
        <p:spPr>
          <a:xfrm>
            <a:off x="666750" y="2124075"/>
            <a:ext cx="2272709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3BEB58-6EFC-4761-B171-4289FBE6E32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Expected counts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5E5D4A-57A1-46BC-B1D7-10C3C1D8F10A}"/>
              </a:ext>
            </a:extLst>
          </p:cNvPr>
          <p:cNvSpPr>
            <a:spLocks noGrp="1"/>
          </p:cNvSpPr>
          <p:nvPr/>
        </p:nvSpPr>
        <p:spPr>
          <a:xfrm>
            <a:off x="2939459" y="2124075"/>
            <a:ext cx="387202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6CD66-8706-4C28-AB31-7B84D96793D5}"/>
              </a:ext>
            </a:extLst>
          </p:cNvPr>
          <p:cNvSpPr>
            <a:spLocks noGrp="1"/>
          </p:cNvSpPr>
          <p:nvPr/>
        </p:nvSpPr>
        <p:spPr>
          <a:xfrm>
            <a:off x="2996609" y="2152650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Are cells sufficiently populated?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60B87D-DFF4-44D0-87C2-73088F264C20}"/>
              </a:ext>
            </a:extLst>
          </p:cNvPr>
          <p:cNvSpPr>
            <a:spLocks noGrp="1"/>
          </p:cNvSpPr>
          <p:nvPr/>
        </p:nvSpPr>
        <p:spPr>
          <a:xfrm>
            <a:off x="6811483" y="2124075"/>
            <a:ext cx="4713767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E660B2-47F9-429D-81AF-CE951DF4347D}"/>
              </a:ext>
            </a:extLst>
          </p:cNvPr>
          <p:cNvSpPr>
            <a:spLocks noGrp="1"/>
          </p:cNvSpPr>
          <p:nvPr/>
        </p:nvSpPr>
        <p:spPr>
          <a:xfrm>
            <a:off x="6868633" y="2152650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Inspect res.expected_freq; exact/resampling if sparse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7F20EF-6B2E-414D-9DD1-070CE7E7FCA9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2272709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3CA0CB-437F-4DC1-9878-4A38CFB51618}"/>
              </a:ext>
            </a:extLst>
          </p:cNvPr>
          <p:cNvSpPr>
            <a:spLocks noGrp="1"/>
          </p:cNvSpPr>
          <p:nvPr/>
        </p:nvSpPr>
        <p:spPr>
          <a:xfrm>
            <a:off x="723900" y="2771775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Residuals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080DFD-5DFB-4759-8FE1-85BC5CF1E2BE}"/>
              </a:ext>
            </a:extLst>
          </p:cNvPr>
          <p:cNvSpPr>
            <a:spLocks noGrp="1"/>
          </p:cNvSpPr>
          <p:nvPr/>
        </p:nvSpPr>
        <p:spPr>
          <a:xfrm>
            <a:off x="2939459" y="2743200"/>
            <a:ext cx="3872023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2F8539-9518-4198-92B5-B017FB95A868}"/>
              </a:ext>
            </a:extLst>
          </p:cNvPr>
          <p:cNvSpPr>
            <a:spLocks noGrp="1"/>
          </p:cNvSpPr>
          <p:nvPr/>
        </p:nvSpPr>
        <p:spPr>
          <a:xfrm>
            <a:off x="2996609" y="2771775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Which cells drive χ²?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158469-2125-4F6C-A266-ADA43BDD6F15}"/>
              </a:ext>
            </a:extLst>
          </p:cNvPr>
          <p:cNvSpPr>
            <a:spLocks noGrp="1"/>
          </p:cNvSpPr>
          <p:nvPr/>
        </p:nvSpPr>
        <p:spPr>
          <a:xfrm>
            <a:off x="6811483" y="2743200"/>
            <a:ext cx="4713767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74727D-3CE6-415C-9761-7D75CD519BF2}"/>
              </a:ext>
            </a:extLst>
          </p:cNvPr>
          <p:cNvSpPr>
            <a:spLocks noGrp="1"/>
          </p:cNvSpPr>
          <p:nvPr/>
        </p:nvSpPr>
        <p:spPr>
          <a:xfrm>
            <a:off x="6868633" y="2771775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Compute (O−E)/√E and inspect pattern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2FCE8A-11C2-4A76-AE74-F968039129A4}"/>
              </a:ext>
            </a:extLst>
          </p:cNvPr>
          <p:cNvSpPr>
            <a:spLocks noGrp="1"/>
          </p:cNvSpPr>
          <p:nvPr/>
        </p:nvSpPr>
        <p:spPr>
          <a:xfrm>
            <a:off x="666750" y="3362325"/>
            <a:ext cx="2272709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218A96-C089-4FDD-B547-6CF3B9A2A432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Effect size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D53DD4-67D5-4328-B861-645BC41B88F8}"/>
              </a:ext>
            </a:extLst>
          </p:cNvPr>
          <p:cNvSpPr>
            <a:spLocks noGrp="1"/>
          </p:cNvSpPr>
          <p:nvPr/>
        </p:nvSpPr>
        <p:spPr>
          <a:xfrm>
            <a:off x="2939459" y="3362325"/>
            <a:ext cx="387202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86D909-FB2E-4A5C-B7CC-BBFA724792CC}"/>
              </a:ext>
            </a:extLst>
          </p:cNvPr>
          <p:cNvSpPr>
            <a:spLocks noGrp="1"/>
          </p:cNvSpPr>
          <p:nvPr/>
        </p:nvSpPr>
        <p:spPr>
          <a:xfrm>
            <a:off x="2996609" y="3390900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How strong is association?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A7FC78-28F9-4E07-B546-B2F7758CED37}"/>
              </a:ext>
            </a:extLst>
          </p:cNvPr>
          <p:cNvSpPr>
            <a:spLocks noGrp="1"/>
          </p:cNvSpPr>
          <p:nvPr/>
        </p:nvSpPr>
        <p:spPr>
          <a:xfrm>
            <a:off x="6811483" y="3362325"/>
            <a:ext cx="4713767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BAADB4-FD84-4791-B8E4-18EE4B548D8B}"/>
              </a:ext>
            </a:extLst>
          </p:cNvPr>
          <p:cNvSpPr>
            <a:spLocks noGrp="1"/>
          </p:cNvSpPr>
          <p:nvPr/>
        </p:nvSpPr>
        <p:spPr>
          <a:xfrm>
            <a:off x="6868633" y="3390900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Report Cramér’s V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0BA44F-12B9-4B3C-A6A9-D602910A74B2}"/>
              </a:ext>
            </a:extLst>
          </p:cNvPr>
          <p:cNvSpPr>
            <a:spLocks noGrp="1"/>
          </p:cNvSpPr>
          <p:nvPr/>
        </p:nvSpPr>
        <p:spPr>
          <a:xfrm>
            <a:off x="666750" y="3981450"/>
            <a:ext cx="2272709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B95689-1217-44BC-B20D-F00E648DC50E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Design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74B6AD-A0BE-4F41-BDCF-BFCE7CCFB47E}"/>
              </a:ext>
            </a:extLst>
          </p:cNvPr>
          <p:cNvSpPr>
            <a:spLocks noGrp="1"/>
          </p:cNvSpPr>
          <p:nvPr/>
        </p:nvSpPr>
        <p:spPr>
          <a:xfrm>
            <a:off x="2939459" y="3981450"/>
            <a:ext cx="3872023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A7CB49E-F07C-4C1A-AA20-48222448CA9D}"/>
              </a:ext>
            </a:extLst>
          </p:cNvPr>
          <p:cNvSpPr>
            <a:spLocks noGrp="1"/>
          </p:cNvSpPr>
          <p:nvPr/>
        </p:nvSpPr>
        <p:spPr>
          <a:xfrm>
            <a:off x="2996609" y="4010025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Are rows independent and sample representative?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80C955-2793-4477-A08F-639A7BE0A1C4}"/>
              </a:ext>
            </a:extLst>
          </p:cNvPr>
          <p:cNvSpPr>
            <a:spLocks noGrp="1"/>
          </p:cNvSpPr>
          <p:nvPr/>
        </p:nvSpPr>
        <p:spPr>
          <a:xfrm>
            <a:off x="6811483" y="3981450"/>
            <a:ext cx="4713767" cy="6191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F4F0FB-79B1-4EA2-976C-B9EE391FDC09}"/>
              </a:ext>
            </a:extLst>
          </p:cNvPr>
          <p:cNvSpPr>
            <a:spLocks noGrp="1"/>
          </p:cNvSpPr>
          <p:nvPr/>
        </p:nvSpPr>
        <p:spPr>
          <a:xfrm>
            <a:off x="6868633" y="4010025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Qualify the population claim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D002FD-A6F4-45D4-917F-0293C8A66612}"/>
              </a:ext>
            </a:extLst>
          </p:cNvPr>
          <p:cNvSpPr>
            <a:spLocks noGrp="1"/>
          </p:cNvSpPr>
          <p:nvPr/>
        </p:nvSpPr>
        <p:spPr>
          <a:xfrm>
            <a:off x="666750" y="4600575"/>
            <a:ext cx="2272709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5D79C86-4F14-45CB-8470-E8FDA5BDA1AF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158409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Multiplicity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155808-DD64-45D0-AEC1-A0FEFFCAAB7E}"/>
              </a:ext>
            </a:extLst>
          </p:cNvPr>
          <p:cNvSpPr>
            <a:spLocks noGrp="1"/>
          </p:cNvSpPr>
          <p:nvPr/>
        </p:nvSpPr>
        <p:spPr>
          <a:xfrm>
            <a:off x="2939459" y="4600575"/>
            <a:ext cx="3872023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17C1476-E03E-41F6-A84F-EDE25C3DBFF5}"/>
              </a:ext>
            </a:extLst>
          </p:cNvPr>
          <p:cNvSpPr>
            <a:spLocks noGrp="1"/>
          </p:cNvSpPr>
          <p:nvPr/>
        </p:nvSpPr>
        <p:spPr>
          <a:xfrm>
            <a:off x="2996609" y="4629150"/>
            <a:ext cx="3757723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Were many tables tested?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254E77-10D3-49D4-A9D5-0C7B7D9897BF}"/>
              </a:ext>
            </a:extLst>
          </p:cNvPr>
          <p:cNvSpPr>
            <a:spLocks noGrp="1"/>
          </p:cNvSpPr>
          <p:nvPr/>
        </p:nvSpPr>
        <p:spPr>
          <a:xfrm>
            <a:off x="6811483" y="4600575"/>
            <a:ext cx="4713767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8B7B81-E3D0-4E6F-B541-BD66C0B5965A}"/>
              </a:ext>
            </a:extLst>
          </p:cNvPr>
          <p:cNvSpPr>
            <a:spLocks noGrp="1"/>
          </p:cNvSpPr>
          <p:nvPr/>
        </p:nvSpPr>
        <p:spPr>
          <a:xfrm>
            <a:off x="6868633" y="4629150"/>
            <a:ext cx="4599467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Control false discoveries or prespecify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147DCDB-3D0F-48B8-8F76-841A40DDC90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9433A3-A1A6-473F-B4B9-A993623E48E6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Large χ² says observed and expected differ; residuals explain where, and V explains how much.</a:t>
            </a:r>
          </a:p>
        </p:txBody>
      </p:sp>
    </p:spTree>
    <p:extLst>
      <p:ext uri="{BB962C8B-B14F-4D97-AF65-F5344CB8AC3E}">
        <p14:creationId xmlns:p14="http://schemas.microsoft.com/office/powerpoint/2010/main" val="738097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FCE3DC2F-5802-425D-8021-9F65CBFCB5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87936A-BF52-4861-A28D-1787F8ECB8E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1B7B3-66BB-47F5-8F53-09050A6C591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271E4-53CF-492D-8058-F8E5AB26376E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134FB5-61BE-4062-94F3-5F3257DF3E53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01FCB-89EA-437C-A2A8-FF98B00542EA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AI 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E4CA3C-8842-4801-A59B-A72D01B75253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15588-F139-40CD-8FAC-3D5E610B900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38220-687D-468B-B23B-C05DC3A398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D894B1-3429-49C6-B7FD-90398415C18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6013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seeded AI sentiment table contains a sparse-category warning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72432-5DCD-466F-9D78-3D7A2A3E9D21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2136032" cy="6572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BA6A2-EB69-4BFB-8250-EB0B42CB83FF}"/>
              </a:ext>
            </a:extLst>
          </p:cNvPr>
          <p:cNvSpPr>
            <a:spLocks noGrp="1"/>
          </p:cNvSpPr>
          <p:nvPr/>
        </p:nvSpPr>
        <p:spPr>
          <a:xfrm>
            <a:off x="800100" y="1781175"/>
            <a:ext cx="2021732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Sentiment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DDC501-3661-4B12-BCB9-17929EB511B4}"/>
              </a:ext>
            </a:extLst>
          </p:cNvPr>
          <p:cNvSpPr>
            <a:spLocks noGrp="1"/>
          </p:cNvSpPr>
          <p:nvPr/>
        </p:nvSpPr>
        <p:spPr>
          <a:xfrm>
            <a:off x="2878982" y="1752600"/>
            <a:ext cx="1256489" cy="6572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8539E9-E890-4EDA-AB8C-01E95FDB1991}"/>
              </a:ext>
            </a:extLst>
          </p:cNvPr>
          <p:cNvSpPr>
            <a:spLocks noGrp="1"/>
          </p:cNvSpPr>
          <p:nvPr/>
        </p:nvSpPr>
        <p:spPr>
          <a:xfrm>
            <a:off x="2936132" y="178117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Female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4796C6-A692-40D1-B218-352D9DDCD825}"/>
              </a:ext>
            </a:extLst>
          </p:cNvPr>
          <p:cNvSpPr>
            <a:spLocks noGrp="1"/>
          </p:cNvSpPr>
          <p:nvPr/>
        </p:nvSpPr>
        <p:spPr>
          <a:xfrm>
            <a:off x="4135471" y="1752600"/>
            <a:ext cx="1256489" cy="6572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CCCD28-76A7-4004-BCC0-BB4D90880D28}"/>
              </a:ext>
            </a:extLst>
          </p:cNvPr>
          <p:cNvSpPr>
            <a:spLocks noGrp="1"/>
          </p:cNvSpPr>
          <p:nvPr/>
        </p:nvSpPr>
        <p:spPr>
          <a:xfrm>
            <a:off x="4192621" y="178117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Male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646A2C-8E97-45B1-B0C1-464AF4FC2044}"/>
              </a:ext>
            </a:extLst>
          </p:cNvPr>
          <p:cNvSpPr>
            <a:spLocks noGrp="1"/>
          </p:cNvSpPr>
          <p:nvPr/>
        </p:nvSpPr>
        <p:spPr>
          <a:xfrm>
            <a:off x="5391961" y="1752600"/>
            <a:ext cx="1256489" cy="657225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48857-926D-4A50-A0D4-29B6EB6F40A4}"/>
              </a:ext>
            </a:extLst>
          </p:cNvPr>
          <p:cNvSpPr>
            <a:spLocks noGrp="1"/>
          </p:cNvSpPr>
          <p:nvPr/>
        </p:nvSpPr>
        <p:spPr>
          <a:xfrm>
            <a:off x="5449111" y="178117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4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Other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D034F6-89D9-41E6-988E-465B1BDBFB8C}"/>
              </a:ext>
            </a:extLst>
          </p:cNvPr>
          <p:cNvSpPr>
            <a:spLocks noGrp="1"/>
          </p:cNvSpPr>
          <p:nvPr/>
        </p:nvSpPr>
        <p:spPr>
          <a:xfrm>
            <a:off x="742950" y="2409825"/>
            <a:ext cx="2136032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30080E-9499-42BB-83B9-C7D706646173}"/>
              </a:ext>
            </a:extLst>
          </p:cNvPr>
          <p:cNvSpPr>
            <a:spLocks noGrp="1"/>
          </p:cNvSpPr>
          <p:nvPr/>
        </p:nvSpPr>
        <p:spPr>
          <a:xfrm>
            <a:off x="800100" y="2438400"/>
            <a:ext cx="2021732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Negative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7E5247-55E4-4660-A6A4-A6243F5D695A}"/>
              </a:ext>
            </a:extLst>
          </p:cNvPr>
          <p:cNvSpPr>
            <a:spLocks noGrp="1"/>
          </p:cNvSpPr>
          <p:nvPr/>
        </p:nvSpPr>
        <p:spPr>
          <a:xfrm>
            <a:off x="2878982" y="240982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24D981-94F9-47F9-8010-1210EE3580A9}"/>
              </a:ext>
            </a:extLst>
          </p:cNvPr>
          <p:cNvSpPr>
            <a:spLocks noGrp="1"/>
          </p:cNvSpPr>
          <p:nvPr/>
        </p:nvSpPr>
        <p:spPr>
          <a:xfrm>
            <a:off x="2936132" y="243840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0E2FA0-9E62-4124-B456-553C34A0A043}"/>
              </a:ext>
            </a:extLst>
          </p:cNvPr>
          <p:cNvSpPr>
            <a:spLocks noGrp="1"/>
          </p:cNvSpPr>
          <p:nvPr/>
        </p:nvSpPr>
        <p:spPr>
          <a:xfrm>
            <a:off x="4135471" y="240982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273C20-5CC2-473C-B232-4F0B2BB72BF5}"/>
              </a:ext>
            </a:extLst>
          </p:cNvPr>
          <p:cNvSpPr>
            <a:spLocks noGrp="1"/>
          </p:cNvSpPr>
          <p:nvPr/>
        </p:nvSpPr>
        <p:spPr>
          <a:xfrm>
            <a:off x="4192621" y="243840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923CE8-6F8A-44CC-9DBD-549591E0B90E}"/>
              </a:ext>
            </a:extLst>
          </p:cNvPr>
          <p:cNvSpPr>
            <a:spLocks noGrp="1"/>
          </p:cNvSpPr>
          <p:nvPr/>
        </p:nvSpPr>
        <p:spPr>
          <a:xfrm>
            <a:off x="5391961" y="240982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BA8E50-2C3D-4CD0-AB95-629F10C34E15}"/>
              </a:ext>
            </a:extLst>
          </p:cNvPr>
          <p:cNvSpPr>
            <a:spLocks noGrp="1"/>
          </p:cNvSpPr>
          <p:nvPr/>
        </p:nvSpPr>
        <p:spPr>
          <a:xfrm>
            <a:off x="5449111" y="243840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560AF0-2B5F-4C4A-B5AA-55DD670854D1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136032" cy="6572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450DC-2CA1-4BC6-995D-14FFEEF8F23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2021732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Neutral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EBE7F6-436B-4AEF-AE2C-F3160A3BDD6F}"/>
              </a:ext>
            </a:extLst>
          </p:cNvPr>
          <p:cNvSpPr>
            <a:spLocks noGrp="1"/>
          </p:cNvSpPr>
          <p:nvPr/>
        </p:nvSpPr>
        <p:spPr>
          <a:xfrm>
            <a:off x="2878982" y="3067050"/>
            <a:ext cx="1256489" cy="6572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FB8E7B-D975-4435-991C-2C1E00F8DB79}"/>
              </a:ext>
            </a:extLst>
          </p:cNvPr>
          <p:cNvSpPr>
            <a:spLocks noGrp="1"/>
          </p:cNvSpPr>
          <p:nvPr/>
        </p:nvSpPr>
        <p:spPr>
          <a:xfrm>
            <a:off x="2936132" y="309562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9123B8-58E1-48A8-BDF2-4DD1AE123BFA}"/>
              </a:ext>
            </a:extLst>
          </p:cNvPr>
          <p:cNvSpPr>
            <a:spLocks noGrp="1"/>
          </p:cNvSpPr>
          <p:nvPr/>
        </p:nvSpPr>
        <p:spPr>
          <a:xfrm>
            <a:off x="4135471" y="3067050"/>
            <a:ext cx="1256489" cy="6572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E855E0-1F3F-4957-ABC9-636AD5D7A469}"/>
              </a:ext>
            </a:extLst>
          </p:cNvPr>
          <p:cNvSpPr>
            <a:spLocks noGrp="1"/>
          </p:cNvSpPr>
          <p:nvPr/>
        </p:nvSpPr>
        <p:spPr>
          <a:xfrm>
            <a:off x="4192621" y="309562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1B36A1-C9BD-4141-AFAF-ADD49BA30AD4}"/>
              </a:ext>
            </a:extLst>
          </p:cNvPr>
          <p:cNvSpPr>
            <a:spLocks noGrp="1"/>
          </p:cNvSpPr>
          <p:nvPr/>
        </p:nvSpPr>
        <p:spPr>
          <a:xfrm>
            <a:off x="5391961" y="3067050"/>
            <a:ext cx="1256489" cy="657225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3FE5E2-275A-43AA-8B6F-463063A84E85}"/>
              </a:ext>
            </a:extLst>
          </p:cNvPr>
          <p:cNvSpPr>
            <a:spLocks noGrp="1"/>
          </p:cNvSpPr>
          <p:nvPr/>
        </p:nvSpPr>
        <p:spPr>
          <a:xfrm>
            <a:off x="5449111" y="3095625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98CAB5-7397-4B82-A0F6-9BA286FC9252}"/>
              </a:ext>
            </a:extLst>
          </p:cNvPr>
          <p:cNvSpPr>
            <a:spLocks noGrp="1"/>
          </p:cNvSpPr>
          <p:nvPr/>
        </p:nvSpPr>
        <p:spPr>
          <a:xfrm>
            <a:off x="742950" y="3724275"/>
            <a:ext cx="2136032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A91BDC-80EE-45A9-A92E-02F583E5BCEB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2021732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Positive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C410FC-DA45-400B-B039-86CBF416F1E9}"/>
              </a:ext>
            </a:extLst>
          </p:cNvPr>
          <p:cNvSpPr>
            <a:spLocks noGrp="1"/>
          </p:cNvSpPr>
          <p:nvPr/>
        </p:nvSpPr>
        <p:spPr>
          <a:xfrm>
            <a:off x="2878982" y="372427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5E338F-E6F8-4D1C-B74B-0122552DFEF6}"/>
              </a:ext>
            </a:extLst>
          </p:cNvPr>
          <p:cNvSpPr>
            <a:spLocks noGrp="1"/>
          </p:cNvSpPr>
          <p:nvPr/>
        </p:nvSpPr>
        <p:spPr>
          <a:xfrm>
            <a:off x="2936132" y="375285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63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450BE4-7ED6-47D1-B439-EF24F0D0FA67}"/>
              </a:ext>
            </a:extLst>
          </p:cNvPr>
          <p:cNvSpPr>
            <a:spLocks noGrp="1"/>
          </p:cNvSpPr>
          <p:nvPr/>
        </p:nvSpPr>
        <p:spPr>
          <a:xfrm>
            <a:off x="4135471" y="372427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D88B232-35BD-4BAD-A7AF-19E52A8A9D50}"/>
              </a:ext>
            </a:extLst>
          </p:cNvPr>
          <p:cNvSpPr>
            <a:spLocks noGrp="1"/>
          </p:cNvSpPr>
          <p:nvPr/>
        </p:nvSpPr>
        <p:spPr>
          <a:xfrm>
            <a:off x="4192621" y="375285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63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646F1F-05C9-4705-AE73-BA2DF8BF55FB}"/>
              </a:ext>
            </a:extLst>
          </p:cNvPr>
          <p:cNvSpPr>
            <a:spLocks noGrp="1"/>
          </p:cNvSpPr>
          <p:nvPr/>
        </p:nvSpPr>
        <p:spPr>
          <a:xfrm>
            <a:off x="5391961" y="3724275"/>
            <a:ext cx="1256489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77BF3F-D08C-4239-8179-7462B43AE880}"/>
              </a:ext>
            </a:extLst>
          </p:cNvPr>
          <p:cNvSpPr>
            <a:spLocks noGrp="1"/>
          </p:cNvSpPr>
          <p:nvPr/>
        </p:nvSpPr>
        <p:spPr>
          <a:xfrm>
            <a:off x="5449111" y="3752850"/>
            <a:ext cx="1142189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6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181CC18-C2BD-465D-92AE-0F051274BE75}"/>
              </a:ext>
            </a:extLst>
          </p:cNvPr>
          <p:cNvSpPr>
            <a:spLocks noGrp="1"/>
          </p:cNvSpPr>
          <p:nvPr/>
        </p:nvSpPr>
        <p:spPr>
          <a:xfrm>
            <a:off x="7162800" y="1657350"/>
            <a:ext cx="4095750" cy="2952750"/>
          </a:xfrm>
          <a:prstGeom prst="roundRect">
            <a:avLst>
              <a:gd name="adj" fmla="val 5806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863537B-82C9-44C3-BCDD-610C233291EF}"/>
              </a:ext>
            </a:extLst>
          </p:cNvPr>
          <p:cNvSpPr>
            <a:spLocks noGrp="1"/>
          </p:cNvSpPr>
          <p:nvPr/>
        </p:nvSpPr>
        <p:spPr>
          <a:xfrm>
            <a:off x="7620000" y="1962150"/>
            <a:ext cx="3181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buNone/>
              <a:defRPr sz="26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625" b="1" i="0">
                <a:solidFill>
                  <a:srgbClr val="B42318"/>
                </a:solidFill>
                <a:latin typeface="Sofia Sans Extra Condensed"/>
                <a:ea typeface="Sofia Sans Extra Condensed"/>
                <a:cs typeface="Sofia Sans Extra Condensed"/>
              </a:rPr>
              <a:t>Condition check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713551E-B01D-4080-8151-369221789BAB}"/>
              </a:ext>
            </a:extLst>
          </p:cNvPr>
          <p:cNvSpPr>
            <a:spLocks noGrp="1"/>
          </p:cNvSpPr>
          <p:nvPr/>
        </p:nvSpPr>
        <p:spPr>
          <a:xfrm>
            <a:off x="7562850" y="2724150"/>
            <a:ext cx="32956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186"/>
          </a:bodyPr>
          <a:lstStyle/>
          <a:p>
            <a:pPr algn="ctr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Expected counts in the 'Other' column are approximately</a:t>
            </a:r>
          </a:p>
          <a:p>
            <a:pPr algn="ctr">
              <a:buNone/>
              <a:def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875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2.13, 2.91, and 3.96.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4CCEC8B-FB21-49D2-B127-4D9D43DDC701}"/>
              </a:ext>
            </a:extLst>
          </p:cNvPr>
          <p:cNvSpPr>
            <a:spLocks noGrp="1"/>
          </p:cNvSpPr>
          <p:nvPr/>
        </p:nvSpPr>
        <p:spPr>
          <a:xfrm>
            <a:off x="7543800" y="3771900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56"/>
          </a:bodyPr>
          <a:lstStyle/>
          <a:p>
            <a:pPr algn="ctr">
              <a:buNone/>
              <a:defRPr sz="1275" b="0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275" b="0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Report the asymptotic result with this limitation. Consider a prespecified, substantively defensible category plan or a resampling/exact alternative.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BD989DC-407D-480B-A6AB-D8657A074F5C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C3957F-53E8-4E36-9E82-6C56F2E4ED00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Do not merge identities after seeing the p-value; category decisions are part of the design.</a:t>
            </a:r>
          </a:p>
        </p:txBody>
      </p:sp>
    </p:spTree>
    <p:extLst>
      <p:ext uri="{BB962C8B-B14F-4D97-AF65-F5344CB8AC3E}">
        <p14:creationId xmlns:p14="http://schemas.microsoft.com/office/powerpoint/2010/main" val="862020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FEA1DC-7B54-4878-BF7C-0FBC51534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6BD17C-3138-4CE9-BCEA-468F1B7A4A5F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8A7502-90ED-4953-8577-07365F318953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65701-65C9-4389-AD2A-BD717D99319D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A2D84-6FF7-4CD5-94BB-A96B8A9DED64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BFA29-B612-42E4-B767-9FDC3D735439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69163"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· PACKAGES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8F26C-1C3B-4072-B2EF-97E4617AE022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BC4FA9-A216-4BC5-8198-E8DBF5AF331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64A1E2-76D9-490D-A66A-A43F233CEEF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49D9F4-902B-4D6E-A1B0-5D72E4457CE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9554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Python Appendix package map for estimation and testing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C2F843A-4180-46A1-901F-EABD8B174D9D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6381750" cy="3714750"/>
          </a:xfrm>
          <a:prstGeom prst="roundRect">
            <a:avLst>
              <a:gd name="adj" fmla="val 4103"/>
            </a:avLst>
          </a:prstGeom>
          <a:solidFill>
            <a:srgbClr val="0B223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D6785-ABC2-4BF4-8D60-69EBC3FCA345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0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CALCULATE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250BA0-F7AB-4627-B6A3-C3CE7E2EB0A9}"/>
              </a:ext>
            </a:extLst>
          </p:cNvPr>
          <p:cNvSpPr>
            <a:spLocks noGrp="1"/>
          </p:cNvSpPr>
          <p:nvPr/>
        </p:nvSpPr>
        <p:spPr>
          <a:xfrm>
            <a:off x="857250" y="1981200"/>
            <a:ext cx="60007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47625" rIns="76200" bIns="47625" anchor="t">
            <a:normAutofit/>
          </a:bodyPr>
          <a:lstStyle/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SciPy</a:t>
            </a:r>
          </a:p>
          <a:p>
            <a:r>
              <a:t>• t tests and reference distributions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• bootstrap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313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statsmodels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• proportion intervals and tests</a:t>
            </a:r>
          </a:p>
          <a:p>
            <a:r>
              <a:t>• contingency tables and models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/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PyMC (modern successor to PyMC3)</a:t>
            </a:r>
          </a:p>
          <a:p>
            <a:pPr algn="l">
              <a:buNone/>
              <a:def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1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• posterior simulation and intervals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270C3F-6F27-4458-A3BD-C9A2BFAA9C99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790950" cy="3181350"/>
          </a:xfrm>
          <a:prstGeom prst="roundRect">
            <a:avLst>
              <a:gd name="adj" fmla="val 5389"/>
            </a:avLst>
          </a:prstGeom>
          <a:solidFill>
            <a:srgbClr val="EA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07D50-57FE-44A3-96BB-D8D9D1813C9B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137"/>
          </a:bodyPr>
          <a:lstStyle/>
          <a:p>
            <a:pPr algn="ctr">
              <a:buNone/>
              <a:def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5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D390C-FF34-49B1-B818-9AAAA2C1E554}"/>
              </a:ext>
            </a:extLst>
          </p:cNvPr>
          <p:cNvSpPr>
            <a:spLocks noGrp="1"/>
          </p:cNvSpPr>
          <p:nvPr/>
        </p:nvSpPr>
        <p:spPr>
          <a:xfrm>
            <a:off x="7886700" y="2628900"/>
            <a:ext cx="30670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t">
            <a:normAutofit fontScale="86126"/>
          </a:bodyPr>
          <a:lstStyle/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Name the estimand and sampling unit.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Give n and descriptive statistics.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State the interval or test method.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Report effect + uncertainty + exact p-value.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Check assumptions and sparse cells.</a:t>
            </a:r>
          </a:p>
          <a:p>
            <a:pPr marL="27" indent="-18">
              <a:spcAft>
                <a:spcPts val="10"/>
              </a:spcAft>
              <a:buChar char="•"/>
              <a:defRPr sz="1575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575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Separate statistical from practical importance.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5F73FE-3563-442D-BFC5-CDC5627DD837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F7E33C-B87B-4BD0-9E71-A77CFEEF1CF4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207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Imports belong near the top; code, output, and interpretation should be visibly linked. · Python Appendix B4–B5</a:t>
            </a:r>
          </a:p>
        </p:txBody>
      </p:sp>
    </p:spTree>
    <p:extLst>
      <p:ext uri="{BB962C8B-B14F-4D97-AF65-F5344CB8AC3E}">
        <p14:creationId xmlns:p14="http://schemas.microsoft.com/office/powerpoint/2010/main" val="695615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D8CC8E-850C-4968-9C1E-51D073D99541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6C1E0-905D-4BC2-8442-204D16F1288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buNone/>
              <a:def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1400" b="1" i="0">
                <a:solidFill>
                  <a:srgbClr val="75BEE9"/>
                </a:solidFill>
                <a:latin typeface="Sofia Sans Extra Condensed"/>
                <a:ea typeface="Sofia Sans Extra Condensed"/>
                <a:cs typeface="Sofia Sans Extra Condensed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A1CA5-98C0-4E7A-9509-85AFB8E13C4A}"/>
              </a:ext>
            </a:extLst>
          </p:cNvPr>
          <p:cNvSpPr>
            <a:spLocks noGrp="1"/>
          </p:cNvSpPr>
          <p:nvPr/>
        </p:nvSpPr>
        <p:spPr>
          <a:xfrm>
            <a:off x="2857500" y="1200150"/>
            <a:ext cx="8382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Apply the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DCB132-72F6-484B-B5B8-A4B339A938C3}"/>
              </a:ext>
            </a:extLst>
          </p:cNvPr>
          <p:cNvSpPr>
            <a:spLocks noGrp="1"/>
          </p:cNvSpPr>
          <p:nvPr/>
        </p:nvSpPr>
        <p:spPr>
          <a:xfrm>
            <a:off x="2905125" y="2324100"/>
            <a:ext cx="1333500" cy="47625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03892-F874-4EF6-B11B-DDC58549D080}"/>
              </a:ext>
            </a:extLst>
          </p:cNvPr>
          <p:cNvSpPr>
            <a:spLocks noGrp="1"/>
          </p:cNvSpPr>
          <p:nvPr/>
        </p:nvSpPr>
        <p:spPr>
          <a:xfrm>
            <a:off x="2905125" y="2686050"/>
            <a:ext cx="78105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buNone/>
              <a:def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2250" b="0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The lab and assignment ask students to connect plots, intervals, tests, diagnostics, and responsible claims in a reproducible Python analysis.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B0ED0-D8D5-4660-8F09-FD05C94ED5E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358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B89C136-5E8B-4415-BE31-44C4906C16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FED7EB-6BB7-4CD9-885E-C898BFE9D380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A1B11-E725-4E60-946D-F2FE5241C5CA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CC0635-D374-447A-BCEE-8AD93F143FEA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2E839-E6A5-4663-8148-A9D42659C439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B9A33-6DD3-4416-89BE-9ACC9A0B0D7F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BD507-CF31-41D0-B45D-0B5D96393C01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5EE82A-6FFD-4909-82EB-B66DB8F2FBF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09F5CC-BAA6-4A78-9935-95D4FC85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F2460F-7930-480B-B967-4E158A73503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9287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The Module 4 labs move from inspection to defensible inference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0264E7-2ED1-4B4F-93E2-3CBE4C1FBD99}"/>
              </a:ext>
            </a:extLst>
          </p:cNvPr>
          <p:cNvSpPr>
            <a:spLocks noGrp="1"/>
          </p:cNvSpPr>
          <p:nvPr/>
        </p:nvSpPr>
        <p:spPr>
          <a:xfrm>
            <a:off x="819150" y="14478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0C9239-6CDC-49DC-89C2-090E24E580B0}"/>
              </a:ext>
            </a:extLst>
          </p:cNvPr>
          <p:cNvSpPr>
            <a:spLocks noGrp="1"/>
          </p:cNvSpPr>
          <p:nvPr/>
        </p:nvSpPr>
        <p:spPr>
          <a:xfrm>
            <a:off x="819150" y="14478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D7B368-7DFE-448A-9FE6-12A1F6B0E599}"/>
              </a:ext>
            </a:extLst>
          </p:cNvPr>
          <p:cNvSpPr>
            <a:spLocks noGrp="1"/>
          </p:cNvSpPr>
          <p:nvPr/>
        </p:nvSpPr>
        <p:spPr>
          <a:xfrm>
            <a:off x="1657350" y="14478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Inspect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2AEAD-4CF8-475E-AB4A-A60C0481EAF3}"/>
              </a:ext>
            </a:extLst>
          </p:cNvPr>
          <p:cNvSpPr>
            <a:spLocks noGrp="1"/>
          </p:cNvSpPr>
          <p:nvPr/>
        </p:nvSpPr>
        <p:spPr>
          <a:xfrm>
            <a:off x="3771900" y="14478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head · dtypes · missingness · coding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F2188FF-803C-48EC-903D-89F2EE7901A4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E9E549-CA45-417C-A69B-079AA1DD0805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E45EF8-0DE1-4C5E-9906-FA93DEA46489}"/>
              </a:ext>
            </a:extLst>
          </p:cNvPr>
          <p:cNvSpPr>
            <a:spLocks noGrp="1"/>
          </p:cNvSpPr>
          <p:nvPr/>
        </p:nvSpPr>
        <p:spPr>
          <a:xfrm>
            <a:off x="1657350" y="20955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Visualize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0E8713-0D45-4143-B84D-B2748439F065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counts · proportions · distribution shape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993E1FA-187A-44BE-9081-3DB30A977C6A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6AA14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48B1EA-6006-4ED6-915B-AE6F611E767B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056BB8-CDCF-4F61-8BB3-E1E5C124F11F}"/>
              </a:ext>
            </a:extLst>
          </p:cNvPr>
          <p:cNvSpPr>
            <a:spLocks noGrp="1"/>
          </p:cNvSpPr>
          <p:nvPr/>
        </p:nvSpPr>
        <p:spPr>
          <a:xfrm>
            <a:off x="1657350" y="27432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Estimate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805A97-B5E8-48B0-AE42-663BA31809B6}"/>
              </a:ext>
            </a:extLst>
          </p:cNvPr>
          <p:cNvSpPr>
            <a:spLocks noGrp="1"/>
          </p:cNvSpPr>
          <p:nvPr/>
        </p:nvSpPr>
        <p:spPr>
          <a:xfrm>
            <a:off x="3771900" y="27432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mean/proportion · SE · confidence interval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A739A9E-5C7E-4D79-BD85-4FF26C22A8C0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1C0EF5-4205-451C-B2E2-B0E918997600}"/>
              </a:ext>
            </a:extLst>
          </p:cNvPr>
          <p:cNvSpPr>
            <a:spLocks noGrp="1"/>
          </p:cNvSpPr>
          <p:nvPr/>
        </p:nvSpPr>
        <p:spPr>
          <a:xfrm>
            <a:off x="819150" y="33909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EFA3E5-0659-496E-9F8D-EB7999FC06B1}"/>
              </a:ext>
            </a:extLst>
          </p:cNvPr>
          <p:cNvSpPr>
            <a:spLocks noGrp="1"/>
          </p:cNvSpPr>
          <p:nvPr/>
        </p:nvSpPr>
        <p:spPr>
          <a:xfrm>
            <a:off x="1657350" y="33909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Test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E3C5C7-4E10-4E24-BA19-C3102C3D7954}"/>
              </a:ext>
            </a:extLst>
          </p:cNvPr>
          <p:cNvSpPr>
            <a:spLocks noGrp="1"/>
          </p:cNvSpPr>
          <p:nvPr/>
        </p:nvSpPr>
        <p:spPr>
          <a:xfrm>
            <a:off x="3771900" y="33909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 · z/binomial · chi-square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3824862-6545-4BB1-937B-BC6705656472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C3440C-AD44-4B80-9A39-20AF7BEB634F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AC2517-7CEB-4B97-9B07-C46B63871A6A}"/>
              </a:ext>
            </a:extLst>
          </p:cNvPr>
          <p:cNvSpPr>
            <a:spLocks noGrp="1"/>
          </p:cNvSpPr>
          <p:nvPr/>
        </p:nvSpPr>
        <p:spPr>
          <a:xfrm>
            <a:off x="1657350" y="40386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Diagnose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86F145-6EBE-4692-BE73-4B18BE637E67}"/>
              </a:ext>
            </a:extLst>
          </p:cNvPr>
          <p:cNvSpPr>
            <a:spLocks noGrp="1"/>
          </p:cNvSpPr>
          <p:nvPr/>
        </p:nvSpPr>
        <p:spPr>
          <a:xfrm>
            <a:off x="3771900" y="40386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assumptions · expected counts · residuals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AC6DF47-4D2B-488A-84A2-46971E35F693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7C591E-B8C4-4C19-B87A-2A991CBE2B84}"/>
              </a:ext>
            </a:extLst>
          </p:cNvPr>
          <p:cNvSpPr>
            <a:spLocks noGrp="1"/>
          </p:cNvSpPr>
          <p:nvPr/>
        </p:nvSpPr>
        <p:spPr>
          <a:xfrm>
            <a:off x="819150" y="46863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E68374-292E-46A6-8FFF-343B535FB418}"/>
              </a:ext>
            </a:extLst>
          </p:cNvPr>
          <p:cNvSpPr>
            <a:spLocks noGrp="1"/>
          </p:cNvSpPr>
          <p:nvPr/>
        </p:nvSpPr>
        <p:spPr>
          <a:xfrm>
            <a:off x="1657350" y="46863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17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Report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94A9FF-FCEE-4498-9E0B-8EE3B5543F2E}"/>
              </a:ext>
            </a:extLst>
          </p:cNvPr>
          <p:cNvSpPr>
            <a:spLocks noGrp="1"/>
          </p:cNvSpPr>
          <p:nvPr/>
        </p:nvSpPr>
        <p:spPr>
          <a:xfrm>
            <a:off x="3771900" y="4686300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650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effect · interval · p · limitation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1B295F4-A67F-4B80-A4C7-9FEFF427555D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438150"/>
          </a:xfrm>
          <a:prstGeom prst="roundRect">
            <a:avLst>
              <a:gd name="adj" fmla="val 21739"/>
            </a:avLst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957F49-E7D1-419A-92D1-0F434E6020EC}"/>
              </a:ext>
            </a:extLst>
          </p:cNvPr>
          <p:cNvSpPr>
            <a:spLocks noGrp="1"/>
          </p:cNvSpPr>
          <p:nvPr/>
        </p:nvSpPr>
        <p:spPr>
          <a:xfrm>
            <a:off x="1314450" y="5476875"/>
            <a:ext cx="9563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Plots and tables are model checks, not decoration before the p-value.</a:t>
            </a:r>
          </a:p>
        </p:txBody>
      </p:sp>
    </p:spTree>
    <p:extLst>
      <p:ext uri="{BB962C8B-B14F-4D97-AF65-F5344CB8AC3E}">
        <p14:creationId xmlns:p14="http://schemas.microsoft.com/office/powerpoint/2010/main" val="1895445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8F67494B-1322-4DE6-8F6E-F84F00C8F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B077A2-9A9A-4AB4-A837-2ED2A28001FE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A2B1-D339-4F2B-A057-0968E83F73EF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221AB-9C8A-4AAF-BA34-9D71F8FAAB83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05655-45E4-4C1A-B4A1-585386DA7488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BA22B-5EBB-4179-A5BB-184F5F104F46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ASSIGNMENT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2233EF-953D-494D-997D-223A0261CC0D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48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D90F0-528C-444B-B733-2F2BDC990EA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973B6-47D2-45F6-AE7A-5DCF4690FE3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728E180-5FFD-4C17-930E-9632B4FD749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8170"/>
          </a:bodyPr>
          <a:lstStyle/>
          <a:p>
            <a:pPr algn="l">
              <a:buNone/>
              <a:def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315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4.1 samples the full estimation-and-testing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3BAE6-D220-4390-A595-FB0E878C2D9C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1407139" cy="41148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C7BE8-C210-4B1C-ACD4-B0D6521BDEBA}"/>
              </a:ext>
            </a:extLst>
          </p:cNvPr>
          <p:cNvSpPr>
            <a:spLocks noGrp="1"/>
          </p:cNvSpPr>
          <p:nvPr/>
        </p:nvSpPr>
        <p:spPr>
          <a:xfrm>
            <a:off x="571500" y="141922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99E04B-1E74-4DC9-9BD2-C0784935301B}"/>
              </a:ext>
            </a:extLst>
          </p:cNvPr>
          <p:cNvSpPr>
            <a:spLocks noGrp="1"/>
          </p:cNvSpPr>
          <p:nvPr/>
        </p:nvSpPr>
        <p:spPr>
          <a:xfrm>
            <a:off x="1921489" y="1390650"/>
            <a:ext cx="4878081" cy="41148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2ECF1A-E333-4241-AE29-A6126031BC61}"/>
              </a:ext>
            </a:extLst>
          </p:cNvPr>
          <p:cNvSpPr>
            <a:spLocks noGrp="1"/>
          </p:cNvSpPr>
          <p:nvPr/>
        </p:nvSpPr>
        <p:spPr>
          <a:xfrm>
            <a:off x="1978639" y="141922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Core skill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D0098-2E9B-4D02-BC8F-01D9EC0602BA}"/>
              </a:ext>
            </a:extLst>
          </p:cNvPr>
          <p:cNvSpPr>
            <a:spLocks noGrp="1"/>
          </p:cNvSpPr>
          <p:nvPr/>
        </p:nvSpPr>
        <p:spPr>
          <a:xfrm>
            <a:off x="6799569" y="1390650"/>
            <a:ext cx="4878081" cy="411480"/>
          </a:xfrm>
          <a:prstGeom prst="rect">
            <a:avLst/>
          </a:prstGeom>
          <a:solidFill>
            <a:srgbClr val="003B70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3582B9-FF87-4B49-ACE6-64E1FE9ACF6F}"/>
              </a:ext>
            </a:extLst>
          </p:cNvPr>
          <p:cNvSpPr>
            <a:spLocks noGrp="1"/>
          </p:cNvSpPr>
          <p:nvPr/>
        </p:nvSpPr>
        <p:spPr>
          <a:xfrm>
            <a:off x="6856719" y="141922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 pattern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133CC0-70DA-4185-922F-F76B238B1B94}"/>
              </a:ext>
            </a:extLst>
          </p:cNvPr>
          <p:cNvSpPr>
            <a:spLocks noGrp="1"/>
          </p:cNvSpPr>
          <p:nvPr/>
        </p:nvSpPr>
        <p:spPr>
          <a:xfrm>
            <a:off x="514350" y="1802130"/>
            <a:ext cx="1407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CC7AE1-2453-455B-A8E3-F67B6A669E5D}"/>
              </a:ext>
            </a:extLst>
          </p:cNvPr>
          <p:cNvSpPr>
            <a:spLocks noGrp="1"/>
          </p:cNvSpPr>
          <p:nvPr/>
        </p:nvSpPr>
        <p:spPr>
          <a:xfrm>
            <a:off x="571500" y="183070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4.1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B4BCF6-4441-462C-8D9C-336848FAA529}"/>
              </a:ext>
            </a:extLst>
          </p:cNvPr>
          <p:cNvSpPr>
            <a:spLocks noGrp="1"/>
          </p:cNvSpPr>
          <p:nvPr/>
        </p:nvSpPr>
        <p:spPr>
          <a:xfrm>
            <a:off x="1921489" y="180213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AA1AEF-FFC5-43D2-8E33-3EF3196ABE6B}"/>
              </a:ext>
            </a:extLst>
          </p:cNvPr>
          <p:cNvSpPr>
            <a:spLocks noGrp="1"/>
          </p:cNvSpPr>
          <p:nvPr/>
        </p:nvSpPr>
        <p:spPr>
          <a:xfrm>
            <a:off x="1978639" y="183070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Estimator precision by simulation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59F6C1-995F-41B7-9BB1-097814D684C5}"/>
              </a:ext>
            </a:extLst>
          </p:cNvPr>
          <p:cNvSpPr>
            <a:spLocks noGrp="1"/>
          </p:cNvSpPr>
          <p:nvPr/>
        </p:nvSpPr>
        <p:spPr>
          <a:xfrm>
            <a:off x="6799569" y="180213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51B27-179C-4FA7-A824-A126303DE2AC}"/>
              </a:ext>
            </a:extLst>
          </p:cNvPr>
          <p:cNvSpPr>
            <a:spLocks noGrp="1"/>
          </p:cNvSpPr>
          <p:nvPr/>
        </p:nvSpPr>
        <p:spPr>
          <a:xfrm>
            <a:off x="6856719" y="183070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rng.normal · quantile · std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F3B27D-EF39-49F4-9BB8-0CFAB06E91AE}"/>
              </a:ext>
            </a:extLst>
          </p:cNvPr>
          <p:cNvSpPr>
            <a:spLocks noGrp="1"/>
          </p:cNvSpPr>
          <p:nvPr/>
        </p:nvSpPr>
        <p:spPr>
          <a:xfrm>
            <a:off x="514350" y="2213610"/>
            <a:ext cx="1407139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E744CF-47AA-465A-88A7-5467DAF5AFEE}"/>
              </a:ext>
            </a:extLst>
          </p:cNvPr>
          <p:cNvSpPr>
            <a:spLocks noGrp="1"/>
          </p:cNvSpPr>
          <p:nvPr/>
        </p:nvSpPr>
        <p:spPr>
          <a:xfrm>
            <a:off x="571500" y="224218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4.2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63853F-6324-4364-9826-FE31A188595E}"/>
              </a:ext>
            </a:extLst>
          </p:cNvPr>
          <p:cNvSpPr>
            <a:spLocks noGrp="1"/>
          </p:cNvSpPr>
          <p:nvPr/>
        </p:nvSpPr>
        <p:spPr>
          <a:xfrm>
            <a:off x="1921489" y="221361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344A07-0D9A-46ED-AF97-9EAB09B11505}"/>
              </a:ext>
            </a:extLst>
          </p:cNvPr>
          <p:cNvSpPr>
            <a:spLocks noGrp="1"/>
          </p:cNvSpPr>
          <p:nvPr/>
        </p:nvSpPr>
        <p:spPr>
          <a:xfrm>
            <a:off x="1978639" y="224218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Geometric likelihood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88843-6102-4A08-8AF6-F53CAE0E363A}"/>
              </a:ext>
            </a:extLst>
          </p:cNvPr>
          <p:cNvSpPr>
            <a:spLocks noGrp="1"/>
          </p:cNvSpPr>
          <p:nvPr/>
        </p:nvSpPr>
        <p:spPr>
          <a:xfrm>
            <a:off x="6799569" y="221361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0D04E7-FA9E-46D9-BFCF-BBF1D0A0D2C8}"/>
              </a:ext>
            </a:extLst>
          </p:cNvPr>
          <p:cNvSpPr>
            <a:spLocks noGrp="1"/>
          </p:cNvSpPr>
          <p:nvPr/>
        </p:nvSpPr>
        <p:spPr>
          <a:xfrm>
            <a:off x="6856719" y="224218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grid of p · likelihood curve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67A203-287C-416E-A70E-1E9B761A1F86}"/>
              </a:ext>
            </a:extLst>
          </p:cNvPr>
          <p:cNvSpPr>
            <a:spLocks noGrp="1"/>
          </p:cNvSpPr>
          <p:nvPr/>
        </p:nvSpPr>
        <p:spPr>
          <a:xfrm>
            <a:off x="514350" y="2625090"/>
            <a:ext cx="1407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A0BD41-F602-4F7A-9442-4D1D4717179B}"/>
              </a:ext>
            </a:extLst>
          </p:cNvPr>
          <p:cNvSpPr>
            <a:spLocks noGrp="1"/>
          </p:cNvSpPr>
          <p:nvPr/>
        </p:nvSpPr>
        <p:spPr>
          <a:xfrm>
            <a:off x="571500" y="265366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4.11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CA283-7683-4360-8872-C0C9730A9F30}"/>
              </a:ext>
            </a:extLst>
          </p:cNvPr>
          <p:cNvSpPr>
            <a:spLocks noGrp="1"/>
          </p:cNvSpPr>
          <p:nvPr/>
        </p:nvSpPr>
        <p:spPr>
          <a:xfrm>
            <a:off x="1921489" y="262509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7300D0-5D06-4B24-B2D7-3F5F9574EEC6}"/>
              </a:ext>
            </a:extLst>
          </p:cNvPr>
          <p:cNvSpPr>
            <a:spLocks noGrp="1"/>
          </p:cNvSpPr>
          <p:nvPr/>
        </p:nvSpPr>
        <p:spPr>
          <a:xfrm>
            <a:off x="1978639" y="265366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One-mean t CI and outlier sensitivity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BB6ADF-3458-412E-9A4A-542F75FE1DC1}"/>
              </a:ext>
            </a:extLst>
          </p:cNvPr>
          <p:cNvSpPr>
            <a:spLocks noGrp="1"/>
          </p:cNvSpPr>
          <p:nvPr/>
        </p:nvSpPr>
        <p:spPr>
          <a:xfrm>
            <a:off x="6799569" y="262509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0BBE11-042D-48A0-A378-A5835A74EDE3}"/>
              </a:ext>
            </a:extLst>
          </p:cNvPr>
          <p:cNvSpPr>
            <a:spLocks noGrp="1"/>
          </p:cNvSpPr>
          <p:nvPr/>
        </p:nvSpPr>
        <p:spPr>
          <a:xfrm>
            <a:off x="6856719" y="265366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ttest_1samp / manual t CI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8C657A-53CF-4AB0-A64C-AEFB060D26BD}"/>
              </a:ext>
            </a:extLst>
          </p:cNvPr>
          <p:cNvSpPr>
            <a:spLocks noGrp="1"/>
          </p:cNvSpPr>
          <p:nvPr/>
        </p:nvSpPr>
        <p:spPr>
          <a:xfrm>
            <a:off x="514350" y="3036570"/>
            <a:ext cx="1407139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E602D8-B2C9-4086-A38B-A4EDD70BBFE1}"/>
              </a:ext>
            </a:extLst>
          </p:cNvPr>
          <p:cNvSpPr>
            <a:spLocks noGrp="1"/>
          </p:cNvSpPr>
          <p:nvPr/>
        </p:nvSpPr>
        <p:spPr>
          <a:xfrm>
            <a:off x="571500" y="306514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4.14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212E4D-7B9B-48BA-AFBB-97DD2C161399}"/>
              </a:ext>
            </a:extLst>
          </p:cNvPr>
          <p:cNvSpPr>
            <a:spLocks noGrp="1"/>
          </p:cNvSpPr>
          <p:nvPr/>
        </p:nvSpPr>
        <p:spPr>
          <a:xfrm>
            <a:off x="1921489" y="303657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7151D8-5B09-42B6-8514-026E1F7C216B}"/>
              </a:ext>
            </a:extLst>
          </p:cNvPr>
          <p:cNvSpPr>
            <a:spLocks noGrp="1"/>
          </p:cNvSpPr>
          <p:nvPr/>
        </p:nvSpPr>
        <p:spPr>
          <a:xfrm>
            <a:off x="1978639" y="306514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One- and two-mean intervals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0C4110-EA81-4528-B0EB-D8BA365ECAB5}"/>
              </a:ext>
            </a:extLst>
          </p:cNvPr>
          <p:cNvSpPr>
            <a:spLocks noGrp="1"/>
          </p:cNvSpPr>
          <p:nvPr/>
        </p:nvSpPr>
        <p:spPr>
          <a:xfrm>
            <a:off x="6799569" y="303657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4334D1-1CB5-46AB-9E6D-53AC87E81ACC}"/>
              </a:ext>
            </a:extLst>
          </p:cNvPr>
          <p:cNvSpPr>
            <a:spLocks noGrp="1"/>
          </p:cNvSpPr>
          <p:nvPr/>
        </p:nvSpPr>
        <p:spPr>
          <a:xfrm>
            <a:off x="6856719" y="306514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group summaries · Welch CI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EE4A56-3958-47DD-B444-0A20AFD63037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1407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6C842C5-C3D5-4562-9091-4FFAF8D6EC2C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4.31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FAE6B2-F834-4232-81E2-A4840B22764F}"/>
              </a:ext>
            </a:extLst>
          </p:cNvPr>
          <p:cNvSpPr>
            <a:spLocks noGrp="1"/>
          </p:cNvSpPr>
          <p:nvPr/>
        </p:nvSpPr>
        <p:spPr>
          <a:xfrm>
            <a:off x="1921489" y="344805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A0821E-806E-4312-BFD3-214C0785FEA8}"/>
              </a:ext>
            </a:extLst>
          </p:cNvPr>
          <p:cNvSpPr>
            <a:spLocks noGrp="1"/>
          </p:cNvSpPr>
          <p:nvPr/>
        </p:nvSpPr>
        <p:spPr>
          <a:xfrm>
            <a:off x="1978639" y="347662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Housing comparison report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5231AB-2249-48D4-AC65-A3D8DC4838D7}"/>
              </a:ext>
            </a:extLst>
          </p:cNvPr>
          <p:cNvSpPr>
            <a:spLocks noGrp="1"/>
          </p:cNvSpPr>
          <p:nvPr/>
        </p:nvSpPr>
        <p:spPr>
          <a:xfrm>
            <a:off x="6799569" y="344805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1A914B-88BD-4AE0-ACF5-100280E5BC51}"/>
              </a:ext>
            </a:extLst>
          </p:cNvPr>
          <p:cNvSpPr>
            <a:spLocks noGrp="1"/>
          </p:cNvSpPr>
          <p:nvPr/>
        </p:nvSpPr>
        <p:spPr>
          <a:xfrm>
            <a:off x="6856719" y="347662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EDA · difference · CI · assumptions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B7049C-7287-414D-9414-DDF7C0EF4EB8}"/>
              </a:ext>
            </a:extLst>
          </p:cNvPr>
          <p:cNvSpPr>
            <a:spLocks noGrp="1"/>
          </p:cNvSpPr>
          <p:nvPr/>
        </p:nvSpPr>
        <p:spPr>
          <a:xfrm>
            <a:off x="514350" y="3859530"/>
            <a:ext cx="1407139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15522F-37EA-4190-879A-C4D923027F33}"/>
              </a:ext>
            </a:extLst>
          </p:cNvPr>
          <p:cNvSpPr>
            <a:spLocks noGrp="1"/>
          </p:cNvSpPr>
          <p:nvPr/>
        </p:nvSpPr>
        <p:spPr>
          <a:xfrm>
            <a:off x="571500" y="388810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5.6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07CE987-1257-45E0-8C2C-C282EC62596E}"/>
              </a:ext>
            </a:extLst>
          </p:cNvPr>
          <p:cNvSpPr>
            <a:spLocks noGrp="1"/>
          </p:cNvSpPr>
          <p:nvPr/>
        </p:nvSpPr>
        <p:spPr>
          <a:xfrm>
            <a:off x="1921489" y="385953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C88467-3293-4453-930C-F2B4CC33509F}"/>
              </a:ext>
            </a:extLst>
          </p:cNvPr>
          <p:cNvSpPr>
            <a:spLocks noGrp="1"/>
          </p:cNvSpPr>
          <p:nvPr/>
        </p:nvSpPr>
        <p:spPr>
          <a:xfrm>
            <a:off x="1978639" y="388810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Frequentist and Bayesian poll evidence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A02AF79-B613-4E46-9EA4-C20C7C0E7CF4}"/>
              </a:ext>
            </a:extLst>
          </p:cNvPr>
          <p:cNvSpPr>
            <a:spLocks noGrp="1"/>
          </p:cNvSpPr>
          <p:nvPr/>
        </p:nvSpPr>
        <p:spPr>
          <a:xfrm>
            <a:off x="6799569" y="385953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4AEA431-FE37-48BC-AFDD-B51373A73303}"/>
              </a:ext>
            </a:extLst>
          </p:cNvPr>
          <p:cNvSpPr>
            <a:spLocks noGrp="1"/>
          </p:cNvSpPr>
          <p:nvPr/>
        </p:nvSpPr>
        <p:spPr>
          <a:xfrm>
            <a:off x="6856719" y="388810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binomtest · beta.cdf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BAB9427-79F2-4003-A539-A6F35641AB91}"/>
              </a:ext>
            </a:extLst>
          </p:cNvPr>
          <p:cNvSpPr>
            <a:spLocks noGrp="1"/>
          </p:cNvSpPr>
          <p:nvPr/>
        </p:nvSpPr>
        <p:spPr>
          <a:xfrm>
            <a:off x="514350" y="4271010"/>
            <a:ext cx="1407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3C5A06D-765D-4F47-AEA8-976D8DC35236}"/>
              </a:ext>
            </a:extLst>
          </p:cNvPr>
          <p:cNvSpPr>
            <a:spLocks noGrp="1"/>
          </p:cNvSpPr>
          <p:nvPr/>
        </p:nvSpPr>
        <p:spPr>
          <a:xfrm>
            <a:off x="571500" y="429958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5.8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5A16EE9-C8A8-4DAA-A605-E41AFF40B54A}"/>
              </a:ext>
            </a:extLst>
          </p:cNvPr>
          <p:cNvSpPr>
            <a:spLocks noGrp="1"/>
          </p:cNvSpPr>
          <p:nvPr/>
        </p:nvSpPr>
        <p:spPr>
          <a:xfrm>
            <a:off x="1921489" y="427101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378807-AF2E-4CC4-834B-4978FACA032D}"/>
              </a:ext>
            </a:extLst>
          </p:cNvPr>
          <p:cNvSpPr>
            <a:spLocks noGrp="1"/>
          </p:cNvSpPr>
          <p:nvPr/>
        </p:nvSpPr>
        <p:spPr>
          <a:xfrm>
            <a:off x="1978639" y="429958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One-mean test and matching CI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D6B118D-D2F9-4A0D-A70B-FBCA8C80F421}"/>
              </a:ext>
            </a:extLst>
          </p:cNvPr>
          <p:cNvSpPr>
            <a:spLocks noGrp="1"/>
          </p:cNvSpPr>
          <p:nvPr/>
        </p:nvSpPr>
        <p:spPr>
          <a:xfrm>
            <a:off x="6799569" y="427101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518F8C6-404C-433B-B524-B77859593AEC}"/>
              </a:ext>
            </a:extLst>
          </p:cNvPr>
          <p:cNvSpPr>
            <a:spLocks noGrp="1"/>
          </p:cNvSpPr>
          <p:nvPr/>
        </p:nvSpPr>
        <p:spPr>
          <a:xfrm>
            <a:off x="6856719" y="429958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ttest_1samp · confidence_interval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58C21B8-DBAD-4AA3-9FFE-4626DAAC5987}"/>
              </a:ext>
            </a:extLst>
          </p:cNvPr>
          <p:cNvSpPr>
            <a:spLocks noGrp="1"/>
          </p:cNvSpPr>
          <p:nvPr/>
        </p:nvSpPr>
        <p:spPr>
          <a:xfrm>
            <a:off x="514350" y="4682490"/>
            <a:ext cx="1407139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A0FDF9-4BC9-4C50-B45E-7100514435EB}"/>
              </a:ext>
            </a:extLst>
          </p:cNvPr>
          <p:cNvSpPr>
            <a:spLocks noGrp="1"/>
          </p:cNvSpPr>
          <p:nvPr/>
        </p:nvSpPr>
        <p:spPr>
          <a:xfrm>
            <a:off x="571500" y="471106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5.10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EEEE91-3F8C-4765-BE5A-1A2888C3222E}"/>
              </a:ext>
            </a:extLst>
          </p:cNvPr>
          <p:cNvSpPr>
            <a:spLocks noGrp="1"/>
          </p:cNvSpPr>
          <p:nvPr/>
        </p:nvSpPr>
        <p:spPr>
          <a:xfrm>
            <a:off x="1921489" y="468249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2064B96-6B35-433A-83EF-6A2E98E912F8}"/>
              </a:ext>
            </a:extLst>
          </p:cNvPr>
          <p:cNvSpPr>
            <a:spLocks noGrp="1"/>
          </p:cNvSpPr>
          <p:nvPr/>
        </p:nvSpPr>
        <p:spPr>
          <a:xfrm>
            <a:off x="1978639" y="471106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Two independent means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6E8027B-EE28-4428-BCB5-1336F7F3ACAD}"/>
              </a:ext>
            </a:extLst>
          </p:cNvPr>
          <p:cNvSpPr>
            <a:spLocks noGrp="1"/>
          </p:cNvSpPr>
          <p:nvPr/>
        </p:nvSpPr>
        <p:spPr>
          <a:xfrm>
            <a:off x="6799569" y="4682490"/>
            <a:ext cx="4878081" cy="411480"/>
          </a:xfrm>
          <a:prstGeom prst="rect">
            <a:avLst/>
          </a:prstGeom>
          <a:solidFill>
            <a:srgbClr val="F3F9FD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2226A06-08E7-4A90-9707-B18D93AEE1D8}"/>
              </a:ext>
            </a:extLst>
          </p:cNvPr>
          <p:cNvSpPr>
            <a:spLocks noGrp="1"/>
          </p:cNvSpPr>
          <p:nvPr/>
        </p:nvSpPr>
        <p:spPr>
          <a:xfrm>
            <a:off x="6856719" y="471106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ttest_ind(equal_var=False)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E9C4DB-9243-49CB-B8C4-57DE5E38E0DA}"/>
              </a:ext>
            </a:extLst>
          </p:cNvPr>
          <p:cNvSpPr>
            <a:spLocks noGrp="1"/>
          </p:cNvSpPr>
          <p:nvPr/>
        </p:nvSpPr>
        <p:spPr>
          <a:xfrm>
            <a:off x="514350" y="5093970"/>
            <a:ext cx="1407139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1EB3D72-AD12-4A00-830A-138DB5042046}"/>
              </a:ext>
            </a:extLst>
          </p:cNvPr>
          <p:cNvSpPr>
            <a:spLocks noGrp="1"/>
          </p:cNvSpPr>
          <p:nvPr/>
        </p:nvSpPr>
        <p:spPr>
          <a:xfrm>
            <a:off x="571500" y="5122545"/>
            <a:ext cx="1292839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1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5.23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D49DE30-2EC2-428D-91E5-0FB53F9B7EFD}"/>
              </a:ext>
            </a:extLst>
          </p:cNvPr>
          <p:cNvSpPr>
            <a:spLocks noGrp="1"/>
          </p:cNvSpPr>
          <p:nvPr/>
        </p:nvSpPr>
        <p:spPr>
          <a:xfrm>
            <a:off x="1921489" y="509397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12E733-9B8B-4567-835E-24357A28C3AF}"/>
              </a:ext>
            </a:extLst>
          </p:cNvPr>
          <p:cNvSpPr>
            <a:spLocks noGrp="1"/>
          </p:cNvSpPr>
          <p:nvPr/>
        </p:nvSpPr>
        <p:spPr>
          <a:xfrm>
            <a:off x="1978639" y="512254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AI sentiment × gender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98FAAFC-C3F5-43C9-9C5D-F57744A2FF48}"/>
              </a:ext>
            </a:extLst>
          </p:cNvPr>
          <p:cNvSpPr>
            <a:spLocks noGrp="1"/>
          </p:cNvSpPr>
          <p:nvPr/>
        </p:nvSpPr>
        <p:spPr>
          <a:xfrm>
            <a:off x="6799569" y="5093970"/>
            <a:ext cx="487808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9EA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E1CC3C0-8CA7-4789-87FF-F68D07126CFE}"/>
              </a:ext>
            </a:extLst>
          </p:cNvPr>
          <p:cNvSpPr>
            <a:spLocks noGrp="1"/>
          </p:cNvSpPr>
          <p:nvPr/>
        </p:nvSpPr>
        <p:spPr>
          <a:xfrm>
            <a:off x="6856719" y="5122545"/>
            <a:ext cx="4763781" cy="354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defRPr>
            </a:pPr>
            <a:r>
              <a:rPr sz="1088" b="0" i="0">
                <a:solidFill>
                  <a:srgbClr val="17324D"/>
                </a:solidFill>
                <a:latin typeface="Sofia Sans"/>
                <a:ea typeface="Sofia Sans"/>
                <a:cs typeface="Sofia Sans"/>
              </a:rPr>
              <a:t>crosstab · chi2_contingency · diagnostics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369EE437-730C-4BA3-A07C-31E480A80611}"/>
              </a:ext>
            </a:extLst>
          </p:cNvPr>
          <p:cNvSpPr>
            <a:spLocks noGrp="1"/>
          </p:cNvSpPr>
          <p:nvPr/>
        </p:nvSpPr>
        <p:spPr>
          <a:xfrm>
            <a:off x="1295400" y="5600700"/>
            <a:ext cx="9601200" cy="400050"/>
          </a:xfrm>
          <a:prstGeom prst="roundRect">
            <a:avLst>
              <a:gd name="adj" fmla="val 23810"/>
            </a:avLst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02A487-D2FE-4F0C-97CC-FC58835FA2C3}"/>
              </a:ext>
            </a:extLst>
          </p:cNvPr>
          <p:cNvSpPr>
            <a:spLocks noGrp="1"/>
          </p:cNvSpPr>
          <p:nvPr/>
        </p:nvSpPr>
        <p:spPr>
          <a:xfrm>
            <a:off x="1466850" y="5657850"/>
            <a:ext cx="925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8803"/>
          </a:bodyPr>
          <a:lstStyle/>
          <a:p>
            <a:pPr algn="ctr">
              <a:buNone/>
              <a:defRPr sz="13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B42318"/>
                </a:solidFill>
                <a:latin typeface="Sofia Sans"/>
                <a:ea typeface="Sofia Sans"/>
                <a:cs typeface="Sofia Sans"/>
              </a:rPr>
              <a:t>Release check: the provided PDF/notebook includes a blank Problem 4.2(b) prompt. Clarify or remove it before students begin.</a:t>
            </a:r>
          </a:p>
        </p:txBody>
      </p:sp>
    </p:spTree>
    <p:extLst>
      <p:ext uri="{BB962C8B-B14F-4D97-AF65-F5344CB8AC3E}">
        <p14:creationId xmlns:p14="http://schemas.microsoft.com/office/powerpoint/2010/main" val="13752344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CE93BF4-6D93-4C9D-959B-6DCBD60DADB7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D56BB4-8AF9-4B76-8E98-737DFF1108F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350" b="1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WEEK 4 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820F14-5E9B-4062-A1E5-0E0A0E139045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7810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26"/>
          </a:bodyPr>
          <a:lstStyle/>
          <a:p>
            <a:pPr algn="l">
              <a:buNone/>
              <a:def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4500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Can you defend the inference?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761B98-1F12-41DB-8DA9-8DF7A23DCAA2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457200" cy="457200"/>
          </a:xfrm>
          <a:prstGeom prst="ellipse">
            <a:avLst/>
          </a:prstGeom>
          <a:solidFill>
            <a:srgbClr val="0074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6E810-B924-40FB-8F9D-48A3B385F762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6B1D07-6809-4007-B783-41E6F6FDADB9}"/>
              </a:ext>
            </a:extLst>
          </p:cNvPr>
          <p:cNvSpPr>
            <a:spLocks noGrp="1"/>
          </p:cNvSpPr>
          <p:nvPr/>
        </p:nvSpPr>
        <p:spPr>
          <a:xfrm>
            <a:off x="1562100" y="209550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Interpret a 95% confidence interval using repeated-sampling coverage.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DA345D-DACE-4965-A2A1-A50EDAF7E68F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457200" cy="457200"/>
          </a:xfrm>
          <a:prstGeom prst="ellipse">
            <a:avLst/>
          </a:prstGeom>
          <a:solidFill>
            <a:srgbClr val="00A4B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D2C2D8-3B24-46C5-9BE7-8CB04D3DC931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E1D7FA-EA97-44A4-A6D0-C100DE937E17}"/>
              </a:ext>
            </a:extLst>
          </p:cNvPr>
          <p:cNvSpPr>
            <a:spLocks noGrp="1"/>
          </p:cNvSpPr>
          <p:nvPr/>
        </p:nvSpPr>
        <p:spPr>
          <a:xfrm>
            <a:off x="1562100" y="287655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Distinguish a credible interval from a predictive interval.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234CE7-6423-4B39-BCA6-D4B053590371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457200" cy="457200"/>
          </a:xfrm>
          <a:prstGeom prst="ellipse">
            <a:avLst/>
          </a:prstGeom>
          <a:solidFill>
            <a:srgbClr val="F2650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C8908-2EE1-48FA-AAEE-DF90636EDF35}"/>
              </a:ext>
            </a:extLst>
          </p:cNvPr>
          <p:cNvSpPr>
            <a:spLocks noGrp="1"/>
          </p:cNvSpPr>
          <p:nvPr/>
        </p:nvSpPr>
        <p:spPr>
          <a:xfrm>
            <a:off x="800100" y="36957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875" b="1" i="0">
                <a:solidFill>
                  <a:srgbClr val="FFFFFF"/>
                </a:solidFill>
                <a:latin typeface="Sofia Sans Extra Condensed"/>
                <a:ea typeface="Sofia Sans Extra Condensed"/>
                <a:cs typeface="Sofia Sans Extra Condensed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F383B-067D-490A-8424-9BEF4F61FBD1}"/>
              </a:ext>
            </a:extLst>
          </p:cNvPr>
          <p:cNvSpPr>
            <a:spLocks noGrp="1"/>
          </p:cNvSpPr>
          <p:nvPr/>
        </p:nvSpPr>
        <p:spPr>
          <a:xfrm>
            <a:off x="1562100" y="3657600"/>
            <a:ext cx="742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800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Report a test with effect size, interval, p-value, and limitation.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FF225B0-833F-4242-92EE-8AAF48596496}"/>
              </a:ext>
            </a:extLst>
          </p:cNvPr>
          <p:cNvSpPr>
            <a:spLocks noGrp="1"/>
          </p:cNvSpPr>
          <p:nvPr/>
        </p:nvSpPr>
        <p:spPr>
          <a:xfrm>
            <a:off x="8915400" y="1524000"/>
            <a:ext cx="2686050" cy="3524250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AA5310-3435-4A4C-B92E-AD00F180EE03}"/>
              </a:ext>
            </a:extLst>
          </p:cNvPr>
          <p:cNvSpPr>
            <a:spLocks noGrp="1"/>
          </p:cNvSpPr>
          <p:nvPr/>
        </p:nvSpPr>
        <p:spPr>
          <a:xfrm>
            <a:off x="9163050" y="18097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560"/>
          </a:bodyPr>
          <a:lstStyle/>
          <a:p>
            <a:pPr algn="ctr">
              <a:buNone/>
              <a:def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2325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Module activities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82EB05-541E-487C-B0A7-AF29522DDDB2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1907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Discussion 4.1 · 10 pts</a:t>
            </a: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Initial post Day 4</a:t>
            </a: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Peer responses Day 7</a:t>
            </a:r>
          </a:p>
          <a:p>
            <a:endParaRPr sz="1500" b="1" i="0">
              <a:solidFill>
                <a:srgbClr val="003B70"/>
              </a:solidFill>
              <a:latin typeface="Sofia Sans Extra Condensed"/>
              <a:ea typeface="Sofia Sans Extra Condensed"/>
              <a:cs typeface="Sofia Sans Extra Condensed"/>
            </a:endParaRP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4.1 · 90 pts</a:t>
            </a: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Assignment 4.2 · 30 pts</a:t>
            </a: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Project Check-In · 5 pts</a:t>
            </a:r>
          </a:p>
          <a:p>
            <a:pPr algn="ctr">
              <a:buNone/>
              <a:def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defRPr>
            </a:pPr>
            <a:r>
              <a:rPr sz="1500" b="1" i="0">
                <a:solidFill>
                  <a:srgbClr val="003B70"/>
                </a:solidFill>
                <a:latin typeface="Sofia Sans Extra Condensed"/>
                <a:ea typeface="Sofia Sans Extra Condensed"/>
                <a:cs typeface="Sofia Sans Extra Condensed"/>
              </a:rPr>
              <a:t>Module 4 Quiz · 20 pts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6E0D8-698C-4F3E-94FE-EEABE9DB286B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752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50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defRPr>
            </a:pPr>
            <a:r>
              <a:rPr sz="1500" b="0" i="0">
                <a:solidFill>
                  <a:srgbClr val="75BEE9"/>
                </a:solidFill>
                <a:latin typeface="Sofia Sans"/>
                <a:ea typeface="Sofia Sans"/>
                <a:cs typeface="Sofia Sans"/>
              </a:rPr>
              <a:t>Required media in Canvas: estimation · z/CI/MOE · Normal distribution · choosing a statistical test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491930-5895-48F5-8D80-5E1E164D2D9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defRPr>
            </a:pPr>
            <a:r>
              <a:rPr sz="1200" b="1" i="0">
                <a:solidFill>
                  <a:srgbClr val="003B70"/>
                </a:solidFill>
                <a:latin typeface="Sofia Sans"/>
                <a:ea typeface="Sofia Sans"/>
                <a:cs typeface="Sofia Sans"/>
              </a:rPr>
              <a:t>AAI 500  |  WEEK 4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768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E8E8F27E-5F7D-4C07-A3F8-E5C10566E84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The likelihood peaks at the most plausible parameter value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8CC2023C-A3F7-45E3-BB22-ADE257A40CE6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59DF17CA-C75B-407D-92E1-DF059C0F170E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37" name="figure-subtitle">
            <a:extLst>
              <a:ext uri="{FF2B5EF4-FFF2-40B4-BE49-F238E27FC236}">
                <a16:creationId xmlns:a16="http://schemas.microsoft.com/office/drawing/2014/main" id="{15E72EC7-6419-48EB-BB87-F4110F6A796D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Binomial samples with n=10 · normalized relative likelihood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666750" y="1562100"/>
          <a:ext cx="7239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insight-card">
            <a:extLst>
              <a:ext uri="{FF2B5EF4-FFF2-40B4-BE49-F238E27FC236}">
                <a16:creationId xmlns:a16="http://schemas.microsoft.com/office/drawing/2014/main" id="{45542B52-681A-4C33-A8B7-A8004CB2DF3E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insight-label">
            <a:extLst>
              <a:ext uri="{FF2B5EF4-FFF2-40B4-BE49-F238E27FC236}">
                <a16:creationId xmlns:a16="http://schemas.microsoft.com/office/drawing/2014/main" id="{7196F09E-A067-457F-BEC2-0426E3598EDB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41" name="insight-copy">
            <a:extLst>
              <a:ext uri="{FF2B5EF4-FFF2-40B4-BE49-F238E27FC236}">
                <a16:creationId xmlns:a16="http://schemas.microsoft.com/office/drawing/2014/main" id="{EA2F98F3-A30A-470D-B6E9-2F32BE7AFD77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y=0, the MLE is p̂=0.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For y=6, the MLE is p̂=.60.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Likelihood compares parameter values; it is not a probability distribution for p.</a:t>
            </a:r>
          </a:p>
        </p:txBody>
      </p:sp>
      <p:sp>
        <p:nvSpPr>
          <p:cNvPr id="42" name="visible-source">
            <a:extLst>
              <a:ext uri="{FF2B5EF4-FFF2-40B4-BE49-F238E27FC236}">
                <a16:creationId xmlns:a16="http://schemas.microsoft.com/office/drawing/2014/main" id="{463FB92B-D580-4CE0-B95A-6B18BF4F4BB8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§§4.2.1–4.2.2, Fig. 4.1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5CEF8419-7D6E-47C4-B55B-65E257E3BC5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 two-sided p-value is the null area beyond ±|z observed|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B018924E-1CA6-4344-82F6-5F2E8ED5C589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76A8"/>
          </a:solidFill>
          <a:ln w="0">
            <a:solidFill>
              <a:srgbClr val="007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7A4A39DB-7FAC-4C2E-8273-33986780EBA6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 fontScale="99765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TEXTBOOK FIGURE</a:t>
            </a:r>
          </a:p>
        </p:txBody>
      </p:sp>
      <p:sp>
        <p:nvSpPr>
          <p:cNvPr id="37" name="figure-subtitle">
            <a:extLst>
              <a:ext uri="{FF2B5EF4-FFF2-40B4-BE49-F238E27FC236}">
                <a16:creationId xmlns:a16="http://schemas.microsoft.com/office/drawing/2014/main" id="{4A0FF6D3-F87E-448E-B2B3-AA6DBDC227E5}"/>
              </a:ext>
            </a:extLst>
          </p:cNvPr>
          <p:cNvSpPr>
            <a:spLocks noGrp="1"/>
          </p:cNvSpPr>
          <p:nvPr/>
        </p:nvSpPr>
        <p:spPr>
          <a:xfrm>
            <a:off x="2895600" y="11049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Standard Normal example with z observed = 1.26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666750" y="1562100"/>
          <a:ext cx="7239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insight-card">
            <a:extLst>
              <a:ext uri="{FF2B5EF4-FFF2-40B4-BE49-F238E27FC236}">
                <a16:creationId xmlns:a16="http://schemas.microsoft.com/office/drawing/2014/main" id="{0AB30A84-B203-4898-B5AC-FBD0A5B3A744}"/>
              </a:ext>
            </a:extLst>
          </p:cNvPr>
          <p:cNvSpPr>
            <a:spLocks noGrp="1"/>
          </p:cNvSpPr>
          <p:nvPr/>
        </p:nvSpPr>
        <p:spPr>
          <a:xfrm>
            <a:off x="8172450" y="1562100"/>
            <a:ext cx="3333750" cy="3905250"/>
          </a:xfrm>
          <a:prstGeom prst="roundRect">
            <a:avLst>
              <a:gd name="adj" fmla="val 3429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insight-label">
            <a:extLst>
              <a:ext uri="{FF2B5EF4-FFF2-40B4-BE49-F238E27FC236}">
                <a16:creationId xmlns:a16="http://schemas.microsoft.com/office/drawing/2014/main" id="{58B14BEF-5D4B-4BE7-B0EF-B440A767FF4B}"/>
              </a:ext>
            </a:extLst>
          </p:cNvPr>
          <p:cNvSpPr>
            <a:spLocks noGrp="1"/>
          </p:cNvSpPr>
          <p:nvPr/>
        </p:nvSpPr>
        <p:spPr>
          <a:xfrm>
            <a:off x="8401050" y="1771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READ THE FIGURE</a:t>
            </a:r>
          </a:p>
        </p:txBody>
      </p:sp>
      <p:sp>
        <p:nvSpPr>
          <p:cNvPr id="41" name="insight-copy">
            <a:extLst>
              <a:ext uri="{FF2B5EF4-FFF2-40B4-BE49-F238E27FC236}">
                <a16:creationId xmlns:a16="http://schemas.microsoft.com/office/drawing/2014/main" id="{B1361699-135F-4CFB-B5D8-647B4DB40261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29146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Each tail area = .1038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Two-sided p = 2(.1038) = .2077 ≈ .208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p-value is not P(H₀ is true).</a:t>
            </a:r>
          </a:p>
        </p:txBody>
      </p:sp>
      <p:sp>
        <p:nvSpPr>
          <p:cNvPr id="42" name="visible-source">
            <a:extLst>
              <a:ext uri="{FF2B5EF4-FFF2-40B4-BE49-F238E27FC236}">
                <a16:creationId xmlns:a16="http://schemas.microsoft.com/office/drawing/2014/main" id="{37997895-CA94-4F86-996C-6230ED758DB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§§5.2.1–5.2.2, Fig. 5.1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05902269-2133-4405-A26B-787D3D6EFA8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4.11 · One outlier, two very different intervals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B09BA749-B251-4565-AFCC-0097ADFCAAD3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EC048514-FB82-4BF4-8CBA-6F8FA9C538D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DB83517-03A3-4C77-9695-374BE385F878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83322739-6D7A-4097-BCF4-CC9603D7940A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570E517D-EEFE-4A9B-93B9-48C416990042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Daily TV hours are 0,0,1,1,1,2,2,3,3,4. Find a 95% t interval; then suppose the final value was mistyped as 24.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866F68C4-069C-4E72-99DA-7C854FF41CE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EB769B8C-72EE-4679-ACE4-F5D00A9D25C2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3AF08CD6-C1BC-4B69-925B-6738A080A9DF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Original: mean 1.700, s 1.338, SE .423, 95% CI [.743, 2.657]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With 24: mean 3.700, s 7.212, SE 2.281, CI [−1.459, 8.859]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Both use t* = 2.262 with df=9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Inspect data and report sensitivity before relying on a mean-based interval.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FBDCB128-3F0F-459C-A985-AAED8503C70A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4.11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6B14E4EE-C77E-4DFD-9028-4913913AAAC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4.15 · Compare two population proportions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040EB9AA-9493-4952-8B02-A89F5D53042D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362C0CB2-2240-4FD6-B45F-74E34A088D51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247C6EC8-9163-48F3-8859-F11533E31955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7C1B3A73-2C88-4AEC-A6A6-B9D31E1CCEC5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C909F1A8-E49F-4C23-A050-3A3EC502E3D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 a GSS sample, 1017/1178 females and 703/945 males reported belief in an afterlife. Estimate each proportion and the female-minus-male difference.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0E51018E-DD53-47AE-B4A4-43818F3081A5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A5D5CB89-AB8F-4ABE-8652-DDB20CEF751B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3B47D461-3256-432A-915D-183A68B013EF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Female p̂=.8633; 95% Wilson CI [.8425,.8818]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Male p̂=.7439; 95% Wilson CI [.7151,.7707]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Difference=.1194; 95% CI [.0854,.1535]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Estimated association: 11.9 percentage points; this does not establish causation.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71B1D8F4-AE51-40B4-8354-2095DD99DDC6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4.15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exercise 5.12 · Statistical difference or menu effect?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WORKED EXERCISE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Menu A: n=43, mean $22.30, s=$6.88. Menu B: n=50, mean $25.91, s=$8.01. Test equality of means and form a 95% interval.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WORKED ANSWER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Difference B−A=$3.61; pooled SE=1.5619; df=91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t=2.311; two-sided p=.0231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95% CI for B−A: [$0.51,$6.71]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Menu and day are confounded, so the data do not isolate a causal menu effect.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Adapted from textbook Exercise 5.12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OPTIONAL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Advanced Python · Prospective power is a design decision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ADVANCED PYTHON APPENDIX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Astrology example: test H₀:p=1/3 against p&gt;.50 with α=.05.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p0, p1, alpha = 1/3, .50, .05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 = 2*(np.arcsin(np.sqrt(p1)) -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np.arcsin(np.sqrt(p0)))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def power(n):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return normal_power_het(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diff=h, nobs=n, alpha=alpha,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std_null=1, std_alternative=1,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      alternative="larger")</a:t>
            </a:r>
          </a:p>
          <a:p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power(116)      # .9781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n80 = 54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power(n80)      # .8030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VERIFY AND INTERPRET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Effect size h=.33984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At n=116, power=.9781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Minimum n for 80% power: 54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Power planning makes the alternative scientifically explicit.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Python Appendix B5.5 · textbook §§5.5.5–5.5.6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DF4ACFF1-A75B-433E-AD44-93AEDB02B2D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Worked Python · Pair repeated measurements before testing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4D72E1FB-8970-4752-8A15-2B60F70AECC7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333625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9EA88CC7-DC06-4748-AF3E-080D0249922F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1812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WORKED PYTHON EXAMPLE</a:t>
            </a:r>
          </a:p>
        </p:txBody>
      </p:sp>
      <p:sp>
        <p:nvSpPr>
          <p:cNvPr id="37" name="code-intro">
            <a:extLst>
              <a:ext uri="{FF2B5EF4-FFF2-40B4-BE49-F238E27FC236}">
                <a16:creationId xmlns:a16="http://schemas.microsoft.com/office/drawing/2014/main" id="{6AAE96DE-80CE-4D39-95C2-AC70195340E1}"/>
              </a:ext>
            </a:extLst>
          </p:cNvPr>
          <p:cNvSpPr>
            <a:spLocks noGrp="1"/>
          </p:cNvSpPr>
          <p:nvPr/>
        </p:nvSpPr>
        <p:spPr>
          <a:xfrm>
            <a:off x="3143250" y="110490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7184"/>
                </a:solidFill>
                <a:latin typeface="Arial"/>
                <a:ea typeface="Arial"/>
                <a:cs typeface="Arial"/>
              </a:rPr>
              <a:t>The same eight students completed phone and control reaction-time conditions.</a:t>
            </a:r>
          </a:p>
        </p:txBody>
      </p:sp>
      <p:sp>
        <p:nvSpPr>
          <p:cNvPr id="38" name="code-card">
            <a:extLst>
              <a:ext uri="{FF2B5EF4-FFF2-40B4-BE49-F238E27FC236}">
                <a16:creationId xmlns:a16="http://schemas.microsoft.com/office/drawing/2014/main" id="{746F6D01-C134-4A04-AC83-178BF7659F85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6667500" cy="4000500"/>
          </a:xfrm>
          <a:prstGeom prst="roundRect">
            <a:avLst>
              <a:gd name="adj" fmla="val 2857"/>
            </a:avLst>
          </a:prstGeom>
          <a:solidFill>
            <a:srgbClr val="0B263C"/>
          </a:solidFill>
          <a:ln w="0">
            <a:solidFill>
              <a:srgbClr val="0B26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code-copy">
            <a:extLst>
              <a:ext uri="{FF2B5EF4-FFF2-40B4-BE49-F238E27FC236}">
                <a16:creationId xmlns:a16="http://schemas.microsoft.com/office/drawing/2014/main" id="{2F69897C-790F-4C3E-923B-2B45A010B719}"/>
              </a:ext>
            </a:extLst>
          </p:cNvPr>
          <p:cNvSpPr>
            <a:spLocks noGrp="1"/>
          </p:cNvSpPr>
          <p:nvPr/>
        </p:nvSpPr>
        <p:spPr>
          <a:xfrm>
            <a:off x="895350" y="1752600"/>
            <a:ext cx="6210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import numpy as np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from scipy import stats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phone = np.array(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[636,623,615,672,601,600,542,554])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control = np.array(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  [604,556,540,522,459,544,513,470])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result = stats.ttest_rel(phone, control)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difference = phone - control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endParaRPr sz="1200" b="0" i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print(difference.mean())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print(result.statistic, result.pvalue, result.df)</a:t>
            </a:r>
          </a:p>
          <a:p>
            <a:pPr algn="l">
              <a:lnSpc>
                <a:spcPct val="96000"/>
              </a:lnSpc>
              <a:buNone/>
              <a:def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 i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print(result.confidence_interval(.95))</a:t>
            </a:r>
          </a:p>
        </p:txBody>
      </p:sp>
      <p:sp>
        <p:nvSpPr>
          <p:cNvPr id="40" name="code-insight-card">
            <a:extLst>
              <a:ext uri="{FF2B5EF4-FFF2-40B4-BE49-F238E27FC236}">
                <a16:creationId xmlns:a16="http://schemas.microsoft.com/office/drawing/2014/main" id="{E33D79BC-A939-45B5-9276-4F6EB4B599BF}"/>
              </a:ext>
            </a:extLst>
          </p:cNvPr>
          <p:cNvSpPr>
            <a:spLocks noGrp="1"/>
          </p:cNvSpPr>
          <p:nvPr/>
        </p:nvSpPr>
        <p:spPr>
          <a:xfrm>
            <a:off x="7620000" y="1562100"/>
            <a:ext cx="3886200" cy="4000500"/>
          </a:xfrm>
          <a:prstGeom prst="roundRect">
            <a:avLst>
              <a:gd name="adj" fmla="val 2941"/>
            </a:avLst>
          </a:prstGeom>
          <a:solidFill>
            <a:srgbClr val="EAF5FB"/>
          </a:solidFill>
          <a:ln w="9525">
            <a:solidFill>
              <a:srgbClr val="B7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ode-insight-label">
            <a:extLst>
              <a:ext uri="{FF2B5EF4-FFF2-40B4-BE49-F238E27FC236}">
                <a16:creationId xmlns:a16="http://schemas.microsoft.com/office/drawing/2014/main" id="{157508BE-D670-415C-8352-B204EA17B6F1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76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76A8"/>
                </a:solidFill>
                <a:latin typeface="Arial"/>
                <a:ea typeface="Arial"/>
                <a:cs typeface="Arial"/>
              </a:rPr>
              <a:t>OUTPUT AND INTERPRETATION</a:t>
            </a:r>
          </a:p>
        </p:txBody>
      </p:sp>
      <p:sp>
        <p:nvSpPr>
          <p:cNvPr id="42" name="code-insight-copy">
            <a:extLst>
              <a:ext uri="{FF2B5EF4-FFF2-40B4-BE49-F238E27FC236}">
                <a16:creationId xmlns:a16="http://schemas.microsoft.com/office/drawing/2014/main" id="{62C53020-74B3-46D3-9E81-585FF79D8669}"/>
              </a:ext>
            </a:extLst>
          </p:cNvPr>
          <p:cNvSpPr>
            <a:spLocks noGrp="1"/>
          </p:cNvSpPr>
          <p:nvPr/>
        </p:nvSpPr>
        <p:spPr>
          <a:xfrm>
            <a:off x="7848600" y="2209800"/>
            <a:ext cx="33909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Mean paired difference=79.4 ms.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t=4.944, df=7, two-sided p=.00167.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95% CI for the mean difference: [41.4,117.3] ms.</a:t>
            </a:r>
          </a:p>
          <a:p>
            <a:endParaRPr sz="135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Pairing is required because both observations come from the same student.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0772D9-3305-4D7A-9EC7-0DF5E6A7D233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Exercise 5.16 · CellPhone data · SciPy ttest_rel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91A32B5-1F72-40C5-AD2A-6F1485281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rgbClr val="003B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AE794-A07B-464C-AF52-91AC373F2972}"/>
              </a:ext>
            </a:extLst>
          </p:cNvPr>
          <p:cNvSpPr>
            <a:spLocks noGrp="1"/>
          </p:cNvSpPr>
          <p:nvPr/>
        </p:nvSpPr>
        <p:spPr>
          <a:xfrm>
            <a:off x="609600" y="7620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AAI 500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24E385-36EA-44F0-BF36-334A67F90147}"/>
              </a:ext>
            </a:extLst>
          </p:cNvPr>
          <p:cNvSpPr>
            <a:spLocks noGrp="1"/>
          </p:cNvSpPr>
          <p:nvPr/>
        </p:nvSpPr>
        <p:spPr>
          <a:xfrm>
            <a:off x="129540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FB43B-52AF-4693-90D1-D5361E1A9548}"/>
              </a:ext>
            </a:extLst>
          </p:cNvPr>
          <p:cNvSpPr>
            <a:spLocks noGrp="1"/>
          </p:cNvSpPr>
          <p:nvPr/>
        </p:nvSpPr>
        <p:spPr>
          <a:xfrm>
            <a:off x="1447800" y="76200"/>
            <a:ext cx="74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WEEK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8B975-9626-4D21-985A-2605EB958866}"/>
              </a:ext>
            </a:extLst>
          </p:cNvPr>
          <p:cNvSpPr>
            <a:spLocks noGrp="1"/>
          </p:cNvSpPr>
          <p:nvPr/>
        </p:nvSpPr>
        <p:spPr>
          <a:xfrm>
            <a:off x="2228850" y="76200"/>
            <a:ext cx="114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|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4BBA49-741B-4131-83EE-D776E1F027C1}"/>
              </a:ext>
            </a:extLst>
          </p:cNvPr>
          <p:cNvSpPr>
            <a:spLocks noGrp="1"/>
          </p:cNvSpPr>
          <p:nvPr/>
        </p:nvSpPr>
        <p:spPr>
          <a:xfrm>
            <a:off x="2381250" y="76200"/>
            <a:ext cx="112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PYTHON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D3767-8B24-4475-868B-10E2775095EF}"/>
              </a:ext>
            </a:extLst>
          </p:cNvPr>
          <p:cNvSpPr>
            <a:spLocks noGrp="1"/>
          </p:cNvSpPr>
          <p:nvPr/>
        </p:nvSpPr>
        <p:spPr>
          <a:xfrm>
            <a:off x="11277600" y="76200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buNone/>
              <a:def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defRPr>
            </a:pPr>
            <a:r>
              <a:rPr sz="1125" b="1" i="0">
                <a:solidFill>
                  <a:srgbClr val="FFFFFF"/>
                </a:solidFill>
                <a:latin typeface="Sofia Sans"/>
                <a:ea typeface="Sofia Sans"/>
                <a:cs typeface="Sofia Sans"/>
              </a:rPr>
              <a:t>57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D4A44-81C9-4F8A-B1A5-5BFA95DC87C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19050"/>
          </a:xfrm>
          <a:prstGeom prst="rect">
            <a:avLst/>
          </a:prstGeom>
          <a:solidFill>
            <a:srgbClr val="75BEE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245B64-C5FD-4251-BA42-19ED425B80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defRPr>
            </a:pPr>
            <a:r>
              <a:rPr sz="1050" b="0" i="0">
                <a:solidFill>
                  <a:srgbClr val="7E7E81"/>
                </a:solidFill>
                <a:latin typeface="Sofia Sans"/>
                <a:ea typeface="Sofia Sans"/>
                <a:cs typeface="Sofia Sans"/>
              </a:rPr>
              <a:t>Probability and Statistics for Artificial Intelligence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48850" y="6346569"/>
            <a:ext cx="1733550" cy="403738"/>
          </a:xfrm>
          <a:prstGeom prst="rect">
            <a:avLst/>
          </a:prstGeom>
        </p:spPr>
      </p:pic>
      <p:sp>
        <p:nvSpPr>
          <p:cNvPr id="34" name="enrichment-title">
            <a:extLst>
              <a:ext uri="{FF2B5EF4-FFF2-40B4-BE49-F238E27FC236}">
                <a16:creationId xmlns:a16="http://schemas.microsoft.com/office/drawing/2014/main" id="{B054DCC2-FF16-438D-BE42-001B18C0D6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 i="0">
                <a:solidFill>
                  <a:srgbClr val="003B7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3B70"/>
                </a:solidFill>
                <a:latin typeface="Arial"/>
                <a:ea typeface="Arial"/>
                <a:cs typeface="Arial"/>
              </a:rPr>
              <a:t>Optional Python · Show that a paired test tests differences</a:t>
            </a:r>
          </a:p>
        </p:txBody>
      </p:sp>
      <p:sp>
        <p:nvSpPr>
          <p:cNvPr id="35" name="badge-surface">
            <a:extLst>
              <a:ext uri="{FF2B5EF4-FFF2-40B4-BE49-F238E27FC236}">
                <a16:creationId xmlns:a16="http://schemas.microsoft.com/office/drawing/2014/main" id="{552E5B54-20D3-479E-9FAE-23A0FF8D84E1}"/>
              </a:ext>
            </a:extLst>
          </p:cNvPr>
          <p:cNvSpPr>
            <a:spLocks noGrp="1"/>
          </p:cNvSpPr>
          <p:nvPr/>
        </p:nvSpPr>
        <p:spPr>
          <a:xfrm>
            <a:off x="666750" y="1104900"/>
            <a:ext cx="2238375" cy="285750"/>
          </a:xfrm>
          <a:prstGeom prst="roundRect">
            <a:avLst>
              <a:gd name="adj" fmla="val 50000"/>
            </a:avLst>
          </a:prstGeom>
          <a:solidFill>
            <a:srgbClr val="F05A28"/>
          </a:solidFill>
          <a:ln w="0">
            <a:solidFill>
              <a:srgbClr val="F0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adge-label">
            <a:extLst>
              <a:ext uri="{FF2B5EF4-FFF2-40B4-BE49-F238E27FC236}">
                <a16:creationId xmlns:a16="http://schemas.microsoft.com/office/drawing/2014/main" id="{F27EA10D-ED99-480F-A7F7-1D3A1555E374}"/>
              </a:ext>
            </a:extLst>
          </p:cNvPr>
          <p:cNvSpPr>
            <a:spLocks noGrp="1"/>
          </p:cNvSpPr>
          <p:nvPr/>
        </p:nvSpPr>
        <p:spPr>
          <a:xfrm>
            <a:off x="742950" y="1123950"/>
            <a:ext cx="20859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PYTHON PRACTICE</a:t>
            </a:r>
          </a:p>
        </p:txBody>
      </p:sp>
      <p:sp>
        <p:nvSpPr>
          <p:cNvPr id="37" name="prompt-card">
            <a:extLst>
              <a:ext uri="{FF2B5EF4-FFF2-40B4-BE49-F238E27FC236}">
                <a16:creationId xmlns:a16="http://schemas.microsoft.com/office/drawing/2014/main" id="{3F99E6D1-5CD4-404E-94B0-907AEB80C064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839450" cy="1143000"/>
          </a:xfrm>
          <a:prstGeom prst="roundRect">
            <a:avLst>
              <a:gd name="adj" fmla="val 10000"/>
            </a:avLst>
          </a:prstGeom>
          <a:solidFill>
            <a:srgbClr val="FFF3E8"/>
          </a:solidFill>
          <a:ln w="9525">
            <a:solidFill>
              <a:srgbClr val="F4C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rompt-label">
            <a:extLst>
              <a:ext uri="{FF2B5EF4-FFF2-40B4-BE49-F238E27FC236}">
                <a16:creationId xmlns:a16="http://schemas.microsoft.com/office/drawing/2014/main" id="{0D6D07F2-19E5-4C37-8798-E7B56547C663}"/>
              </a:ext>
            </a:extLst>
          </p:cNvPr>
          <p:cNvSpPr>
            <a:spLocks noGrp="1"/>
          </p:cNvSpPr>
          <p:nvPr/>
        </p:nvSpPr>
        <p:spPr>
          <a:xfrm>
            <a:off x="895350" y="1657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39" name="prompt-copy">
            <a:extLst>
              <a:ext uri="{FF2B5EF4-FFF2-40B4-BE49-F238E27FC236}">
                <a16:creationId xmlns:a16="http://schemas.microsoft.com/office/drawing/2014/main" id="{44705707-F5ED-46A9-A459-4FFF679151CB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Using the phone and control arrays, verify the paired test another way; then compare it with a test that incorrectly treats the columns as independent.</a:t>
            </a:r>
          </a:p>
        </p:txBody>
      </p:sp>
      <p:sp>
        <p:nvSpPr>
          <p:cNvPr id="40" name="answer-label">
            <a:extLst>
              <a:ext uri="{FF2B5EF4-FFF2-40B4-BE49-F238E27FC236}">
                <a16:creationId xmlns:a16="http://schemas.microsoft.com/office/drawing/2014/main" id="{EFACEA84-5BC7-4DCE-882F-A674EE3ED8FD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5A9E3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A9E3F"/>
                </a:solidFill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41" name="answer-card">
            <a:extLst>
              <a:ext uri="{FF2B5EF4-FFF2-40B4-BE49-F238E27FC236}">
                <a16:creationId xmlns:a16="http://schemas.microsoft.com/office/drawing/2014/main" id="{6354DAFF-3D58-45B5-956A-B3B22D859403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0839450" cy="2381250"/>
          </a:xfrm>
          <a:prstGeom prst="roundRect">
            <a:avLst>
              <a:gd name="adj" fmla="val 4800"/>
            </a:avLst>
          </a:prstGeom>
          <a:solidFill>
            <a:srgbClr val="EAF6EE"/>
          </a:solidFill>
          <a:ln w="9525">
            <a:solidFill>
              <a:srgbClr val="B7D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answer-copy">
            <a:extLst>
              <a:ext uri="{FF2B5EF4-FFF2-40B4-BE49-F238E27FC236}">
                <a16:creationId xmlns:a16="http://schemas.microsoft.com/office/drawing/2014/main" id="{BF1AE33F-295C-4462-9D74-6F2A2676AF40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10287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Run ttest_1samp(phone−control, popmean=0).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Confirm that it matches ttest_rel exactly.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Run Welch’s ttest_ind and compare its p-value.</a:t>
            </a:r>
          </a:p>
          <a:p>
            <a:endParaRPr sz="1500" b="0" i="0">
              <a:solidFill>
                <a:srgbClr val="17324D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2000"/>
              </a:lnSpc>
              <a:buNone/>
              <a:defRPr sz="1500" b="0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Explain why the study design—not the smaller p-value—determines the test.</a:t>
            </a:r>
          </a:p>
        </p:txBody>
      </p:sp>
      <p:sp>
        <p:nvSpPr>
          <p:cNvPr id="43" name="visible-source">
            <a:extLst>
              <a:ext uri="{FF2B5EF4-FFF2-40B4-BE49-F238E27FC236}">
                <a16:creationId xmlns:a16="http://schemas.microsoft.com/office/drawing/2014/main" id="{61E9837E-A930-467F-8878-61371259AB5E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28575" rIns="38100" bIns="28575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0" i="1">
                <a:solidFill>
                  <a:srgbClr val="5E7184"/>
                </a:solidFill>
                <a:latin typeface="Arial"/>
                <a:ea typeface="Arial"/>
                <a:cs typeface="Arial"/>
              </a:defRPr>
            </a:pPr>
            <a:r>
              <a:rPr sz="900" b="0" i="1">
                <a:solidFill>
                  <a:srgbClr val="5E7184"/>
                </a:solidFill>
                <a:latin typeface="Arial"/>
                <a:ea typeface="Arial"/>
                <a:cs typeface="Arial"/>
              </a:rPr>
              <a:t>Source: Textbook Exercises 5.16, 5.52 · SciPy t-test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02681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University of San Diego 2026">
      <a:dk1>
        <a:srgbClr val="000000"/>
      </a:dk1>
      <a:lt1>
        <a:srgbClr val="FFFFFF"/>
      </a:lt1>
      <a:dk2>
        <a:srgbClr val="003B70"/>
      </a:dk2>
      <a:lt2>
        <a:srgbClr val="E9EAEC"/>
      </a:lt2>
      <a:accent1>
        <a:srgbClr val="003B70"/>
      </a:accent1>
      <a:accent2>
        <a:srgbClr val="0074C8"/>
      </a:accent2>
      <a:accent3>
        <a:srgbClr val="75BEE9"/>
      </a:accent3>
      <a:accent4>
        <a:srgbClr val="00A4B3"/>
      </a:accent4>
      <a:accent5>
        <a:srgbClr val="F2650D"/>
      </a:accent5>
      <a:accent6>
        <a:srgbClr val="6AA14A"/>
      </a:accent6>
      <a:hlink>
        <a:srgbClr val="0074C8"/>
      </a:hlink>
      <a:folHlink>
        <a:srgbClr val="5B3A8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iversity of San Diego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5730</Words>
  <Application>Microsoft Macintosh PowerPoint</Application>
  <DocSecurity>0</DocSecurity>
  <PresentationFormat>Widescreen</PresentationFormat>
  <Paragraphs>1206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Aptos Mono</vt:lpstr>
      <vt:lpstr>Arial</vt:lpstr>
      <vt:lpstr>Calibri</vt:lpstr>
      <vt:lpstr>Courier New</vt:lpstr>
      <vt:lpstr>Sofia Sans</vt:lpstr>
      <vt:lpstr>Sofia Sans Extra Condensed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/>
  <cp:keywords/>
  <dc:description/>
  <cp:lastModifiedBy>Daniel Smith</cp:lastModifiedBy>
  <cp:revision>1</cp:revision>
  <dcterms:created xsi:type="dcterms:W3CDTF">2026-09-07T20:51:48Z</dcterms:created>
  <dcterms:modified xsi:type="dcterms:W3CDTF">2026-09-14T20:08:41Z</dcterms:modified>
  <cp:category/>
</cp:coreProperties>
</file>