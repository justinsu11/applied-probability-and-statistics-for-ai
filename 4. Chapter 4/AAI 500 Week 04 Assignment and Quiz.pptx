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313" r:id="rId2"/>
    <p:sldId id="314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  <p:sldId id="352" r:id="rId41"/>
    <p:sldId id="353" r:id="rId42"/>
    <p:sldId id="354" r:id="rId43"/>
    <p:sldId id="355" r:id="rId44"/>
    <p:sldId id="356" r:id="rId45"/>
    <p:sldId id="357" r:id="rId46"/>
    <p:sldId id="358" r:id="rId47"/>
    <p:sldId id="359" r:id="rId48"/>
    <p:sldId id="360" r:id="rId49"/>
    <p:sldId id="361" r:id="rId50"/>
    <p:sldId id="36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03" d="100"/>
          <a:sy n="103" d="100"/>
        </p:scale>
        <p:origin x="2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Assignment 4.1 · Know every required deliverable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 MAP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8389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YOUR FINISH LINE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Complete nine exercises in Python, explain every inference, and submit one readable PDF or HTML file with name, date, code, output, and interpretation.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94683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CHECK THE SOURCE PROMPTS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4.1–4.31: simulation, likelihood, confidence intervals, and a housing report.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5.6–5.10: proportion evidence, Bayesian updating, and one- or two-mean tests.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5.23: create the seeded mock data, cross-tabulate, test, and interpret.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Python—not R—and title and label every graph you choose to include.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separate Assignment 4.2 prompt is not in the supplied Week 4 files.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4.1 · supplied IPYNB, HTML, and PDF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Build the notebook so a new reader can follow it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NOTEBOOK FUNDAMENTALS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ONE PROBLEM · ONE VISIBLE TRAIL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For every subpart, place a short Markdown plan before the code and a Markdown interpretation after the output. Run cells from top to bottom before export.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REPEAT THIS CELL PATTERN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Markdown: restate the target, hypotheses, units, and analysis direction.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Code: load or define data, calculate, diagnose, and display the needed output.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Markdown: interpret the estimate, interval or p-value, assumptions, and limits.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separate headings for 4.11(a)/(b), 4.14(a)/(b), 5.6(a)/(b), and 5.8(a)/(b).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Restart the kernel and run all; no stale variables, hidden errors, or blank outputs.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4.1 · Jupyter notebook workflow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Start with one reproducible Python setup cell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SETUP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316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Run imports once near the top, record package versions, and format estimates only when reporting—not during calculation.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numpy as np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matplotlib.pyplot as plt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from scipy import stats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print("NumPy:", np.__version__)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print("pandas:", pd.__version__)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SEED = 500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rng = np.random.default_rng(SEED)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def show2(x):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return f"{x:.2f}"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WHY THIS CELL MATTERS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recorded seed makes a simulation reproducible while preserving random variation.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Keep full precision in calculations; round only displayed estimates and interval limits.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Do not report a very small p-value as 0.00; use an inequality such as p &lt; .01.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Problem 5.23 is an exception: run its supplied legacy seed code unchanged.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NumPy · pandas · SciPy · Assignment 4.1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Load the three textbook files and verify their meaning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ACCESS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Use the official whitespace-delimited files. Inspect shape, columns, missingness, and coding before selecting any variable.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base = "https://stat4ds.rwth-aachen.de/data/"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students = pd.read_csv(base + "Students.dat", sep=r"\s+")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houses = pd.read_csv(base + "Houses.dat", sep=r"\s+")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sheep = pd.read_csv(base + "Sheep.dat", sep=r"\s+")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for name, df in {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"students": students,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"houses": houses,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"sheep": sheep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}.items():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print(name, df.shape, df.isna().sum().sum())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print(df.columns.tolist())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CODEBOOK FIRST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Students: gender 1=female, 0=male; tv is weekly hours; ideol uses 4=moderate.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Houses: price is thousands of dollars; new 1=yes and 0=no.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Sheep: weight is kilograms; survival 1=yes and 0=no.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If a URL is blocked, download the .dat file and upload it without editing its rows.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Official stat4ds data index · textbook Exercise 1.2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Use one inference workflow for every problem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SIX-STEP WORKFLOW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DESIGN BEFORE SOFTWARE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Name the target and study unit before choosing a method. Then calculate, diagnose, and write a claim whose scope matches the data-generating process.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THE REPEATABLE ROUTINE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1 · Define the population, parameter, outcome, groups, and direction of any difference.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2 · Inspect coding, missingness, distribution shape, outliers, and group sizes.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3 · Choose a method whose assumptions match the outcome and study design.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4 · Report estimate, uncertainty, test result, units, and practical importance.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5 · Rank limitations: design and independence usually matter more than normality.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Chapters 4–5 · Assignment 4.1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 · Compare precision on the sampling scale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 PLAN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 IS ASKING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Generate 100,000 samples of size 100 from N(0,1), compute each sample's midhinge, and compare its simulated SD with the theoretical SE of the sample mean.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TRANSLATE EACH OBJECT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midhinge is (Q1 + Q3)/2; calculate one value for every simulated sample.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Precision is sampling spread: a smaller SD or SE means a more precise estimator.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For the mean, theoretical SE is population SD divided by the square root of 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same sample rows for quartiles and means; set axis deliberately.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State the seed, quartile method, `ddof=1`, and a precision ratio in the write-up.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Exercise 4.1 · textbook sampling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 · Build the simulation without an answer key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8966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Complete the seed and interpretation yourself. This scaffold calculates the requested objects but intentionally displays no expected result.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rng = np.random.default_rng(TODO_SEED)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reps, n = 100_000, 100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samples = rng.normal(0, 1, size=(reps, n))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q1, q3 = np.quantile(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samples, [.25, .75], axis=1, method="linear"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midhinge = (q1 + q3) / 2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sim_sd = midhinge.std(ddof=1)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mean_se = 1 / np.sqrt(n)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precision_ratio = sim_sd / mean_se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print(sim_sd, mean_se, precision_ratio)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WHAT TO WRITE AFTER RUNNING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Confirm the array has 100,000 rows and 100 observations per row.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Explain which estimator has the smaller sampling spread and by how much.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Do not call quartiles unaffected by outliers; call them more resistant.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If memory fails, process batches and combine estimates before taking their SD.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4.1 · NumPy Generator and quantile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4.2 · Treat likelihood as a function of p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GEOMETRIC LIKELIHOOD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FIRST SUCCESS ON TRIAL y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Use the convention that Y counts the trial of the first success. Derive the likelihood for one observed y, then plot it over possible success probabilities.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DERIVE BEFORE PLOTTING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first success at y means y−1 failures followed by one success.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geometric likelihood is L(p | y) = (1−p)^(y−1) p for 0≤p≤1.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Parallel example: y=4 gives three failures, so L(p)=(1−p)^3 p.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Likelihood compares p values; it is not a probability distribution over p.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curve's peak is a useful check, even though the prompt does not ask for an MLE.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Exercise 4.2 · textbook §2.2.2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4.2 · Plot, label, and document the orphan part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LIKELIHOOD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2678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Fill the observed first-success trial, generate a dense p grid, and label both axes. The supplied 4.2(b) answer block has no question.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 = np.linspace(0, 1, 501)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y = TODO_FIRST_SUCCESS_TRIAL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likelihood = (1 - p) ** (y - 1) * p</a:t>
            </a:r>
          </a:p>
          <a:p>
            <a:endParaRPr sz="1013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plt.plot(p, likelihood, color="#0074C8")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plt.xlabel("Success probability p")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plt.ylabel("Likelihood L(p | y)")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plt.title("Geometric likelihood for the observed first success")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plt.grid(alpha=.25)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RELEASE CLARIFICATION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Explain why the curve is zero or small near incompatible parameter values.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Identify the peak from the graph as a reasonableness check without inventing a subpart.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All supplied formats include a blank 4.2(b) block but no 4.2(b) prompt.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Ask the instructor or document that no part (b) was supplied; do not fabricate one.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4.1 IPYNB, HTML, and PDF · Matplotlib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4.11 · A t interval inherits the mean's sensitivity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ONE-MEAN INTERVAL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TWO DATA VERSIONS · ONE METHOD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Construct a 95% t interval for the original ten TV values, replace the recorded 4 with 24, repeat, and explain how one outlier changes the analysis.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5837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CALCULATION AND ASSUMPTIONS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Calculate n, sample mean, sample SD, SE=s/√n, df=n−1, and the 95% t critical value.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Form mean ± critical×SE and interpret the target as a population mean.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With n=10, a roughly Normal population and no severe outlier matter for exact t inference.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Recompute every component after the replacement; do not change only the mean.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Investigate a recording error rather than silently deleting a surprising observation.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Exercise 4.11 · textbook mean intervals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4.11 · Practice the full recomputation safely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EXAMPLE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7109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Use this different eight-value example to rehearse the interval function. Then create the two assigned arrays and report their results yourself.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def mean_t_ci(x, level=.95):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x = np.asarray(x, dtype=float)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n = x.size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mean = x.mean()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se = x.std(ddof=1) / np.sqrt(n)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q = 1 - (1 - level) / 2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critical = stats.t.ppf(q, df=n - 1)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return mean, se, (mean-critical*se, mean+critical*se)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practice = np.array([1, 1, 2, 2, 3, 3, 4, 5])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changed = practice.copy(); changed[-1] = 15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print(mean_t_ci(practice))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print(mean_t_ci(changed))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TRANSFER TO THE ASSIGNMENT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Create separate arrays for 4.11(a) and 4.11(b); preserve the original data.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Round the displayed mean, SE, and endpoints only after calculating them.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Interpret the interval as compatible population means, not individual TV hours.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both center and width and state why the changed value matters.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Parallel example adapted to Assignment 4.11 · SciPy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4.14 · Audit Students before estimating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INSPECTION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Confirm the relevant columns, coding, missingness, group sizes, and distribution shape before constructing either interval.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cols = students[["gender", "tv"]].copy()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print(cols.head())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print(cols.dtypes)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print(cols.isna().sum())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print(cols["gender"].value_counts().sort_index())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print(cols.groupby("gender")["tv"].describe())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cols.boxplot(column="tv", by="gender")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plt.xlabel("Gender code: 0=male, 1=female")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plt.ylabel("Weekly TV hours")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plt.title("Weekly TV hours by gender")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plt.suptitle("")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WHAT THE AUDIT ESTABLISHES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Part (a) uses all 60 students; part (b) uses two independent coded groups.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Check the long upper tail and unusual values before trusting mean-based summaries.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corresponding population is this kind of class—not every university student.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boxplot is a diagnostic; it does not replace the requested numerical interval.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Students.dat · textbook Exercise 1.2 · Assignment 4.14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4.14(a) · Construct the one-mean interval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ONE-MEAN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4822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Apply the same t-interval components to all weekly TV values. Fill the interpretation only after you obtain and inspect your output.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tv = students["tv"].dropna().to_numpy(float)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 = tv.size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mean = tv.mean()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sd = tv.std(ddof=1)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se = sd / np.sqrt(n)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df = n - 1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critical = stats.t.ppf(.975, df)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ci = (mean - critical * se, mean + critical * se)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013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print({"n": n, "mean": mean, "sd": sd})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print({"se": se, "df": df, "ci": ci})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INTERPRET THE CORRECT TARGET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Name the population mean and keep weekly hours as the unit.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Describe the interval as a range of compatible population mean values.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Discuss independence and representativeness before distribution shape.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Note skew or outliers and explain why n helps but does not repair poor sampling.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Students.dat · Assignment 4.14(a) · SciPy t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4.14(b) · Define direction before Welch inference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TWO-MEAN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6778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Let the estimand be female minus male mean weekly TV hours. Welch's method avoids assuming equal population variances.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female = students.loc[students.gender == 1, "tv"].dropna()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male = students.loc[students.gender == 0, "tv"].dropna()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summary = pd.DataFrame({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"female": female.agg(["count", "mean", "std"]),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"male": male.agg(["count", "mean", "std"])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})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result = stats.ttest_ind(female, male, equal_var=False)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ci = result.confidence_interval(.95)</a:t>
            </a:r>
          </a:p>
          <a:p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print(summary)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print(result.statistic, result.pvalue, result.df)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print(ci)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REPORT FEMALE MINUS MALE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State the subtraction direction so the sign and interval have one meaning.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Report both group n, means, SDs, the mean difference, and its 95% CI.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An interval containing zero does not prove equal population means.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Rank convenience sampling and independence above the equal-variance concern.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Students.dat · Assignment 4.14(b) · SciPy Welch t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4.31 · Write a short report, not an output dump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HOUSING REPORT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039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UNADJUSTED NEW–OLDER COMPARISON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Compare selling prices for new and older Gainesville homes with descriptive and inferential evidence, then state assumptions and rank their practical importance.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FIVE REPORT PARAGRAPHS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Question and estimand: difference in mean selling price, new minus older, in $1,000s.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Data and EDA: group sizes, center, spread, shape, outliers, and labeled plots.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Inference: Welch mean difference, 95% CI, p-value, and practical magnitude.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Assumptions: sampling scope, independence, valid coding, skew, and unequal spread.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Limit: newness is confounded with size; the comparison is unadjusted and noncausal.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Houses.dat · Assignment Exercise 4.31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4.31 · Describe price before testing it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EDA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Use counts and robust summaries beside means and SDs. Plot both groups on the same price scale and label the units.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price_summary = houses.groupby("new")["price"].agg(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n="count", mean="mean", sd="std",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median="median", minimum="min", maximum="max"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print(price_summary)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houses.boxplot(column="price", by="new")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plt.xlabel("Home status: 0=older, 1=new")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plt.ylabel("Selling price ($1,000s)")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plt.title("Selling prices for new and older homes")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plt.suptitle("")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SHAPE AND IMBALANCE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medians with means to detect skew or influential high prices.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Call out the much smaller new-home group before choosing an inference method.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same y-axis for both groups; never compare separately rescaled plots.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Describe observations without deleting them merely because they are unusual.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Houses.dat · pandas groupby · Matplotlib boxplot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4.31 · Pair Welch inference with a confounding check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INFERENCE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1697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Estimate new minus older mean price with Welch's method. Inspect home size to explain why this remains an unadjusted association.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new_price = houses.loc[houses.new == 1, "price"]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old_price = houses.loc[houses.new == 0, "price"]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863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welch = stats.ttest_ind(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new_price, old_price, equal_var=False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price_ci = welch.confidence_interval(.95)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size_check = houses.groupby("new")["size"].agg(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["count", "mean", "median", "std"]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863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print(welch.statistic, welch.pvalue, welch.df)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print(price_ci)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print(size_check)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QUALIFY THE CLAIM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Report the mean difference and interval in thousands of dollars.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Welch handles unequal variance; it does not repair sampling bias or confounding.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size summaries because larger homes may be both newer and more expensive.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State association, not a causal price premium created by new construction.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Houses.dat · Assignment 4.31 · SciPy Welch t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5.6 · Separate victory evidence from poll size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ONE-PROPORTION TESTS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TWO STATES · TWO NULL MODELS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For each independent state poll, test H₀: π=.50 against Hₐ: π&gt;.50, then compare evidence—not merely sample proportions or sample sizes.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WRITE THE ARGUMENT FIRST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Define π separately as the Republican population proportion in each state.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alternative is one-sided and must be specified before inspecting the result.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null value .50 in the z-test standard error for textbook-style inference.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smaller p-value means greater incompatibility with that state's null model.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Random sampling, independent responses, and poll coverage drive generalizability.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Exercise 5.6(a) · textbook one-proportion tests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5.6(a) · Calculate z evidence and an exact sensitivity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FREQUENTIST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1897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Enter each state's counts. Use the null-based z test as the primary analysis and name the exact binomial result as a sensitivity check.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def one_sided_poll(x, n, p0=.50):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phat = x / n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null_se = np.sqrt(p0 * (1 - p0) / n)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z = (phat - p0) / null_se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p_z = stats.norm.sf(z)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p_exact = stats.binomtest(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x, n, p=p0, alternative="greater"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).pvalue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return phat, z, p_z, p_exact</a:t>
            </a:r>
          </a:p>
          <a:p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polls = {"A": TODO_STATE_A, "B": TODO_STATE_B}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for state, counts in polls.items():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print(state, one_sided_poll(*counts))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COMPARE LIKE WITH LIKE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Report which method supplies the primary p-value; exact and z values need not match.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same one-sided alternative for both states.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Explain evidence under H₀; never call the p-value P(H₀ is true).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Do not use this pair of tests as a direct test that the two states differ.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5.6(a) · SciPy norm and binomtest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5.6(b) · Update a Beta prior with poll counts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BAYESIAN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0916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A Beta(a,b) prior plus x successes in n trials gives Beta(a+x, b+n−x). Compute the requested posterior left-tail probability for each state.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prior_a, prior_b = 50, 50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def posterior_tail(x, n, cutoff=.50):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post_a = prior_a + x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post_b = prior_b + n - x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tail = stats.beta.cdf(cutoff, post_a, post_b)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interval = stats.beta.ppf(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[.025, .975], post_a, post_b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return post_a, post_b, tail, interval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for state, counts in polls.items():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print(state, posterior_tail(*counts))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UPDATE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Prior a behaves like prior successes; b behaves like prior failures.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same Beta(50,50) prior has more influence on the smaller poll.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P(π&lt;.50 | data) is a posterior probability, not a frequentist p-value.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Explain any change in state ranking through effect size, sample size, and shrinkage.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5.6(b) · SciPy Beta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5.6 · Compare frameworks without equating them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TWO QUESTIONS · TWO PROBABILITIES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Explain why the frequentist and Bayesian analyses may rank the states differently while each remains internally coherent under its own assumptions.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BUILD THE COMPARISON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Frequentist: How extreme is this sample if π=.50 and the sampling model holds?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Bayesian: After prior plus data, how much posterior mass remains below .50?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direction and strength; do not subtract a p-value from a posterior probability.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Explain prior shrinkage and sample-size influence, then discuss poll-design limitations.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Conclude about evidence—not certainty, guaranteed victory, or causal mechanisms.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5.6 · textbook Chapters 4–5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5.8(a) · Test mean ideology against moderate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ONE-SAMPLE T TEST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5934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Treat the 1–7 ideology score as quantitative for the requested mean analysis. Test the two-sided alternative and preserve the scale's meaning.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ideology = students["ideol"].dropna().to_numpy(float)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print(pd.Series(ideology).value_counts().sort_index())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print(pd.Series(ideology).describe())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result = stats.ttest_1samp(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ideology, popmean=4.0, alternative="two-sided"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print(result.statistic, result.pvalue, result.df)</a:t>
            </a:r>
          </a:p>
          <a:p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alpha = .05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decision = TODO_DECISION_FROM_P_VALUE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print(decision)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STATE THE MODELING CHOICE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H₀: μ=4; Hₐ: μ≠4. The word differs requires a two-sided test.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Treating an ordinal 1–7 score as equally spaced is an explicit assumption.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fail to reject—not accept—when p exceeds alpha.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Limit the population claim to students represented by this class sample.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Students.dat · Assignment 5.8(a) · SciPy ttest_1samp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5.8(b) · Make the test and interval tell one story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TEST–CI DUALITY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76561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MATCH THE METHOD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Construct the two-sided 95% t interval for μ and explain how inclusion or exclusion of the null value 4 aligns with the two-sided test at α=.05.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RELATE, THEN INTERPRET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same sample, t model, two-sided level, and parameter as in part (a).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Compute the interval manually or with result.confidence_interval(.95).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If 4 is outside the interval, the matching test rejects; if inside, it does not.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interval adds plausible magnitude and precision that a reject decision omits.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Interpret μ for the conceptual population, not the percentage of individual students.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5.8(b) · SciPy confidence_interval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5.10 · Compare baseline weight by later survival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BEFORE TEST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DEFINE THE CONCEPTUAL POPULATION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Use Sheep.dat to compare mean starting weight for sheep that survived one year versus those that did not, then interpret the t-test p-value.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PREPARE THE ANALYSIS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Outcome is weight in kg; group is survival 1=yes, 0=no; units are individual sheep.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Describe group n, means, SDs, medians, ranges, and side-by-side distributions.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surviving minus not surviving and label the direction before testing.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Welch's t test is a defensible default for independent groups with unequal spreads.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Association does not prove that heavier weight itself caused survival.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Sheep.dat · textbook Exercise 1.27 · Assignment 5.10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5.10 · Run Welch and report the effect in kg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SHEEP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0916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Summarize both groups, then estimate surviving minus not-surviving mean weight with a Welch t test and matching confidence interval.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groups = sheep.groupby("survival")["weight"]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print(groups.agg(["count", "mean", "std", "median"]))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survived = sheep.loc[sheep.survival == 1, "weight"]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not_survived = sheep.loc[sheep.survival == 0, "weight"]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result = stats.ttest_ind(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survived, not_survived, equal_var=False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ci = result.confidence_interval(.95)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938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print(result.statistic, result.pvalue, result.df)</a:t>
            </a:r>
          </a:p>
          <a:p>
            <a:pPr algn="l">
              <a:lnSpc>
                <a:spcPct val="92000"/>
              </a:lnSpc>
              <a:buNone/>
              <a:def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print(ci)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WRITE MORE THAN p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Report group summaries, signed mean difference, 95% CI, df, and p-value.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Interpret the p-value under equal population mean weights and the sampling model.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Large samples reduce normality concern but do not guarantee independent sheep.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State study scope, possible dependence, selection, and noncausal interpretation.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Sheep.dat · Assignment 5.10 · SciPy Welch t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5.23 · Preserve the supplied legacy random stream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SEEDED MOCK DATA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RUN THE STARTER CELL EXACTLY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supplied cell uses np.random.seed(2024) and legacy np.random calls. Run it unchanged so your df_ai matches the assignment's reproducible mock dataset.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3957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KNOW WHAT THE DATA CAN CLAIM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Do not replace the starter with default_rng; the generated rows and table will change.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required analysis uses only sentiment and gender; other columns are not subparts.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Sentiment and gender are generated independently from fixed marginal probabilities.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This synthetic sample does not measure real public opinion or support generalization.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result to practice sampling variation and chi-square reasoning.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5.23 starter cell · NumPy legacy random API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5.23(a–b) · Build the table, test, and expected counts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CHI-SQUARE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8341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After running the supplied starter cell, form observed counts and pass that table—not row percentages—to chi2_contingency.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table = pd.crosstab(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df_ai["sentiment"], df_ai["gender"]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chi2, p_value, dof, expected = stats.chi2_contingency(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table, correction=False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expected = pd.DataFrame(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expected, index=table.index, columns=table.columns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sz="863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print(table)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print(chi2, p_value, dof)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print(expected)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print("Expected below 5:", (expected &lt; 5).sum().sum())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MAP OUTPUT TO THE PROMPT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Part (a): report the observed contingency table with clear row and column labels.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Part (b): report chi-square, df, p-value, and the independence hypotheses.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Expected counts come from row total × column total ÷ grand total.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Inspect every expected count before trusting the asymptotic approximation.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5.23 · pandas crosstab · SciPy chi2_contingency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5.23(c) · Interpret with the sparse-category warning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CONCLUSION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THE p-VALUE IS ONLY ONE CHECK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Decide whether the synthetic sample provides evidence of association, then qualify the chi-square approximation and the limits of mock data.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94683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FOUR SENTENCES TO INCLUDE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State the decision at α=.05 using evidence language, not proof of independence.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Report that several expected counts in the Other column are below five.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Do not merge an identity category after seeing the result; note resampling as an option.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Describe association, not causation, and make no claim about real public attitudes.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Optional: inspect Pearson residuals or Cramér's V, clearly labeled as diagnostics.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5.23 · chi-square expected-count diagnostics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Export one clean PDF or HTML submission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QA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65289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RUN · RENDER · REOPEN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Restart and run every cell, export one PDF or HTML file, then reopen that exported file and inspect every page before submitting it in Canvas.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SUBMISSION READINESS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Name and date appear; every exercise and subpart has a visible heading and response.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Code runs top to bottom with no traceback, stale output, TODO, or missing dataset.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Every graph has a title, labeled axes, readable units, and an uncropped image.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Estimates use two decimals; very small p-values use an inequality instead of 0.00.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exported file opens, includes code/output/interpretation, and matches Canvas format.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4.1 submission instructions · Jupyter export workflow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00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 WALKTHROUGH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Week 4 team milestone · Choose and introduce the dataset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CHECK-IN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DUE BY THE END OF WEEK 4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team chooses and introduces its dataset; one team representative submits the Canvas status form. Exact form fields are in Canvas and were not supplied here.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99170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TEAM READINESS CHECKLIST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Topic: state one answerable question and why it matters to the intended audience.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Dataset: give source, unit of analysis, access status, scope, and ethical constraints.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Analysis: name the outcome and plausible descriptive or inferential methods.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People: assign representative, data, analysis, visualization, writing, and review roles.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Risks: flag missingness, bias, privacy, access, timing, and one immediate next action.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Canvas Week 4 team-project milestone · README guidance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Beginner coding lab · Make every inference reproducible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1858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HERE · ANSWER-SAFE SUPPORT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THE GOAL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Open a clean notebook, translate one prompt at a time, run code in order, and explain what each result can and cannot support.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USE THIS ROUTE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Open or create one Week 4 notebook and confirm its Python kernel.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Inspect data and define the parameter before choosing a function.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Calculate, check assumptions, and keep the effect direction visible.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Restart, run all, export, reopen, and inspect the final submission.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4.1 directions · Jupyter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89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Launch JupyterLab from the folder for your Week 4 work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JUPYTER · OPEN THE NOTEBOOK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7109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Put the downloaded assignment .ipynb in the Week 4 folder. Run the first commands in Terminal or Anaconda Prompt—not in a Python cell.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Terminal or Anaconda Prompt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cd PATH_TO_WEEK4_FOLDER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jupyter lab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In JupyterLab: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1. Open the supplied Assignment 4.1 .ipynb.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2. File &gt; Save As a named working copy.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3. Confirm the Python 3 kernel.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4. Run cells with Shift+Enter.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IF JUPYTER DOES NOT OPEN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Anaconda Navigator's JupyterLab Launch button if that is the supported route.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Open the local URL printed in the terminal if a browser tab does not appear.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Keep the terminal open while Jupyter is running; it hosts the local session.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Create a blank notebook only if the instructor confirms no template; use Colab only when permitted.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Project Jupyter installation and notebook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Markdown explains the work; code cells perform the work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JUPYTER · CELL WORKFLOW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ONE SUBPART · ONE VISIBLE TRAIL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 variable exists only after its creation cell runs. Use Markdown plan, code, output, and Markdown interpretation for every visible subpart.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SAFE RUN HABITS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Shift+Enter runs a cell; an empty execution count means it has not run.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Run top to bottom so imports, data, and variables exist before use.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separate headings for every lettered subpart and interpretation.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Before export, restart the kernel and run all cells successfully.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Jupyter Notebook workflow · Assignment 4.1 directions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If imports fail, install once and restart the kernel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· FIRST SETUP CELL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8184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Treat this as two cells. Run the temporary install cell only after ModuleNotFoundError, restart the kernel, and then run the clean import cell.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Temporary cell—only after ModuleNotFoundError: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%pip install numpy pandas matplotlib scipy statsmodels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STOP: restart the kernel.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New cell after restart: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numpy as np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matplotlib.pyplot as plt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scipy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from scipy import stats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statsmodels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print(np.__version__, pd.__version__, scipy.__version__)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SETUP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ModuleNotFoundError means the active kernel cannot see the named package.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Aliases such as np, pd, and plt are short names used by later cells.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Version output helps explain why two computers may behave differently.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Problem 5.23 is special: preserve its supplied legacy seed cell exactly.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IPython packaging magic · Python package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Read Python punctuation from left to right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· SYNTAX DECODER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9059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This harmless practice cell shows assignment, a method call, a named option, formatting, and comments without using assignment data.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values = np.array([2, 4, 7, 9], dtype=float)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mean_value = values.mean()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sample_sd = values.std(ddof=1)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print(f"Mean: {mean_value:.2f}")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print(f"Sample SD: {sample_sd:.2f}")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= stores; == compares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[] selects; () calls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# begins a comment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WHAT THE SYMBOLS MEAN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name on the left of = stores the value produced on the right.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Parentheses hold arguments; a keyword such as ddof changes an option.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Square brackets create a list or select rows and columns from data.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Retype plain quotes if pasted smart quotes produce a SyntaxError.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Python tutorial · NumPy statistics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Read the last traceback line before changing the analysis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4950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DEBUGGING · FIX THE FIRST ERROR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1697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After a DataFrame named df exists, print its location and structure. Make one small fix, rerun that cell, and then rerun dependent cells.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from pathlib import Path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print(Path.cwd())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print(df.columns.tolist())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print(df.dtypes)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print(df.isna().sum())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assert len(df) &gt; 0, "Data frame is empty"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COMMON ERROR CLUES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NameError: run the defining cell and check spelling and capitalization.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KeyError: compare the requested label with `df.columns.tolist()`.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FileNotFoundError: inspect the working folder, filename, and extension.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ValueError or TypeError: inspect shapes, dtypes, missingness, and arguments.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Python errors and exceptions · pandas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Load each textbook file and verify its structure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· LOAD BEFORE ANALYSIS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316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These are whitespace-delimited text files. If a URL is blocked, download the same file and upload it without editing its rows.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base = "https://stat4ds.rwth-aachen.de/data/"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students = pd.read_csv(base+"Students.dat", sep=r"\s+")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houses = pd.read_csv(base+"Houses.dat", sep=r"\s+")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sheep = pd.read_csv(base+"Sheep.dat", sep=r"\s+")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for name, frame in {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"students": students,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"houses": houses,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"sheep": sheep}.items():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print(name, frame.shape)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print(frame.columns.tolist())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print(frame.isna().sum().sum())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VERIFY BEFORE FILTERING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raw-string separator means one or more spaces or tabs separate columns.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Confirm one row's unit, column names, missingness, and binary coding.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Students gender coding is 0=male and 1=female; the key reverses labels.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Keep price in thousands of dollars and sheep weight in kilograms.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Official stat4ds files · pandas read_csv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 · Make rows represent repeated samples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43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 · ANSWER-SAFE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316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Enter the prompt settings yourself. The scaffold computes the requested objects but supplies no seed, result, or conclusion.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rng = np.random.default_rng(YOUR_SEED)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reps, n = YOUR_REPS, YOUR_N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samples = rng.normal(0, 1, size=(reps, n))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q1, q3 = np.quantile(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samples, [.25, .75], axis=1)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midhinge = (q1 + q3) / 2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sim_sd = midhinge.std(ddof=1)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mean_se = 1 / np.sqrt(n)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print(samples.shape)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print(sim_sd, mean_se)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ARRAY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Each row is one sample; axis=1 calculates one pair of quartiles per row.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SD of repeated estimates measures sampling precision.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theoretical mean SE uses model SD divided by the square root of 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Call the midhinge more resistant to outliers, not unaffected by them.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4.1 · NumPy Generator and quantile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4.2 · Plot likelihood across possible parameter values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43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LIKELIHOOD · ANSWER-SAFE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8091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Enter the observed first-success trial from the visible prompt. The grid evaluates possible p values but displays no expected peak or output.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observed_trial = YOUR_TRIAL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 = np.linspace(.001, .999, 500)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likelihood = (1-p)**(observed_trial-1) * p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plt.plot(p, likelihood)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plt.xlabel("Success probability p")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plt.ylabel("Likelihood L(p | observed trial)")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plt.title("Geometric likelihood")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plt.grid(alpha=.25)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TRANSLATE THE MODEL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First success on trial y means y-1 failures followed by one success.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Likelihood compares parameter values; it is not a probability distribution over p.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graph's shape as a check without inventing an unasked MLE subpart.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If a blank 4.2(b) appears, note no prompt was supplied and ask the instructor.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Visible Assignment 4.2 prompt · Matplotlib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4.11 · Preserve both data versions and recompute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7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ONE-MEAN INTERVAL · SCAFFOLD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5353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Create the assigned arrays yourself. The function derives df from n and recalculates every interval component after the recorded-value change.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def mean_t_ci(x, level=.95):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x = np.asarray(x, dtype=float)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n = x.size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mean = x.mean()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se = x.std(ddof=1) / np.sqrt(n)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q = 1 - (1-level)/2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critical = stats.t.ppf(q, df=n-1)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margin = critical * se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return mean, se, (mean-margin, mean+margin)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original = np.array(YOUR_ORIGINAL_VALUES, float)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print(list(enumerate(original)))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changed = original.copy()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changed[YOUR_ZERO_BASED_INDEX] = YOUR_REPLACEMENT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print(mean_t_ci(original), mean_t_ci(changed))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RECOMPUTE SAFELY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Python starts positions at 0; inspect enumerate(original), then use .copy() before replacing one value.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Recalculate mean, SD, SE, df, margin, and endpoints; do not change only the mean.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Interpret an interval for a population mean, not for individual TV hours.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center and width, then discuss the possible recording error.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4.11 · SciPy t distribution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4.14 · Verify coding and fix the difference direction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3658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DATA · ONE AND TWO MEANS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0916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This defines female minus male and uses Welch. Run it only after verifying columns, missingness, group sizes, and distribution shape.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tv = students["tv"].dropna().to_numpy(float)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all_ci = stats.t.interval(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.95, df=tv.size-1, loc=tv.mean(),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scale=stats.sem(tv))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female = students.loc[students.gender==1, "tv"].dropna()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male = students.loc[students.gender==0, "tv"].dropna()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result = stats.ttest_ind(female, male, equal_var=False)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difference = female.mean() - male.mean()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diff_ci = result.confidence_interval(.95)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print(all_ci, difference, diff_ci)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KEEP LABELS AND SIGNS ALIGNED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Official coding is 1=female and 0=male; the supplied key names them backward.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code defines female minus male, so the prose must use the same order.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Welch avoids an equal-variance assumption; the key's default interval is pooled.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null value inside the interval does not prove the group means are equal.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Students.dat codebook · SciPy and statsmodels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4.31 · Define new minus older before testing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43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HOUSES REPORT · FIVE-PART EVIDENCE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7109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The exported key displaces the 4.31 heading. Treat the later Houses prompt as 4.31 and preserve one signed contrast throughout the report.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analysis = houses[["new", "price"]].dropna()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summary = analysis.groupby("new")["price"].agg(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["count", "mean", "std", "median"])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new_price = analysis.loc[analysis.new==1, "price"]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old_price = analysis.loc[analysis.new==0, "price"]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result = stats.ttest_ind(new_price, old_price,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                 equal_var=False)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difference = new_price.mean() - old_price.mean()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interval = result.confidence_interval(.95)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print(summary)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print(difference, result.pvalue, interval)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WRITE FIVE PARTS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State new minus older mean price and keep units in thousands of dollars.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Report group n, mean, SD, median, and same-scale distribution plots.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Add the signed difference, interval, test, and practical magnitude.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Qualify independence, sampling scope, confounding, and noncausal interpretation.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4.31 Houses prompt · pandas and SciPy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5.6 · Keep p-values and posterior probabilities separate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9904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POLL EVIDENCE · TWO FRAMEWORKS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2678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Enter each state's prompt counts in separate calls. This function returns both frameworks but no counts, ranking, or final probability.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def poll_evidence(x, n, p0=.50, a=50, b=50):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phat = x / n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null_se = np.sqrt(p0*(1-p0)/n)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z = (phat-p0) / null_se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p_value = stats.norm.sf(z)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exact = stats.binomtest(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x, n, p=p0, alternative="greater").pvalue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post_a, post_b = a+x, b+n-x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below = stats.beta.cdf(p0, post_a, post_b)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return phat, z, p_value, exact, below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Call once for each state's prompt counts.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INTERPRET DIFFERENT QUESTIONS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p-value measures upper-tail extremeness under the null sampling model.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exact binomial result is a labeled sensitivity check, not the same calculation.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Beta tail is conditional on prior plus data; it is not a frequentist p-value.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Explain rankings through effect size, sample size, and prior shrinkage.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5.6 · SciPy Normal, binomial, and Beta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5.8 · Match the two-sided test and confidence interval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ONE-SAMPLE T · TEST-CI DUALITY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Use the benchmark stated in the prompt. No decision or output is supplied; derive both from your own clean run.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ideology = students["ideol"].dropna().to_numpy(float)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benchmark = 4.0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print(pd.Series(ideology).value_counts().sort_index())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print(pd.Series(ideology).describe())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result = stats.ttest_1samp(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ideology, popmean=benchmark,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alternative="two-sided")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interval = result.confidence_interval(.95)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print(result.statistic, result.pvalue, result.df)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print(interval)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MAKE ONE CONSISTENT CLAIM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word differs calls for a two-sided alternative.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sample estimate to describe direction after the two-sided test.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benchmark's interval inclusion should agree with the matching test.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Treating a 1-7 response as equally spaced is an explicit modeling choice.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5.8 · SciPy one-sample 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5.10 · Choose pooled or Welch once and label it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9304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SHEEP DATA · METHOD CONSISTENCY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6422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The deck uses Welch while the key uses pooled equal variance. This scaffold follows Welch; either needs a stated and consistent assumption.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survived = sheep.loc[sheep.survival==1, "weight"].dropna()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not_survived = sheep.loc[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sheep.survival==0, "weight"].dropna()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print(survived.describe())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print(not_survived.describe())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result = stats.ttest_ind(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survived, not_survived, equal_var=False)</a:t>
            </a: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difference = survived.mean() - not_survived.mean()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interval = result.confidence_interval(.95)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print(difference, result.statistic, result.pvalue)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print(result.df, interval)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REPORT MORE THAN p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Define surviving minus not-surviving mean starting weight in kilograms.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Keep the same group order and variance assumption in estimate, test, and interval.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Never round a tiny p-value to 0.00; use scientific notation or an inequality.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Initial weight association does not prove that weight caused survival.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5.10 · SciPy independent-samples 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5.23 · Test observed counts and inspect expected counts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68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CHI-SQUARE · SEEDED MOCK DATA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4372"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First run the assignment's supplied seed cell unchanged. Then pass observed counts, not percentages, to the test and inspect its approximation.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# Run the supplied df_ai seed cell unchanged first.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table = pd.crosstab(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df_ai["sentiment"], df_ai["gender"])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result = stats.chi2_contingency(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table, correction=False)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expected = pd.DataFrame(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result.expected_freq,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index=table.index, columns=table.columns)</a:t>
            </a:r>
          </a:p>
          <a:p>
            <a:pPr algn="l">
              <a:lnSpc>
                <a:spcPct val="92000"/>
              </a:lnSpc>
              <a:buNone/>
              <a:defRPr sz="86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20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print(table)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print(result.statistic, result.pvalue, result.dof)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print(expected)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print("Cells below 5:", (expected &lt; 5).sum().sum())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MAP OUTPUT TO THE PROMPT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Part (a) needs the labeled observed contingency table.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Part (b) needs hypotheses, chi-square, df, p-value, and expected-count checks.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Sparse expected counts weaken the asymptotic approximation; state that limit.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Do not merge an identity category after seeing the result or generalize mock data.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5.23 · pandas crosstab · SciPy chi-square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Write the interpretation only after your output appears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REPORTING · FILL-IN FRAMES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COMPLETE WITH YOUR RESULTS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Use these structures as sentence frames, not completed conclusions. Include units, direction, assumptions, and scope.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FOUR REPORTING FRAMES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CI: estimate [target] as ___ [units], with a ___% interval from ___ to ___.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Difference: define A-B, report ___ [units], and explain what its sign means.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Test: under H0 ___, report statistic, df when applicable, p, decision, and evidence wording.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Boundary: name the main design, independence, model, or generalization limit.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4.1 reporting directions · Module 4 lecture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Quiz clinic · Estimation and intervals without option letters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QUIZ ITEMS 1-5 · CONCEPT MAP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REASON FROM THE DEFINITION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Use each principle to evaluate the choices. No correct option, completed arithmetic, or keyed value is shown.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KNOW THESE DISTINCTIONS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MLE: maximize L or log L; derivative zero identifies an interior candidate, not an integral.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1-alpha is confidence level; higher confidence widens an interval, while larger n narrows it.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Finite-df t has heavier tails and approaches standard Normal as df grows.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`t.ppf(q, df)` inverts the CDF; loc and scale are optional defaults.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Module 4 quiz bank · SciPy t and ppf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Quiz clinic · Testing and association without keyed answers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7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QUIZ ITEMS 6-10 · CONCEPT MAP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KEEP THE CLAIMS SEPARATE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Identify the population claim, the null-model probability, and the possible error before judging an option.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7397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REJECT THESE MISCONCEPTIONS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hypothesis is a population claim; alpha is a long-run false-positive rate under H0.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At a stated alternative, power = 1-beta. Larger effect or n lowers beta; smaller alpha raises beta.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p-value assumes H0 and counts results at least as extreme, not P(H0 is true).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Chi-square tests association, not bias, harm, causation, fairness, or effect size.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Module 4 quiz bank · SciPy testing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50730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BEGINNER CODE &amp; QUIZ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Use official help pages and finish with a clean run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68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RESOURCES · FINAL SELF-CHECK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3368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BOOKMARK THESE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Jupyter: jupyter.org/install · Python: docs.python.org/3/tutorial · pandas: pandas.pydata.org/docs/getting_started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STATISTICS AND PLOTTING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NumPy simulation: numpy.org/doc/stable/reference/random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SciPy statistics: docs.scipy.org/doc/scipy/reference/stats.html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Matplotlib: matplotlib.org/stable/users/explain/quick_start.html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When asking for help, include the smallest failing cell and final traceback line.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Official Jupyter, Python, NumPy, pandas, SciPy, and Matplotlib guides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University of San Diego 2026">
      <a:dk1>
        <a:srgbClr val="000000"/>
      </a:dk1>
      <a:lt1>
        <a:srgbClr val="FFFFFF"/>
      </a:lt1>
      <a:dk2>
        <a:srgbClr val="003B70"/>
      </a:dk2>
      <a:lt2>
        <a:srgbClr val="E9EAEC"/>
      </a:lt2>
      <a:accent1>
        <a:srgbClr val="003B70"/>
      </a:accent1>
      <a:accent2>
        <a:srgbClr val="0074C8"/>
      </a:accent2>
      <a:accent3>
        <a:srgbClr val="75BEE9"/>
      </a:accent3>
      <a:accent4>
        <a:srgbClr val="00A4B3"/>
      </a:accent4>
      <a:accent5>
        <a:srgbClr val="F2650D"/>
      </a:accent5>
      <a:accent6>
        <a:srgbClr val="6AA14A"/>
      </a:accent6>
      <a:hlink>
        <a:srgbClr val="0074C8"/>
      </a:hlink>
      <a:folHlink>
        <a:srgbClr val="5B3A8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versity of San Diego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University of San Diego 2026">
      <a:dk1>
        <a:srgbClr val="000000"/>
      </a:dk1>
      <a:lt1>
        <a:srgbClr val="FFFFFF"/>
      </a:lt1>
      <a:dk2>
        <a:srgbClr val="003B70"/>
      </a:dk2>
      <a:lt2>
        <a:srgbClr val="E9EAEC"/>
      </a:lt2>
      <a:accent1>
        <a:srgbClr val="003B70"/>
      </a:accent1>
      <a:accent2>
        <a:srgbClr val="0074C8"/>
      </a:accent2>
      <a:accent3>
        <a:srgbClr val="75BEE9"/>
      </a:accent3>
      <a:accent4>
        <a:srgbClr val="00A4B3"/>
      </a:accent4>
      <a:accent5>
        <a:srgbClr val="F2650D"/>
      </a:accent5>
      <a:accent6>
        <a:srgbClr val="6AA14A"/>
      </a:accent6>
      <a:hlink>
        <a:srgbClr val="0074C8"/>
      </a:hlink>
      <a:folHlink>
        <a:srgbClr val="5B3A8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versity of San Diego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10113</Words>
  <Application>Microsoft Macintosh PowerPoint</Application>
  <DocSecurity>0</DocSecurity>
  <PresentationFormat>Widescreen</PresentationFormat>
  <Paragraphs>1759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 Mono</vt:lpstr>
      <vt:lpstr>Arial</vt:lpstr>
      <vt:lpstr>Calibri</vt:lpstr>
      <vt:lpstr>Sofia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/>
  <cp:keywords/>
  <dc:description/>
  <cp:lastModifiedBy>Daniel Smith</cp:lastModifiedBy>
  <cp:revision>1</cp:revision>
  <dcterms:created xsi:type="dcterms:W3CDTF">2026-09-07T20:51:48Z</dcterms:created>
  <dcterms:modified xsi:type="dcterms:W3CDTF">2026-09-14T20:09:10Z</dcterms:modified>
  <cp:category/>
</cp:coreProperties>
</file>