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3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rts/chart4.xml" ContentType="application/vnd.openxmlformats-officedocument.drawingml.chart+xml"/>
  <Override PartName="/ppt/notesSlides/notesSlide38.xml" ContentType="application/vnd.openxmlformats-officedocument.presentationml.notesSlide+xml"/>
  <Override PartName="/ppt/charts/chart5.xml" ContentType="application/vnd.openxmlformats-officedocument.drawingml.chart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75"/>
  </p:normalViewPr>
  <p:slideViewPr>
    <p:cSldViewPr snapToGrid="0">
      <p:cViewPr varScale="1">
        <p:scale>
          <a:sx n="126" d="100"/>
          <a:sy n="126" d="100"/>
        </p:scale>
        <p:origin x="23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Normal density</c:v>
          </c:tx>
          <c:spPr>
            <a:ln w="38100">
              <a:solidFill>
                <a:srgbClr val="75BEE9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3"/>
              <c:pt idx="0">
                <c:v>-3</c:v>
              </c:pt>
              <c:pt idx="1">
                <c:v>-2.5</c:v>
              </c:pt>
              <c:pt idx="2">
                <c:v>-2</c:v>
              </c:pt>
              <c:pt idx="3">
                <c:v>-1.5</c:v>
              </c:pt>
              <c:pt idx="4">
                <c:v>-1</c:v>
              </c:pt>
              <c:pt idx="5">
                <c:v>-0.5</c:v>
              </c:pt>
              <c:pt idx="6">
                <c:v>0</c:v>
              </c:pt>
              <c:pt idx="7">
                <c:v>0.5</c:v>
              </c:pt>
              <c:pt idx="8">
                <c:v>1</c:v>
              </c:pt>
              <c:pt idx="9">
                <c:v>1.5</c:v>
              </c:pt>
              <c:pt idx="10">
                <c:v>2</c:v>
              </c:pt>
              <c:pt idx="11">
                <c:v>2.5</c:v>
              </c:pt>
              <c:pt idx="12">
                <c:v>3</c:v>
              </c:pt>
            </c:numLit>
          </c:cat>
          <c:val>
            <c:numLit>
              <c:formatCode>General</c:formatCode>
              <c:ptCount val="13"/>
              <c:pt idx="0">
                <c:v>4.4000000000000003E-3</c:v>
              </c:pt>
              <c:pt idx="1">
                <c:v>1.7500000000000002E-2</c:v>
              </c:pt>
              <c:pt idx="2">
                <c:v>5.3999999999999999E-2</c:v>
              </c:pt>
              <c:pt idx="3">
                <c:v>0.1295</c:v>
              </c:pt>
              <c:pt idx="4">
                <c:v>0.24199999999999999</c:v>
              </c:pt>
              <c:pt idx="5">
                <c:v>0.35210000000000002</c:v>
              </c:pt>
              <c:pt idx="6">
                <c:v>0.39889999999999998</c:v>
              </c:pt>
              <c:pt idx="7">
                <c:v>0.35210000000000002</c:v>
              </c:pt>
              <c:pt idx="8">
                <c:v>0.24199999999999999</c:v>
              </c:pt>
              <c:pt idx="9">
                <c:v>0.1295</c:v>
              </c:pt>
              <c:pt idx="10">
                <c:v>5.3999999999999999E-2</c:v>
              </c:pt>
              <c:pt idx="11">
                <c:v>1.7500000000000002E-2</c:v>
              </c:pt>
              <c:pt idx="12">
                <c:v>4.4000000000000003E-3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CE94-0B41-BB8A-CD5C6922F8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v>Module assignments 55%</c:v>
          </c:tx>
          <c:spPr>
            <a:solidFill>
              <a:srgbClr val="003B70"/>
            </a:solidFill>
          </c:spPr>
          <c:invertIfNegative val="1"/>
          <c:cat>
            <c:strLit>
              <c:ptCount val="1"/>
              <c:pt idx="0">
                <c:v>Course grade</c:v>
              </c:pt>
            </c:strLit>
          </c:cat>
          <c:val>
            <c:numLit>
              <c:formatCode>General</c:formatCode>
              <c:ptCount val="1"/>
              <c:pt idx="0">
                <c:v>55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6CA-2744-89C2-21D75CDC9F17}"/>
            </c:ext>
          </c:extLst>
        </c:ser>
        <c:ser>
          <c:idx val="1"/>
          <c:order val="1"/>
          <c:tx>
            <c:v>Midterm exam 15%</c:v>
          </c:tx>
          <c:spPr>
            <a:solidFill>
              <a:srgbClr val="0074C8"/>
            </a:solidFill>
          </c:spPr>
          <c:invertIfNegative val="1"/>
          <c:cat>
            <c:strLit>
              <c:ptCount val="1"/>
              <c:pt idx="0">
                <c:v>Course grade</c:v>
              </c:pt>
            </c:strLit>
          </c:cat>
          <c:val>
            <c:numLit>
              <c:formatCode>General</c:formatCode>
              <c:ptCount val="1"/>
              <c:pt idx="0">
                <c:v>15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6CA-2744-89C2-21D75CDC9F17}"/>
            </c:ext>
          </c:extLst>
        </c:ser>
        <c:ser>
          <c:idx val="2"/>
          <c:order val="2"/>
          <c:tx>
            <c:v>Final project 17%</c:v>
          </c:tx>
          <c:spPr>
            <a:solidFill>
              <a:srgbClr val="00A4B3"/>
            </a:solidFill>
          </c:spPr>
          <c:invertIfNegative val="1"/>
          <c:cat>
            <c:strLit>
              <c:ptCount val="1"/>
              <c:pt idx="0">
                <c:v>Course grade</c:v>
              </c:pt>
            </c:strLit>
          </c:cat>
          <c:val>
            <c:numLit>
              <c:formatCode>General</c:formatCode>
              <c:ptCount val="1"/>
              <c:pt idx="0">
                <c:v>17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16CA-2744-89C2-21D75CDC9F17}"/>
            </c:ext>
          </c:extLst>
        </c:ser>
        <c:ser>
          <c:idx val="3"/>
          <c:order val="3"/>
          <c:tx>
            <c:v>Module quizzes 11%</c:v>
          </c:tx>
          <c:spPr>
            <a:solidFill>
              <a:srgbClr val="F2650D"/>
            </a:solidFill>
          </c:spPr>
          <c:invertIfNegative val="1"/>
          <c:cat>
            <c:strLit>
              <c:ptCount val="1"/>
              <c:pt idx="0">
                <c:v>Course grade</c:v>
              </c:pt>
            </c:strLit>
          </c:cat>
          <c:val>
            <c:numLit>
              <c:formatCode>General</c:formatCode>
              <c:ptCount val="1"/>
              <c:pt idx="0">
                <c:v>11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16CA-2744-89C2-21D75CDC9F17}"/>
            </c:ext>
          </c:extLst>
        </c:ser>
        <c:ser>
          <c:idx val="4"/>
          <c:order val="4"/>
          <c:tx>
            <c:v>Participation 2%</c:v>
          </c:tx>
          <c:spPr>
            <a:solidFill>
              <a:srgbClr val="F1BB55"/>
            </a:solidFill>
          </c:spPr>
          <c:invertIfNegative val="1"/>
          <c:cat>
            <c:strLit>
              <c:ptCount val="1"/>
              <c:pt idx="0">
                <c:v>Course grade</c:v>
              </c:pt>
            </c:strLit>
          </c:cat>
          <c:val>
            <c:numLit>
              <c:formatCode>General</c:formatCode>
              <c:ptCount val="1"/>
              <c:pt idx="0">
                <c:v>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16CA-2744-89C2-21D75CDC9F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17324D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Frequency</c:v>
          </c:tx>
          <c:spPr>
            <a:solidFill>
              <a:srgbClr val="0074C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003B7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20-29</c:v>
              </c:pt>
              <c:pt idx="1">
                <c:v>30-39</c:v>
              </c:pt>
              <c:pt idx="2">
                <c:v>40-49</c:v>
              </c:pt>
              <c:pt idx="3">
                <c:v>50-59</c:v>
              </c:pt>
            </c:strLit>
          </c:cat>
          <c:val>
            <c:numLit>
              <c:formatCode>General</c:formatCode>
              <c:ptCount val="4"/>
              <c:pt idx="0">
                <c:v>4</c:v>
              </c:pt>
              <c:pt idx="1">
                <c:v>2</c:v>
              </c:pt>
              <c:pt idx="2">
                <c:v>4</c:v>
              </c:pt>
              <c:pt idx="3">
                <c:v>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CBD-B245-B107-B3DFC91783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350" b="1">
                    <a:solidFill>
                      <a:srgbClr val="17324D"/>
                    </a:solidFill>
                  </a:rPr>
                  <a:t>Age interval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E9EAEC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324D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w="9525">
              <a:solidFill>
                <a:srgbClr val="E9EAEC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350" b="1">
                    <a:solidFill>
                      <a:srgbClr val="17324D"/>
                    </a:solidFill>
                  </a:rPr>
                  <a:t>Frequency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17324D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1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States / D.C.</c:v>
          </c:tx>
          <c:spPr>
            <a:ln w="0">
              <a:solidFill>
                <a:srgbClr val="FFFFFF">
                  <a:alpha val="0"/>
                </a:srgbClr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FFFFFF">
                  <a:alpha val="0"/>
                </a:srgbClr>
              </a:solidFill>
            </c:spPr>
          </c:marker>
          <c:xVal>
            <c:numLit>
              <c:formatCode>General</c:formatCode>
              <c:ptCount val="51"/>
              <c:pt idx="0">
                <c:v>60.6</c:v>
              </c:pt>
              <c:pt idx="1">
                <c:v>57.2</c:v>
              </c:pt>
              <c:pt idx="2">
                <c:v>58.3</c:v>
              </c:pt>
              <c:pt idx="3">
                <c:v>36.200000000000003</c:v>
              </c:pt>
              <c:pt idx="4">
                <c:v>19.5</c:v>
              </c:pt>
              <c:pt idx="5">
                <c:v>34.5</c:v>
              </c:pt>
              <c:pt idx="6">
                <c:v>16.2</c:v>
              </c:pt>
              <c:pt idx="7">
                <c:v>5.2</c:v>
              </c:pt>
              <c:pt idx="8">
                <c:v>26.7</c:v>
              </c:pt>
              <c:pt idx="9">
                <c:v>26</c:v>
              </c:pt>
              <c:pt idx="10">
                <c:v>41</c:v>
              </c:pt>
              <c:pt idx="11">
                <c:v>9.6999999999999993</c:v>
              </c:pt>
              <c:pt idx="12">
                <c:v>56.8</c:v>
              </c:pt>
              <c:pt idx="13">
                <c:v>19.7</c:v>
              </c:pt>
              <c:pt idx="14">
                <c:v>39</c:v>
              </c:pt>
              <c:pt idx="15">
                <c:v>44</c:v>
              </c:pt>
              <c:pt idx="16">
                <c:v>43.7</c:v>
              </c:pt>
              <c:pt idx="17">
                <c:v>48</c:v>
              </c:pt>
              <c:pt idx="18">
                <c:v>45.6</c:v>
              </c:pt>
              <c:pt idx="19">
                <c:v>19.5</c:v>
              </c:pt>
              <c:pt idx="20">
                <c:v>12.8</c:v>
              </c:pt>
              <c:pt idx="21">
                <c:v>41.1</c:v>
              </c:pt>
              <c:pt idx="22">
                <c:v>40.299999999999997</c:v>
              </c:pt>
              <c:pt idx="23">
                <c:v>44.7</c:v>
              </c:pt>
              <c:pt idx="24">
                <c:v>45.4</c:v>
              </c:pt>
              <c:pt idx="25">
                <c:v>54.3</c:v>
              </c:pt>
              <c:pt idx="26">
                <c:v>61.4</c:v>
              </c:pt>
              <c:pt idx="27">
                <c:v>42.1</c:v>
              </c:pt>
              <c:pt idx="28">
                <c:v>40.799999999999997</c:v>
              </c:pt>
              <c:pt idx="29">
                <c:v>54.3</c:v>
              </c:pt>
              <c:pt idx="30">
                <c:v>30.5</c:v>
              </c:pt>
              <c:pt idx="31">
                <c:v>11.3</c:v>
              </c:pt>
              <c:pt idx="32">
                <c:v>39.6</c:v>
              </c:pt>
              <c:pt idx="33">
                <c:v>31.5</c:v>
              </c:pt>
              <c:pt idx="34">
                <c:v>18.100000000000001</c:v>
              </c:pt>
              <c:pt idx="35">
                <c:v>32.1</c:v>
              </c:pt>
              <c:pt idx="36">
                <c:v>44.6</c:v>
              </c:pt>
              <c:pt idx="37">
                <c:v>39.799999999999997</c:v>
              </c:pt>
              <c:pt idx="38">
                <c:v>36.5</c:v>
              </c:pt>
              <c:pt idx="39">
                <c:v>13.3</c:v>
              </c:pt>
              <c:pt idx="40">
                <c:v>45</c:v>
              </c:pt>
              <c:pt idx="41">
                <c:v>59.9</c:v>
              </c:pt>
              <c:pt idx="42">
                <c:v>46.4</c:v>
              </c:pt>
              <c:pt idx="43">
                <c:v>35.9</c:v>
              </c:pt>
              <c:pt idx="44">
                <c:v>45.3</c:v>
              </c:pt>
              <c:pt idx="45">
                <c:v>35.9</c:v>
              </c:pt>
              <c:pt idx="46">
                <c:v>45.5</c:v>
              </c:pt>
              <c:pt idx="47">
                <c:v>36.200000000000003</c:v>
              </c:pt>
              <c:pt idx="48">
                <c:v>44.3</c:v>
              </c:pt>
              <c:pt idx="49">
                <c:v>57.9</c:v>
              </c:pt>
              <c:pt idx="50">
                <c:v>62.8</c:v>
              </c:pt>
            </c:numLit>
          </c:xVal>
          <c:yVal>
            <c:numLit>
              <c:formatCode>General</c:formatCode>
              <c:ptCount val="51"/>
              <c:pt idx="0">
                <c:v>23.3</c:v>
              </c:pt>
              <c:pt idx="1">
                <c:v>14.9</c:v>
              </c:pt>
              <c:pt idx="2">
                <c:v>17.399999999999999</c:v>
              </c:pt>
              <c:pt idx="3">
                <c:v>17.600000000000001</c:v>
              </c:pt>
              <c:pt idx="4">
                <c:v>10.5</c:v>
              </c:pt>
              <c:pt idx="5">
                <c:v>19.100000000000001</c:v>
              </c:pt>
              <c:pt idx="6">
                <c:v>9.1999999999999993</c:v>
              </c:pt>
              <c:pt idx="7">
                <c:v>5.9</c:v>
              </c:pt>
              <c:pt idx="8">
                <c:v>13.2</c:v>
              </c:pt>
              <c:pt idx="9">
                <c:v>15</c:v>
              </c:pt>
              <c:pt idx="10">
                <c:v>12.1</c:v>
              </c:pt>
              <c:pt idx="11">
                <c:v>12.2</c:v>
              </c:pt>
              <c:pt idx="12">
                <c:v>19.100000000000001</c:v>
              </c:pt>
              <c:pt idx="13">
                <c:v>10.3</c:v>
              </c:pt>
              <c:pt idx="14">
                <c:v>14.4</c:v>
              </c:pt>
              <c:pt idx="15">
                <c:v>14.5</c:v>
              </c:pt>
              <c:pt idx="16">
                <c:v>14.7</c:v>
              </c:pt>
              <c:pt idx="17">
                <c:v>15.9</c:v>
              </c:pt>
              <c:pt idx="18">
                <c:v>12.6</c:v>
              </c:pt>
              <c:pt idx="19">
                <c:v>10.5</c:v>
              </c:pt>
              <c:pt idx="20">
                <c:v>8.5</c:v>
              </c:pt>
              <c:pt idx="21">
                <c:v>18.399999999999999</c:v>
              </c:pt>
              <c:pt idx="22">
                <c:v>13.1</c:v>
              </c:pt>
              <c:pt idx="23">
                <c:v>12.5</c:v>
              </c:pt>
              <c:pt idx="24">
                <c:v>15.9</c:v>
              </c:pt>
              <c:pt idx="25">
                <c:v>13</c:v>
              </c:pt>
              <c:pt idx="26">
                <c:v>23.9</c:v>
              </c:pt>
              <c:pt idx="27">
                <c:v>11.8</c:v>
              </c:pt>
              <c:pt idx="28">
                <c:v>13</c:v>
              </c:pt>
              <c:pt idx="29">
                <c:v>17.7</c:v>
              </c:pt>
              <c:pt idx="30">
                <c:v>14</c:v>
              </c:pt>
              <c:pt idx="31">
                <c:v>8.5</c:v>
              </c:pt>
              <c:pt idx="32">
                <c:v>20.7</c:v>
              </c:pt>
              <c:pt idx="33">
                <c:v>19.399999999999999</c:v>
              </c:pt>
              <c:pt idx="34">
                <c:v>8.6</c:v>
              </c:pt>
              <c:pt idx="35">
                <c:v>13.2</c:v>
              </c:pt>
              <c:pt idx="36">
                <c:v>17.3</c:v>
              </c:pt>
              <c:pt idx="37">
                <c:v>17.8</c:v>
              </c:pt>
              <c:pt idx="38">
                <c:v>14</c:v>
              </c:pt>
              <c:pt idx="39">
                <c:v>12.6</c:v>
              </c:pt>
              <c:pt idx="40">
                <c:v>14.6</c:v>
              </c:pt>
              <c:pt idx="41">
                <c:v>17.399999999999999</c:v>
              </c:pt>
              <c:pt idx="42">
                <c:v>15.9</c:v>
              </c:pt>
              <c:pt idx="43">
                <c:v>11.6</c:v>
              </c:pt>
              <c:pt idx="44">
                <c:v>20</c:v>
              </c:pt>
              <c:pt idx="45">
                <c:v>13</c:v>
              </c:pt>
              <c:pt idx="46">
                <c:v>17.899999999999999</c:v>
              </c:pt>
              <c:pt idx="47">
                <c:v>14.7</c:v>
              </c:pt>
              <c:pt idx="48">
                <c:v>14.8</c:v>
              </c:pt>
              <c:pt idx="49">
                <c:v>17.399999999999999</c:v>
              </c:pt>
              <c:pt idx="50">
                <c:v>22.1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5768-574C-A3B9-296AFDA62825}"/>
            </c:ext>
          </c:extLst>
        </c:ser>
        <c:ser>
          <c:idx val="1"/>
          <c:order val="1"/>
          <c:tx>
            <c:v>Fitted line</c:v>
          </c:tx>
          <c:spPr>
            <a:ln w="28575">
              <a:solidFill>
                <a:srgbClr val="F05A28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5</c:v>
              </c:pt>
              <c:pt idx="1">
                <c:v>65</c:v>
              </c:pt>
            </c:numLit>
          </c:xVal>
          <c:yVal>
            <c:numLit>
              <c:formatCode>General</c:formatCode>
              <c:ptCount val="2"/>
              <c:pt idx="0">
                <c:v>8.3579050000000006</c:v>
              </c:pt>
              <c:pt idx="1">
                <c:v>19.971805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5768-574C-A3B9-296AFDA628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26"/>
          <c:min val="4"/>
        </c:scaling>
        <c:delete val="0"/>
        <c:axPos val="l"/>
        <c:majorGridlines>
          <c:spPr>
            <a:ln w="9525">
              <a:solidFill>
                <a:srgbClr val="DCE6EE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t>Suicides per 100,000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E7184"/>
                </a:solidFill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7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t>Gun ownership (%)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E7184"/>
                </a:solidFill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FFFFF"/>
        </a:solidFill>
        <a:ln w="9525">
          <a:solidFill>
            <a:srgbClr val="DCE6EE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5E7184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>
        <a:alpha val="0"/>
      </a:srgbClr>
    </a:solidFill>
    <a:ln w="0">
      <a:solidFill>
        <a:srgbClr val="FFFFFF">
          <a:alpha val="0"/>
        </a:srgbClr>
      </a:solidFill>
      <a:prstDash val="solid"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v>Democrat</c:v>
          </c:tx>
          <c:spPr>
            <a:solidFill>
              <a:srgbClr val="0076A8"/>
            </a:solidFill>
          </c:spPr>
          <c:invertIfNegative val="1"/>
          <c:cat>
            <c:strLit>
              <c:ptCount val="3"/>
              <c:pt idx="0">
                <c:v>Black (n=376)</c:v>
              </c:pt>
              <c:pt idx="1">
                <c:v>Other (n=253)</c:v>
              </c:pt>
              <c:pt idx="2">
                <c:v>White (n=1,609)</c:v>
              </c:pt>
            </c:strLit>
          </c:cat>
          <c:val>
            <c:numLit>
              <c:formatCode>General</c:formatCode>
              <c:ptCount val="3"/>
              <c:pt idx="0">
                <c:v>74.7</c:v>
              </c:pt>
              <c:pt idx="1">
                <c:v>49</c:v>
              </c:pt>
              <c:pt idx="2">
                <c:v>39.299999999999997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D3A-F44C-9FAB-84E3A9A3E753}"/>
            </c:ext>
          </c:extLst>
        </c:ser>
        <c:ser>
          <c:idx val="1"/>
          <c:order val="1"/>
          <c:tx>
            <c:v>Independent</c:v>
          </c:tx>
          <c:spPr>
            <a:solidFill>
              <a:srgbClr val="00A6A6"/>
            </a:solidFill>
          </c:spPr>
          <c:invertIfNegative val="1"/>
          <c:cat>
            <c:strLit>
              <c:ptCount val="3"/>
              <c:pt idx="0">
                <c:v>Black (n=376)</c:v>
              </c:pt>
              <c:pt idx="1">
                <c:v>Other (n=253)</c:v>
              </c:pt>
              <c:pt idx="2">
                <c:v>White (n=1,609)</c:v>
              </c:pt>
            </c:strLit>
          </c:cat>
          <c:val>
            <c:numLit>
              <c:formatCode>General</c:formatCode>
              <c:ptCount val="3"/>
              <c:pt idx="0">
                <c:v>17.3</c:v>
              </c:pt>
              <c:pt idx="1">
                <c:v>30.4</c:v>
              </c:pt>
              <c:pt idx="2">
                <c:v>16.899999999999999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D3A-F44C-9FAB-84E3A9A3E753}"/>
            </c:ext>
          </c:extLst>
        </c:ser>
        <c:ser>
          <c:idx val="2"/>
          <c:order val="2"/>
          <c:tx>
            <c:v>Republican</c:v>
          </c:tx>
          <c:spPr>
            <a:solidFill>
              <a:srgbClr val="F05A28"/>
            </a:solidFill>
          </c:spPr>
          <c:invertIfNegative val="1"/>
          <c:cat>
            <c:strLit>
              <c:ptCount val="3"/>
              <c:pt idx="0">
                <c:v>Black (n=376)</c:v>
              </c:pt>
              <c:pt idx="1">
                <c:v>Other (n=253)</c:v>
              </c:pt>
              <c:pt idx="2">
                <c:v>White (n=1,609)</c:v>
              </c:pt>
            </c:strLit>
          </c:cat>
          <c:val>
            <c:numLit>
              <c:formatCode>General</c:formatCode>
              <c:ptCount val="3"/>
              <c:pt idx="0">
                <c:v>8</c:v>
              </c:pt>
              <c:pt idx="1">
                <c:v>20.6</c:v>
              </c:pt>
              <c:pt idx="2">
                <c:v>43.8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6D3A-F44C-9FAB-84E3A9A3E7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CE6EE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t>Conditional percentage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E7184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E7184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DCE6EE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5E7184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>
        <a:alpha val="0"/>
      </a:srgbClr>
    </a:solidFill>
    <a:ln w="0">
      <a:solidFill>
        <a:srgbClr val="FFFFFF">
          <a:alpha val="0"/>
        </a:srgbClr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Agresti et al., §1.5.1, Figure 1.7. https://studylib.net/doc/27736445/agresti-a-et-al-foundations-of-statistics-for-data-scientist</a:t>
            </a:r>
          </a:p>
          <a:p>
            <a:r>
              <a:t>- Official data: https://stat4ds.rwth-aachen.de/data/Guns_Suicide.dat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Agresti et al., §1.5.2, Table 1.1. https://studylib.net/doc/27736445/agresti-a-et-al-foundations-of-statistics-for-data-scientist</a:t>
            </a:r>
          </a:p>
          <a:p>
            <a:r>
              <a:t>- Official data: https://stat4ds.rwth-aachen.de/data/PartyID.dat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Agresti et al., Exercise 1.1. https://studylib.net/doc/27736445/agresti-a-et-al-foundations-of-statistics-for-data-scientist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Agresti et al., Exercise 1.13. https://studylib.net/doc/27736445/agresti-a-et-al-foundations-of-statistics-for-data-scientist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Agresti et al., Exercise 1.14. https://studylib.net/doc/27736445/agresti-a-et-al-foundations-of-statistics-for-data-scientist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Python Appendix B0.2 and B1.2.2. https://stat4ds.rwth-aachen.de/pdf/DS_Python_webAppendix.pdf</a:t>
            </a:r>
          </a:p>
          <a:p>
            <a:r>
              <a:t>- Official data: https://stat4ds.rwth-aachen.de/data/Murder2.dat</a:t>
            </a:r>
          </a:p>
          <a:p>
            <a:r>
              <a:t>- pandas groupby: https://pandas.pydata.org/docs/reference/api/pandas.DataFrame.groupby.html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Agresti et al., §§1.2 and 1.4. https://studylib.net/doc/27736445/agresti-a-et-al-foundations-of-statistics-for-data-scientist</a:t>
            </a:r>
          </a:p>
          <a:p>
            <a:r>
              <a:t>- Python Appendix B0.2 and B1.2. https://stat4ds.rwth-aachen.de/pdf/DS_Python_webAppendix.pdf</a:t>
            </a:r>
          </a:p>
          <a:p>
            <a:r>
              <a:t>- pandas duplicated: https://pandas.pydata.org/docs/reference/api/pandas.DataFrame.duplicated.html</a:t>
            </a:r>
          </a:p>
          <a:p>
            <a:r>
              <a:t>- pandas drop_duplicates: https://pandas.pydata.org/docs/reference/api/pandas.DataFrame.drop_duplicates.html</a:t>
            </a:r>
          </a:p>
          <a:p>
            <a:r>
              <a:t>- pandas dropna: https://pandas.pydata.org/docs/reference/api/pandas.DataFrame.dropna.html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Instructor solution</a:t>
            </a:r>
          </a:p>
          <a:p>
            <a:r>
              <a:t>counts = pd.DataFrame({"Correct":[42,30], "Error":[8,20]}, index=["A","B"])</a:t>
            </a:r>
          </a:p>
          <a:p>
            <a:r>
              <a:t>pct = counts.div(counts.sum(axis=1), axis=0).mul(100)</a:t>
            </a:r>
          </a:p>
          <a:p>
            <a:r>
              <a:t>pct["Error"].plot.bar(ylim=(0,50), ylabel="Error rate (%)", rot=0)</a:t>
            </a:r>
          </a:p>
          <a:p>
            <a:endParaRPr/>
          </a:p>
          <a:p>
            <a:r>
              <a:t>Error rates: A=16%, B=40%; difference B−A=24 percentage points.</a:t>
            </a:r>
          </a:p>
          <a:p>
            <a:r>
              <a:t>Comparable prompt difficulty or random assignment is needed before attributing the difference to the model.</a:t>
            </a:r>
          </a:p>
          <a:p>
            <a:endParaRPr/>
          </a:p>
          <a:p>
            <a:r>
              <a:t>[Sources]</a:t>
            </a:r>
          </a:p>
          <a:p>
            <a:r>
              <a:t>- Agresti et al., §§1.3.5 and 1.5.2. https://studylib.net/doc/27736445/agresti-a-et-al-foundations-of-statistics-for-data-scientist</a:t>
            </a:r>
          </a:p>
          <a:p>
            <a:r>
              <a:t>- pandas DataFrame.div: https://pandas.pydata.org/docs/reference/api/pandas.DataFrame.div.html</a:t>
            </a:r>
          </a:p>
          <a:p>
            <a:r>
              <a:t>- pandas bar plots: https://pandas.pydata.org/docs/reference/api/pandas.DataFrame.plot.bar.html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1 minute</a:t>
            </a:r>
          </a:p>
          <a:p>
            <a:endParaRPr/>
          </a:p>
          <a:p>
            <a:r>
              <a:t>Instructor prompt: Explain that this section demonstrates process on different data and leaves every assignment result to students.</a:t>
            </a:r>
          </a:p>
          <a:p>
            <a:r>
              <a:t>Student action: Open a personal copy of the notebook and locate Problem 1.1.</a:t>
            </a:r>
          </a:p>
          <a:p>
            <a:r>
              <a:t>Likely misconception: A parallel exemplar is not permission to copy words or numbers into the assignment.</a:t>
            </a:r>
          </a:p>
          <a:p>
            <a:r>
              <a:t>Check for understanding: Ask students to name the three things they must produce: method, evidence, and interpretation.</a:t>
            </a:r>
          </a:p>
          <a:p>
            <a:r>
              <a:t>Integrity boundary: The unchanged source deck predates this walkthrough and may overlap with assigned examples. Use the new section as a method guide and require students to produce their own results and interpretations.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AAI_500_M1_Assignment (1).ipynb and .html</a:t>
            </a:r>
          </a:p>
          <a:p>
            <a:r>
              <a:t>- User-provided Canvas screenshot: Screenshot 2026-08-27 at 15.29.50.png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4 minutes</a:t>
            </a:r>
          </a:p>
          <a:p>
            <a:endParaRPr/>
          </a:p>
          <a:p>
            <a:r>
              <a:t>Instructor prompt: Model the six-step loop aloud using a neutral question before students touch assignment data.</a:t>
            </a:r>
          </a:p>
          <a:p>
            <a:r>
              <a:t>Student action: Annotate one coding prompt with the six verbs in the notebook margin.</a:t>
            </a:r>
          </a:p>
          <a:p>
            <a:r>
              <a:t>Likely misconception: Successful execution is not the same as a complete statistical answer.</a:t>
            </a:r>
          </a:p>
          <a:p>
            <a:r>
              <a:t>Check for understanding: Which step catches a file that loaded into one malformed column?</a:t>
            </a:r>
          </a:p>
          <a:p>
            <a:r>
              <a:t>Integrity boundary: Do not display, calculate, or state an assignment-specific numeric result or conclusion on this slide.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AAI_500_M1_Assignment (1).ipynb and .html</a:t>
            </a:r>
          </a:p>
          <a:p>
            <a:r>
              <a:t>- User-provided Canvas screenshot: Screenshot 2026-08-27 at 15.29.50.png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 minutes</a:t>
            </a:r>
          </a:p>
          <a:p>
            <a:endParaRPr/>
          </a:p>
          <a:p>
            <a:r>
              <a:t>Instructor prompt: Ask who or what contributes one row before asking about the sample or population.</a:t>
            </a:r>
          </a:p>
          <a:p>
            <a:r>
              <a:t>Student action: Complete a three-row subject/sample/population table privately for Problem 1.1.</a:t>
            </a:r>
          </a:p>
          <a:p>
            <a:r>
              <a:t>Likely misconception: The subject is not the candidate, the poll, or a percentage.</a:t>
            </a:r>
          </a:p>
          <a:p>
            <a:r>
              <a:t>Check for understanding: Can a sample and population be described without any numbers? Why?</a:t>
            </a:r>
          </a:p>
          <a:p>
            <a:r>
              <a:t>Integrity boundary: Use only the transit-survey wording in the discussion; do not state the election-study answer.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AAI_500_M1_Assignment (1).ipynb and 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 minutes</a:t>
            </a:r>
          </a:p>
          <a:p>
            <a:endParaRPr/>
          </a:p>
          <a:p>
            <a:r>
              <a:t>Instructor prompt: Run the scaffold only after students paste the URL; pause after each verification command.</a:t>
            </a:r>
          </a:p>
          <a:p>
            <a:r>
              <a:t>Student action: Load Students.dat and confirm structure without sharing any analytical result.</a:t>
            </a:r>
          </a:p>
          <a:p>
            <a:r>
              <a:t>Likely misconception: Seeing a DataFrame on screen does not prove the delimiter or columns were parsed correctly.</a:t>
            </a:r>
          </a:p>
          <a:p>
            <a:r>
              <a:t>Check for understanding: What visual symptom would suggest the whitespace separator was wrong?</a:t>
            </a:r>
          </a:p>
          <a:p>
            <a:r>
              <a:t>Integrity boundary: Do not project assignment output; students verify their own load locally.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AAI_500_M1_Assignment (1).ipynb and .html</a:t>
            </a:r>
          </a:p>
          <a:p>
            <a:r>
              <a:t>- https://pandas.pydata.org/docs/reference/api/pandas.read_csv.html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 minutes</a:t>
            </a:r>
          </a:p>
          <a:p>
            <a:endParaRPr/>
          </a:p>
          <a:p>
            <a:r>
              <a:t>Instructor prompt: Contrast observed-sample language with population-generalization language using a different survey topic.</a:t>
            </a:r>
          </a:p>
          <a:p>
            <a:r>
              <a:t>Student action: Draft the two questions, then peer-check whether the scope actually changes.</a:t>
            </a:r>
          </a:p>
          <a:p>
            <a:r>
              <a:t>Likely misconception: Adding the word ‘all’ does not create valid inference unless the population is defined and the sample supports it.</a:t>
            </a:r>
          </a:p>
          <a:p>
            <a:r>
              <a:t>Check for understanding: Which phrase in each question reveals whether it is descriptive or inferential?</a:t>
            </a:r>
          </a:p>
          <a:p>
            <a:r>
              <a:t>Integrity boundary: Do not supply finished abor questions; use only the stems.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AAI_500_M1_Assignment (1).ipynb and 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 minutes</a:t>
            </a:r>
          </a:p>
          <a:p>
            <a:endParaRPr/>
          </a:p>
          <a:p>
            <a:r>
              <a:t>Instructor prompt: Ask whether arithmetic on the values has meaning, then whether a quantitative variable is counted or measured.</a:t>
            </a:r>
          </a:p>
          <a:p>
            <a:r>
              <a:t>Student action: Classify each assignment variable and write a short justification; invent one original example per requested type.</a:t>
            </a:r>
          </a:p>
          <a:p>
            <a:r>
              <a:t>Likely misconception: Numeric storage does not automatically make a variable quantitative.</a:t>
            </a:r>
          </a:p>
          <a:p>
            <a:r>
              <a:t>Check for understanding: Why can a category code such as 1, 2, 3 still be categorical?</a:t>
            </a:r>
          </a:p>
          <a:p>
            <a:r>
              <a:t>Integrity boundary: Do not classify the assignment’s four named variables aloud.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AAI_500_M1_Assignment (1).ipynb and 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7 minutes</a:t>
            </a:r>
          </a:p>
          <a:p>
            <a:endParaRPr/>
          </a:p>
          <a:p>
            <a:r>
              <a:t>Instructor prompt: Predict the count in each wait-time interval before running the code, then compare table and histogram.</a:t>
            </a:r>
          </a:p>
          <a:p>
            <a:r>
              <a:t>Student action: Adapt the pattern to Carbon_West and choose defensible bins; keep results private.</a:t>
            </a:r>
          </a:p>
          <a:p>
            <a:r>
              <a:t>Likely misconception: A histogram’s bar height is not automatically a percentage, and arbitrary bins can distort the story.</a:t>
            </a:r>
          </a:p>
          <a:p>
            <a:r>
              <a:t>Check for understanding: What check guarantees that no observation was lost between the table and plot?</a:t>
            </a:r>
          </a:p>
          <a:p>
            <a:r>
              <a:t>Integrity boundary: Do not display, calculate, or state an assignment-specific numeric result or conclusion on this slide.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AAI_500_M1_Assignment (1).ipynb and .html</a:t>
            </a:r>
          </a:p>
          <a:p>
            <a:r>
              <a:t>- https://pandas.pydata.org/docs/reference/api/pandas.cut.html</a:t>
            </a:r>
          </a:p>
          <a:p>
            <a:r>
              <a:t>- https://matplotlib.org/stable/api/_as_gen/matplotlib.pyplot.xlabel.html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 minutes</a:t>
            </a:r>
          </a:p>
          <a:p>
            <a:endParaRPr/>
          </a:p>
          <a:p>
            <a:r>
              <a:t>Instructor prompt: Require complete sentences that name the variable and unit for every statistic.</a:t>
            </a:r>
          </a:p>
          <a:p>
            <a:r>
              <a:t>Student action: Calculate the three requested summaries, round to two decimals, and draft interpretations.</a:t>
            </a:r>
          </a:p>
          <a:p>
            <a:r>
              <a:t>Likely misconception: Standard deviation is not the average value and is not interpreted as an interval by itself.</a:t>
            </a:r>
          </a:p>
          <a:p>
            <a:r>
              <a:t>Check for understanding: Which statistic splits ordered observations into two equally sized halves?</a:t>
            </a:r>
          </a:p>
          <a:p>
            <a:r>
              <a:t>Integrity boundary: Use only the checkout-time numbers shown; do not display Carbon_West summaries.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AAI_500_M1_Assignment (1).ipynb and .html</a:t>
            </a:r>
          </a:p>
          <a:p>
            <a:r>
              <a:t>- https://pandas.pydata.org/docs/reference/api/pandas.DataFrame.describe.html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4 minutes</a:t>
            </a:r>
          </a:p>
          <a:p>
            <a:endParaRPr/>
          </a:p>
          <a:p>
            <a:r>
              <a:t>Instructor prompt: Use a movable point on a number line to show how one extreme value shifts the mean more than the median.</a:t>
            </a:r>
          </a:p>
          <a:p>
            <a:r>
              <a:t>Student action: Compare the assignment mean and median privately and write a shape prediction with a mechanism.</a:t>
            </a:r>
          </a:p>
          <a:p>
            <a:r>
              <a:t>Likely misconception: Mean greater than median is evidence consistent with right skew, not a proof without seeing the distribution.</a:t>
            </a:r>
          </a:p>
          <a:p>
            <a:r>
              <a:t>Check for understanding: Which center is more resistant to one very large observation?</a:t>
            </a:r>
          </a:p>
          <a:p>
            <a:r>
              <a:t>Integrity boundary: Do not display, calculate, or state an assignment-specific numeric result or conclusion on this slide.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AAI_500_M1_Assignment (1).ipynb and 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 minutes</a:t>
            </a:r>
          </a:p>
          <a:p>
            <a:endParaRPr/>
          </a:p>
          <a:p>
            <a:r>
              <a:t>Instructor prompt: Build the three parallel intervals on screen, emphasizing distance from the mean rather than memorized endpoints.</a:t>
            </a:r>
          </a:p>
          <a:p>
            <a:r>
              <a:t>Student action: Recreate the structure with the assignment parameters and evaluate the proposed salary privately.</a:t>
            </a:r>
          </a:p>
          <a:p>
            <a:r>
              <a:t>Likely misconception: The empirical rule applies to approximately bell-shaped distributions, not every dataset.</a:t>
            </a:r>
          </a:p>
          <a:p>
            <a:r>
              <a:t>Check for understanding: Why is a z-score unitless?</a:t>
            </a:r>
          </a:p>
          <a:p>
            <a:r>
              <a:t>Integrity boundary: Use only μ = 50 and σ = 4; do not state the salary intervals or z-score.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AAI_500_M1_Assignment (1).ipynb and 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7 minutes</a:t>
            </a:r>
          </a:p>
          <a:p>
            <a:endParaRPr/>
          </a:p>
          <a:p>
            <a:r>
              <a:t>Instructor prompt: Ask students to predict how including CAP may affect resistant and non-resistant summaries before executing any comparison.</a:t>
            </a:r>
          </a:p>
          <a:p>
            <a:r>
              <a:t>Student action: Load Murder.dat, verify the location label, exclude D.C., and complete parts (a)–(b) privately.</a:t>
            </a:r>
          </a:p>
          <a:p>
            <a:r>
              <a:t>Likely misconception: Filtering by row number instead of the location label can remove the wrong observation after sorting.</a:t>
            </a:r>
          </a:p>
          <a:p>
            <a:r>
              <a:t>Check for understanding: Why should the exclusion command remain visible in the submitted notebook?</a:t>
            </a:r>
          </a:p>
          <a:p>
            <a:r>
              <a:t>Integrity boundary: Do not display, calculate, or state an assignment-specific numeric result or conclusion on this slide.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AAI_500_M1_Assignment (1).ipynb and .html</a:t>
            </a:r>
          </a:p>
          <a:p>
            <a:r>
              <a:t>- https://pandas.pydata.org/docs/reference/api/pandas.DataFrame.groupby.html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 minutes</a:t>
            </a:r>
          </a:p>
          <a:p>
            <a:endParaRPr/>
          </a:p>
          <a:p>
            <a:r>
              <a:t>Instructor prompt: Have students predict the four change rankings before running their own code.</a:t>
            </a:r>
          </a:p>
          <a:p>
            <a:r>
              <a:t>Student action: Build and interpret a compact before–after table.</a:t>
            </a:r>
          </a:p>
          <a:p>
            <a:r>
              <a:t>Likely misconception: A statistic can be numerically larger yet change less; the comparison concerns change, not final size.</a:t>
            </a:r>
          </a:p>
          <a:p>
            <a:r>
              <a:t>Check for understanding: Which two statistics depend directly on the minimum or maximum?</a:t>
            </a:r>
          </a:p>
          <a:p>
            <a:r>
              <a:t>Integrity boundary: Do not reveal the direction or magnitude of any Murder-data change.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AAI_500_M1_Assignment (1).ipynb and 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7 minutes</a:t>
            </a:r>
          </a:p>
          <a:p>
            <a:endParaRPr/>
          </a:p>
          <a:p>
            <a:r>
              <a:t>Instructor prompt: Read the parallel histogram from overall shape to details, then connect each descriptive statistic to that picture.</a:t>
            </a:r>
          </a:p>
          <a:p>
            <a:r>
              <a:t>Student action: Construct and interpret the assignment histogram and requested summaries privately.</a:t>
            </a:r>
          </a:p>
          <a:p>
            <a:r>
              <a:t>Likely misconception: A long right tail does not mean most observations are large.</a:t>
            </a:r>
          </a:p>
          <a:p>
            <a:r>
              <a:t>Check for understanding: Which summary would you emphasize for a strongly skewed distribution, and why?</a:t>
            </a:r>
          </a:p>
          <a:p>
            <a:r>
              <a:t>Integrity boundary: Do not display, calculate, or state an assignment-specific numeric result or conclusion on this slide.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AAI_500_M1_Assignment (1).ipynb and .html</a:t>
            </a:r>
          </a:p>
          <a:p>
            <a:r>
              <a:t>- https://seaborn.pydata.org/generated/seaborn.histplot.html</a:t>
            </a:r>
          </a:p>
          <a:p>
            <a:r>
              <a:t>- https://pandas.pydata.org/docs/reference/api/pandas.DataFrame.describe.html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 minutes</a:t>
            </a:r>
          </a:p>
          <a:p>
            <a:endParaRPr/>
          </a:p>
          <a:p>
            <a:r>
              <a:t>Instructor prompt: Ask which curve shows data detail and which shows a broad pattern; avoid calling either automatically correct.</a:t>
            </a:r>
          </a:p>
          <a:p>
            <a:r>
              <a:t>Student action: Create low, default, and high bandwidth versions for Income.dat and write a comparison.</a:t>
            </a:r>
          </a:p>
          <a:p>
            <a:r>
              <a:t>Likely misconception: A smoother curve is not necessarily a more truthful curve.</a:t>
            </a:r>
          </a:p>
          <a:p>
            <a:r>
              <a:t>Check for understanding: What must stay constant for a fair bandwidth comparison?</a:t>
            </a:r>
          </a:p>
          <a:p>
            <a:r>
              <a:t>Integrity boundary: Do not project the Income.dat KDE or state its shape.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AAI_500_M1_Assignment (1).ipynb and .html</a:t>
            </a:r>
          </a:p>
          <a:p>
            <a:r>
              <a:t>- https://seaborn.pydata.org/generated/seaborn.kdeplot.html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7 minutes</a:t>
            </a:r>
          </a:p>
          <a:p>
            <a:endParaRPr/>
          </a:p>
          <a:p>
            <a:r>
              <a:t>Instructor prompt: Model a comparison sentence that covers center, spread, overlap, and uncertainty in the neutral example.</a:t>
            </a:r>
          </a:p>
          <a:p>
            <a:r>
              <a:t>Student action: Adapt the code to race and income, then write a descriptive comparison.</a:t>
            </a:r>
          </a:p>
          <a:p>
            <a:r>
              <a:t>Likely misconception: Different sample medians do not establish that group identity caused the difference.</a:t>
            </a:r>
          </a:p>
          <a:p>
            <a:r>
              <a:t>Check for understanding: What does a box plot conceal that the group count helps reveal?</a:t>
            </a:r>
          </a:p>
          <a:p>
            <a:r>
              <a:t>Integrity boundary: Do not display, calculate, or state an assignment-specific numeric result or conclusion on this slide.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AAI_500_M1_Assignment (1).ipynb and .html</a:t>
            </a:r>
          </a:p>
          <a:p>
            <a:r>
              <a:t>- https://seaborn.pydata.org/generated/seaborn.boxplot.html</a:t>
            </a:r>
          </a:p>
          <a:p>
            <a:r>
              <a:t>- https://pandas.pydata.org/docs/reference/api/pandas.DataFrame.groupby.html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7 minutes</a:t>
            </a:r>
          </a:p>
          <a:p>
            <a:endParaRPr/>
          </a:p>
          <a:p>
            <a:r>
              <a:t>Instructor prompt: Ask what each display makes easy to see and what it hides.</a:t>
            </a:r>
          </a:p>
          <a:p>
            <a:r>
              <a:t>Student action: Construct the assignment frequency distribution, histogram, and box plot with correct units.</a:t>
            </a:r>
          </a:p>
          <a:p>
            <a:r>
              <a:t>Likely misconception: The top quarter of observations is not the same as the set of statistical outliers.</a:t>
            </a:r>
          </a:p>
          <a:p>
            <a:r>
              <a:t>Check for understanding: Which display preserves interval counts and which emphasizes quartiles?</a:t>
            </a:r>
          </a:p>
          <a:p>
            <a:r>
              <a:t>Integrity boundary: Do not display, calculate, or state an assignment-specific numeric result or conclusion on this slide.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AAI_500_M1_Assignment (1).ipynb and .html</a:t>
            </a:r>
          </a:p>
          <a:p>
            <a:r>
              <a:t>- https://pandas.pydata.org/docs/reference/api/pandas.cut.html</a:t>
            </a:r>
          </a:p>
          <a:p>
            <a:r>
              <a:t>- https://matplotlib.org/stable/api/_as_gen/matplotlib.pyplot.subplots.html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7 minutes</a:t>
            </a:r>
          </a:p>
          <a:p>
            <a:endParaRPr/>
          </a:p>
          <a:p>
            <a:r>
              <a:t>Instructor prompt: Have students predict whether a skewed toy distribution should land near 68% before calculating.</a:t>
            </a:r>
          </a:p>
          <a:p>
            <a:r>
              <a:t>Student action: Compute the assignment percentage and grouped comparison, then connect each result to the plots.</a:t>
            </a:r>
          </a:p>
          <a:p>
            <a:r>
              <a:t>Likely misconception: A percentage different from 68% is not a coding error when the bell-shape condition is not met.</a:t>
            </a:r>
          </a:p>
          <a:p>
            <a:r>
              <a:t>Check for understanding: Which condition—not the sample size alone—supports the empirical rule here?</a:t>
            </a:r>
          </a:p>
          <a:p>
            <a:r>
              <a:t>Integrity boundary: Do not display, calculate, or state an assignment-specific numeric result or conclusion on this slide.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AAI_500_M1_Assignment (1).ipynb and .html</a:t>
            </a:r>
          </a:p>
          <a:p>
            <a:r>
              <a:t>- https://pandas.pydata.org/docs/reference/api/pandas.DataFrame.groupby.html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3 minutes</a:t>
            </a:r>
          </a:p>
          <a:p>
            <a:endParaRPr/>
          </a:p>
          <a:p>
            <a:r>
              <a:t>Instructor prompt: Explain that the AI task appears in the notebook/HTML but not in the supplied four-page PDF; confirm its course status before presenting.</a:t>
            </a:r>
          </a:p>
          <a:p>
            <a:r>
              <a:t>Student action: If the task is required, create an untouched original-data object and a separate working copy.</a:t>
            </a:r>
          </a:p>
          <a:p>
            <a:r>
              <a:t>Likely misconception: More rows automatically make a dataset more representative or a model less biased.</a:t>
            </a:r>
          </a:p>
          <a:p>
            <a:r>
              <a:t>Check for understanding: Why must synthetic rows be traceable after concatenation?</a:t>
            </a:r>
          </a:p>
          <a:p>
            <a:r>
              <a:t>Integrity boundary: Do not present the AI extension as confirmed required until the Canvas/PDF mismatch is resolved. Require students to verify target coding and class balance from the official data dictionary before making any augmentation decision.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AAI_500_M1_Assignment (1).ipynb and .html</a:t>
            </a:r>
          </a:p>
          <a:p>
            <a:r>
              <a:t>- User-provided Canvas screenshot: Screenshot 2026-08-27 at 15.29.50.png</a:t>
            </a:r>
          </a:p>
          <a:p>
            <a:r>
              <a:t>- https://archive.ics.uci.edu/dataset/1150/gallstone-1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8 minutes</a:t>
            </a:r>
          </a:p>
          <a:p>
            <a:endParaRPr/>
          </a:p>
          <a:p>
            <a:r>
              <a:t>Instructor prompt: Pause after each audit command and ask what decision it could support—or why no decision is warranted yet.</a:t>
            </a:r>
          </a:p>
          <a:p>
            <a:r>
              <a:t>Student action: Run the audit, select a few key features, and write evidence-based preprocessing considerations.</a:t>
            </a:r>
          </a:p>
          <a:p>
            <a:r>
              <a:t>Likely misconception: Different units alone require normalization for every model; tree-based methods are generally scale-insensitive.</a:t>
            </a:r>
          </a:p>
          <a:p>
            <a:r>
              <a:t>Check for understanding: Which audit output reveals whether the target is imbalanced?</a:t>
            </a:r>
          </a:p>
          <a:p>
            <a:r>
              <a:t>Integrity boundary: Do not show any Gallstone row, statistic, class proportion, or preprocessing conclusion.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AAI_500_M1_Assignment (1).ipynb and .html</a:t>
            </a:r>
          </a:p>
          <a:p>
            <a:r>
              <a:t>- https://pandas.pydata.org/docs/reference/api/pandas.read_excel.html</a:t>
            </a:r>
          </a:p>
          <a:p>
            <a:r>
              <a:t>- https://pandas.pydata.org/docs/reference/api/pandas.DataFrame.describe.html</a:t>
            </a:r>
          </a:p>
          <a:p>
            <a:r>
              <a:t>- https://archive.ics.uci.edu/dataset/1150/gallstone-1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8 minutes</a:t>
            </a:r>
          </a:p>
          <a:p>
            <a:endParaRPr/>
          </a:p>
          <a:p>
            <a:r>
              <a:t>Instructor prompt: Require students to write each analytical question before choosing the plot type.</a:t>
            </a:r>
          </a:p>
          <a:p>
            <a:r>
              <a:t>Student action: Draft a five-row plot plan with question, variables, display, and intended interpretation.</a:t>
            </a:r>
          </a:p>
          <a:p>
            <a:r>
              <a:t>Likely misconception: Five plots of the same distribution with different colors satisfy five analytical purposes.</a:t>
            </a:r>
          </a:p>
          <a:p>
            <a:r>
              <a:t>Check for understanding: What question does each proposed visual answer that the others do not?</a:t>
            </a:r>
          </a:p>
          <a:p>
            <a:r>
              <a:t>Integrity boundary: Do not show Gallstone plots or state any feature–target relationship.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AAI_500_M1_Assignment (1).ipynb and .html</a:t>
            </a:r>
          </a:p>
          <a:p>
            <a:r>
              <a:t>- https://seaborn.pydata.org/generated/seaborn.histplot.html</a:t>
            </a:r>
          </a:p>
          <a:p>
            <a:r>
              <a:t>- https://seaborn.pydata.org/generated/seaborn.boxplot.html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10 minutes</a:t>
            </a:r>
          </a:p>
          <a:p>
            <a:endParaRPr/>
          </a:p>
          <a:p>
            <a:r>
              <a:t>Instructor prompt: Explain that this is a limited continuous-feature exemplar—not a GAN and not a universal generator for clinical data.</a:t>
            </a:r>
          </a:p>
          <a:p>
            <a:r>
              <a:t>Student action: Design a type-aware augmentation plan, generate 50 traceable rows, validate constraints, and compare before/after diagnostics.</a:t>
            </a:r>
          </a:p>
          <a:p>
            <a:r>
              <a:t>Likely misconception: Simple random generation is equivalent to a GAN or guarantees realistic multivariable cases.</a:t>
            </a:r>
          </a:p>
          <a:p>
            <a:r>
              <a:t>Check for understanding: Why can independently generated variables create impossible patient profiles?</a:t>
            </a:r>
          </a:p>
          <a:p>
            <a:r>
              <a:t>Integrity boundary: Do not provide Gallstone distribution parameters, target coding, generated rows, class-balance results, or before/after findings. Students must verify the requested class and justify any augmentation decision from their own audit.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AAI_500_M1_Assignment (1).ipynb and .html</a:t>
            </a:r>
          </a:p>
          <a:p>
            <a:r>
              <a:t>- https://numpy.org/doc/stable/reference/random/generated/numpy.random.Generator.multivariate_normal.html</a:t>
            </a:r>
          </a:p>
          <a:p>
            <a:r>
              <a:t>- https://archive.ics.uci.edu/dataset/1150/gallstone-1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4 minutes</a:t>
            </a:r>
          </a:p>
          <a:p>
            <a:endParaRPr/>
          </a:p>
          <a:p>
            <a:r>
              <a:t>Instructor prompt: Have students inspect the exported file, not only the live notebook.</a:t>
            </a:r>
          </a:p>
          <a:p>
            <a:r>
              <a:t>Student action: Run the checklist and record one remaining question before leaving class.</a:t>
            </a:r>
          </a:p>
          <a:p>
            <a:r>
              <a:t>Likely misconception: A notebook that looks correct on screen will always export without clipped tables or missing plots.</a:t>
            </a:r>
          </a:p>
          <a:p>
            <a:r>
              <a:t>Check for understanding: What must a reader understand in addition to seeing the code and output?</a:t>
            </a:r>
          </a:p>
          <a:p>
            <a:r>
              <a:t>Integrity boundary: Review completeness and presentation only; do not validate answers publicly.</a:t>
            </a:r>
          </a:p>
          <a:p>
            <a:endParaRPr/>
          </a:p>
          <a:p>
            <a:r>
              <a:t>[Sources]</a:t>
            </a:r>
          </a:p>
          <a:p>
            <a:r>
              <a:t>- User-provided AAI_500_M1_Assignment (1).ipynb and .html</a:t>
            </a:r>
          </a:p>
          <a:p>
            <a:r>
              <a:t>- User-provided Canvas screenshot: Screenshot 2026-08-27 at 15.29.50.png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4 minutes</a:t>
            </a:r>
          </a:p>
          <a:p>
            <a:endParaRPr/>
          </a:p>
          <a:p>
            <a:r>
              <a:t>Instructor prompt: Preview the complete project timeline so students understand why topic thinking begins before teams are assigned.</a:t>
            </a:r>
          </a:p>
          <a:p>
            <a:r>
              <a:t>Student action: Record one broad area of interest and one dataset source to investigate.</a:t>
            </a:r>
          </a:p>
          <a:p>
            <a:r>
              <a:t>Likely misconception: Students may think the final project can be started during the last week.</a:t>
            </a:r>
          </a:p>
          <a:p>
            <a:r>
              <a:t>Check for understanding: What must be decided by the end of Week 4?</a:t>
            </a:r>
          </a:p>
          <a:p>
            <a:r>
              <a:t>Integrity boundary: This orientation does not replace the exact Canvas submission pages or deadlines.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Canvas Final Team Project screenshots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7 minutes</a:t>
            </a:r>
          </a:p>
          <a:p>
            <a:endParaRPr/>
          </a:p>
          <a:p>
            <a:r>
              <a:t>Instructor prompt: Transform a neutral topic such as transit reliability into a measurable, decision-focused question.</a:t>
            </a:r>
          </a:p>
          <a:p>
            <a:r>
              <a:t>Student action: Draft one sentence using population, outcome, predictors, and decision.</a:t>
            </a:r>
          </a:p>
          <a:p>
            <a:r>
              <a:t>Likely misconception: A dataset title or an algorithm name is not a research question.</a:t>
            </a:r>
          </a:p>
          <a:p>
            <a:r>
              <a:t>Check for understanding: Which word or phrase in the draft identifies the outcome?</a:t>
            </a:r>
          </a:p>
          <a:p>
            <a:r>
              <a:t>Integrity boundary: Students should propose original topics and must verify that the chosen data permit the intended analysis.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Canvas Final Team Project screenshots</a:t>
            </a:r>
          </a:p>
          <a:p>
            <a:r>
              <a:t>- User-provided Instruction-README_GitHub-AAI.docx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8 minutes</a:t>
            </a:r>
          </a:p>
          <a:p>
            <a:endParaRPr/>
          </a:p>
          <a:p>
            <a:r>
              <a:t>Instructor prompt: Demonstrate the audit with a harmless practice CSV, then show how each output affects topic feasibility.</a:t>
            </a:r>
          </a:p>
          <a:p>
            <a:r>
              <a:t>Student action: Run the audit on one candidate file and write a one-line go, revise, or reject decision.</a:t>
            </a:r>
          </a:p>
          <a:p>
            <a:r>
              <a:t>Likely misconception: A large number of rows does not guarantee the needed outcome or valid measurements.</a:t>
            </a:r>
          </a:p>
          <a:p>
            <a:r>
              <a:t>Check for understanding: Which command reveals whether the target field has severe missingness?</a:t>
            </a:r>
          </a:p>
          <a:p>
            <a:r>
              <a:t>Integrity boundary: Do not upload restricted, private, or personally identifying data to unapproved services.</a:t>
            </a:r>
          </a:p>
          <a:p>
            <a:endParaRPr/>
          </a:p>
          <a:p>
            <a:r>
              <a:t>[Sources]</a:t>
            </a:r>
          </a:p>
          <a:p>
            <a:r>
              <a:t>- https://pandas.pydata.org/docs/reference/api/pandas.read_csv.html</a:t>
            </a:r>
          </a:p>
          <a:p>
            <a:r>
              <a:t>- User-provided Canvas Final Team Project screenshots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 minutes</a:t>
            </a:r>
          </a:p>
          <a:p>
            <a:endParaRPr/>
          </a:p>
          <a:p>
            <a:r>
              <a:t>Instructor prompt: Explain that dividing sections is insufficient unless every teammate also codes and reviews.</a:t>
            </a:r>
          </a:p>
          <a:p>
            <a:r>
              <a:t>Student action: Copy the four contribution-ledger fields into the future team workspace.</a:t>
            </a:r>
          </a:p>
          <a:p>
            <a:r>
              <a:t>Likely misconception: One strong coder and two presenters count as equal technical participation.</a:t>
            </a:r>
          </a:p>
          <a:p>
            <a:r>
              <a:t>Check for understanding: What evidence would show that a reviewer actually checked the work?</a:t>
            </a:r>
          </a:p>
          <a:p>
            <a:r>
              <a:t>Integrity boundary: The ledger documents contribution; it must not be fabricated after the project is complete.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Canvas Final Team Project screenshots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 minutes</a:t>
            </a:r>
          </a:p>
          <a:p>
            <a:endParaRPr/>
          </a:p>
          <a:p>
            <a:r>
              <a:t>Instructor prompt: Give students quiet time to create the one-page brief and emphasize that it is a conversation starter, not a locked proposal.</a:t>
            </a:r>
          </a:p>
          <a:p>
            <a:r>
              <a:t>Student action: Complete all four items and keep the brief for Module 2 team discussion.</a:t>
            </a:r>
          </a:p>
          <a:p>
            <a:r>
              <a:t>Likely misconception: The first idea or first dataset found must become the final project.</a:t>
            </a:r>
          </a:p>
          <a:p>
            <a:r>
              <a:t>Check for understanding: Which risk could force the team to change the question or dataset?</a:t>
            </a:r>
          </a:p>
          <a:p>
            <a:r>
              <a:t>Integrity boundary: Do not label this bridge as a graded Canvas assignment without instructor confirmation.</a:t>
            </a:r>
          </a:p>
          <a:p>
            <a:endParaRPr/>
          </a:p>
          <a:p>
            <a:r>
              <a:t>[Sources]</a:t>
            </a:r>
          </a:p>
          <a:p>
            <a:r>
              <a:t>- User-provided Canvas Final Team Project screenshots</a:t>
            </a:r>
          </a:p>
          <a:p>
            <a:r>
              <a:t>- User-provided Instruction-README_GitHub-AAI.docx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39EE2A6-1166-4F4B-8166-737BC08FF2A0}"/>
              </a:ext>
            </a:extLst>
          </p:cNvPr>
          <p:cNvSpPr>
            <a:spLocks noGrp="1"/>
          </p:cNvSpPr>
          <p:nvPr/>
        </p:nvSpPr>
        <p:spPr>
          <a:xfrm>
            <a:off x="0" y="5962650"/>
            <a:ext cx="12192000" cy="8953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323D3C-B981-4E37-89AF-9352B9A4876A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0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AAI 500  ·  WEEK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8F3F82-5DE2-4BFF-B6CF-D44146A7079A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6762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3793"/>
          </a:bodyPr>
          <a:lstStyle/>
          <a:p>
            <a:pPr algn="l">
              <a:buNone/>
              <a:defRPr sz="55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55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Descriptive Statistics</a:t>
            </a:r>
          </a:p>
          <a:p>
            <a:pPr algn="l">
              <a:buNone/>
              <a:defRPr sz="55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55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and Data Collection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A29B71-929C-48C8-9B29-6C47767E641C}"/>
              </a:ext>
            </a:extLst>
          </p:cNvPr>
          <p:cNvSpPr>
            <a:spLocks noGrp="1"/>
          </p:cNvSpPr>
          <p:nvPr/>
        </p:nvSpPr>
        <p:spPr>
          <a:xfrm>
            <a:off x="714375" y="3333750"/>
            <a:ext cx="666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10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10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B4B09-6D29-465B-9DCB-EDBB298EED74}"/>
              </a:ext>
            </a:extLst>
          </p:cNvPr>
          <p:cNvSpPr>
            <a:spLocks noGrp="1"/>
          </p:cNvSpPr>
          <p:nvPr/>
        </p:nvSpPr>
        <p:spPr>
          <a:xfrm>
            <a:off x="714375" y="4038600"/>
            <a:ext cx="590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Daniel Smith, PhD, MBA  |  Fall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9B89B-0D16-4B27-BA30-E8BA205D707E}"/>
              </a:ext>
            </a:extLst>
          </p:cNvPr>
          <p:cNvSpPr>
            <a:spLocks noGrp="1"/>
          </p:cNvSpPr>
          <p:nvPr/>
        </p:nvSpPr>
        <p:spPr>
          <a:xfrm>
            <a:off x="8286750" y="990600"/>
            <a:ext cx="2667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619"/>
          </a:bodyPr>
          <a:lstStyle/>
          <a:p>
            <a:pPr algn="ctr">
              <a:buNone/>
              <a:defRPr sz="1575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01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="7753350" y="3333750"/>
          <a:ext cx="342900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C7AC6B3-8E68-49CB-B61A-6CEDEC8850D0}"/>
              </a:ext>
            </a:extLst>
          </p:cNvPr>
          <p:cNvSpPr>
            <a:spLocks noGrp="1"/>
          </p:cNvSpPr>
          <p:nvPr/>
        </p:nvSpPr>
        <p:spPr>
          <a:xfrm>
            <a:off x="7667625" y="5095875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0125"/>
          </a:bodyPr>
          <a:lstStyle/>
          <a:p>
            <a:pPr algn="ctr">
              <a:buNone/>
              <a:defRPr sz="16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Statistics gives AI a language for uncertainty.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334500" y="6184442"/>
            <a:ext cx="2266950" cy="52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924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OPENING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397A664-6D8B-4E32-BE66-0EDB3EE4449C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 prediction is incomplete without uncertainty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D27158-B9F7-4D80-84D9-EB116C566CDC}"/>
              </a:ext>
            </a:extLst>
          </p:cNvPr>
          <p:cNvSpPr>
            <a:spLocks noGrp="1"/>
          </p:cNvSpPr>
          <p:nvPr/>
        </p:nvSpPr>
        <p:spPr>
          <a:xfrm>
            <a:off x="990600" y="1676400"/>
            <a:ext cx="10191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5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5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An AI system predicts a 72% chance that a transaction is fraudulent.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669AD57-CBBC-4F69-A8B3-AAB984FC6DFD}"/>
              </a:ext>
            </a:extLst>
          </p:cNvPr>
          <p:cNvSpPr>
            <a:spLocks noGrp="1"/>
          </p:cNvSpPr>
          <p:nvPr/>
        </p:nvSpPr>
        <p:spPr>
          <a:xfrm>
            <a:off x="2095500" y="2781300"/>
            <a:ext cx="8001000" cy="1771650"/>
          </a:xfrm>
          <a:prstGeom prst="roundRect">
            <a:avLst>
              <a:gd name="adj" fmla="val 12903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96DD75-A142-455C-A5A3-296F45952887}"/>
              </a:ext>
            </a:extLst>
          </p:cNvPr>
          <p:cNvSpPr>
            <a:spLocks noGrp="1"/>
          </p:cNvSpPr>
          <p:nvPr/>
        </p:nvSpPr>
        <p:spPr>
          <a:xfrm>
            <a:off x="2571750" y="3105150"/>
            <a:ext cx="704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8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8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What would you need to know before acting?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904C94-0E43-4A4D-AEC6-7E354FFF9D1F}"/>
              </a:ext>
            </a:extLst>
          </p:cNvPr>
          <p:cNvSpPr>
            <a:spLocks noGrp="1"/>
          </p:cNvSpPr>
          <p:nvPr/>
        </p:nvSpPr>
        <p:spPr>
          <a:xfrm>
            <a:off x="2571750" y="3810000"/>
            <a:ext cx="704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Base rate  ·  Sample quality  ·  Cost of errors  ·  Threshold  ·  Calibration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0F913F-09F0-4BD9-B7A9-63EE88827C7A}"/>
              </a:ext>
            </a:extLst>
          </p:cNvPr>
          <p:cNvSpPr>
            <a:spLocks noGrp="1"/>
          </p:cNvSpPr>
          <p:nvPr/>
        </p:nvSpPr>
        <p:spPr>
          <a:xfrm>
            <a:off x="1619250" y="49530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95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95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Turn to a partner: name one missing piece that could change the decision.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78F7FB9-F57B-48E9-97D1-EF4A061235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451911-FBE2-4183-AF53-7F2AC45E6FC6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ORIENTATION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AA6035-A218-4ACB-9602-218F07412E29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665869-4F6E-4527-9DE9-AC2D1DE694CD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C77019-A464-4946-8E0F-18F5D921689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1E3C29C-AA54-4EBA-9331-4A8BF6A28F1D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By the end of Week 1, you can move from data to meaning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3F27DB-0B50-41BE-BE88-A78047893835}"/>
              </a:ext>
            </a:extLst>
          </p:cNvPr>
          <p:cNvSpPr>
            <a:spLocks noGrp="1"/>
          </p:cNvSpPr>
          <p:nvPr/>
        </p:nvSpPr>
        <p:spPr>
          <a:xfrm>
            <a:off x="742950" y="1647825"/>
            <a:ext cx="361950" cy="36195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967842-4C9D-41F3-B721-7D65F0A19ADD}"/>
              </a:ext>
            </a:extLst>
          </p:cNvPr>
          <p:cNvSpPr>
            <a:spLocks noGrp="1"/>
          </p:cNvSpPr>
          <p:nvPr/>
        </p:nvSpPr>
        <p:spPr>
          <a:xfrm>
            <a:off x="742950" y="1638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6ADC5A-8063-4AB2-887A-7171D3DA6B93}"/>
              </a:ext>
            </a:extLst>
          </p:cNvPr>
          <p:cNvSpPr>
            <a:spLocks noGrp="1"/>
          </p:cNvSpPr>
          <p:nvPr/>
        </p:nvSpPr>
        <p:spPr>
          <a:xfrm>
            <a:off x="1333500" y="1562100"/>
            <a:ext cx="323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Define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46D564-042E-470E-9FE0-6BA33A77374A}"/>
              </a:ext>
            </a:extLst>
          </p:cNvPr>
          <p:cNvSpPr>
            <a:spLocks noGrp="1"/>
          </p:cNvSpPr>
          <p:nvPr/>
        </p:nvSpPr>
        <p:spPr>
          <a:xfrm>
            <a:off x="4762500" y="1562100"/>
            <a:ext cx="657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Use foundational statistical language accurately.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277EBE8-49E6-4425-BD0D-0FF40A8EDC38}"/>
              </a:ext>
            </a:extLst>
          </p:cNvPr>
          <p:cNvSpPr>
            <a:spLocks noGrp="1"/>
          </p:cNvSpPr>
          <p:nvPr/>
        </p:nvSpPr>
        <p:spPr>
          <a:xfrm>
            <a:off x="742950" y="2390775"/>
            <a:ext cx="361950" cy="36195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B7B020-18A3-4E4E-80A6-D18DF11FC188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F0BD89-6264-4565-BA90-7423F721718E}"/>
              </a:ext>
            </a:extLst>
          </p:cNvPr>
          <p:cNvSpPr>
            <a:spLocks noGrp="1"/>
          </p:cNvSpPr>
          <p:nvPr/>
        </p:nvSpPr>
        <p:spPr>
          <a:xfrm>
            <a:off x="1333500" y="2305050"/>
            <a:ext cx="323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Summarize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6FE65B-DBED-4BF4-8CDB-5BC49A0CA68A}"/>
              </a:ext>
            </a:extLst>
          </p:cNvPr>
          <p:cNvSpPr>
            <a:spLocks noGrp="1"/>
          </p:cNvSpPr>
          <p:nvPr/>
        </p:nvSpPr>
        <p:spPr>
          <a:xfrm>
            <a:off x="4762500" y="2305050"/>
            <a:ext cx="657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Calculate and interpret descriptive and five-number summaries.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0C0235E-1FDA-4079-A284-6E41464F7518}"/>
              </a:ext>
            </a:extLst>
          </p:cNvPr>
          <p:cNvSpPr>
            <a:spLocks noGrp="1"/>
          </p:cNvSpPr>
          <p:nvPr/>
        </p:nvSpPr>
        <p:spPr>
          <a:xfrm>
            <a:off x="742950" y="3133725"/>
            <a:ext cx="361950" cy="36195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2E9E92-F9C4-4676-B392-CEE8E9650B2D}"/>
              </a:ext>
            </a:extLst>
          </p:cNvPr>
          <p:cNvSpPr>
            <a:spLocks noGrp="1"/>
          </p:cNvSpPr>
          <p:nvPr/>
        </p:nvSpPr>
        <p:spPr>
          <a:xfrm>
            <a:off x="742950" y="31242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9B660B-BF3F-41F1-8DB0-CAE20D53351F}"/>
              </a:ext>
            </a:extLst>
          </p:cNvPr>
          <p:cNvSpPr>
            <a:spLocks noGrp="1"/>
          </p:cNvSpPr>
          <p:nvPr/>
        </p:nvSpPr>
        <p:spPr>
          <a:xfrm>
            <a:off x="1333500" y="3048000"/>
            <a:ext cx="323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Visualize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98B322-EB8C-4343-A30A-C692410FAF03}"/>
              </a:ext>
            </a:extLst>
          </p:cNvPr>
          <p:cNvSpPr>
            <a:spLocks noGrp="1"/>
          </p:cNvSpPr>
          <p:nvPr/>
        </p:nvSpPr>
        <p:spPr>
          <a:xfrm>
            <a:off x="4762500" y="3048000"/>
            <a:ext cx="657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Construct and interpret quantitative and qualitative displays.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38E5DAC-CFEE-446C-99AD-E1CEE653BEFE}"/>
              </a:ext>
            </a:extLst>
          </p:cNvPr>
          <p:cNvSpPr>
            <a:spLocks noGrp="1"/>
          </p:cNvSpPr>
          <p:nvPr/>
        </p:nvSpPr>
        <p:spPr>
          <a:xfrm>
            <a:off x="742950" y="3876675"/>
            <a:ext cx="361950" cy="36195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545036-4AC3-47E5-AF35-5ADED17BF2B7}"/>
              </a:ext>
            </a:extLst>
          </p:cNvPr>
          <p:cNvSpPr>
            <a:spLocks noGrp="1"/>
          </p:cNvSpPr>
          <p:nvPr/>
        </p:nvSpPr>
        <p:spPr>
          <a:xfrm>
            <a:off x="742950" y="38671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D4960E-4E8D-446C-9BF2-CD41D94588CC}"/>
              </a:ext>
            </a:extLst>
          </p:cNvPr>
          <p:cNvSpPr>
            <a:spLocks noGrp="1"/>
          </p:cNvSpPr>
          <p:nvPr/>
        </p:nvSpPr>
        <p:spPr>
          <a:xfrm>
            <a:off x="1333500" y="3790950"/>
            <a:ext cx="323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Code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965ABF-9315-4382-8671-C562DE1E991D}"/>
              </a:ext>
            </a:extLst>
          </p:cNvPr>
          <p:cNvSpPr>
            <a:spLocks noGrp="1"/>
          </p:cNvSpPr>
          <p:nvPr/>
        </p:nvSpPr>
        <p:spPr>
          <a:xfrm>
            <a:off x="4762500" y="3790950"/>
            <a:ext cx="657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Use basic Python to inspect, summarize, and visualize data.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C10BEEA-40CF-43B8-951F-08602AD510AE}"/>
              </a:ext>
            </a:extLst>
          </p:cNvPr>
          <p:cNvSpPr>
            <a:spLocks noGrp="1"/>
          </p:cNvSpPr>
          <p:nvPr/>
        </p:nvSpPr>
        <p:spPr>
          <a:xfrm>
            <a:off x="742950" y="4762500"/>
            <a:ext cx="10572750" cy="742950"/>
          </a:xfrm>
          <a:prstGeom prst="roundRect">
            <a:avLst>
              <a:gd name="adj" fmla="val 20513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493497-8814-45D5-9D2B-40DE0C0B7458}"/>
              </a:ext>
            </a:extLst>
          </p:cNvPr>
          <p:cNvSpPr>
            <a:spLocks noGrp="1"/>
          </p:cNvSpPr>
          <p:nvPr/>
        </p:nvSpPr>
        <p:spPr>
          <a:xfrm>
            <a:off x="1047750" y="4914900"/>
            <a:ext cx="9963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2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The goal is not calculation alone—it is defensible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117754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E5713198-5F89-424C-95DD-E559DDABFB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4CFE07-87B4-4057-8CE3-B2C41A32D8BF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ORIENTATION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83F39B-F7AC-4E50-8D7D-49D18970832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5CCF76-CACA-4A1B-AC2D-6F16F6FA8ED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891779-8E59-4FCA-A3EC-0FF9D5D145A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AF6EF86-ECE5-4716-BEDA-EBCCE40F091E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Seven weeks build one statistical learning workflow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142AD8-9499-418A-B990-000FD06E8881}"/>
              </a:ext>
            </a:extLst>
          </p:cNvPr>
          <p:cNvSpPr>
            <a:spLocks noGrp="1"/>
          </p:cNvSpPr>
          <p:nvPr/>
        </p:nvSpPr>
        <p:spPr>
          <a:xfrm>
            <a:off x="1104900" y="1790700"/>
            <a:ext cx="38100" cy="3543300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17B22A9-2F16-4BA0-8297-75D8783861AC}"/>
              </a:ext>
            </a:extLst>
          </p:cNvPr>
          <p:cNvSpPr>
            <a:spLocks noGrp="1"/>
          </p:cNvSpPr>
          <p:nvPr/>
        </p:nvSpPr>
        <p:spPr>
          <a:xfrm>
            <a:off x="914400" y="1752600"/>
            <a:ext cx="419100" cy="419100"/>
          </a:xfrm>
          <a:prstGeom prst="ellipse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17AB50-65DB-443A-B35E-6F46790639BF}"/>
              </a:ext>
            </a:extLst>
          </p:cNvPr>
          <p:cNvSpPr>
            <a:spLocks noGrp="1"/>
          </p:cNvSpPr>
          <p:nvPr/>
        </p:nvSpPr>
        <p:spPr>
          <a:xfrm>
            <a:off x="923925" y="1743075"/>
            <a:ext cx="400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E3E4C6-4B73-4D43-A6BD-9D8EC759B827}"/>
              </a:ext>
            </a:extLst>
          </p:cNvPr>
          <p:cNvSpPr>
            <a:spLocks noGrp="1"/>
          </p:cNvSpPr>
          <p:nvPr/>
        </p:nvSpPr>
        <p:spPr>
          <a:xfrm>
            <a:off x="1600200" y="1733550"/>
            <a:ext cx="628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Foundations + Python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85EDAD7-7EDF-4317-B8AA-2A646EFAE246}"/>
              </a:ext>
            </a:extLst>
          </p:cNvPr>
          <p:cNvSpPr>
            <a:spLocks noGrp="1"/>
          </p:cNvSpPr>
          <p:nvPr/>
        </p:nvSpPr>
        <p:spPr>
          <a:xfrm>
            <a:off x="914400" y="2305050"/>
            <a:ext cx="419100" cy="41910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1905E5-43A9-477F-9B86-AD3AFFEBFBEA}"/>
              </a:ext>
            </a:extLst>
          </p:cNvPr>
          <p:cNvSpPr>
            <a:spLocks noGrp="1"/>
          </p:cNvSpPr>
          <p:nvPr/>
        </p:nvSpPr>
        <p:spPr>
          <a:xfrm>
            <a:off x="923925" y="2295525"/>
            <a:ext cx="400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47E9B-61C9-440A-9AA0-866A0E0348AC}"/>
              </a:ext>
            </a:extLst>
          </p:cNvPr>
          <p:cNvSpPr>
            <a:spLocks noGrp="1"/>
          </p:cNvSpPr>
          <p:nvPr/>
        </p:nvSpPr>
        <p:spPr>
          <a:xfrm>
            <a:off x="1600200" y="2286000"/>
            <a:ext cx="628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Probability distributions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B3ECBBC-7B01-45DE-92A3-6CB42DD351BB}"/>
              </a:ext>
            </a:extLst>
          </p:cNvPr>
          <p:cNvSpPr>
            <a:spLocks noGrp="1"/>
          </p:cNvSpPr>
          <p:nvPr/>
        </p:nvSpPr>
        <p:spPr>
          <a:xfrm>
            <a:off x="914400" y="2857500"/>
            <a:ext cx="419100" cy="419100"/>
          </a:xfrm>
          <a:prstGeom prst="ellipse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DEC2F8-899F-45B3-97C4-0F107E064B1C}"/>
              </a:ext>
            </a:extLst>
          </p:cNvPr>
          <p:cNvSpPr>
            <a:spLocks noGrp="1"/>
          </p:cNvSpPr>
          <p:nvPr/>
        </p:nvSpPr>
        <p:spPr>
          <a:xfrm>
            <a:off x="923925" y="2847975"/>
            <a:ext cx="400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D8D99F-277A-4A3B-BDC2-3A044EE0D8C3}"/>
              </a:ext>
            </a:extLst>
          </p:cNvPr>
          <p:cNvSpPr>
            <a:spLocks noGrp="1"/>
          </p:cNvSpPr>
          <p:nvPr/>
        </p:nvSpPr>
        <p:spPr>
          <a:xfrm>
            <a:off x="1600200" y="2838450"/>
            <a:ext cx="628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Sampling + the Central Limit Theorem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B62EFFE-3055-4DD6-B8EE-DF7B95977964}"/>
              </a:ext>
            </a:extLst>
          </p:cNvPr>
          <p:cNvSpPr>
            <a:spLocks noGrp="1"/>
          </p:cNvSpPr>
          <p:nvPr/>
        </p:nvSpPr>
        <p:spPr>
          <a:xfrm>
            <a:off x="914400" y="3409950"/>
            <a:ext cx="419100" cy="419100"/>
          </a:xfrm>
          <a:prstGeom prst="ellipse">
            <a:avLst/>
          </a:prstGeom>
          <a:solidFill>
            <a:srgbClr val="6AA1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1B23BA-D9A3-4B69-AA3F-5E3C7E233A46}"/>
              </a:ext>
            </a:extLst>
          </p:cNvPr>
          <p:cNvSpPr>
            <a:spLocks noGrp="1"/>
          </p:cNvSpPr>
          <p:nvPr/>
        </p:nvSpPr>
        <p:spPr>
          <a:xfrm>
            <a:off x="923925" y="3400425"/>
            <a:ext cx="400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108386-87A6-49FE-80EA-CB1AFA3FDD86}"/>
              </a:ext>
            </a:extLst>
          </p:cNvPr>
          <p:cNvSpPr>
            <a:spLocks noGrp="1"/>
          </p:cNvSpPr>
          <p:nvPr/>
        </p:nvSpPr>
        <p:spPr>
          <a:xfrm>
            <a:off x="1600200" y="3390900"/>
            <a:ext cx="628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Intervals + hypothesis tests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A8FD45B-5888-4876-8D43-575C6AD7259A}"/>
              </a:ext>
            </a:extLst>
          </p:cNvPr>
          <p:cNvSpPr>
            <a:spLocks noGrp="1"/>
          </p:cNvSpPr>
          <p:nvPr/>
        </p:nvSpPr>
        <p:spPr>
          <a:xfrm>
            <a:off x="914400" y="3962400"/>
            <a:ext cx="419100" cy="419100"/>
          </a:xfrm>
          <a:prstGeom prst="ellipse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F13395-601C-48B7-9D78-13C8B080462F}"/>
              </a:ext>
            </a:extLst>
          </p:cNvPr>
          <p:cNvSpPr>
            <a:spLocks noGrp="1"/>
          </p:cNvSpPr>
          <p:nvPr/>
        </p:nvSpPr>
        <p:spPr>
          <a:xfrm>
            <a:off x="923925" y="3952875"/>
            <a:ext cx="400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922641-675C-407A-8339-D9974E02EA5A}"/>
              </a:ext>
            </a:extLst>
          </p:cNvPr>
          <p:cNvSpPr>
            <a:spLocks noGrp="1"/>
          </p:cNvSpPr>
          <p:nvPr/>
        </p:nvSpPr>
        <p:spPr>
          <a:xfrm>
            <a:off x="1600200" y="3943350"/>
            <a:ext cx="628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Bayesian networks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283EE7-B89C-4FDC-BE71-83DFB2FBD3C7}"/>
              </a:ext>
            </a:extLst>
          </p:cNvPr>
          <p:cNvSpPr>
            <a:spLocks noGrp="1"/>
          </p:cNvSpPr>
          <p:nvPr/>
        </p:nvSpPr>
        <p:spPr>
          <a:xfrm>
            <a:off x="914400" y="4514850"/>
            <a:ext cx="419100" cy="419100"/>
          </a:xfrm>
          <a:prstGeom prst="ellipse">
            <a:avLst/>
          </a:prstGeom>
          <a:solidFill>
            <a:srgbClr val="F1BB5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5C1849C-B073-4361-9BAC-55E43AA38285}"/>
              </a:ext>
            </a:extLst>
          </p:cNvPr>
          <p:cNvSpPr>
            <a:spLocks noGrp="1"/>
          </p:cNvSpPr>
          <p:nvPr/>
        </p:nvSpPr>
        <p:spPr>
          <a:xfrm>
            <a:off x="923925" y="4505325"/>
            <a:ext cx="400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06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6E6732-6667-4B76-B1A8-E0241210AE1E}"/>
              </a:ext>
            </a:extLst>
          </p:cNvPr>
          <p:cNvSpPr>
            <a:spLocks noGrp="1"/>
          </p:cNvSpPr>
          <p:nvPr/>
        </p:nvSpPr>
        <p:spPr>
          <a:xfrm>
            <a:off x="1600200" y="4495800"/>
            <a:ext cx="628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Regression + generalized linear models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61A4A79-6C22-4A06-B755-FB8DBBA52A30}"/>
              </a:ext>
            </a:extLst>
          </p:cNvPr>
          <p:cNvSpPr>
            <a:spLocks noGrp="1"/>
          </p:cNvSpPr>
          <p:nvPr/>
        </p:nvSpPr>
        <p:spPr>
          <a:xfrm>
            <a:off x="914400" y="5067300"/>
            <a:ext cx="419100" cy="419100"/>
          </a:xfrm>
          <a:prstGeom prst="ellipse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EAEBCE-4FDE-4DD3-906D-C5463FDBEC3D}"/>
              </a:ext>
            </a:extLst>
          </p:cNvPr>
          <p:cNvSpPr>
            <a:spLocks noGrp="1"/>
          </p:cNvSpPr>
          <p:nvPr/>
        </p:nvSpPr>
        <p:spPr>
          <a:xfrm>
            <a:off x="923925" y="5057775"/>
            <a:ext cx="400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CA5791-A8AB-4AAE-9D54-10642339EB31}"/>
              </a:ext>
            </a:extLst>
          </p:cNvPr>
          <p:cNvSpPr>
            <a:spLocks noGrp="1"/>
          </p:cNvSpPr>
          <p:nvPr/>
        </p:nvSpPr>
        <p:spPr>
          <a:xfrm>
            <a:off x="1600200" y="5048250"/>
            <a:ext cx="628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Classification, clustering, metrics + final project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01E52A59-F21C-4047-916B-64F942C17890}"/>
              </a:ext>
            </a:extLst>
          </p:cNvPr>
          <p:cNvSpPr>
            <a:spLocks noGrp="1"/>
          </p:cNvSpPr>
          <p:nvPr/>
        </p:nvSpPr>
        <p:spPr>
          <a:xfrm>
            <a:off x="8191500" y="1866900"/>
            <a:ext cx="2952750" cy="3143250"/>
          </a:xfrm>
          <a:prstGeom prst="roundRect">
            <a:avLst>
              <a:gd name="adj" fmla="val 6452"/>
            </a:avLst>
          </a:prstGeom>
          <a:solidFill>
            <a:srgbClr val="F3F9FD"/>
          </a:solidFill>
          <a:ln w="19050">
            <a:solidFill>
              <a:srgbClr val="75B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74BDA8-6CCB-4FD8-9ED1-3E4D46590948}"/>
              </a:ext>
            </a:extLst>
          </p:cNvPr>
          <p:cNvSpPr>
            <a:spLocks noGrp="1"/>
          </p:cNvSpPr>
          <p:nvPr/>
        </p:nvSpPr>
        <p:spPr>
          <a:xfrm>
            <a:off x="8572500" y="2143125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Cumulative logic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E5A3F2C-82BF-4BD8-A687-CA37DF1C794E}"/>
              </a:ext>
            </a:extLst>
          </p:cNvPr>
          <p:cNvSpPr>
            <a:spLocks noGrp="1"/>
          </p:cNvSpPr>
          <p:nvPr/>
        </p:nvSpPr>
        <p:spPr>
          <a:xfrm>
            <a:off x="8572500" y="2781300"/>
            <a:ext cx="2190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 fontScale="98437"/>
          </a:bodyPr>
          <a:lstStyle/>
          <a:p>
            <a:pPr marL="26" indent="-18">
              <a:spcAft>
                <a:spcPts val="14"/>
              </a:spcAft>
              <a:buChar char="•"/>
              <a:defRPr sz="172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Describe what you observed</a:t>
            </a:r>
          </a:p>
          <a:p>
            <a:pPr marL="26" indent="-18">
              <a:spcAft>
                <a:spcPts val="14"/>
              </a:spcAft>
              <a:buChar char="•"/>
              <a:defRPr sz="172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Model what could occur</a:t>
            </a:r>
          </a:p>
          <a:p>
            <a:pPr marL="26" indent="-18">
              <a:spcAft>
                <a:spcPts val="14"/>
              </a:spcAft>
              <a:buChar char="•"/>
              <a:defRPr sz="172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Infer what is plausible</a:t>
            </a:r>
          </a:p>
          <a:p>
            <a:pPr marL="26" indent="-18">
              <a:spcAft>
                <a:spcPts val="14"/>
              </a:spcAft>
              <a:buChar char="•"/>
              <a:defRPr sz="172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Evaluate predictions</a:t>
            </a:r>
          </a:p>
        </p:txBody>
      </p:sp>
    </p:spTree>
    <p:extLst>
      <p:ext uri="{BB962C8B-B14F-4D97-AF65-F5344CB8AC3E}">
        <p14:creationId xmlns:p14="http://schemas.microsoft.com/office/powerpoint/2010/main" val="2033501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D2CBA52-35A7-4C83-A87C-5FDFCA0512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3C8C4B-1D7B-493F-8F6F-5787AA485C0D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TEXTBOOK CONNECTION · CHAPTER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B723CE-8045-4739-B336-6D493FB7871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C87CA9-9B37-413A-B818-C757042B10A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572145-62E4-45D4-A545-CAAEE8AF226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29B415B-97B8-4CA8-956A-29A1FF5D73C8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62176"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The textbook opens with description, probability, and inference as one workflow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E7EF67-9C54-410C-A6EB-96F0059750C8}"/>
              </a:ext>
            </a:extLst>
          </p:cNvPr>
          <p:cNvSpPr>
            <a:spLocks noGrp="1"/>
          </p:cNvSpPr>
          <p:nvPr/>
        </p:nvSpPr>
        <p:spPr>
          <a:xfrm>
            <a:off x="1000125" y="1714500"/>
            <a:ext cx="438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300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DESCRIPTION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8C0897-06CC-4C6F-AD58-77E0666472E1}"/>
              </a:ext>
            </a:extLst>
          </p:cNvPr>
          <p:cNvSpPr>
            <a:spLocks noGrp="1"/>
          </p:cNvSpPr>
          <p:nvPr/>
        </p:nvSpPr>
        <p:spPr>
          <a:xfrm>
            <a:off x="1000125" y="2333625"/>
            <a:ext cx="4476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Summarize the observed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AD4B9F-8500-45A1-A6B2-CDF345E77F11}"/>
              </a:ext>
            </a:extLst>
          </p:cNvPr>
          <p:cNvSpPr>
            <a:spLocks noGrp="1"/>
          </p:cNvSpPr>
          <p:nvPr/>
        </p:nvSpPr>
        <p:spPr>
          <a:xfrm>
            <a:off x="1000125" y="3238500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/>
          </a:bodyPr>
          <a:lstStyle/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Cases • variables • values</a:t>
            </a:r>
          </a:p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Distributions: center, variability, shape</a:t>
            </a:r>
          </a:p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Association and comparison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5CA70D-7ED7-415B-9D28-19F435A6377B}"/>
              </a:ext>
            </a:extLst>
          </p:cNvPr>
          <p:cNvSpPr>
            <a:spLocks noGrp="1"/>
          </p:cNvSpPr>
          <p:nvPr/>
        </p:nvSpPr>
        <p:spPr>
          <a:xfrm>
            <a:off x="6000750" y="1619250"/>
            <a:ext cx="28575" cy="381000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96727D-A5AE-4F38-ABB9-9A49E27B51E8}"/>
              </a:ext>
            </a:extLst>
          </p:cNvPr>
          <p:cNvSpPr>
            <a:spLocks noGrp="1"/>
          </p:cNvSpPr>
          <p:nvPr/>
        </p:nvSpPr>
        <p:spPr>
          <a:xfrm>
            <a:off x="6667500" y="1714500"/>
            <a:ext cx="438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300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rPr>
              <a:t>INFERENCE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7575D6-48E6-4A5C-90FB-EAD8705CF7EC}"/>
              </a:ext>
            </a:extLst>
          </p:cNvPr>
          <p:cNvSpPr>
            <a:spLocks noGrp="1"/>
          </p:cNvSpPr>
          <p:nvPr/>
        </p:nvSpPr>
        <p:spPr>
          <a:xfrm>
            <a:off x="6667500" y="2333625"/>
            <a:ext cx="4476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3027"/>
          </a:bodyPr>
          <a:lstStyle/>
          <a:p>
            <a:pPr algn="l">
              <a:buNone/>
              <a:def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Generalize beyond the observed 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B9496B-6C5E-4F7F-A2A0-2AC075611FD0}"/>
              </a:ext>
            </a:extLst>
          </p:cNvPr>
          <p:cNvSpPr>
            <a:spLocks noGrp="1"/>
          </p:cNvSpPr>
          <p:nvPr/>
        </p:nvSpPr>
        <p:spPr>
          <a:xfrm>
            <a:off x="6667500" y="3238500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/>
          </a:bodyPr>
          <a:lstStyle/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Population • sample</a:t>
            </a:r>
          </a:p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Parameter • statistic</a:t>
            </a:r>
          </a:p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Estimation • testing • prediction</a:t>
            </a:r>
          </a:p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endParaRPr sz="1875">
              <a:solidFill>
                <a:srgbClr val="17324D"/>
              </a:solidFill>
              <a:latin typeface="Sofia Sans"/>
              <a:ea typeface="Sofia Sans"/>
              <a:cs typeface="Sofia Sans"/>
            </a:endParaRPr>
          </a:p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Textbook: Chapter 1, §§1.1–1.2</a:t>
            </a:r>
          </a:p>
        </p:txBody>
      </p:sp>
    </p:spTree>
    <p:extLst>
      <p:ext uri="{BB962C8B-B14F-4D97-AF65-F5344CB8AC3E}">
        <p14:creationId xmlns:p14="http://schemas.microsoft.com/office/powerpoint/2010/main" val="1661563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B75D556-B108-4D26-9143-0E96E92E87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2A3828-D2E0-41AD-A4A1-0343E906DDE6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ORIENTATION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4E7FC8-79BA-4884-B980-36B6055D5598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F47BE0-EAC4-4128-8D55-27642DCB321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7D840-204C-4DC1-BEF9-C85548F347C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D328C5-908E-45AE-984E-5463D6D917E6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Assessment rewards repeated application—not one high-stakes event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="904875" y="1666875"/>
          <a:ext cx="10382250" cy="223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BDC4B9E-8CA8-4BDC-84BE-BA467CFFE747}"/>
              </a:ext>
            </a:extLst>
          </p:cNvPr>
          <p:cNvSpPr>
            <a:spLocks noGrp="1"/>
          </p:cNvSpPr>
          <p:nvPr/>
        </p:nvSpPr>
        <p:spPr>
          <a:xfrm>
            <a:off x="1333500" y="2286000"/>
            <a:ext cx="152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9206"/>
          </a:bodyPr>
          <a:lstStyle/>
          <a:p>
            <a:pPr algn="ctr">
              <a:buNone/>
              <a:defRPr sz="31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55%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F4753FF-2181-4088-BDEA-FE545ABAB00B}"/>
              </a:ext>
            </a:extLst>
          </p:cNvPr>
          <p:cNvSpPr>
            <a:spLocks noGrp="1"/>
          </p:cNvSpPr>
          <p:nvPr/>
        </p:nvSpPr>
        <p:spPr>
          <a:xfrm>
            <a:off x="1485900" y="4476750"/>
            <a:ext cx="9220200" cy="857250"/>
          </a:xfrm>
          <a:prstGeom prst="roundRect">
            <a:avLst>
              <a:gd name="adj" fmla="val 17778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8F2963-FACA-4472-813E-A43B1F7D0E54}"/>
              </a:ext>
            </a:extLst>
          </p:cNvPr>
          <p:cNvSpPr>
            <a:spLocks noGrp="1"/>
          </p:cNvSpPr>
          <p:nvPr/>
        </p:nvSpPr>
        <p:spPr>
          <a:xfrm>
            <a:off x="1905000" y="4667250"/>
            <a:ext cx="838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The 170-point midterm contributes 15% of the course grade.</a:t>
            </a:r>
          </a:p>
        </p:txBody>
      </p:sp>
    </p:spTree>
    <p:extLst>
      <p:ext uri="{BB962C8B-B14F-4D97-AF65-F5344CB8AC3E}">
        <p14:creationId xmlns:p14="http://schemas.microsoft.com/office/powerpoint/2010/main" val="1574201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7EC4D5D-FD63-44D6-8D11-6F5FB8AEA4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309325-E9C8-40AE-8497-C95EC512FDFF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ORIENTATION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2B9B61-31CB-44F9-88DA-D92FF4CD9642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F6EAD3-1B27-4EF0-986D-4B2C81C35B3E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7C55BA-243A-4E4D-95C8-4AC3D32F446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7DBD57A-3235-460E-9DFA-D0103178B00A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AI may assist the process; ownership must remain visible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D07586-FF3E-4293-8DCC-7B9D82E8865A}"/>
              </a:ext>
            </a:extLst>
          </p:cNvPr>
          <p:cNvSpPr>
            <a:spLocks noGrp="1"/>
          </p:cNvSpPr>
          <p:nvPr/>
        </p:nvSpPr>
        <p:spPr>
          <a:xfrm>
            <a:off x="952500" y="1733550"/>
            <a:ext cx="4333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4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4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Useful support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0018C0-93A4-4DFA-A64C-F797FB26FE8E}"/>
              </a:ext>
            </a:extLst>
          </p:cNvPr>
          <p:cNvSpPr>
            <a:spLocks noGrp="1"/>
          </p:cNvSpPr>
          <p:nvPr/>
        </p:nvSpPr>
        <p:spPr>
          <a:xfrm>
            <a:off x="952500" y="2286000"/>
            <a:ext cx="4476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/>
          </a:bodyPr>
          <a:lstStyle/>
          <a:p>
            <a:pPr marL="26" indent="-18">
              <a:spcAft>
                <a:spcPts val="15"/>
              </a:spcAft>
              <a:buChar char="•"/>
              <a:defRPr sz="180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Clarifying statistical concepts</a:t>
            </a:r>
          </a:p>
          <a:p>
            <a:pPr marL="26" indent="-18">
              <a:spcAft>
                <a:spcPts val="15"/>
              </a:spcAft>
              <a:buChar char="•"/>
              <a:defRPr sz="180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Understanding code errors</a:t>
            </a:r>
          </a:p>
          <a:p>
            <a:pPr marL="26" indent="-18">
              <a:spcAft>
                <a:spcPts val="15"/>
              </a:spcAft>
              <a:buChar char="•"/>
              <a:defRPr sz="180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Improving readability</a:t>
            </a:r>
          </a:p>
          <a:p>
            <a:pPr marL="26" indent="-18">
              <a:spcAft>
                <a:spcPts val="15"/>
              </a:spcAft>
              <a:buChar char="•"/>
              <a:defRPr sz="180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Generating questions to investigate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17A947-3A97-49E2-8EB4-3308D5F68637}"/>
              </a:ext>
            </a:extLst>
          </p:cNvPr>
          <p:cNvSpPr>
            <a:spLocks noGrp="1"/>
          </p:cNvSpPr>
          <p:nvPr/>
        </p:nvSpPr>
        <p:spPr>
          <a:xfrm>
            <a:off x="6057900" y="1657350"/>
            <a:ext cx="19050" cy="31432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985122-B9B1-45D6-99A3-00BBD9A4DACF}"/>
              </a:ext>
            </a:extLst>
          </p:cNvPr>
          <p:cNvSpPr>
            <a:spLocks noGrp="1"/>
          </p:cNvSpPr>
          <p:nvPr/>
        </p:nvSpPr>
        <p:spPr>
          <a:xfrm>
            <a:off x="6667500" y="1733550"/>
            <a:ext cx="4333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4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4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Still your responsibility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95F15D-E68E-4F73-9C88-997C38D4E2C4}"/>
              </a:ext>
            </a:extLst>
          </p:cNvPr>
          <p:cNvSpPr>
            <a:spLocks noGrp="1"/>
          </p:cNvSpPr>
          <p:nvPr/>
        </p:nvSpPr>
        <p:spPr>
          <a:xfrm>
            <a:off x="6667500" y="2286000"/>
            <a:ext cx="4476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/>
          </a:bodyPr>
          <a:lstStyle/>
          <a:p>
            <a:pPr marL="26" indent="-18">
              <a:spcAft>
                <a:spcPts val="15"/>
              </a:spcAft>
              <a:buChar char="•"/>
              <a:defRPr sz="180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Reason through the problem</a:t>
            </a:r>
          </a:p>
          <a:p>
            <a:pPr marL="26" indent="-18">
              <a:spcAft>
                <a:spcPts val="15"/>
              </a:spcAft>
              <a:buChar char="•"/>
              <a:defRPr sz="180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Verify correctness and efficiency</a:t>
            </a:r>
          </a:p>
          <a:p>
            <a:pPr marL="26" indent="-18">
              <a:spcAft>
                <a:spcPts val="15"/>
              </a:spcAft>
              <a:buChar char="•"/>
              <a:defRPr sz="180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Explain every submitted choice</a:t>
            </a:r>
          </a:p>
          <a:p>
            <a:pPr marL="26" indent="-18">
              <a:spcAft>
                <a:spcPts val="15"/>
              </a:spcAft>
              <a:buChar char="•"/>
              <a:defRPr sz="180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Disclose the tool, purpose, and changes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DC57FFD-5380-4598-ADCD-6457FF5BA9D9}"/>
              </a:ext>
            </a:extLst>
          </p:cNvPr>
          <p:cNvSpPr>
            <a:spLocks noGrp="1"/>
          </p:cNvSpPr>
          <p:nvPr/>
        </p:nvSpPr>
        <p:spPr>
          <a:xfrm>
            <a:off x="1428750" y="4953000"/>
            <a:ext cx="9334500" cy="552450"/>
          </a:xfrm>
          <a:prstGeom prst="roundRect">
            <a:avLst>
              <a:gd name="adj" fmla="val 24138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11DA3C-52FB-4995-A750-969A461C4F0A}"/>
              </a:ext>
            </a:extLst>
          </p:cNvPr>
          <p:cNvSpPr>
            <a:spLocks noGrp="1"/>
          </p:cNvSpPr>
          <p:nvPr/>
        </p:nvSpPr>
        <p:spPr>
          <a:xfrm>
            <a:off x="1714500" y="5057775"/>
            <a:ext cx="876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4626"/>
          </a:bodyPr>
          <a:lstStyle/>
          <a:p>
            <a:pPr algn="ctr">
              <a:buNone/>
              <a:def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Correct output without demonstrated understanding is insufficient at the master’s level.</a:t>
            </a:r>
          </a:p>
        </p:txBody>
      </p:sp>
    </p:spTree>
    <p:extLst>
      <p:ext uri="{BB962C8B-B14F-4D97-AF65-F5344CB8AC3E}">
        <p14:creationId xmlns:p14="http://schemas.microsoft.com/office/powerpoint/2010/main" val="1552948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E2C9885-64D5-4AA4-BCB6-CB03CA64EEE9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9ECCD0-CB8A-4FC8-BF9F-F9B65F2E2EF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238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491"/>
          </a:bodyPr>
          <a:lstStyle/>
          <a:p>
            <a:pPr algn="l">
              <a:buNone/>
              <a:def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600E59-9CC6-4032-BC71-9856FEA7E59A}"/>
              </a:ext>
            </a:extLst>
          </p:cNvPr>
          <p:cNvSpPr>
            <a:spLocks noGrp="1"/>
          </p:cNvSpPr>
          <p:nvPr/>
        </p:nvSpPr>
        <p:spPr>
          <a:xfrm>
            <a:off x="2857500" y="1200150"/>
            <a:ext cx="838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46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6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Statistical foundations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A83238-6C1D-4DE4-AC87-E082681B03D4}"/>
              </a:ext>
            </a:extLst>
          </p:cNvPr>
          <p:cNvSpPr>
            <a:spLocks noGrp="1"/>
          </p:cNvSpPr>
          <p:nvPr/>
        </p:nvSpPr>
        <p:spPr>
          <a:xfrm>
            <a:off x="2905125" y="2324100"/>
            <a:ext cx="1333500" cy="47625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FBA524-E144-4CF4-A683-30BFDBF461D0}"/>
              </a:ext>
            </a:extLst>
          </p:cNvPr>
          <p:cNvSpPr>
            <a:spLocks noGrp="1"/>
          </p:cNvSpPr>
          <p:nvPr/>
        </p:nvSpPr>
        <p:spPr>
          <a:xfrm>
            <a:off x="2905125" y="2686050"/>
            <a:ext cx="7715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Before we model outcomes, we need a precise language for observations, uncertainty, and evidence.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B37660-D196-4E9E-960D-18D878257DC8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AAI 500  |  WEEK 1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004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25183B7-8FD6-4C37-98FB-424CB88DB7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5A3263-BE63-43D1-BFBD-4E53557C0689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STATISTICAL FOUNDATIONS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4D0455-6061-4D26-A349-9DE582BD2C85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B4FDC-B869-48F8-9F58-E057E0B11295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F56B69-E1F8-4996-91DE-6479EE8B8CA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390F34D-4D96-4B14-8080-238F87441A94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Statistics turns observations into defensible decisions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809720-DCE6-4796-AC71-8E2D2B4788F7}"/>
              </a:ext>
            </a:extLst>
          </p:cNvPr>
          <p:cNvSpPr>
            <a:spLocks noGrp="1"/>
          </p:cNvSpPr>
          <p:nvPr/>
        </p:nvSpPr>
        <p:spPr>
          <a:xfrm>
            <a:off x="1428750" y="2886075"/>
            <a:ext cx="8953500" cy="57150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58D048A-8334-4C92-AB6A-B61B9B1C0302}"/>
              </a:ext>
            </a:extLst>
          </p:cNvPr>
          <p:cNvSpPr>
            <a:spLocks noGrp="1"/>
          </p:cNvSpPr>
          <p:nvPr/>
        </p:nvSpPr>
        <p:spPr>
          <a:xfrm>
            <a:off x="1238250" y="2505075"/>
            <a:ext cx="819150" cy="819150"/>
          </a:xfrm>
          <a:prstGeom prst="ellipse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B4E456-616F-480C-98F8-E756360153EF}"/>
              </a:ext>
            </a:extLst>
          </p:cNvPr>
          <p:cNvSpPr>
            <a:spLocks noGrp="1"/>
          </p:cNvSpPr>
          <p:nvPr/>
        </p:nvSpPr>
        <p:spPr>
          <a:xfrm>
            <a:off x="1238250" y="2533650"/>
            <a:ext cx="819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5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5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6A5419-1CAA-4B5A-B5D8-F4A661E9BC62}"/>
              </a:ext>
            </a:extLst>
          </p:cNvPr>
          <p:cNvSpPr>
            <a:spLocks noGrp="1"/>
          </p:cNvSpPr>
          <p:nvPr/>
        </p:nvSpPr>
        <p:spPr>
          <a:xfrm>
            <a:off x="971550" y="3505200"/>
            <a:ext cx="1352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Ask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79D857B-F04B-46AE-A30C-E9711C46DF0F}"/>
              </a:ext>
            </a:extLst>
          </p:cNvPr>
          <p:cNvSpPr>
            <a:spLocks noGrp="1"/>
          </p:cNvSpPr>
          <p:nvPr/>
        </p:nvSpPr>
        <p:spPr>
          <a:xfrm>
            <a:off x="3476625" y="2505075"/>
            <a:ext cx="819150" cy="81915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C7670B-8F94-4914-9A37-B39907BE211D}"/>
              </a:ext>
            </a:extLst>
          </p:cNvPr>
          <p:cNvSpPr>
            <a:spLocks noGrp="1"/>
          </p:cNvSpPr>
          <p:nvPr/>
        </p:nvSpPr>
        <p:spPr>
          <a:xfrm>
            <a:off x="3476625" y="2533650"/>
            <a:ext cx="819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5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5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5ECDAE-FCED-4778-9F70-309E87D8D1F3}"/>
              </a:ext>
            </a:extLst>
          </p:cNvPr>
          <p:cNvSpPr>
            <a:spLocks noGrp="1"/>
          </p:cNvSpPr>
          <p:nvPr/>
        </p:nvSpPr>
        <p:spPr>
          <a:xfrm>
            <a:off x="3209925" y="3505200"/>
            <a:ext cx="1352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Measure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8DC21CD-D725-4F50-B685-FA71568B626D}"/>
              </a:ext>
            </a:extLst>
          </p:cNvPr>
          <p:cNvSpPr>
            <a:spLocks noGrp="1"/>
          </p:cNvSpPr>
          <p:nvPr/>
        </p:nvSpPr>
        <p:spPr>
          <a:xfrm>
            <a:off x="5715000" y="2505075"/>
            <a:ext cx="819150" cy="819150"/>
          </a:xfrm>
          <a:prstGeom prst="ellipse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10FD1F-2738-4924-9895-FD09C71493CA}"/>
              </a:ext>
            </a:extLst>
          </p:cNvPr>
          <p:cNvSpPr>
            <a:spLocks noGrp="1"/>
          </p:cNvSpPr>
          <p:nvPr/>
        </p:nvSpPr>
        <p:spPr>
          <a:xfrm>
            <a:off x="5715000" y="2533650"/>
            <a:ext cx="819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5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5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9D70CA-826D-4C7A-9731-CB98602A2964}"/>
              </a:ext>
            </a:extLst>
          </p:cNvPr>
          <p:cNvSpPr>
            <a:spLocks noGrp="1"/>
          </p:cNvSpPr>
          <p:nvPr/>
        </p:nvSpPr>
        <p:spPr>
          <a:xfrm>
            <a:off x="5448300" y="3505200"/>
            <a:ext cx="1352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Describe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078552-1F49-4FA9-BE1C-9BC95085E7A9}"/>
              </a:ext>
            </a:extLst>
          </p:cNvPr>
          <p:cNvSpPr>
            <a:spLocks noGrp="1"/>
          </p:cNvSpPr>
          <p:nvPr/>
        </p:nvSpPr>
        <p:spPr>
          <a:xfrm>
            <a:off x="7953375" y="2505075"/>
            <a:ext cx="819150" cy="819150"/>
          </a:xfrm>
          <a:prstGeom prst="ellipse">
            <a:avLst/>
          </a:prstGeom>
          <a:solidFill>
            <a:srgbClr val="6AA1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719973-3C27-49B7-B215-5F64AD72CD81}"/>
              </a:ext>
            </a:extLst>
          </p:cNvPr>
          <p:cNvSpPr>
            <a:spLocks noGrp="1"/>
          </p:cNvSpPr>
          <p:nvPr/>
        </p:nvSpPr>
        <p:spPr>
          <a:xfrm>
            <a:off x="7953375" y="2533650"/>
            <a:ext cx="819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5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5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55BB1B-0636-4CE5-AEC7-95E4981332E3}"/>
              </a:ext>
            </a:extLst>
          </p:cNvPr>
          <p:cNvSpPr>
            <a:spLocks noGrp="1"/>
          </p:cNvSpPr>
          <p:nvPr/>
        </p:nvSpPr>
        <p:spPr>
          <a:xfrm>
            <a:off x="7686675" y="3505200"/>
            <a:ext cx="1352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Infer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77F5E08-B0D0-47E4-B1FB-C89E970CD104}"/>
              </a:ext>
            </a:extLst>
          </p:cNvPr>
          <p:cNvSpPr>
            <a:spLocks noGrp="1"/>
          </p:cNvSpPr>
          <p:nvPr/>
        </p:nvSpPr>
        <p:spPr>
          <a:xfrm>
            <a:off x="10191750" y="2505075"/>
            <a:ext cx="819150" cy="819150"/>
          </a:xfrm>
          <a:prstGeom prst="ellipse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335A8B-E2D5-4E47-BD01-06BAEE0D8C7C}"/>
              </a:ext>
            </a:extLst>
          </p:cNvPr>
          <p:cNvSpPr>
            <a:spLocks noGrp="1"/>
          </p:cNvSpPr>
          <p:nvPr/>
        </p:nvSpPr>
        <p:spPr>
          <a:xfrm>
            <a:off x="10191750" y="2533650"/>
            <a:ext cx="819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5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5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C1A301-DDEA-4762-9439-8DDE6ED9093B}"/>
              </a:ext>
            </a:extLst>
          </p:cNvPr>
          <p:cNvSpPr>
            <a:spLocks noGrp="1"/>
          </p:cNvSpPr>
          <p:nvPr/>
        </p:nvSpPr>
        <p:spPr>
          <a:xfrm>
            <a:off x="9925050" y="3505200"/>
            <a:ext cx="1352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Decide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29B4D38-BF6B-4817-A6CA-9630DD73A425}"/>
              </a:ext>
            </a:extLst>
          </p:cNvPr>
          <p:cNvSpPr>
            <a:spLocks noGrp="1"/>
          </p:cNvSpPr>
          <p:nvPr/>
        </p:nvSpPr>
        <p:spPr>
          <a:xfrm>
            <a:off x="2286000" y="4524375"/>
            <a:ext cx="7620000" cy="838200"/>
          </a:xfrm>
          <a:prstGeom prst="roundRect">
            <a:avLst>
              <a:gd name="adj" fmla="val 18182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C3D1ED-3FBD-4809-82BC-2225FB590D63}"/>
              </a:ext>
            </a:extLst>
          </p:cNvPr>
          <p:cNvSpPr>
            <a:spLocks noGrp="1"/>
          </p:cNvSpPr>
          <p:nvPr/>
        </p:nvSpPr>
        <p:spPr>
          <a:xfrm>
            <a:off x="2571750" y="4705350"/>
            <a:ext cx="704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7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7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AI adds scale. Statistics adds discipline.</a:t>
            </a:r>
          </a:p>
        </p:txBody>
      </p:sp>
    </p:spTree>
    <p:extLst>
      <p:ext uri="{BB962C8B-B14F-4D97-AF65-F5344CB8AC3E}">
        <p14:creationId xmlns:p14="http://schemas.microsoft.com/office/powerpoint/2010/main" val="483561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B7A37C9-96A0-41E1-8D36-1C36023691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B7D06E-8D7F-4BDC-867C-8F251B89B983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STATISTICAL FOUNDATIONS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E44EB7-6955-41B7-8BA2-01597215A579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DCC9B0-8BA0-4383-A5FD-ADC8AF562C2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D810A2-69ED-4B4C-A258-76DC8D640DC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57F5B9-F13A-4492-B616-433FECFAB5AA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Samples describe what we saw; inference reaches beyond them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C41962E-0297-450D-977F-4367CA839F74}"/>
              </a:ext>
            </a:extLst>
          </p:cNvPr>
          <p:cNvSpPr>
            <a:spLocks noGrp="1"/>
          </p:cNvSpPr>
          <p:nvPr/>
        </p:nvSpPr>
        <p:spPr>
          <a:xfrm>
            <a:off x="838200" y="1657350"/>
            <a:ext cx="5905500" cy="3429000"/>
          </a:xfrm>
          <a:prstGeom prst="roundRect">
            <a:avLst>
              <a:gd name="adj" fmla="val 6667"/>
            </a:avLst>
          </a:prstGeom>
          <a:solidFill>
            <a:srgbClr val="F3F9FD"/>
          </a:solidFill>
          <a:ln w="19050">
            <a:solidFill>
              <a:srgbClr val="75B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EB998D-D226-42CB-BE90-4788210885F9}"/>
              </a:ext>
            </a:extLst>
          </p:cNvPr>
          <p:cNvSpPr>
            <a:spLocks noGrp="1"/>
          </p:cNvSpPr>
          <p:nvPr/>
        </p:nvSpPr>
        <p:spPr>
          <a:xfrm>
            <a:off x="1066800" y="18478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8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8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POPULATION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FBDFCC7-B8D8-4858-85D9-80503A723E92}"/>
              </a:ext>
            </a:extLst>
          </p:cNvPr>
          <p:cNvSpPr>
            <a:spLocks noGrp="1"/>
          </p:cNvSpPr>
          <p:nvPr/>
        </p:nvSpPr>
        <p:spPr>
          <a:xfrm>
            <a:off x="2571750" y="2552700"/>
            <a:ext cx="2667000" cy="16002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28575">
            <a:solidFill>
              <a:srgbClr val="007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186B0B-18F2-4463-B01E-CE0536F6AFBA}"/>
              </a:ext>
            </a:extLst>
          </p:cNvPr>
          <p:cNvSpPr>
            <a:spLocks noGrp="1"/>
          </p:cNvSpPr>
          <p:nvPr/>
        </p:nvSpPr>
        <p:spPr>
          <a:xfrm>
            <a:off x="2952750" y="2781300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2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SAMPLE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2E96D0-5A12-42BE-A57A-D5EB5716D897}"/>
              </a:ext>
            </a:extLst>
          </p:cNvPr>
          <p:cNvSpPr>
            <a:spLocks noGrp="1"/>
          </p:cNvSpPr>
          <p:nvPr/>
        </p:nvSpPr>
        <p:spPr>
          <a:xfrm>
            <a:off x="3000375" y="33337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3483"/>
          </a:bodyPr>
          <a:lstStyle/>
          <a:p>
            <a:pPr algn="ctr">
              <a:buNone/>
              <a:def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Observed units selected</a:t>
            </a:r>
          </a:p>
          <a:p>
            <a:pPr algn="ctr">
              <a:buNone/>
              <a:def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from the population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C5E98D-A702-4629-93B6-545BCFFB5363}"/>
              </a:ext>
            </a:extLst>
          </p:cNvPr>
          <p:cNvSpPr>
            <a:spLocks noGrp="1"/>
          </p:cNvSpPr>
          <p:nvPr/>
        </p:nvSpPr>
        <p:spPr>
          <a:xfrm>
            <a:off x="1238250" y="4476750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All units relevant to the question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04E811-97A0-40EB-AAD4-97E6EAF2A697}"/>
              </a:ext>
            </a:extLst>
          </p:cNvPr>
          <p:cNvSpPr>
            <a:spLocks noGrp="1"/>
          </p:cNvSpPr>
          <p:nvPr/>
        </p:nvSpPr>
        <p:spPr>
          <a:xfrm>
            <a:off x="7334250" y="182880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Parameter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FA81C1-DDF3-4661-8F19-5A9C463E30F2}"/>
              </a:ext>
            </a:extLst>
          </p:cNvPr>
          <p:cNvSpPr>
            <a:spLocks noGrp="1"/>
          </p:cNvSpPr>
          <p:nvPr/>
        </p:nvSpPr>
        <p:spPr>
          <a:xfrm>
            <a:off x="7334250" y="22860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9348"/>
          </a:bodyPr>
          <a:lstStyle/>
          <a:p>
            <a:pPr algn="l">
              <a:buNone/>
              <a:def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 numerical feature of the population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A4474B-E647-4912-9618-326DC5676F02}"/>
              </a:ext>
            </a:extLst>
          </p:cNvPr>
          <p:cNvSpPr>
            <a:spLocks noGrp="1"/>
          </p:cNvSpPr>
          <p:nvPr/>
        </p:nvSpPr>
        <p:spPr>
          <a:xfrm>
            <a:off x="7334250" y="3048000"/>
            <a:ext cx="3714750" cy="19050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91083C-069A-4AA0-8071-006B4C05F15A}"/>
              </a:ext>
            </a:extLst>
          </p:cNvPr>
          <p:cNvSpPr>
            <a:spLocks noGrp="1"/>
          </p:cNvSpPr>
          <p:nvPr/>
        </p:nvSpPr>
        <p:spPr>
          <a:xfrm>
            <a:off x="7334250" y="335280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Statistic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CC125F-7B09-48E2-8905-8EB69085CA9C}"/>
              </a:ext>
            </a:extLst>
          </p:cNvPr>
          <p:cNvSpPr>
            <a:spLocks noGrp="1"/>
          </p:cNvSpPr>
          <p:nvPr/>
        </p:nvSpPr>
        <p:spPr>
          <a:xfrm>
            <a:off x="7334250" y="3810000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 numerical summary calculated from a sample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96DBD2-CA21-4694-8FBB-03F73BEB38E6}"/>
              </a:ext>
            </a:extLst>
          </p:cNvPr>
          <p:cNvSpPr>
            <a:spLocks noGrp="1"/>
          </p:cNvSpPr>
          <p:nvPr/>
        </p:nvSpPr>
        <p:spPr>
          <a:xfrm>
            <a:off x="7334250" y="4762500"/>
            <a:ext cx="3714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098"/>
          </a:bodyPr>
          <a:lstStyle/>
          <a:p>
            <a:pPr algn="l">
              <a:buNone/>
              <a:defRPr sz="1725" b="1" i="0">
                <a:solidFill>
                  <a:srgbClr val="0074C8"/>
                </a:solidFill>
                <a:latin typeface="Sofia Sans"/>
                <a:ea typeface="Sofia Sans"/>
                <a:cs typeface="Sofia Sans"/>
              </a:defRPr>
            </a:pPr>
            <a:r>
              <a:rPr sz="1725" b="1" i="0">
                <a:solidFill>
                  <a:srgbClr val="0074C8"/>
                </a:solidFill>
                <a:latin typeface="Sofia Sans"/>
                <a:ea typeface="Sofia Sans"/>
                <a:cs typeface="Sofia Sans"/>
              </a:rPr>
              <a:t>A statistic estimates a parameter—and carries sampling uncertainty.</a:t>
            </a:r>
          </a:p>
        </p:txBody>
      </p:sp>
    </p:spTree>
    <p:extLst>
      <p:ext uri="{BB962C8B-B14F-4D97-AF65-F5344CB8AC3E}">
        <p14:creationId xmlns:p14="http://schemas.microsoft.com/office/powerpoint/2010/main" val="2106214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D2CBA52-35A7-4C83-A87C-5FDFCA0512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3C8C4B-1D7B-493F-8F6F-5787AA485C0D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STATISTICAL FOUNDATIONS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B723CE-8045-4739-B336-6D493FB7871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C87CA9-9B37-413A-B818-C757042B10A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572145-62E4-45D4-A545-CAAEE8AF226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29B415B-97B8-4CA8-956A-29A1FF5D73C8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Descriptive and inferential statistics answer different questions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E7EF67-9C54-410C-A6EB-96F0059750C8}"/>
              </a:ext>
            </a:extLst>
          </p:cNvPr>
          <p:cNvSpPr>
            <a:spLocks noGrp="1"/>
          </p:cNvSpPr>
          <p:nvPr/>
        </p:nvSpPr>
        <p:spPr>
          <a:xfrm>
            <a:off x="1000125" y="1714500"/>
            <a:ext cx="438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300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DESCRIBE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8C0897-06CC-4C6F-AD58-77E0666472E1}"/>
              </a:ext>
            </a:extLst>
          </p:cNvPr>
          <p:cNvSpPr>
            <a:spLocks noGrp="1"/>
          </p:cNvSpPr>
          <p:nvPr/>
        </p:nvSpPr>
        <p:spPr>
          <a:xfrm>
            <a:off x="1000125" y="2333625"/>
            <a:ext cx="4476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262"/>
          </a:bodyPr>
          <a:lstStyle/>
          <a:p>
            <a:pPr algn="l">
              <a:buNone/>
              <a:def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What does this observed dataset look like?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AD4B9F-8500-45A1-A6B2-CDF345E77F11}"/>
              </a:ext>
            </a:extLst>
          </p:cNvPr>
          <p:cNvSpPr>
            <a:spLocks noGrp="1"/>
          </p:cNvSpPr>
          <p:nvPr/>
        </p:nvSpPr>
        <p:spPr>
          <a:xfrm>
            <a:off x="1000125" y="3238500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/>
          </a:bodyPr>
          <a:lstStyle/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Center</a:t>
            </a:r>
          </a:p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Spread</a:t>
            </a:r>
          </a:p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Shape</a:t>
            </a:r>
          </a:p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Counts and proportions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5CA70D-7ED7-415B-9D28-19F435A6377B}"/>
              </a:ext>
            </a:extLst>
          </p:cNvPr>
          <p:cNvSpPr>
            <a:spLocks noGrp="1"/>
          </p:cNvSpPr>
          <p:nvPr/>
        </p:nvSpPr>
        <p:spPr>
          <a:xfrm>
            <a:off x="6000750" y="1619250"/>
            <a:ext cx="28575" cy="381000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96727D-A5AE-4F38-ABB9-9A49E27B51E8}"/>
              </a:ext>
            </a:extLst>
          </p:cNvPr>
          <p:cNvSpPr>
            <a:spLocks noGrp="1"/>
          </p:cNvSpPr>
          <p:nvPr/>
        </p:nvSpPr>
        <p:spPr>
          <a:xfrm>
            <a:off x="6667500" y="1714500"/>
            <a:ext cx="438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300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rPr>
              <a:t>INFER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7575D6-48E6-4A5C-90FB-EAD8705CF7EC}"/>
              </a:ext>
            </a:extLst>
          </p:cNvPr>
          <p:cNvSpPr>
            <a:spLocks noGrp="1"/>
          </p:cNvSpPr>
          <p:nvPr/>
        </p:nvSpPr>
        <p:spPr>
          <a:xfrm>
            <a:off x="6667500" y="2333625"/>
            <a:ext cx="4476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9220"/>
          </a:bodyPr>
          <a:lstStyle/>
          <a:p>
            <a:pPr algn="l">
              <a:buNone/>
              <a:def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What is plausible beyond this dataset?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B9496B-6C5E-4F7F-A2A0-2AC075611FD0}"/>
              </a:ext>
            </a:extLst>
          </p:cNvPr>
          <p:cNvSpPr>
            <a:spLocks noGrp="1"/>
          </p:cNvSpPr>
          <p:nvPr/>
        </p:nvSpPr>
        <p:spPr>
          <a:xfrm>
            <a:off x="6667500" y="3238500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/>
          </a:bodyPr>
          <a:lstStyle/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Population estimates</a:t>
            </a:r>
          </a:p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Uncertainty intervals</a:t>
            </a:r>
          </a:p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Hypothesis tests</a:t>
            </a:r>
          </a:p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Predictions</a:t>
            </a:r>
          </a:p>
        </p:txBody>
      </p:sp>
    </p:spTree>
    <p:extLst>
      <p:ext uri="{BB962C8B-B14F-4D97-AF65-F5344CB8AC3E}">
        <p14:creationId xmlns:p14="http://schemas.microsoft.com/office/powerpoint/2010/main" val="1661563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25DAF8B-D134-44AF-A553-77BA2A7C65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CE0049-CBE8-4790-94B2-5E148BBB6F1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STATISTICAL FOUNDATIONS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DD56B6-3BDA-497E-B007-7262332CC34D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7BE8DC-8B64-47CA-B756-4D3CCDB049BF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9C054F-E5C8-4C65-A8C1-65C3E4329A5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34A2BCE-D9A5-41F9-AD66-2262ABBA8129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Every dataset starts with cases, variables, and values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F994E0-AD23-45BB-9FE4-4C3E67CDB3E2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319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8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8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Cases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8AAA1C-270E-4808-AF1B-B19672903B79}"/>
              </a:ext>
            </a:extLst>
          </p:cNvPr>
          <p:cNvSpPr>
            <a:spLocks noGrp="1"/>
          </p:cNvSpPr>
          <p:nvPr/>
        </p:nvSpPr>
        <p:spPr>
          <a:xfrm>
            <a:off x="1771650" y="2381250"/>
            <a:ext cx="1143000" cy="38100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7C590E-5F80-4C84-A8BE-CCD28BBF4494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3190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Who or what is observed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B42CCC5-6784-4793-84D1-A925D199D9D9}"/>
              </a:ext>
            </a:extLst>
          </p:cNvPr>
          <p:cNvSpPr>
            <a:spLocks noGrp="1"/>
          </p:cNvSpPr>
          <p:nvPr/>
        </p:nvSpPr>
        <p:spPr>
          <a:xfrm>
            <a:off x="1047750" y="3524250"/>
            <a:ext cx="2581275" cy="1428750"/>
          </a:xfrm>
          <a:prstGeom prst="roundRect">
            <a:avLst>
              <a:gd name="adj" fmla="val 10667"/>
            </a:avLst>
          </a:prstGeom>
          <a:solidFill>
            <a:srgbClr val="F3F9FD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9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9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One transaction</a:t>
            </a:r>
          </a:p>
          <a:p>
            <a:pPr algn="ctr">
              <a:buNone/>
              <a:defRPr sz="19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9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One patient</a:t>
            </a:r>
          </a:p>
          <a:p>
            <a:pPr algn="ctr">
              <a:buNone/>
              <a:defRPr sz="19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9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One prompt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383048-3A28-45BD-9CAE-BA6C701CF48C}"/>
              </a:ext>
            </a:extLst>
          </p:cNvPr>
          <p:cNvSpPr>
            <a:spLocks noGrp="1"/>
          </p:cNvSpPr>
          <p:nvPr/>
        </p:nvSpPr>
        <p:spPr>
          <a:xfrm>
            <a:off x="4552950" y="1762125"/>
            <a:ext cx="319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8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8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Variables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8DCBBE-3A78-4A03-9489-625AF87A2366}"/>
              </a:ext>
            </a:extLst>
          </p:cNvPr>
          <p:cNvSpPr>
            <a:spLocks noGrp="1"/>
          </p:cNvSpPr>
          <p:nvPr/>
        </p:nvSpPr>
        <p:spPr>
          <a:xfrm>
            <a:off x="5581650" y="2381250"/>
            <a:ext cx="1143000" cy="38100"/>
          </a:xfrm>
          <a:prstGeom prst="rect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F70874-7D3A-4AFC-8BB7-DAC8F8140261}"/>
              </a:ext>
            </a:extLst>
          </p:cNvPr>
          <p:cNvSpPr>
            <a:spLocks noGrp="1"/>
          </p:cNvSpPr>
          <p:nvPr/>
        </p:nvSpPr>
        <p:spPr>
          <a:xfrm>
            <a:off x="4552950" y="2619375"/>
            <a:ext cx="3190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What is measured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53DD0D5-B273-4B16-A91B-875F9EAC3C6B}"/>
              </a:ext>
            </a:extLst>
          </p:cNvPr>
          <p:cNvSpPr>
            <a:spLocks noGrp="1"/>
          </p:cNvSpPr>
          <p:nvPr/>
        </p:nvSpPr>
        <p:spPr>
          <a:xfrm>
            <a:off x="4857750" y="3524250"/>
            <a:ext cx="2581275" cy="1428750"/>
          </a:xfrm>
          <a:prstGeom prst="roundRect">
            <a:avLst>
              <a:gd name="adj" fmla="val 10667"/>
            </a:avLst>
          </a:prstGeom>
          <a:solidFill>
            <a:srgbClr val="F3F9FD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9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9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Latency</a:t>
            </a:r>
          </a:p>
          <a:p>
            <a:pPr algn="ctr">
              <a:buNone/>
              <a:defRPr sz="19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9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Outcome</a:t>
            </a:r>
          </a:p>
          <a:p>
            <a:pPr algn="ctr">
              <a:buNone/>
              <a:defRPr sz="19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9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Model family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FDCBF5-62B5-4D21-8E5B-A0A6D732C7F7}"/>
              </a:ext>
            </a:extLst>
          </p:cNvPr>
          <p:cNvSpPr>
            <a:spLocks noGrp="1"/>
          </p:cNvSpPr>
          <p:nvPr/>
        </p:nvSpPr>
        <p:spPr>
          <a:xfrm>
            <a:off x="8362950" y="1762125"/>
            <a:ext cx="319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8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8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Values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64B5AD-6017-4CCF-B1AE-3C3D5822D6FD}"/>
              </a:ext>
            </a:extLst>
          </p:cNvPr>
          <p:cNvSpPr>
            <a:spLocks noGrp="1"/>
          </p:cNvSpPr>
          <p:nvPr/>
        </p:nvSpPr>
        <p:spPr>
          <a:xfrm>
            <a:off x="9391650" y="2381250"/>
            <a:ext cx="1143000" cy="38100"/>
          </a:xfrm>
          <a:prstGeom prst="rect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EB4DED-47C8-4C1A-9E0E-45BCF23913FB}"/>
              </a:ext>
            </a:extLst>
          </p:cNvPr>
          <p:cNvSpPr>
            <a:spLocks noGrp="1"/>
          </p:cNvSpPr>
          <p:nvPr/>
        </p:nvSpPr>
        <p:spPr>
          <a:xfrm>
            <a:off x="8362950" y="2619375"/>
            <a:ext cx="3190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The recorded result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1BC352-5BA0-4D40-9CB8-40898CCCF31D}"/>
              </a:ext>
            </a:extLst>
          </p:cNvPr>
          <p:cNvSpPr>
            <a:spLocks noGrp="1"/>
          </p:cNvSpPr>
          <p:nvPr/>
        </p:nvSpPr>
        <p:spPr>
          <a:xfrm>
            <a:off x="8667750" y="3524250"/>
            <a:ext cx="2581275" cy="1428750"/>
          </a:xfrm>
          <a:prstGeom prst="roundRect">
            <a:avLst>
              <a:gd name="adj" fmla="val 10667"/>
            </a:avLst>
          </a:prstGeom>
          <a:solidFill>
            <a:srgbClr val="F3F9FD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9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9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242 ms</a:t>
            </a:r>
          </a:p>
          <a:p>
            <a:pPr algn="ctr">
              <a:buNone/>
              <a:defRPr sz="19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9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Approved</a:t>
            </a:r>
          </a:p>
          <a:p>
            <a:pPr algn="ctr">
              <a:buNone/>
              <a:defRPr sz="19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9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Transformer</a:t>
            </a:r>
          </a:p>
        </p:txBody>
      </p:sp>
    </p:spTree>
    <p:extLst>
      <p:ext uri="{BB962C8B-B14F-4D97-AF65-F5344CB8AC3E}">
        <p14:creationId xmlns:p14="http://schemas.microsoft.com/office/powerpoint/2010/main" val="352922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04F6C56-2375-4D0C-B184-C24C983366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9E6094-F4D8-4EA3-B6C0-054460A1CE01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TEXTBOOK EXAMPLE · CARBON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D29608-4C1A-45FD-AA88-DC137E94117C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031B9F-1396-4388-A8C8-5FE088FC3ECE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47CACE-36D4-43B6-A221-890AC2CA7C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39AE8B3-719D-4EC8-888D-61676B8FD274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2780"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Book example: Carbon data links cases, variables, and units</a:t>
            </a:r>
          </a:p>
        </p:txBody>
      </p:sp>
      <p:graphicFrame>
        <p:nvGraphicFramePr>
          <p:cNvPr id="20" name="Table 19"/>
          <p:cNvGraphicFramePr/>
          <p:nvPr/>
        </p:nvGraphicFramePr>
        <p:xfrm>
          <a:off x="904875" y="1733550"/>
          <a:ext cx="10382250" cy="3143250"/>
        </p:xfrm>
        <a:graphic>
          <a:graphicData uri="http://schemas.openxmlformats.org/drawingml/2006/table">
            <a:tbl>
              <a:tblPr firstRow="1" bandRow="1"/>
              <a:tblGrid>
                <a:gridCol w="2708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5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Sofia Sans"/>
                          <a:ea typeface="Sofia Sans"/>
                          <a:cs typeface="Sofia Sans"/>
                        </a:rPr>
                        <a:t>Dataset object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Sofia Sans"/>
                          <a:ea typeface="Sofia Sans"/>
                          <a:cs typeface="Sofia Sans"/>
                        </a:rPr>
                        <a:t>Textbook language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Sofia Sans"/>
                          <a:ea typeface="Sofia Sans"/>
                          <a:cs typeface="Sofia Sans"/>
                        </a:rPr>
                        <a:t>Concrete value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  <a:latin typeface="Sofia Sans"/>
                          <a:ea typeface="Sofia Sans"/>
                          <a:cs typeface="Sofia Sans"/>
                        </a:rPr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  <a:latin typeface="Sofia Sans"/>
                          <a:ea typeface="Sofia Sans"/>
                          <a:cs typeface="Sofia Sans"/>
                        </a:rPr>
                        <a:t>One entity on which variables are 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  <a:latin typeface="Sofia Sans"/>
                          <a:ea typeface="Sofia Sans"/>
                          <a:cs typeface="Sofia Sans"/>
                        </a:rPr>
                        <a:t>One 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  <a:latin typeface="Sofia Sans"/>
                          <a:ea typeface="Sofia Sans"/>
                          <a:cs typeface="Sofia Sans"/>
                        </a:rP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  <a:latin typeface="Sofia Sans"/>
                          <a:ea typeface="Sofia Sans"/>
                          <a:cs typeface="Sofia Sans"/>
                        </a:rPr>
                        <a:t>Characteristic recorded for every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  <a:latin typeface="Sofia Sans"/>
                          <a:ea typeface="Sofia Sans"/>
                          <a:cs typeface="Sofia Sans"/>
                        </a:rPr>
                        <a:t>Annual per-capita CO₂ emission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  <a:latin typeface="Sofia Sans"/>
                          <a:ea typeface="Sofia Sans"/>
                          <a:cs typeface="Sofia Sans"/>
                        </a:rP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  <a:latin typeface="Sofia Sans"/>
                          <a:ea typeface="Sofia Sans"/>
                          <a:cs typeface="Sofia Sans"/>
                        </a:rPr>
                        <a:t>Recorded outcome for one case-variable 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  <a:latin typeface="Sofia Sans"/>
                          <a:ea typeface="Sofia Sans"/>
                          <a:cs typeface="Sofia Sans"/>
                        </a:rPr>
                        <a:t>e.g., 8.9 metric tons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237A9C8-66F7-4863-8B20-55C86341297C}"/>
              </a:ext>
            </a:extLst>
          </p:cNvPr>
          <p:cNvSpPr>
            <a:spLocks noGrp="1"/>
          </p:cNvSpPr>
          <p:nvPr/>
        </p:nvSpPr>
        <p:spPr>
          <a:xfrm>
            <a:off x="1714500" y="5191125"/>
            <a:ext cx="876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4074"/>
          </a:bodyPr>
          <a:lstStyle/>
          <a:p>
            <a:pPr algn="ctr">
              <a:buNone/>
              <a:defRPr sz="20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The sample contains 31 nations. Rows are cases; columns are variables. Ask what population the sample can represent. · Textbook §1.3.3; Appendix B1.2</a:t>
            </a:r>
          </a:p>
        </p:txBody>
      </p:sp>
    </p:spTree>
    <p:extLst>
      <p:ext uri="{BB962C8B-B14F-4D97-AF65-F5344CB8AC3E}">
        <p14:creationId xmlns:p14="http://schemas.microsoft.com/office/powerpoint/2010/main" val="1942429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04F6C56-2375-4D0C-B184-C24C983366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9E6094-F4D8-4EA3-B6C0-054460A1CE01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STATISTICAL FOUNDATIONS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D29608-4C1A-45FD-AA88-DC137E94117C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031B9F-1396-4388-A8C8-5FE088FC3ECE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47CACE-36D4-43B6-A221-890AC2CA7C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39AE8B3-719D-4EC8-888D-61676B8FD274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Variable type determines the summaries that make sense</a:t>
            </a:r>
          </a:p>
        </p:txBody>
      </p:sp>
      <p:graphicFrame>
        <p:nvGraphicFramePr>
          <p:cNvPr id="20" name="Table 19"/>
          <p:cNvGraphicFramePr/>
          <p:nvPr/>
        </p:nvGraphicFramePr>
        <p:xfrm>
          <a:off x="904875" y="1733550"/>
          <a:ext cx="10382250" cy="3143250"/>
        </p:xfrm>
        <a:graphic>
          <a:graphicData uri="http://schemas.openxmlformats.org/drawingml/2006/table">
            <a:tbl>
              <a:tblPr firstRow="1" bandRow="1"/>
              <a:tblGrid>
                <a:gridCol w="2708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5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Sofia Sans"/>
                          <a:ea typeface="Sofia Sans"/>
                          <a:cs typeface="Sofia Sans"/>
                        </a:rPr>
                        <a:t>Variable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Sofia Sans"/>
                          <a:ea typeface="Sofia Sans"/>
                          <a:cs typeface="Sofia Sans"/>
                        </a:rPr>
                        <a:t>Type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Sofia Sans"/>
                          <a:ea typeface="Sofia Sans"/>
                          <a:cs typeface="Sofia Sans"/>
                        </a:rPr>
                        <a:t>Appropriate summary</a:t>
                      </a:r>
                    </a:p>
                  </a:txBody>
                  <a:tcPr>
                    <a:solidFill>
                      <a:srgbClr val="003B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  <a:latin typeface="Sofia Sans"/>
                          <a:ea typeface="Sofia Sans"/>
                          <a:cs typeface="Sofia Sans"/>
                        </a:rPr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  <a:latin typeface="Sofia Sans"/>
                          <a:ea typeface="Sofia Sans"/>
                          <a:cs typeface="Sofia Sans"/>
                        </a:rPr>
                        <a:t>Categorical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  <a:latin typeface="Sofia Sans"/>
                          <a:ea typeface="Sofia Sans"/>
                          <a:cs typeface="Sofia Sans"/>
                        </a:rPr>
                        <a:t>Counts, proportions, bar chart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  <a:latin typeface="Sofia Sans"/>
                          <a:ea typeface="Sofia Sans"/>
                          <a:cs typeface="Sofia Sans"/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  <a:latin typeface="Sofia Sans"/>
                          <a:ea typeface="Sofia Sans"/>
                          <a:cs typeface="Sofia Sans"/>
                        </a:rPr>
                        <a:t>Quantitative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  <a:latin typeface="Sofia Sans"/>
                          <a:ea typeface="Sofia Sans"/>
                          <a:cs typeface="Sofia Sans"/>
                        </a:rPr>
                        <a:t>Center, spread, histogram, boxplot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  <a:latin typeface="Sofia Sans"/>
                          <a:ea typeface="Sofia Sans"/>
                          <a:cs typeface="Sofia Sans"/>
                        </a:rPr>
                        <a:t>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  <a:latin typeface="Sofia Sans"/>
                          <a:ea typeface="Sofia Sans"/>
                          <a:cs typeface="Sofia Sans"/>
                        </a:rPr>
                        <a:t>Quantitative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D"/>
                          </a:solidFill>
                          <a:latin typeface="Sofia Sans"/>
                          <a:ea typeface="Sofia Sans"/>
                          <a:cs typeface="Sofia Sans"/>
                        </a:rPr>
                        <a:t>Center, spread, histogram, boxplot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237A9C8-66F7-4863-8B20-55C86341297C}"/>
              </a:ext>
            </a:extLst>
          </p:cNvPr>
          <p:cNvSpPr>
            <a:spLocks noGrp="1"/>
          </p:cNvSpPr>
          <p:nvPr/>
        </p:nvSpPr>
        <p:spPr>
          <a:xfrm>
            <a:off x="1714500" y="5191125"/>
            <a:ext cx="876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065"/>
          </a:bodyPr>
          <a:lstStyle/>
          <a:p>
            <a:pPr algn="ctr">
              <a:buNone/>
              <a:defRPr sz="20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Numbers can still be categorical: ZIP code and model ID are labels, not quantities.</a:t>
            </a:r>
          </a:p>
        </p:txBody>
      </p:sp>
    </p:spTree>
    <p:extLst>
      <p:ext uri="{BB962C8B-B14F-4D97-AF65-F5344CB8AC3E}">
        <p14:creationId xmlns:p14="http://schemas.microsoft.com/office/powerpoint/2010/main" val="1942429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845152-D02B-4DB7-89DF-9549C9657C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B254DE-6D99-4315-ADA5-D238A9317AB0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STATISTICAL FOUNDATIONS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D93F9B-8E22-45C6-9D7F-A3C732036C3E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63016A-85E3-483C-B162-2513378FCCE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4CCAFD-B297-4A1C-9C2E-6BA5191E37D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97D5DD2-0559-4969-9F18-377A35FFFC0B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Quantitative variables can count or measure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7E2E7B9-D54F-4A3A-8E06-022F745AF7A4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762500" cy="3429000"/>
          </a:xfrm>
          <a:prstGeom prst="roundRect">
            <a:avLst>
              <a:gd name="adj" fmla="val 6111"/>
            </a:avLst>
          </a:prstGeom>
          <a:solidFill>
            <a:srgbClr val="F3F9F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639748-CA71-48DF-8374-BD7F206FBE55}"/>
              </a:ext>
            </a:extLst>
          </p:cNvPr>
          <p:cNvSpPr>
            <a:spLocks noGrp="1"/>
          </p:cNvSpPr>
          <p:nvPr/>
        </p:nvSpPr>
        <p:spPr>
          <a:xfrm>
            <a:off x="1257300" y="2000250"/>
            <a:ext cx="400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833"/>
          </a:bodyPr>
          <a:lstStyle/>
          <a:p>
            <a:pPr algn="ctr">
              <a:buNone/>
              <a:defRPr sz="300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DISCRETE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98D157-C4F4-4FE7-85C5-935D7FEBE442}"/>
              </a:ext>
            </a:extLst>
          </p:cNvPr>
          <p:cNvSpPr>
            <a:spLocks noGrp="1"/>
          </p:cNvSpPr>
          <p:nvPr/>
        </p:nvSpPr>
        <p:spPr>
          <a:xfrm>
            <a:off x="1524000" y="2619375"/>
            <a:ext cx="3467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Countable outcomes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743B25-A0BB-4B81-B55D-E6889AB0023A}"/>
              </a:ext>
            </a:extLst>
          </p:cNvPr>
          <p:cNvSpPr>
            <a:spLocks noGrp="1"/>
          </p:cNvSpPr>
          <p:nvPr/>
        </p:nvSpPr>
        <p:spPr>
          <a:xfrm>
            <a:off x="1524000" y="3333750"/>
            <a:ext cx="3476625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/>
          </a:bodyPr>
          <a:lstStyle/>
          <a:p>
            <a:pPr marL="26" indent="-18">
              <a:spcAft>
                <a:spcPts val="15"/>
              </a:spcAft>
              <a:buChar char="•"/>
              <a:defRPr sz="180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Number of errors</a:t>
            </a:r>
          </a:p>
          <a:p>
            <a:pPr marL="26" indent="-18">
              <a:spcAft>
                <a:spcPts val="15"/>
              </a:spcAft>
              <a:buChar char="•"/>
              <a:defRPr sz="180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Tokens in a prompt</a:t>
            </a:r>
          </a:p>
          <a:p>
            <a:pPr marL="26" indent="-18">
              <a:spcAft>
                <a:spcPts val="15"/>
              </a:spcAft>
              <a:buChar char="•"/>
              <a:defRPr sz="180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Support tickets per hour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C91E8D7-0E6C-4CD7-85C2-784D238B9B9D}"/>
              </a:ext>
            </a:extLst>
          </p:cNvPr>
          <p:cNvSpPr>
            <a:spLocks noGrp="1"/>
          </p:cNvSpPr>
          <p:nvPr/>
        </p:nvSpPr>
        <p:spPr>
          <a:xfrm>
            <a:off x="6553200" y="1714500"/>
            <a:ext cx="4762500" cy="3429000"/>
          </a:xfrm>
          <a:prstGeom prst="roundRect">
            <a:avLst>
              <a:gd name="adj" fmla="val 6111"/>
            </a:avLst>
          </a:prstGeom>
          <a:solidFill>
            <a:srgbClr val="F6F5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810CC6-5720-4182-B92D-5766D187A938}"/>
              </a:ext>
            </a:extLst>
          </p:cNvPr>
          <p:cNvSpPr>
            <a:spLocks noGrp="1"/>
          </p:cNvSpPr>
          <p:nvPr/>
        </p:nvSpPr>
        <p:spPr>
          <a:xfrm>
            <a:off x="6934200" y="2000250"/>
            <a:ext cx="400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833"/>
          </a:bodyPr>
          <a:lstStyle/>
          <a:p>
            <a:pPr algn="ctr">
              <a:buNone/>
              <a:defRPr sz="300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CONTINUOUS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BA24BF-86EF-40D1-A11F-A7D715FAF220}"/>
              </a:ext>
            </a:extLst>
          </p:cNvPr>
          <p:cNvSpPr>
            <a:spLocks noGrp="1"/>
          </p:cNvSpPr>
          <p:nvPr/>
        </p:nvSpPr>
        <p:spPr>
          <a:xfrm>
            <a:off x="7200900" y="2619375"/>
            <a:ext cx="3467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Measured along a continuum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062F73-B22E-46CA-B7C0-F115BB4D2EC4}"/>
              </a:ext>
            </a:extLst>
          </p:cNvPr>
          <p:cNvSpPr>
            <a:spLocks noGrp="1"/>
          </p:cNvSpPr>
          <p:nvPr/>
        </p:nvSpPr>
        <p:spPr>
          <a:xfrm>
            <a:off x="7200900" y="3333750"/>
            <a:ext cx="3476625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/>
          </a:bodyPr>
          <a:lstStyle/>
          <a:p>
            <a:pPr marL="26" indent="-18">
              <a:spcAft>
                <a:spcPts val="15"/>
              </a:spcAft>
              <a:buChar char="•"/>
              <a:defRPr sz="180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Inference latency</a:t>
            </a:r>
          </a:p>
          <a:p>
            <a:pPr marL="26" indent="-18">
              <a:spcAft>
                <a:spcPts val="15"/>
              </a:spcAft>
              <a:buChar char="•"/>
              <a:defRPr sz="180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Temperature</a:t>
            </a:r>
          </a:p>
          <a:p>
            <a:pPr marL="26" indent="-18">
              <a:spcAft>
                <a:spcPts val="15"/>
              </a:spcAft>
              <a:buChar char="•"/>
              <a:defRPr sz="180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Probability score</a:t>
            </a:r>
          </a:p>
        </p:txBody>
      </p:sp>
    </p:spTree>
    <p:extLst>
      <p:ext uri="{BB962C8B-B14F-4D97-AF65-F5344CB8AC3E}">
        <p14:creationId xmlns:p14="http://schemas.microsoft.com/office/powerpoint/2010/main" val="731649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44B86F9-22BC-471B-AA3F-B4FBC50BE24F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0C9DDE-63F2-4FD6-8ED7-754876C99DDC}"/>
              </a:ext>
            </a:extLst>
          </p:cNvPr>
          <p:cNvSpPr>
            <a:spLocks noGrp="1"/>
          </p:cNvSpPr>
          <p:nvPr/>
        </p:nvSpPr>
        <p:spPr>
          <a:xfrm>
            <a:off x="666750" y="6286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9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9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Classify each variable before choosing a method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F7725D2-E944-439F-AA09-6ED44817EF23}"/>
              </a:ext>
            </a:extLst>
          </p:cNvPr>
          <p:cNvSpPr>
            <a:spLocks noGrp="1"/>
          </p:cNvSpPr>
          <p:nvPr/>
        </p:nvSpPr>
        <p:spPr>
          <a:xfrm>
            <a:off x="1000125" y="16954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75BEE9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7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7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48E72E-411A-42DA-98CA-B89039B4A27D}"/>
              </a:ext>
            </a:extLst>
          </p:cNvPr>
          <p:cNvSpPr>
            <a:spLocks noGrp="1"/>
          </p:cNvSpPr>
          <p:nvPr/>
        </p:nvSpPr>
        <p:spPr>
          <a:xfrm>
            <a:off x="1714500" y="1676400"/>
            <a:ext cx="5381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1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1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Model family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747F3E-DA62-4771-912A-06A533285F11}"/>
              </a:ext>
            </a:extLst>
          </p:cNvPr>
          <p:cNvSpPr>
            <a:spLocks noGrp="1"/>
          </p:cNvSpPr>
          <p:nvPr/>
        </p:nvSpPr>
        <p:spPr>
          <a:xfrm>
            <a:off x="7334250" y="1676400"/>
            <a:ext cx="3714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0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categorical  /  discrete  /  continuous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2E5BBE3-E970-448C-B5C2-6BCABBAE13E1}"/>
              </a:ext>
            </a:extLst>
          </p:cNvPr>
          <p:cNvSpPr>
            <a:spLocks noGrp="1"/>
          </p:cNvSpPr>
          <p:nvPr/>
        </p:nvSpPr>
        <p:spPr>
          <a:xfrm>
            <a:off x="1000125" y="24193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75BEE9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7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7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D3FAF6-760C-4583-8881-B0B04637AB02}"/>
              </a:ext>
            </a:extLst>
          </p:cNvPr>
          <p:cNvSpPr>
            <a:spLocks noGrp="1"/>
          </p:cNvSpPr>
          <p:nvPr/>
        </p:nvSpPr>
        <p:spPr>
          <a:xfrm>
            <a:off x="1714500" y="2400300"/>
            <a:ext cx="5381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1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1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Tokens per prompt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E0F8C9-D452-420C-9461-948E074D7E16}"/>
              </a:ext>
            </a:extLst>
          </p:cNvPr>
          <p:cNvSpPr>
            <a:spLocks noGrp="1"/>
          </p:cNvSpPr>
          <p:nvPr/>
        </p:nvSpPr>
        <p:spPr>
          <a:xfrm>
            <a:off x="7334250" y="2400300"/>
            <a:ext cx="3714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0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categorical  /  discrete  /  continuous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152D6B-1EA7-41A1-9394-4BEBBD720828}"/>
              </a:ext>
            </a:extLst>
          </p:cNvPr>
          <p:cNvSpPr>
            <a:spLocks noGrp="1"/>
          </p:cNvSpPr>
          <p:nvPr/>
        </p:nvSpPr>
        <p:spPr>
          <a:xfrm>
            <a:off x="1000125" y="31432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75BEE9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7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7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088344-EE58-4BB8-9705-E5B018A3BB53}"/>
              </a:ext>
            </a:extLst>
          </p:cNvPr>
          <p:cNvSpPr>
            <a:spLocks noGrp="1"/>
          </p:cNvSpPr>
          <p:nvPr/>
        </p:nvSpPr>
        <p:spPr>
          <a:xfrm>
            <a:off x="1714500" y="3124200"/>
            <a:ext cx="5381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1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1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Inference latency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173677-2A47-497B-9358-32A87F0BB358}"/>
              </a:ext>
            </a:extLst>
          </p:cNvPr>
          <p:cNvSpPr>
            <a:spLocks noGrp="1"/>
          </p:cNvSpPr>
          <p:nvPr/>
        </p:nvSpPr>
        <p:spPr>
          <a:xfrm>
            <a:off x="7334250" y="3124200"/>
            <a:ext cx="3714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0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categorical  /  discrete  /  continuous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2AB92C4-08B3-4481-A231-0A1A2A08D794}"/>
              </a:ext>
            </a:extLst>
          </p:cNvPr>
          <p:cNvSpPr>
            <a:spLocks noGrp="1"/>
          </p:cNvSpPr>
          <p:nvPr/>
        </p:nvSpPr>
        <p:spPr>
          <a:xfrm>
            <a:off x="1000125" y="38671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75BEE9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7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7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224E5B-06CD-40B9-8A07-351C76EFF4C1}"/>
              </a:ext>
            </a:extLst>
          </p:cNvPr>
          <p:cNvSpPr>
            <a:spLocks noGrp="1"/>
          </p:cNvSpPr>
          <p:nvPr/>
        </p:nvSpPr>
        <p:spPr>
          <a:xfrm>
            <a:off x="1714500" y="3848100"/>
            <a:ext cx="5381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1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1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User satisfaction (1-5)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7FA8C2-5CC6-4404-9ED0-68EBADBBBA6E}"/>
              </a:ext>
            </a:extLst>
          </p:cNvPr>
          <p:cNvSpPr>
            <a:spLocks noGrp="1"/>
          </p:cNvSpPr>
          <p:nvPr/>
        </p:nvSpPr>
        <p:spPr>
          <a:xfrm>
            <a:off x="7334250" y="3848100"/>
            <a:ext cx="3714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0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categorical  /  discrete  /  continuous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2A00E99-646F-4681-B891-5AAC90BBD90F}"/>
              </a:ext>
            </a:extLst>
          </p:cNvPr>
          <p:cNvSpPr>
            <a:spLocks noGrp="1"/>
          </p:cNvSpPr>
          <p:nvPr/>
        </p:nvSpPr>
        <p:spPr>
          <a:xfrm>
            <a:off x="1000125" y="45910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75BEE9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7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7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BB0B0B-87EF-42CF-B7A2-C11593BFB5F2}"/>
              </a:ext>
            </a:extLst>
          </p:cNvPr>
          <p:cNvSpPr>
            <a:spLocks noGrp="1"/>
          </p:cNvSpPr>
          <p:nvPr/>
        </p:nvSpPr>
        <p:spPr>
          <a:xfrm>
            <a:off x="1714500" y="4572000"/>
            <a:ext cx="5381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1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1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Hallucination detected (yes/no)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BA366F-E0F2-4629-BF29-97A13769C626}"/>
              </a:ext>
            </a:extLst>
          </p:cNvPr>
          <p:cNvSpPr>
            <a:spLocks noGrp="1"/>
          </p:cNvSpPr>
          <p:nvPr/>
        </p:nvSpPr>
        <p:spPr>
          <a:xfrm>
            <a:off x="7334250" y="4572000"/>
            <a:ext cx="3714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0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categorical  /  discrete  /  continuous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7BA589-2A0A-4530-80C9-94866E0CE70A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AAI 500  |  WEEK 1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098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4F279D-A3D5-44BD-8E9A-2EF2FA9DE50F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7D8163-A209-4F56-B706-94C67595C96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238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491"/>
          </a:bodyPr>
          <a:lstStyle/>
          <a:p>
            <a:pPr algn="l">
              <a:buNone/>
              <a:def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F12CA1-3074-4B31-806B-5116B7091EB7}"/>
              </a:ext>
            </a:extLst>
          </p:cNvPr>
          <p:cNvSpPr>
            <a:spLocks noGrp="1"/>
          </p:cNvSpPr>
          <p:nvPr/>
        </p:nvSpPr>
        <p:spPr>
          <a:xfrm>
            <a:off x="2857500" y="1200150"/>
            <a:ext cx="838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46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6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Describing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BE2FF1-0E37-4727-BA59-0FDDBDF84FDA}"/>
              </a:ext>
            </a:extLst>
          </p:cNvPr>
          <p:cNvSpPr>
            <a:spLocks noGrp="1"/>
          </p:cNvSpPr>
          <p:nvPr/>
        </p:nvSpPr>
        <p:spPr>
          <a:xfrm>
            <a:off x="2905125" y="2324100"/>
            <a:ext cx="1333500" cy="47625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90126D-A8FD-4B84-99CB-EED4DE3D8AA0}"/>
              </a:ext>
            </a:extLst>
          </p:cNvPr>
          <p:cNvSpPr>
            <a:spLocks noGrp="1"/>
          </p:cNvSpPr>
          <p:nvPr/>
        </p:nvSpPr>
        <p:spPr>
          <a:xfrm>
            <a:off x="2905125" y="2686050"/>
            <a:ext cx="7715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 useful summary preserves the features that matter: center, variability, shape, and context.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0AC0AE-76DB-40C5-B780-DC20A4A4EC4C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AAI 500  |  WEEK 1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80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333AA86-C8AF-4569-B3E6-F3DF951A41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3E3549-DC9D-4588-96E7-E1F89FEB861D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DESCRIBING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FD8B87-A4D3-4097-9D79-269791CA6B1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58AF93-A172-4DD4-A9B5-2B67630EE22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A69BD8-9894-422C-B196-8F732C2CD6D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F5E4DF1-ED07-48BA-9554-48E5E0313066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 distribution organizes values so patterns become visible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98F861-9FA0-4D64-A29D-79DB4AC86A46}"/>
              </a:ext>
            </a:extLst>
          </p:cNvPr>
          <p:cNvSpPr>
            <a:spLocks noGrp="1"/>
          </p:cNvSpPr>
          <p:nvPr/>
        </p:nvSpPr>
        <p:spPr>
          <a:xfrm>
            <a:off x="2990850" y="3238500"/>
            <a:ext cx="533400" cy="47625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B0FEB9DC-10BB-4902-AEF1-8DEEECADAD60}"/>
              </a:ext>
            </a:extLst>
          </p:cNvPr>
          <p:cNvSpPr>
            <a:spLocks noGrp="1"/>
          </p:cNvSpPr>
          <p:nvPr/>
        </p:nvSpPr>
        <p:spPr>
          <a:xfrm>
            <a:off x="3381375" y="3114675"/>
            <a:ext cx="209550" cy="285750"/>
          </a:xfrm>
          <a:prstGeom prst="triangle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49E64B-54DC-459D-80A4-B9D2A15FE0BB}"/>
              </a:ext>
            </a:extLst>
          </p:cNvPr>
          <p:cNvSpPr>
            <a:spLocks noGrp="1"/>
          </p:cNvSpPr>
          <p:nvPr/>
        </p:nvSpPr>
        <p:spPr>
          <a:xfrm>
            <a:off x="571500" y="1885950"/>
            <a:ext cx="2428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RAW VALUES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063099-3246-4990-88AD-F740827DB91D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2428875" cy="1809750"/>
          </a:xfrm>
          <a:prstGeom prst="roundRect">
            <a:avLst>
              <a:gd name="adj" fmla="val 8421"/>
            </a:avLst>
          </a:prstGeom>
          <a:solidFill>
            <a:srgbClr val="F3F9F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AD30BB-0410-4B54-8AE4-085E2C7EA123}"/>
              </a:ext>
            </a:extLst>
          </p:cNvPr>
          <p:cNvSpPr>
            <a:spLocks noGrp="1"/>
          </p:cNvSpPr>
          <p:nvPr/>
        </p:nvSpPr>
        <p:spPr>
          <a:xfrm>
            <a:off x="742950" y="2809875"/>
            <a:ext cx="2085975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7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47, 41, 23, 55, 36, 54,</a:t>
            </a:r>
          </a:p>
          <a:p>
            <a:pPr algn="ctr">
              <a:buNone/>
              <a:defRPr sz="17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48, 23, 22, 27, 37, 43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BB3EFA-986E-41FE-B53F-9C04A8A0A88D}"/>
              </a:ext>
            </a:extLst>
          </p:cNvPr>
          <p:cNvSpPr>
            <a:spLocks noGrp="1"/>
          </p:cNvSpPr>
          <p:nvPr/>
        </p:nvSpPr>
        <p:spPr>
          <a:xfrm>
            <a:off x="5895975" y="3238500"/>
            <a:ext cx="533400" cy="47625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0AA86263-F3E1-4E81-BFC0-356EE487427C}"/>
              </a:ext>
            </a:extLst>
          </p:cNvPr>
          <p:cNvSpPr>
            <a:spLocks noGrp="1"/>
          </p:cNvSpPr>
          <p:nvPr/>
        </p:nvSpPr>
        <p:spPr>
          <a:xfrm>
            <a:off x="6286500" y="3114675"/>
            <a:ext cx="209550" cy="285750"/>
          </a:xfrm>
          <a:prstGeom prst="triangle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9B75F-8B4D-4B86-939C-6AB3CF5B4D73}"/>
              </a:ext>
            </a:extLst>
          </p:cNvPr>
          <p:cNvSpPr>
            <a:spLocks noGrp="1"/>
          </p:cNvSpPr>
          <p:nvPr/>
        </p:nvSpPr>
        <p:spPr>
          <a:xfrm>
            <a:off x="3476625" y="1885950"/>
            <a:ext cx="2428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FREQUENCIES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F4108A5-B4B3-4518-996A-EE9C4E3447AC}"/>
              </a:ext>
            </a:extLst>
          </p:cNvPr>
          <p:cNvSpPr>
            <a:spLocks noGrp="1"/>
          </p:cNvSpPr>
          <p:nvPr/>
        </p:nvSpPr>
        <p:spPr>
          <a:xfrm>
            <a:off x="3476625" y="2571750"/>
            <a:ext cx="2428875" cy="1809750"/>
          </a:xfrm>
          <a:prstGeom prst="roundRect">
            <a:avLst>
              <a:gd name="adj" fmla="val 8421"/>
            </a:avLst>
          </a:prstGeom>
          <a:solidFill>
            <a:srgbClr val="F6F5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62AFE3-7CF8-45D0-B266-67336F576D90}"/>
              </a:ext>
            </a:extLst>
          </p:cNvPr>
          <p:cNvSpPr>
            <a:spLocks noGrp="1"/>
          </p:cNvSpPr>
          <p:nvPr/>
        </p:nvSpPr>
        <p:spPr>
          <a:xfrm>
            <a:off x="3648075" y="2809875"/>
            <a:ext cx="2085975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How often does each value</a:t>
            </a:r>
          </a:p>
          <a:p>
            <a:pPr algn="ctr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or interval occur?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A51356-FF68-4B36-B215-6EF39BB42759}"/>
              </a:ext>
            </a:extLst>
          </p:cNvPr>
          <p:cNvSpPr>
            <a:spLocks noGrp="1"/>
          </p:cNvSpPr>
          <p:nvPr/>
        </p:nvSpPr>
        <p:spPr>
          <a:xfrm>
            <a:off x="8801100" y="3238500"/>
            <a:ext cx="533400" cy="47625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FC9B3118-5854-4CD2-B055-1272BC362F15}"/>
              </a:ext>
            </a:extLst>
          </p:cNvPr>
          <p:cNvSpPr>
            <a:spLocks noGrp="1"/>
          </p:cNvSpPr>
          <p:nvPr/>
        </p:nvSpPr>
        <p:spPr>
          <a:xfrm>
            <a:off x="9191625" y="3114675"/>
            <a:ext cx="209550" cy="285750"/>
          </a:xfrm>
          <a:prstGeom prst="triangle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045F19-B553-42C6-9072-756B1A84774E}"/>
              </a:ext>
            </a:extLst>
          </p:cNvPr>
          <p:cNvSpPr>
            <a:spLocks noGrp="1"/>
          </p:cNvSpPr>
          <p:nvPr/>
        </p:nvSpPr>
        <p:spPr>
          <a:xfrm>
            <a:off x="6381750" y="1885950"/>
            <a:ext cx="2428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RELATIVE FREQUENCIES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9B05390-34AB-4E40-B3B9-C0AD74682235}"/>
              </a:ext>
            </a:extLst>
          </p:cNvPr>
          <p:cNvSpPr>
            <a:spLocks noGrp="1"/>
          </p:cNvSpPr>
          <p:nvPr/>
        </p:nvSpPr>
        <p:spPr>
          <a:xfrm>
            <a:off x="6381750" y="2571750"/>
            <a:ext cx="2428875" cy="1809750"/>
          </a:xfrm>
          <a:prstGeom prst="roundRect">
            <a:avLst>
              <a:gd name="adj" fmla="val 8421"/>
            </a:avLst>
          </a:prstGeom>
          <a:solidFill>
            <a:srgbClr val="F3F9F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E04BB4-4C94-4DF5-BD33-E4B0FA5E9E54}"/>
              </a:ext>
            </a:extLst>
          </p:cNvPr>
          <p:cNvSpPr>
            <a:spLocks noGrp="1"/>
          </p:cNvSpPr>
          <p:nvPr/>
        </p:nvSpPr>
        <p:spPr>
          <a:xfrm>
            <a:off x="6553200" y="2809875"/>
            <a:ext cx="2085975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What proportion of the</a:t>
            </a:r>
          </a:p>
          <a:p>
            <a:pPr algn="ctr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whole does it represent?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937563-169C-41AE-9A9A-F0338ABF3B4C}"/>
              </a:ext>
            </a:extLst>
          </p:cNvPr>
          <p:cNvSpPr>
            <a:spLocks noGrp="1"/>
          </p:cNvSpPr>
          <p:nvPr/>
        </p:nvSpPr>
        <p:spPr>
          <a:xfrm>
            <a:off x="9286875" y="1885950"/>
            <a:ext cx="2428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INTERPRETATION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D368DEC-EBAD-4D71-BB3D-E7B0CBECC616}"/>
              </a:ext>
            </a:extLst>
          </p:cNvPr>
          <p:cNvSpPr>
            <a:spLocks noGrp="1"/>
          </p:cNvSpPr>
          <p:nvPr/>
        </p:nvSpPr>
        <p:spPr>
          <a:xfrm>
            <a:off x="9286875" y="2571750"/>
            <a:ext cx="2428875" cy="1809750"/>
          </a:xfrm>
          <a:prstGeom prst="roundRect">
            <a:avLst>
              <a:gd name="adj" fmla="val 8421"/>
            </a:avLst>
          </a:prstGeom>
          <a:solidFill>
            <a:srgbClr val="F6F5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F8D8C9-6839-4927-A6CE-C21F25AEF671}"/>
              </a:ext>
            </a:extLst>
          </p:cNvPr>
          <p:cNvSpPr>
            <a:spLocks noGrp="1"/>
          </p:cNvSpPr>
          <p:nvPr/>
        </p:nvSpPr>
        <p:spPr>
          <a:xfrm>
            <a:off x="9458325" y="2809875"/>
            <a:ext cx="2085975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Where is the center?</a:t>
            </a:r>
          </a:p>
          <a:p>
            <a:pPr algn="ctr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How much variation?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C27678F-C84C-46C7-96F8-5564BC3161E7}"/>
              </a:ext>
            </a:extLst>
          </p:cNvPr>
          <p:cNvSpPr>
            <a:spLocks noGrp="1"/>
          </p:cNvSpPr>
          <p:nvPr/>
        </p:nvSpPr>
        <p:spPr>
          <a:xfrm>
            <a:off x="1905000" y="5010150"/>
            <a:ext cx="838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0" i="1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75" b="0" i="1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Data source: the Age column in the supplied Python notebook.</a:t>
            </a:r>
          </a:p>
        </p:txBody>
      </p:sp>
    </p:spTree>
    <p:extLst>
      <p:ext uri="{BB962C8B-B14F-4D97-AF65-F5344CB8AC3E}">
        <p14:creationId xmlns:p14="http://schemas.microsoft.com/office/powerpoint/2010/main" val="268595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ACD0643-A6D1-4EDF-A863-D003F7E2EE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2D00F3-C79C-4FC7-A167-C384410E6D48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DESCRIBING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BF0965-FAB8-47D5-B407-31315738147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E47214-AFDA-47E4-A425-FBEC2FAE9F3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0D904F-78CC-4123-A1BA-9A16028B680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827B404-E120-4358-9D3C-55881E92E2F6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Choose the chart that answers the question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3CB921-1893-4B78-8590-C4199E80949E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QUESTION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02CC09-B2C9-4DAD-BA76-0ED0B7D8869F}"/>
              </a:ext>
            </a:extLst>
          </p:cNvPr>
          <p:cNvSpPr>
            <a:spLocks noGrp="1"/>
          </p:cNvSpPr>
          <p:nvPr/>
        </p:nvSpPr>
        <p:spPr>
          <a:xfrm>
            <a:off x="4857750" y="1714500"/>
            <a:ext cx="2238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DISPLAY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76BD72-10BC-4527-BDC6-CCDA1DEAB278}"/>
              </a:ext>
            </a:extLst>
          </p:cNvPr>
          <p:cNvSpPr>
            <a:spLocks noGrp="1"/>
          </p:cNvSpPr>
          <p:nvPr/>
        </p:nvSpPr>
        <p:spPr>
          <a:xfrm>
            <a:off x="7667625" y="1714500"/>
            <a:ext cx="3476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EXAMPLE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9EC363-4D91-47CA-B3EE-67AE58D5E09A}"/>
              </a:ext>
            </a:extLst>
          </p:cNvPr>
          <p:cNvSpPr>
            <a:spLocks noGrp="1"/>
          </p:cNvSpPr>
          <p:nvPr/>
        </p:nvSpPr>
        <p:spPr>
          <a:xfrm>
            <a:off x="819150" y="2819400"/>
            <a:ext cx="103822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536C08-F8F2-4BD2-A217-6DCFF97753CB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Compare categories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7A29C3-D223-4C43-8098-72F126BC0407}"/>
              </a:ext>
            </a:extLst>
          </p:cNvPr>
          <p:cNvSpPr>
            <a:spLocks noGrp="1"/>
          </p:cNvSpPr>
          <p:nvPr/>
        </p:nvSpPr>
        <p:spPr>
          <a:xfrm>
            <a:off x="4857750" y="2190750"/>
            <a:ext cx="2238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1" i="0">
                <a:solidFill>
                  <a:srgbClr val="0074C8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0074C8"/>
                </a:solidFill>
                <a:latin typeface="Sofia Sans"/>
                <a:ea typeface="Sofia Sans"/>
                <a:cs typeface="Sofia Sans"/>
              </a:rPr>
              <a:t>Bar chart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B91F0C-FFA5-4E45-988C-72220FAD6E55}"/>
              </a:ext>
            </a:extLst>
          </p:cNvPr>
          <p:cNvSpPr>
            <a:spLocks noGrp="1"/>
          </p:cNvSpPr>
          <p:nvPr/>
        </p:nvSpPr>
        <p:spPr>
          <a:xfrm>
            <a:off x="7667625" y="2190750"/>
            <a:ext cx="3476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Position frequencies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54C9AC-8D55-45CF-B675-C839A15B4544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103822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229AFA-CEBB-4332-9642-598D5B9E7A6C}"/>
              </a:ext>
            </a:extLst>
          </p:cNvPr>
          <p:cNvSpPr>
            <a:spLocks noGrp="1"/>
          </p:cNvSpPr>
          <p:nvPr/>
        </p:nvSpPr>
        <p:spPr>
          <a:xfrm>
            <a:off x="876300" y="299085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1927"/>
          </a:bodyPr>
          <a:lstStyle/>
          <a:p>
            <a:pPr algn="l">
              <a:buNone/>
              <a:def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Inspect one quantitative distribution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2A1AFC-FA43-4098-871D-A186B6E72387}"/>
              </a:ext>
            </a:extLst>
          </p:cNvPr>
          <p:cNvSpPr>
            <a:spLocks noGrp="1"/>
          </p:cNvSpPr>
          <p:nvPr/>
        </p:nvSpPr>
        <p:spPr>
          <a:xfrm>
            <a:off x="4857750" y="2990850"/>
            <a:ext cx="2238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1" i="0">
                <a:solidFill>
                  <a:srgbClr val="0074C8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0074C8"/>
                </a:solidFill>
                <a:latin typeface="Sofia Sans"/>
                <a:ea typeface="Sofia Sans"/>
                <a:cs typeface="Sofia Sans"/>
              </a:rPr>
              <a:t>Histogram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663735-4D55-428D-BFE9-B2A3EF4C5674}"/>
              </a:ext>
            </a:extLst>
          </p:cNvPr>
          <p:cNvSpPr>
            <a:spLocks noGrp="1"/>
          </p:cNvSpPr>
          <p:nvPr/>
        </p:nvSpPr>
        <p:spPr>
          <a:xfrm>
            <a:off x="7667625" y="2990850"/>
            <a:ext cx="3476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Age distribution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61B2E7-AAED-43C4-B8C9-7CD662026926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103822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A5EB2B-AB06-496A-9AB5-7B643A825EEC}"/>
              </a:ext>
            </a:extLst>
          </p:cNvPr>
          <p:cNvSpPr>
            <a:spLocks noGrp="1"/>
          </p:cNvSpPr>
          <p:nvPr/>
        </p:nvSpPr>
        <p:spPr>
          <a:xfrm>
            <a:off x="876300" y="379095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1148"/>
          </a:bodyPr>
          <a:lstStyle/>
          <a:p>
            <a:pPr algn="l">
              <a:buNone/>
              <a:def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Compare center, spread, and outliers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0C2BCD-409D-4906-BB55-B6FA18146507}"/>
              </a:ext>
            </a:extLst>
          </p:cNvPr>
          <p:cNvSpPr>
            <a:spLocks noGrp="1"/>
          </p:cNvSpPr>
          <p:nvPr/>
        </p:nvSpPr>
        <p:spPr>
          <a:xfrm>
            <a:off x="4857750" y="3790950"/>
            <a:ext cx="2238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1" i="0">
                <a:solidFill>
                  <a:srgbClr val="0074C8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0074C8"/>
                </a:solidFill>
                <a:latin typeface="Sofia Sans"/>
                <a:ea typeface="Sofia Sans"/>
                <a:cs typeface="Sofia Sans"/>
              </a:rPr>
              <a:t>Boxplot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8E51DE-5C96-45F8-94BB-36CFC8CD57E9}"/>
              </a:ext>
            </a:extLst>
          </p:cNvPr>
          <p:cNvSpPr>
            <a:spLocks noGrp="1"/>
          </p:cNvSpPr>
          <p:nvPr/>
        </p:nvSpPr>
        <p:spPr>
          <a:xfrm>
            <a:off x="7667625" y="3790950"/>
            <a:ext cx="3476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Age by team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8C4EBE-04C2-478F-9217-FD1801D6F947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103822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1569DE-EC4B-45BD-A26C-CF57800F778B}"/>
              </a:ext>
            </a:extLst>
          </p:cNvPr>
          <p:cNvSpPr>
            <a:spLocks noGrp="1"/>
          </p:cNvSpPr>
          <p:nvPr/>
        </p:nvSpPr>
        <p:spPr>
          <a:xfrm>
            <a:off x="876300" y="459105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031"/>
          </a:bodyPr>
          <a:lstStyle/>
          <a:p>
            <a:pPr algn="l">
              <a:buNone/>
              <a:def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Examine two quantitative variables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B4FF0F-E9F1-4D87-AD13-3970A9D7DC41}"/>
              </a:ext>
            </a:extLst>
          </p:cNvPr>
          <p:cNvSpPr>
            <a:spLocks noGrp="1"/>
          </p:cNvSpPr>
          <p:nvPr/>
        </p:nvSpPr>
        <p:spPr>
          <a:xfrm>
            <a:off x="4857750" y="4591050"/>
            <a:ext cx="2238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1" i="0">
                <a:solidFill>
                  <a:srgbClr val="0074C8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0074C8"/>
                </a:solidFill>
                <a:latin typeface="Sofia Sans"/>
                <a:ea typeface="Sofia Sans"/>
                <a:cs typeface="Sofia Sans"/>
              </a:rPr>
              <a:t>Scatter plot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04D94C-6F58-4D68-9512-72EA2D5B6546}"/>
              </a:ext>
            </a:extLst>
          </p:cNvPr>
          <p:cNvSpPr>
            <a:spLocks noGrp="1"/>
          </p:cNvSpPr>
          <p:nvPr/>
        </p:nvSpPr>
        <p:spPr>
          <a:xfrm>
            <a:off x="7667625" y="4591050"/>
            <a:ext cx="3476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Experience vs. age</a:t>
            </a:r>
          </a:p>
        </p:txBody>
      </p:sp>
    </p:spTree>
    <p:extLst>
      <p:ext uri="{BB962C8B-B14F-4D97-AF65-F5344CB8AC3E}">
        <p14:creationId xmlns:p14="http://schemas.microsoft.com/office/powerpoint/2010/main" val="1176745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2D93909-78DB-4EF3-8380-63F4522475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E2DFFE-9A63-4186-AD12-88EE10407668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DESCRIBING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D64A23-4DD0-4008-BF2E-6C6C5984D06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BC795B-6196-4F9C-B542-DF8EEF10E57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EC96A9-0EEA-4DF5-BAC7-8F5BFE091D7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69D0D85-08B6-44FC-BF41-DF1D196F5B54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Mean, median, and mode summarize different features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62F328-37F4-4BFB-BDCF-BEA65EB8206C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8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MEAN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28B215-019A-4182-8598-E68CF2295FF7}"/>
              </a:ext>
            </a:extLst>
          </p:cNvPr>
          <p:cNvSpPr>
            <a:spLocks noGrp="1"/>
          </p:cNvSpPr>
          <p:nvPr/>
        </p:nvSpPr>
        <p:spPr>
          <a:xfrm>
            <a:off x="857250" y="2362200"/>
            <a:ext cx="30480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57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57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38.0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AC8FA7-0961-49FF-A8E5-FBD5FA9F73A8}"/>
              </a:ext>
            </a:extLst>
          </p:cNvPr>
          <p:cNvSpPr>
            <a:spLocks noGrp="1"/>
          </p:cNvSpPr>
          <p:nvPr/>
        </p:nvSpPr>
        <p:spPr>
          <a:xfrm>
            <a:off x="857250" y="354330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Balances every value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996FAE-E99D-4319-8822-28D8C7EDA72F}"/>
              </a:ext>
            </a:extLst>
          </p:cNvPr>
          <p:cNvSpPr>
            <a:spLocks noGrp="1"/>
          </p:cNvSpPr>
          <p:nvPr/>
        </p:nvSpPr>
        <p:spPr>
          <a:xfrm>
            <a:off x="4667250" y="179070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875" b="1" i="0">
                <a:solidFill>
                  <a:srgbClr val="0074C8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0074C8"/>
                </a:solidFill>
                <a:latin typeface="Sofia Sans"/>
                <a:ea typeface="Sofia Sans"/>
                <a:cs typeface="Sofia Sans"/>
              </a:rPr>
              <a:t>MEDIAN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933269-F9ED-4167-B947-5D069BDC3C30}"/>
              </a:ext>
            </a:extLst>
          </p:cNvPr>
          <p:cNvSpPr>
            <a:spLocks noGrp="1"/>
          </p:cNvSpPr>
          <p:nvPr/>
        </p:nvSpPr>
        <p:spPr>
          <a:xfrm>
            <a:off x="4667250" y="2362200"/>
            <a:ext cx="30480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57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57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39.0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B87B55-418D-4D2C-8904-71CDE2A7BEDF}"/>
              </a:ext>
            </a:extLst>
          </p:cNvPr>
          <p:cNvSpPr>
            <a:spLocks noGrp="1"/>
          </p:cNvSpPr>
          <p:nvPr/>
        </p:nvSpPr>
        <p:spPr>
          <a:xfrm>
            <a:off x="4667250" y="354330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Splits ordered values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36316E-D804-4371-8A5F-FB8D10F74369}"/>
              </a:ext>
            </a:extLst>
          </p:cNvPr>
          <p:cNvSpPr>
            <a:spLocks noGrp="1"/>
          </p:cNvSpPr>
          <p:nvPr/>
        </p:nvSpPr>
        <p:spPr>
          <a:xfrm>
            <a:off x="8477250" y="179070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875" b="1" i="0">
                <a:solidFill>
                  <a:srgbClr val="00A4B3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00A4B3"/>
                </a:solidFill>
                <a:latin typeface="Sofia Sans"/>
                <a:ea typeface="Sofia Sans"/>
                <a:cs typeface="Sofia Sans"/>
              </a:rPr>
              <a:t>MODE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1D78A3-0922-4FC3-B1B7-F8E7A77ED6E8}"/>
              </a:ext>
            </a:extLst>
          </p:cNvPr>
          <p:cNvSpPr>
            <a:spLocks noGrp="1"/>
          </p:cNvSpPr>
          <p:nvPr/>
        </p:nvSpPr>
        <p:spPr>
          <a:xfrm>
            <a:off x="8477250" y="2362200"/>
            <a:ext cx="30480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57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57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23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B1FEBC-ECDD-487B-9737-71D8FA5FDD15}"/>
              </a:ext>
            </a:extLst>
          </p:cNvPr>
          <p:cNvSpPr>
            <a:spLocks noGrp="1"/>
          </p:cNvSpPr>
          <p:nvPr/>
        </p:nvSpPr>
        <p:spPr>
          <a:xfrm>
            <a:off x="8477250" y="354330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Most frequent value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9755BD7-EA02-4D6C-9AC2-E172ACDDA2CC}"/>
              </a:ext>
            </a:extLst>
          </p:cNvPr>
          <p:cNvSpPr>
            <a:spLocks noGrp="1"/>
          </p:cNvSpPr>
          <p:nvPr/>
        </p:nvSpPr>
        <p:spPr>
          <a:xfrm>
            <a:off x="1695450" y="4552950"/>
            <a:ext cx="8801100" cy="876300"/>
          </a:xfrm>
          <a:prstGeom prst="roundRect">
            <a:avLst>
              <a:gd name="adj" fmla="val 17391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7E2817-D540-475A-BAC8-1C21D6B69C9B}"/>
              </a:ext>
            </a:extLst>
          </p:cNvPr>
          <p:cNvSpPr>
            <a:spLocks noGrp="1"/>
          </p:cNvSpPr>
          <p:nvPr/>
        </p:nvSpPr>
        <p:spPr>
          <a:xfrm>
            <a:off x="2095500" y="4714875"/>
            <a:ext cx="800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No measure is automatically “best.” Choose the one that preserves the story of the distribution.</a:t>
            </a:r>
          </a:p>
        </p:txBody>
      </p:sp>
    </p:spTree>
    <p:extLst>
      <p:ext uri="{BB962C8B-B14F-4D97-AF65-F5344CB8AC3E}">
        <p14:creationId xmlns:p14="http://schemas.microsoft.com/office/powerpoint/2010/main" val="1746882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722E55C0-6DA7-4EAE-A635-EDB5B142AB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14AC34-AF3C-4433-86A2-C6FA4F7BBC36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DESCRIBING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944ADE-A247-4A74-B10C-0FADB2D6DB06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3BF810-C8C1-4E54-B9FA-8C99297F4A7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804FE0-DF7C-4FAC-AB3E-1E3F964850A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6784E39-E05A-4DC5-9A90-60C8F9F0BB4F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Variability tells us how much the observations differ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97A7F3-CC50-4F58-85B5-F1239214D7C8}"/>
              </a:ext>
            </a:extLst>
          </p:cNvPr>
          <p:cNvSpPr>
            <a:spLocks noGrp="1"/>
          </p:cNvSpPr>
          <p:nvPr/>
        </p:nvSpPr>
        <p:spPr>
          <a:xfrm>
            <a:off x="1524000" y="3143250"/>
            <a:ext cx="9048750" cy="47625"/>
          </a:xfrm>
          <a:prstGeom prst="rect">
            <a:avLst/>
          </a:prstGeom>
          <a:solidFill>
            <a:srgbClr val="7E7E8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F36A2B-DF5D-46B6-A386-5CD786205DE7}"/>
              </a:ext>
            </a:extLst>
          </p:cNvPr>
          <p:cNvSpPr>
            <a:spLocks noGrp="1"/>
          </p:cNvSpPr>
          <p:nvPr/>
        </p:nvSpPr>
        <p:spPr>
          <a:xfrm>
            <a:off x="1485900" y="2914650"/>
            <a:ext cx="76200" cy="514350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F8102F-2047-4B75-849C-6BF0070BD200}"/>
              </a:ext>
            </a:extLst>
          </p:cNvPr>
          <p:cNvSpPr>
            <a:spLocks noGrp="1"/>
          </p:cNvSpPr>
          <p:nvPr/>
        </p:nvSpPr>
        <p:spPr>
          <a:xfrm>
            <a:off x="1095375" y="2381250"/>
            <a:ext cx="85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22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D8C7-0938-4DA1-8FC6-B79881601EFE}"/>
              </a:ext>
            </a:extLst>
          </p:cNvPr>
          <p:cNvSpPr>
            <a:spLocks noGrp="1"/>
          </p:cNvSpPr>
          <p:nvPr/>
        </p:nvSpPr>
        <p:spPr>
          <a:xfrm>
            <a:off x="1000125" y="356235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MIN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C51A3B-81A4-4C9F-B084-213759440AF2}"/>
              </a:ext>
            </a:extLst>
          </p:cNvPr>
          <p:cNvSpPr>
            <a:spLocks noGrp="1"/>
          </p:cNvSpPr>
          <p:nvPr/>
        </p:nvSpPr>
        <p:spPr>
          <a:xfrm>
            <a:off x="2582704" y="2914650"/>
            <a:ext cx="76200" cy="514350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072140-A628-4C5A-8B06-C83FF8097C5E}"/>
              </a:ext>
            </a:extLst>
          </p:cNvPr>
          <p:cNvSpPr>
            <a:spLocks noGrp="1"/>
          </p:cNvSpPr>
          <p:nvPr/>
        </p:nvSpPr>
        <p:spPr>
          <a:xfrm>
            <a:off x="2192179" y="2381250"/>
            <a:ext cx="85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26.0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538C28-25AC-4EC2-858B-F5F2EED007BE}"/>
              </a:ext>
            </a:extLst>
          </p:cNvPr>
          <p:cNvSpPr>
            <a:spLocks noGrp="1"/>
          </p:cNvSpPr>
          <p:nvPr/>
        </p:nvSpPr>
        <p:spPr>
          <a:xfrm>
            <a:off x="2096929" y="356235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Q1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6ED18D-F870-4853-85C6-AF0FCE5C85A0}"/>
              </a:ext>
            </a:extLst>
          </p:cNvPr>
          <p:cNvSpPr>
            <a:spLocks noGrp="1"/>
          </p:cNvSpPr>
          <p:nvPr/>
        </p:nvSpPr>
        <p:spPr>
          <a:xfrm>
            <a:off x="6147816" y="2914650"/>
            <a:ext cx="76200" cy="514350"/>
          </a:xfrm>
          <a:prstGeom prst="rect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5E6275-B672-407B-9FE0-00801584390F}"/>
              </a:ext>
            </a:extLst>
          </p:cNvPr>
          <p:cNvSpPr>
            <a:spLocks noGrp="1"/>
          </p:cNvSpPr>
          <p:nvPr/>
        </p:nvSpPr>
        <p:spPr>
          <a:xfrm>
            <a:off x="5757291" y="2381250"/>
            <a:ext cx="85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100" b="1" i="0">
                <a:solidFill>
                  <a:srgbClr val="F2650D"/>
                </a:solidFill>
                <a:latin typeface="Sofia Sans"/>
                <a:ea typeface="Sofia Sans"/>
                <a:cs typeface="Sofia Sans"/>
              </a:defRPr>
            </a:pPr>
            <a:r>
              <a:rPr sz="2100" b="1" i="0">
                <a:solidFill>
                  <a:srgbClr val="F2650D"/>
                </a:solidFill>
                <a:latin typeface="Sofia Sans"/>
                <a:ea typeface="Sofia Sans"/>
                <a:cs typeface="Sofia Sans"/>
              </a:rPr>
              <a:t>39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FEE3C0-D7EC-49F9-B58E-88A2B4027C8A}"/>
              </a:ext>
            </a:extLst>
          </p:cNvPr>
          <p:cNvSpPr>
            <a:spLocks noGrp="1"/>
          </p:cNvSpPr>
          <p:nvPr/>
        </p:nvSpPr>
        <p:spPr>
          <a:xfrm>
            <a:off x="5662041" y="356235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MEDIAN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44E824-83CE-4B32-AF04-17C8EF3AA4B2}"/>
              </a:ext>
            </a:extLst>
          </p:cNvPr>
          <p:cNvSpPr>
            <a:spLocks noGrp="1"/>
          </p:cNvSpPr>
          <p:nvPr/>
        </p:nvSpPr>
        <p:spPr>
          <a:xfrm>
            <a:off x="8409527" y="2914650"/>
            <a:ext cx="76200" cy="514350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D1D97B-C31F-437A-B876-8F0A48DC74C3}"/>
              </a:ext>
            </a:extLst>
          </p:cNvPr>
          <p:cNvSpPr>
            <a:spLocks noGrp="1"/>
          </p:cNvSpPr>
          <p:nvPr/>
        </p:nvSpPr>
        <p:spPr>
          <a:xfrm>
            <a:off x="8019002" y="2381250"/>
            <a:ext cx="85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47.25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47850B-31FE-4DCD-8819-87BCB4EA3118}"/>
              </a:ext>
            </a:extLst>
          </p:cNvPr>
          <p:cNvSpPr>
            <a:spLocks noGrp="1"/>
          </p:cNvSpPr>
          <p:nvPr/>
        </p:nvSpPr>
        <p:spPr>
          <a:xfrm>
            <a:off x="7923752" y="356235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Q3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0D5994-7111-47DB-B8F0-0EB7CB45E174}"/>
              </a:ext>
            </a:extLst>
          </p:cNvPr>
          <p:cNvSpPr>
            <a:spLocks noGrp="1"/>
          </p:cNvSpPr>
          <p:nvPr/>
        </p:nvSpPr>
        <p:spPr>
          <a:xfrm>
            <a:off x="10534650" y="2914650"/>
            <a:ext cx="76200" cy="514350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61A6B6-A0E6-449E-BECB-5CDEC8E14536}"/>
              </a:ext>
            </a:extLst>
          </p:cNvPr>
          <p:cNvSpPr>
            <a:spLocks noGrp="1"/>
          </p:cNvSpPr>
          <p:nvPr/>
        </p:nvSpPr>
        <p:spPr>
          <a:xfrm>
            <a:off x="10144125" y="2381250"/>
            <a:ext cx="85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55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BF8783-8AD9-476B-90A5-F38FAD12731D}"/>
              </a:ext>
            </a:extLst>
          </p:cNvPr>
          <p:cNvSpPr>
            <a:spLocks noGrp="1"/>
          </p:cNvSpPr>
          <p:nvPr/>
        </p:nvSpPr>
        <p:spPr>
          <a:xfrm>
            <a:off x="10048875" y="356235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MAX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FB4A6C-DC19-4913-BA12-48A6B3E5CB87}"/>
              </a:ext>
            </a:extLst>
          </p:cNvPr>
          <p:cNvSpPr>
            <a:spLocks noGrp="1"/>
          </p:cNvSpPr>
          <p:nvPr/>
        </p:nvSpPr>
        <p:spPr>
          <a:xfrm>
            <a:off x="1428750" y="43624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Range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ACAC06-9B89-4B91-B7BB-231B42789796}"/>
              </a:ext>
            </a:extLst>
          </p:cNvPr>
          <p:cNvSpPr>
            <a:spLocks noGrp="1"/>
          </p:cNvSpPr>
          <p:nvPr/>
        </p:nvSpPr>
        <p:spPr>
          <a:xfrm>
            <a:off x="1428750" y="4705350"/>
            <a:ext cx="266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8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8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33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06A20A-9C7B-4D23-96D8-FD24768BFD1A}"/>
              </a:ext>
            </a:extLst>
          </p:cNvPr>
          <p:cNvSpPr>
            <a:spLocks noGrp="1"/>
          </p:cNvSpPr>
          <p:nvPr/>
        </p:nvSpPr>
        <p:spPr>
          <a:xfrm>
            <a:off x="1428750" y="5219700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max - min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B6FD42-014F-4325-91AD-C61A80EC8912}"/>
              </a:ext>
            </a:extLst>
          </p:cNvPr>
          <p:cNvSpPr>
            <a:spLocks noGrp="1"/>
          </p:cNvSpPr>
          <p:nvPr/>
        </p:nvSpPr>
        <p:spPr>
          <a:xfrm>
            <a:off x="4810125" y="43624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IQR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AF4D02-2577-4412-88C4-936FC2BDD775}"/>
              </a:ext>
            </a:extLst>
          </p:cNvPr>
          <p:cNvSpPr>
            <a:spLocks noGrp="1"/>
          </p:cNvSpPr>
          <p:nvPr/>
        </p:nvSpPr>
        <p:spPr>
          <a:xfrm>
            <a:off x="4810125" y="4705350"/>
            <a:ext cx="266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8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8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21.25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36A280-411E-4820-9B93-D5206756E682}"/>
              </a:ext>
            </a:extLst>
          </p:cNvPr>
          <p:cNvSpPr>
            <a:spLocks noGrp="1"/>
          </p:cNvSpPr>
          <p:nvPr/>
        </p:nvSpPr>
        <p:spPr>
          <a:xfrm>
            <a:off x="4810125" y="5219700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Q3 - Q1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48D0C0-BBE7-4E07-BEA8-0E0E9FC55FEB}"/>
              </a:ext>
            </a:extLst>
          </p:cNvPr>
          <p:cNvSpPr>
            <a:spLocks noGrp="1"/>
          </p:cNvSpPr>
          <p:nvPr/>
        </p:nvSpPr>
        <p:spPr>
          <a:xfrm>
            <a:off x="8191500" y="43624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Sample SD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C90EF7-4E4F-4D16-87E8-8974F133E785}"/>
              </a:ext>
            </a:extLst>
          </p:cNvPr>
          <p:cNvSpPr>
            <a:spLocks noGrp="1"/>
          </p:cNvSpPr>
          <p:nvPr/>
        </p:nvSpPr>
        <p:spPr>
          <a:xfrm>
            <a:off x="8191500" y="4705350"/>
            <a:ext cx="266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8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8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12.0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659671B-5CD0-4536-89C4-5A9D6078BAA0}"/>
              </a:ext>
            </a:extLst>
          </p:cNvPr>
          <p:cNvSpPr>
            <a:spLocks noGrp="1"/>
          </p:cNvSpPr>
          <p:nvPr/>
        </p:nvSpPr>
        <p:spPr>
          <a:xfrm>
            <a:off x="8191500" y="5219700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typical distance from the mean</a:t>
            </a:r>
          </a:p>
        </p:txBody>
      </p:sp>
    </p:spTree>
    <p:extLst>
      <p:ext uri="{BB962C8B-B14F-4D97-AF65-F5344CB8AC3E}">
        <p14:creationId xmlns:p14="http://schemas.microsoft.com/office/powerpoint/2010/main" val="516808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B8F8E49-BD82-4962-9ADD-B6E1EB0706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CD4638-D4CC-439A-A30A-016EA115734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DESCRIBING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8D778F-AD96-4276-AD70-1DB043728832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0660C6-109C-44D6-A12C-4502C93F7C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AF35AC-FD77-4B43-8B2A-ECB52DB7747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2D7862-9B59-4EC6-8CEB-0595A1919D97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 histogram reveals shape that a single number cannot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="762000" y="1600200"/>
          <a:ext cx="676275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35748F-FCB2-4EF5-AE66-E0CAF85814E2}"/>
              </a:ext>
            </a:extLst>
          </p:cNvPr>
          <p:cNvSpPr>
            <a:spLocks noGrp="1"/>
          </p:cNvSpPr>
          <p:nvPr/>
        </p:nvSpPr>
        <p:spPr>
          <a:xfrm>
            <a:off x="8048625" y="18097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Read the shape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412494-CE6C-4653-8326-958A3446F93B}"/>
              </a:ext>
            </a:extLst>
          </p:cNvPr>
          <p:cNvSpPr>
            <a:spLocks noGrp="1"/>
          </p:cNvSpPr>
          <p:nvPr/>
        </p:nvSpPr>
        <p:spPr>
          <a:xfrm>
            <a:off x="8048625" y="2571750"/>
            <a:ext cx="31432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/>
          </a:bodyPr>
          <a:lstStyle/>
          <a:p>
            <a:pPr marL="26" indent="-18">
              <a:spcAft>
                <a:spcPts val="16"/>
              </a:spcAft>
              <a:buChar char="•"/>
              <a:defRPr sz="180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Where is the center?</a:t>
            </a:r>
          </a:p>
          <a:p>
            <a:pPr marL="26" indent="-18">
              <a:spcAft>
                <a:spcPts val="16"/>
              </a:spcAft>
              <a:buChar char="•"/>
              <a:defRPr sz="180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How wide is the spread?</a:t>
            </a:r>
          </a:p>
          <a:p>
            <a:pPr marL="26" indent="-18">
              <a:spcAft>
                <a:spcPts val="16"/>
              </a:spcAft>
              <a:buChar char="•"/>
              <a:defRPr sz="180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Is the shape symmetric or skewed?</a:t>
            </a:r>
          </a:p>
          <a:p>
            <a:pPr marL="26" indent="-18">
              <a:spcAft>
                <a:spcPts val="16"/>
              </a:spcAft>
              <a:buChar char="•"/>
              <a:defRPr sz="180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Are there gaps or unusual values?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EACD9D-F488-46D8-9041-DCABF9E6D8FF}"/>
              </a:ext>
            </a:extLst>
          </p:cNvPr>
          <p:cNvSpPr>
            <a:spLocks noGrp="1"/>
          </p:cNvSpPr>
          <p:nvPr/>
        </p:nvSpPr>
        <p:spPr>
          <a:xfrm>
            <a:off x="7953375" y="4953000"/>
            <a:ext cx="3286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8080"/>
          </a:bodyPr>
          <a:lstStyle/>
          <a:p>
            <a:pPr algn="ctr">
              <a:buNone/>
              <a:defRPr sz="1650" b="1" i="0">
                <a:solidFill>
                  <a:srgbClr val="0074C8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0074C8"/>
                </a:solidFill>
                <a:latin typeface="Sofia Sans"/>
                <a:ea typeface="Sofia Sans"/>
                <a:cs typeface="Sofia Sans"/>
              </a:rPr>
              <a:t>Bins summarize; changing them can change what the viewer notices.</a:t>
            </a:r>
          </a:p>
        </p:txBody>
      </p:sp>
    </p:spTree>
    <p:extLst>
      <p:ext uri="{BB962C8B-B14F-4D97-AF65-F5344CB8AC3E}">
        <p14:creationId xmlns:p14="http://schemas.microsoft.com/office/powerpoint/2010/main" val="1707760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9C2A07E-D997-4CBF-B90F-69667202CE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E29A9D-9937-408C-ABE4-31F1541B7FCD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TEXTBOOK EXAMPLE · CARBON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0CDEA7-B1DF-4CDF-AD53-7AAB239E5DB8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429D39-4964-4B17-AE19-977BF6A0FE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8F81CD-6B8E-4FAA-9734-0CCD0A9870C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59405BD-5EBD-48CC-BB93-BB14A9F5CF7C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6822"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Book example: describe the Carbon distribution before modeling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3B61A82-83C6-4E56-94E5-04CF96ED6741}"/>
              </a:ext>
            </a:extLst>
          </p:cNvPr>
          <p:cNvSpPr>
            <a:spLocks noGrp="1"/>
          </p:cNvSpPr>
          <p:nvPr/>
        </p:nvSpPr>
        <p:spPr>
          <a:xfrm>
            <a:off x="742950" y="1581150"/>
            <a:ext cx="5429250" cy="3829050"/>
          </a:xfrm>
          <a:prstGeom prst="roundRect">
            <a:avLst>
              <a:gd name="adj" fmla="val 3980"/>
            </a:avLst>
          </a:prstGeom>
          <a:solidFill>
            <a:srgbClr val="102B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00D50E-8A87-4653-A96C-4D39AA6EF367}"/>
              </a:ext>
            </a:extLst>
          </p:cNvPr>
          <p:cNvSpPr>
            <a:spLocks noGrp="1"/>
          </p:cNvSpPr>
          <p:nvPr/>
        </p:nvSpPr>
        <p:spPr>
          <a:xfrm>
            <a:off x="1066800" y="1924050"/>
            <a:ext cx="4762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6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import pandas as pd</a:t>
            </a:r>
          </a:p>
          <a:p>
            <a:endParaRPr sz="1650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6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carbon = pd.read_csv(</a:t>
            </a:r>
          </a:p>
          <a:p>
            <a:pPr algn="l">
              <a:buNone/>
              <a:defRPr sz="16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"Carbon.dat", sep=r"\s+"</a:t>
            </a:r>
          </a:p>
          <a:p>
            <a:r>
              <a:t>)</a:t>
            </a:r>
          </a:p>
          <a:p>
            <a:pPr algn="l">
              <a:buNone/>
              <a:defRPr sz="16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carbon["CO2"].describe()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C23341-D4EA-43B0-A4A4-B21A00CE9697}"/>
              </a:ext>
            </a:extLst>
          </p:cNvPr>
          <p:cNvSpPr>
            <a:spLocks noGrp="1"/>
          </p:cNvSpPr>
          <p:nvPr/>
        </p:nvSpPr>
        <p:spPr>
          <a:xfrm>
            <a:off x="6953250" y="161925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12A92E-311B-4EBC-BBB1-63238393BB2E}"/>
              </a:ext>
            </a:extLst>
          </p:cNvPr>
          <p:cNvSpPr>
            <a:spLocks noGrp="1"/>
          </p:cNvSpPr>
          <p:nvPr/>
        </p:nvSpPr>
        <p:spPr>
          <a:xfrm>
            <a:off x="6953250" y="2143125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count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5F4AA6-5D9C-4ABC-9C5F-473F20DCE838}"/>
              </a:ext>
            </a:extLst>
          </p:cNvPr>
          <p:cNvSpPr>
            <a:spLocks noGrp="1"/>
          </p:cNvSpPr>
          <p:nvPr/>
        </p:nvSpPr>
        <p:spPr>
          <a:xfrm>
            <a:off x="7905750" y="214312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31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0C9844-9E60-46CA-BC2E-ED705FF7EAD1}"/>
              </a:ext>
            </a:extLst>
          </p:cNvPr>
          <p:cNvSpPr>
            <a:spLocks noGrp="1"/>
          </p:cNvSpPr>
          <p:nvPr/>
        </p:nvSpPr>
        <p:spPr>
          <a:xfrm>
            <a:off x="6953250" y="2600325"/>
            <a:ext cx="18859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C8249B-E0EB-4D25-BF10-46B5E43FF66C}"/>
              </a:ext>
            </a:extLst>
          </p:cNvPr>
          <p:cNvSpPr>
            <a:spLocks noGrp="1"/>
          </p:cNvSpPr>
          <p:nvPr/>
        </p:nvSpPr>
        <p:spPr>
          <a:xfrm>
            <a:off x="6953250" y="2809875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mean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D0C207-D9E4-4DF3-8CBB-E4461FE7AC55}"/>
              </a:ext>
            </a:extLst>
          </p:cNvPr>
          <p:cNvSpPr>
            <a:spLocks noGrp="1"/>
          </p:cNvSpPr>
          <p:nvPr/>
        </p:nvSpPr>
        <p:spPr>
          <a:xfrm>
            <a:off x="7905750" y="280987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5.819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301F02-6626-411D-BFA3-9A90A5ABE3C0}"/>
              </a:ext>
            </a:extLst>
          </p:cNvPr>
          <p:cNvSpPr>
            <a:spLocks noGrp="1"/>
          </p:cNvSpPr>
          <p:nvPr/>
        </p:nvSpPr>
        <p:spPr>
          <a:xfrm>
            <a:off x="6953250" y="3267075"/>
            <a:ext cx="18859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B308B8-2BE0-4F31-AB4F-BAE0E7BE70B9}"/>
              </a:ext>
            </a:extLst>
          </p:cNvPr>
          <p:cNvSpPr>
            <a:spLocks noGrp="1"/>
          </p:cNvSpPr>
          <p:nvPr/>
        </p:nvSpPr>
        <p:spPr>
          <a:xfrm>
            <a:off x="6953250" y="3476625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std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49A4EB-F5AF-44E7-9FC8-F842F477BA66}"/>
              </a:ext>
            </a:extLst>
          </p:cNvPr>
          <p:cNvSpPr>
            <a:spLocks noGrp="1"/>
          </p:cNvSpPr>
          <p:nvPr/>
        </p:nvSpPr>
        <p:spPr>
          <a:xfrm>
            <a:off x="7905750" y="347662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1.965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6033A4-2200-4F97-91E6-1641419CA347}"/>
              </a:ext>
            </a:extLst>
          </p:cNvPr>
          <p:cNvSpPr>
            <a:spLocks noGrp="1"/>
          </p:cNvSpPr>
          <p:nvPr/>
        </p:nvSpPr>
        <p:spPr>
          <a:xfrm>
            <a:off x="6953250" y="3933825"/>
            <a:ext cx="18859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E16E04-3478-4886-959A-C8FD5F8F4B0D}"/>
              </a:ext>
            </a:extLst>
          </p:cNvPr>
          <p:cNvSpPr>
            <a:spLocks noGrp="1"/>
          </p:cNvSpPr>
          <p:nvPr/>
        </p:nvSpPr>
        <p:spPr>
          <a:xfrm>
            <a:off x="6953250" y="4143375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min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EDE053-B719-4477-A9A8-3FC162CD2401}"/>
              </a:ext>
            </a:extLst>
          </p:cNvPr>
          <p:cNvSpPr>
            <a:spLocks noGrp="1"/>
          </p:cNvSpPr>
          <p:nvPr/>
        </p:nvSpPr>
        <p:spPr>
          <a:xfrm>
            <a:off x="7905750" y="414337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2.00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4386DA-2106-42FE-8B2C-3EFEFC5B0B6A}"/>
              </a:ext>
            </a:extLst>
          </p:cNvPr>
          <p:cNvSpPr>
            <a:spLocks noGrp="1"/>
          </p:cNvSpPr>
          <p:nvPr/>
        </p:nvSpPr>
        <p:spPr>
          <a:xfrm>
            <a:off x="6953250" y="4600575"/>
            <a:ext cx="18859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36FA9C-BEDA-4B9F-947F-6E10D7EAFCFC}"/>
              </a:ext>
            </a:extLst>
          </p:cNvPr>
          <p:cNvSpPr>
            <a:spLocks noGrp="1"/>
          </p:cNvSpPr>
          <p:nvPr/>
        </p:nvSpPr>
        <p:spPr>
          <a:xfrm>
            <a:off x="9096375" y="2143125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25%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451472-CC2D-4706-A816-07E00CCD0841}"/>
              </a:ext>
            </a:extLst>
          </p:cNvPr>
          <p:cNvSpPr>
            <a:spLocks noGrp="1"/>
          </p:cNvSpPr>
          <p:nvPr/>
        </p:nvSpPr>
        <p:spPr>
          <a:xfrm>
            <a:off x="10048875" y="214312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4.35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0568C5-62B1-47AE-9EEA-BD682D9B09C4}"/>
              </a:ext>
            </a:extLst>
          </p:cNvPr>
          <p:cNvSpPr>
            <a:spLocks noGrp="1"/>
          </p:cNvSpPr>
          <p:nvPr/>
        </p:nvSpPr>
        <p:spPr>
          <a:xfrm>
            <a:off x="9096375" y="2600325"/>
            <a:ext cx="18859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02351DB-0498-45AB-ABB9-9733397C0118}"/>
              </a:ext>
            </a:extLst>
          </p:cNvPr>
          <p:cNvSpPr>
            <a:spLocks noGrp="1"/>
          </p:cNvSpPr>
          <p:nvPr/>
        </p:nvSpPr>
        <p:spPr>
          <a:xfrm>
            <a:off x="9096375" y="2809875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50%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F97256-DD06-400F-A0C1-72BE721AA49B}"/>
              </a:ext>
            </a:extLst>
          </p:cNvPr>
          <p:cNvSpPr>
            <a:spLocks noGrp="1"/>
          </p:cNvSpPr>
          <p:nvPr/>
        </p:nvSpPr>
        <p:spPr>
          <a:xfrm>
            <a:off x="10048875" y="280987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5.40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0C6DC9-3867-4984-9D05-23F115D1BB01}"/>
              </a:ext>
            </a:extLst>
          </p:cNvPr>
          <p:cNvSpPr>
            <a:spLocks noGrp="1"/>
          </p:cNvSpPr>
          <p:nvPr/>
        </p:nvSpPr>
        <p:spPr>
          <a:xfrm>
            <a:off x="9096375" y="3267075"/>
            <a:ext cx="18859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7DD434-E4B5-4DA2-88D1-4676D8B9005C}"/>
              </a:ext>
            </a:extLst>
          </p:cNvPr>
          <p:cNvSpPr>
            <a:spLocks noGrp="1"/>
          </p:cNvSpPr>
          <p:nvPr/>
        </p:nvSpPr>
        <p:spPr>
          <a:xfrm>
            <a:off x="9096375" y="3476625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75%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C4E88E-7977-4F82-9EAB-9A6AFBB5056B}"/>
              </a:ext>
            </a:extLst>
          </p:cNvPr>
          <p:cNvSpPr>
            <a:spLocks noGrp="1"/>
          </p:cNvSpPr>
          <p:nvPr/>
        </p:nvSpPr>
        <p:spPr>
          <a:xfrm>
            <a:off x="10048875" y="347662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6.70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7AEAE2-6F46-4256-8F06-07E66204D937}"/>
              </a:ext>
            </a:extLst>
          </p:cNvPr>
          <p:cNvSpPr>
            <a:spLocks noGrp="1"/>
          </p:cNvSpPr>
          <p:nvPr/>
        </p:nvSpPr>
        <p:spPr>
          <a:xfrm>
            <a:off x="9096375" y="3933825"/>
            <a:ext cx="18859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B230D7-CAFA-49E8-B150-F26BA9D08EFC}"/>
              </a:ext>
            </a:extLst>
          </p:cNvPr>
          <p:cNvSpPr>
            <a:spLocks noGrp="1"/>
          </p:cNvSpPr>
          <p:nvPr/>
        </p:nvSpPr>
        <p:spPr>
          <a:xfrm>
            <a:off x="9096375" y="4143375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max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B3ECFB2-1D2A-4175-8682-B0FD495FE15E}"/>
              </a:ext>
            </a:extLst>
          </p:cNvPr>
          <p:cNvSpPr>
            <a:spLocks noGrp="1"/>
          </p:cNvSpPr>
          <p:nvPr/>
        </p:nvSpPr>
        <p:spPr>
          <a:xfrm>
            <a:off x="10048875" y="414337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9.90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85938D7-5B66-4046-BDE7-292FD6460AA9}"/>
              </a:ext>
            </a:extLst>
          </p:cNvPr>
          <p:cNvSpPr>
            <a:spLocks noGrp="1"/>
          </p:cNvSpPr>
          <p:nvPr/>
        </p:nvSpPr>
        <p:spPr>
          <a:xfrm>
            <a:off x="9096375" y="4600575"/>
            <a:ext cx="18859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6CC082F-49F5-42F0-98F4-6230E5E30E47}"/>
              </a:ext>
            </a:extLst>
          </p:cNvPr>
          <p:cNvSpPr>
            <a:spLocks noGrp="1"/>
          </p:cNvSpPr>
          <p:nvPr/>
        </p:nvSpPr>
        <p:spPr>
          <a:xfrm>
            <a:off x="6858000" y="500062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69002"/>
          </a:bodyPr>
          <a:lstStyle/>
          <a:p>
            <a:pPr algn="ctr">
              <a:buNone/>
              <a:defRPr sz="1875" b="1" i="0">
                <a:solidFill>
                  <a:srgbClr val="0074C8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0074C8"/>
                </a:solidFill>
                <a:latin typeface="Sofia Sans"/>
                <a:ea typeface="Sofia Sans"/>
                <a:cs typeface="Sofia Sans"/>
              </a:rPr>
              <a:t>Mean above median suggests right-skew; the range is 7.9 metric tons. · Textbook §1.3.3; Appendix B1.2</a:t>
            </a:r>
          </a:p>
        </p:txBody>
      </p:sp>
    </p:spTree>
    <p:extLst>
      <p:ext uri="{BB962C8B-B14F-4D97-AF65-F5344CB8AC3E}">
        <p14:creationId xmlns:p14="http://schemas.microsoft.com/office/powerpoint/2010/main" val="3344622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5E09122-ED4F-40EC-917D-5C28911C25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F82FEF-65CA-4468-9048-7712E33DCA0C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ETHICS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19AF59-E046-46E2-9CD0-DDC2E4D05D0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B197F7-0B5F-469C-8A51-CD1F0E857971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37B153-C8A2-4E8F-8C10-94DDBB2D0D6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33DC96-3EE4-42A8-A729-928BEA591EE7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Ethical statistics makes uncertainty inspectable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4E0C922-1F7D-4E2D-A791-1DB58631A447}"/>
              </a:ext>
            </a:extLst>
          </p:cNvPr>
          <p:cNvSpPr>
            <a:spLocks noGrp="1"/>
          </p:cNvSpPr>
          <p:nvPr/>
        </p:nvSpPr>
        <p:spPr>
          <a:xfrm>
            <a:off x="952500" y="161925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6270F5-645A-4B5F-9CD2-CA3554FC0CF5}"/>
              </a:ext>
            </a:extLst>
          </p:cNvPr>
          <p:cNvSpPr>
            <a:spLocks noGrp="1"/>
          </p:cNvSpPr>
          <p:nvPr/>
        </p:nvSpPr>
        <p:spPr>
          <a:xfrm>
            <a:off x="1809750" y="16002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175" b="1" i="0">
                <a:solidFill>
                  <a:srgbClr val="17324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17324D"/>
                </a:solidFill>
                <a:latin typeface="Sofia Sans Extra Condensed"/>
                <a:ea typeface="Sofia Sans Extra Condensed"/>
                <a:cs typeface="Sofia Sans Extra Condensed"/>
              </a:rPr>
              <a:t>Open data and methods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7B8D27-BB28-4CA5-8CF7-BFAB459EA072}"/>
              </a:ext>
            </a:extLst>
          </p:cNvPr>
          <p:cNvSpPr>
            <a:spLocks noGrp="1"/>
          </p:cNvSpPr>
          <p:nvPr/>
        </p:nvSpPr>
        <p:spPr>
          <a:xfrm>
            <a:off x="1809750" y="2266950"/>
            <a:ext cx="88582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A6A553A-4D7C-479C-99DA-0CB2E97603AE}"/>
              </a:ext>
            </a:extLst>
          </p:cNvPr>
          <p:cNvSpPr>
            <a:spLocks noGrp="1"/>
          </p:cNvSpPr>
          <p:nvPr/>
        </p:nvSpPr>
        <p:spPr>
          <a:xfrm>
            <a:off x="952500" y="23622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C0B387-C26F-46A6-95A1-AD8061816988}"/>
              </a:ext>
            </a:extLst>
          </p:cNvPr>
          <p:cNvSpPr>
            <a:spLocks noGrp="1"/>
          </p:cNvSpPr>
          <p:nvPr/>
        </p:nvSpPr>
        <p:spPr>
          <a:xfrm>
            <a:off x="1809750" y="234315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175" b="1" i="0">
                <a:solidFill>
                  <a:srgbClr val="17324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17324D"/>
                </a:solidFill>
                <a:latin typeface="Sofia Sans Extra Condensed"/>
                <a:ea typeface="Sofia Sans Extra Condensed"/>
                <a:cs typeface="Sofia Sans Extra Condensed"/>
              </a:rPr>
              <a:t>State what information enters the analysis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94A784-F4B0-4CCC-AF44-ED8C70961D85}"/>
              </a:ext>
            </a:extLst>
          </p:cNvPr>
          <p:cNvSpPr>
            <a:spLocks noGrp="1"/>
          </p:cNvSpPr>
          <p:nvPr/>
        </p:nvSpPr>
        <p:spPr>
          <a:xfrm>
            <a:off x="1809750" y="3009900"/>
            <a:ext cx="88582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4D38A3F-5B3F-48E0-A87C-B0CBEF431F6D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D9B7DC-4921-4BE1-A554-2B1BDBE07934}"/>
              </a:ext>
            </a:extLst>
          </p:cNvPr>
          <p:cNvSpPr>
            <a:spLocks noGrp="1"/>
          </p:cNvSpPr>
          <p:nvPr/>
        </p:nvSpPr>
        <p:spPr>
          <a:xfrm>
            <a:off x="1809750" y="30861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175" b="1" i="0">
                <a:solidFill>
                  <a:srgbClr val="17324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17324D"/>
                </a:solidFill>
                <a:latin typeface="Sofia Sans Extra Condensed"/>
                <a:ea typeface="Sofia Sans Extra Condensed"/>
                <a:cs typeface="Sofia Sans Extra Condensed"/>
              </a:rPr>
              <a:t>Create a culture that respects data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689003-5359-4A89-9B9E-FE39BE017609}"/>
              </a:ext>
            </a:extLst>
          </p:cNvPr>
          <p:cNvSpPr>
            <a:spLocks noGrp="1"/>
          </p:cNvSpPr>
          <p:nvPr/>
        </p:nvSpPr>
        <p:spPr>
          <a:xfrm>
            <a:off x="1809750" y="3752850"/>
            <a:ext cx="88582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BD1A761-C5CD-473D-8491-3A35F65E4687}"/>
              </a:ext>
            </a:extLst>
          </p:cNvPr>
          <p:cNvSpPr>
            <a:spLocks noGrp="1"/>
          </p:cNvSpPr>
          <p:nvPr/>
        </p:nvSpPr>
        <p:spPr>
          <a:xfrm>
            <a:off x="952500" y="38481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FE750E-49EA-4D2F-A89B-4E4557C6D4AD}"/>
              </a:ext>
            </a:extLst>
          </p:cNvPr>
          <p:cNvSpPr>
            <a:spLocks noGrp="1"/>
          </p:cNvSpPr>
          <p:nvPr/>
        </p:nvSpPr>
        <p:spPr>
          <a:xfrm>
            <a:off x="1809750" y="382905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175" b="1" i="0">
                <a:solidFill>
                  <a:srgbClr val="17324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17324D"/>
                </a:solidFill>
                <a:latin typeface="Sofia Sans Extra Condensed"/>
                <a:ea typeface="Sofia Sans Extra Condensed"/>
                <a:cs typeface="Sofia Sans Extra Condensed"/>
              </a:rPr>
              <a:t>Publish and welcome criticism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A77207-D239-41B4-8F5E-CE8AD7193425}"/>
              </a:ext>
            </a:extLst>
          </p:cNvPr>
          <p:cNvSpPr>
            <a:spLocks noGrp="1"/>
          </p:cNvSpPr>
          <p:nvPr/>
        </p:nvSpPr>
        <p:spPr>
          <a:xfrm>
            <a:off x="1809750" y="4495800"/>
            <a:ext cx="88582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86485A7-359D-42DF-9156-C69BFBE6E329}"/>
              </a:ext>
            </a:extLst>
          </p:cNvPr>
          <p:cNvSpPr>
            <a:spLocks noGrp="1"/>
          </p:cNvSpPr>
          <p:nvPr/>
        </p:nvSpPr>
        <p:spPr>
          <a:xfrm>
            <a:off x="952500" y="459105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F2650D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85BF99-339F-40CB-9E94-15A348A9CA15}"/>
              </a:ext>
            </a:extLst>
          </p:cNvPr>
          <p:cNvSpPr>
            <a:spLocks noGrp="1"/>
          </p:cNvSpPr>
          <p:nvPr/>
        </p:nvSpPr>
        <p:spPr>
          <a:xfrm>
            <a:off x="1809750" y="45720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175" b="1" i="0">
                <a:solidFill>
                  <a:srgbClr val="17324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17324D"/>
                </a:solidFill>
                <a:latin typeface="Sofia Sans Extra Condensed"/>
                <a:ea typeface="Sofia Sans Extra Condensed"/>
                <a:cs typeface="Sofia Sans Extra Condensed"/>
              </a:rPr>
              <a:t>Respect the limits of statistical methods</a:t>
            </a:r>
          </a:p>
        </p:txBody>
      </p:sp>
    </p:spTree>
    <p:extLst>
      <p:ext uri="{BB962C8B-B14F-4D97-AF65-F5344CB8AC3E}">
        <p14:creationId xmlns:p14="http://schemas.microsoft.com/office/powerpoint/2010/main" val="64751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C62A26A-08B6-44B9-B6A8-A99993754C82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311FCF-1090-4B60-B84A-AFF639719442}"/>
              </a:ext>
            </a:extLst>
          </p:cNvPr>
          <p:cNvSpPr>
            <a:spLocks noGrp="1"/>
          </p:cNvSpPr>
          <p:nvPr/>
        </p:nvSpPr>
        <p:spPr>
          <a:xfrm>
            <a:off x="762000" y="704850"/>
            <a:ext cx="1619250" cy="342900"/>
          </a:xfrm>
          <a:prstGeom prst="roundRect">
            <a:avLst>
              <a:gd name="adj" fmla="val 27778"/>
            </a:avLst>
          </a:prstGeom>
          <a:solidFill>
            <a:srgbClr val="75BEE9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/>
          </a:bodyPr>
          <a:lstStyle/>
          <a:p>
            <a:pPr algn="ctr">
              <a:buNone/>
              <a:defRPr sz="13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DISCUSSION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31DDE3-4796-44A4-89C2-48822783EE6F}"/>
              </a:ext>
            </a:extLst>
          </p:cNvPr>
          <p:cNvSpPr>
            <a:spLocks noGrp="1"/>
          </p:cNvSpPr>
          <p:nvPr/>
        </p:nvSpPr>
        <p:spPr>
          <a:xfrm>
            <a:off x="742950" y="1390650"/>
            <a:ext cx="10477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40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0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When does a technically correct analysis become misleading?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6E9A7C1-1E30-4EF7-B2F1-B137776A6855}"/>
              </a:ext>
            </a:extLst>
          </p:cNvPr>
          <p:cNvSpPr>
            <a:spLocks noGrp="1"/>
          </p:cNvSpPr>
          <p:nvPr/>
        </p:nvSpPr>
        <p:spPr>
          <a:xfrm>
            <a:off x="933450" y="29527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75BEE9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2E6BE0-0AB0-46DC-96E7-3F63F23AEDA5}"/>
              </a:ext>
            </a:extLst>
          </p:cNvPr>
          <p:cNvSpPr>
            <a:spLocks noGrp="1"/>
          </p:cNvSpPr>
          <p:nvPr/>
        </p:nvSpPr>
        <p:spPr>
          <a:xfrm>
            <a:off x="1714500" y="2924175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02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02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The sample does not represent the target population.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C216786-6147-4086-9AC0-14886C18D90F}"/>
              </a:ext>
            </a:extLst>
          </p:cNvPr>
          <p:cNvSpPr>
            <a:spLocks noGrp="1"/>
          </p:cNvSpPr>
          <p:nvPr/>
        </p:nvSpPr>
        <p:spPr>
          <a:xfrm>
            <a:off x="933450" y="373380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75BEE9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E1D56F-23AF-4A1C-9AE1-173CF190A774}"/>
              </a:ext>
            </a:extLst>
          </p:cNvPr>
          <p:cNvSpPr>
            <a:spLocks noGrp="1"/>
          </p:cNvSpPr>
          <p:nvPr/>
        </p:nvSpPr>
        <p:spPr>
          <a:xfrm>
            <a:off x="1714500" y="3705225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02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02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 statistically significant result is presented as certain.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45EBCE6-9759-474C-831A-FF950ADEB766}"/>
              </a:ext>
            </a:extLst>
          </p:cNvPr>
          <p:cNvSpPr>
            <a:spLocks noGrp="1"/>
          </p:cNvSpPr>
          <p:nvPr/>
        </p:nvSpPr>
        <p:spPr>
          <a:xfrm>
            <a:off x="933450" y="45148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75BEE9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0CA13B-FD6B-499A-AFC2-38884CE0B9D5}"/>
              </a:ext>
            </a:extLst>
          </p:cNvPr>
          <p:cNvSpPr>
            <a:spLocks noGrp="1"/>
          </p:cNvSpPr>
          <p:nvPr/>
        </p:nvSpPr>
        <p:spPr>
          <a:xfrm>
            <a:off x="1714500" y="4486275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02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02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 model's limitations are omitted from the recommendation.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8F0C00-1A6D-4A72-9943-53536ED5F7D7}"/>
              </a:ext>
            </a:extLst>
          </p:cNvPr>
          <p:cNvSpPr>
            <a:spLocks noGrp="1"/>
          </p:cNvSpPr>
          <p:nvPr/>
        </p:nvSpPr>
        <p:spPr>
          <a:xfrm>
            <a:off x="1619250" y="5381625"/>
            <a:ext cx="8953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4563"/>
          </a:bodyPr>
          <a:lstStyle/>
          <a:p>
            <a:pPr algn="ctr">
              <a:buNone/>
              <a:defRPr sz="1725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725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Choose one scenario. Identify the technical issue, ethical risk, and a better communication choice.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2D6B34-0550-4481-ADA5-5F98297E0B6A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AAI 500  |  WEEK 1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3377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A1CBB0-4E75-4DEB-8E2D-F38A387CD581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1E162B-C282-4752-8445-86F930797D8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238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491"/>
          </a:bodyPr>
          <a:lstStyle/>
          <a:p>
            <a:pPr algn="l">
              <a:buNone/>
              <a:def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543FA5-F1D4-4E2B-AFE0-B64AEB14FB5D}"/>
              </a:ext>
            </a:extLst>
          </p:cNvPr>
          <p:cNvSpPr>
            <a:spLocks noGrp="1"/>
          </p:cNvSpPr>
          <p:nvPr/>
        </p:nvSpPr>
        <p:spPr>
          <a:xfrm>
            <a:off x="2857500" y="1200150"/>
            <a:ext cx="838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46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6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Python as a statistical workspace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19F286-2412-410F-B629-E0B941AAFA23}"/>
              </a:ext>
            </a:extLst>
          </p:cNvPr>
          <p:cNvSpPr>
            <a:spLocks noGrp="1"/>
          </p:cNvSpPr>
          <p:nvPr/>
        </p:nvSpPr>
        <p:spPr>
          <a:xfrm>
            <a:off x="2905125" y="2324100"/>
            <a:ext cx="1333500" cy="47625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FD3FD7-31B5-44CA-8D5A-5612B092C99A}"/>
              </a:ext>
            </a:extLst>
          </p:cNvPr>
          <p:cNvSpPr>
            <a:spLocks noGrp="1"/>
          </p:cNvSpPr>
          <p:nvPr/>
        </p:nvSpPr>
        <p:spPr>
          <a:xfrm>
            <a:off x="2905125" y="2686050"/>
            <a:ext cx="7715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The notebook connects theory, data, code, output, and interpretation in one reproducible record.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D43755-256B-4B48-82CD-A243EE09E967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AAI 500  |  WEEK 1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203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5DCD911-8974-41D6-9607-33DE157BBE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02EED5-E43E-4D9F-9420-7EA873E13683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PYTHON APPENDIX · CODE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314A66-70DF-437C-8E7D-9BAF8D1BBA18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361777-59B4-4C0F-B8D9-F63A7ACE60D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A01A20-CEC9-49F8-B2FC-FC8ACAF040B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EF1263-CCBA-4E6B-A5E3-A9FA15CD4394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66211"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The book's notebook style separates explanation from executable evidence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292E10-292F-403E-9D9B-BDE8A840E093}"/>
              </a:ext>
            </a:extLst>
          </p:cNvPr>
          <p:cNvSpPr>
            <a:spLocks noGrp="1"/>
          </p:cNvSpPr>
          <p:nvPr/>
        </p:nvSpPr>
        <p:spPr>
          <a:xfrm>
            <a:off x="904875" y="1666875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MARKDOWN CELL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21467B6-3C05-4362-BD2C-AF84C099DBB8}"/>
              </a:ext>
            </a:extLst>
          </p:cNvPr>
          <p:cNvSpPr>
            <a:spLocks noGrp="1"/>
          </p:cNvSpPr>
          <p:nvPr/>
        </p:nvSpPr>
        <p:spPr>
          <a:xfrm>
            <a:off x="904875" y="2143125"/>
            <a:ext cx="4762500" cy="2190750"/>
          </a:xfrm>
          <a:prstGeom prst="roundRect">
            <a:avLst>
              <a:gd name="adj" fmla="val 6957"/>
            </a:avLst>
          </a:prstGeom>
          <a:solidFill>
            <a:srgbClr val="F3F9FD"/>
          </a:solidFill>
          <a:ln w="19050">
            <a:solidFill>
              <a:srgbClr val="75B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924EAB-8BFD-410A-9054-FDF2FB37545C}"/>
              </a:ext>
            </a:extLst>
          </p:cNvPr>
          <p:cNvSpPr>
            <a:spLocks noGrp="1"/>
          </p:cNvSpPr>
          <p:nvPr/>
        </p:nvSpPr>
        <p:spPr>
          <a:xfrm>
            <a:off x="1190625" y="2428875"/>
            <a:ext cx="41910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3171"/>
          </a:bodyPr>
          <a:lstStyle/>
          <a:p>
            <a:pPr algn="l">
              <a:buNone/>
              <a:defRPr sz="1800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## Analysis question</a:t>
            </a:r>
          </a:p>
          <a:p>
            <a:endParaRPr sz="1800" b="0" i="0">
              <a:solidFill>
                <a:srgbClr val="17324D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800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How are per-capita CO₂ emissions distributed across the observed nations? State units and the population the data may represent.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419F46-C632-4245-9996-E5F0B09427BE}"/>
              </a:ext>
            </a:extLst>
          </p:cNvPr>
          <p:cNvSpPr>
            <a:spLocks noGrp="1"/>
          </p:cNvSpPr>
          <p:nvPr/>
        </p:nvSpPr>
        <p:spPr>
          <a:xfrm>
            <a:off x="6524625" y="1666875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CODE CELL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350E1B1-07CF-4303-99FF-B090B4EDB335}"/>
              </a:ext>
            </a:extLst>
          </p:cNvPr>
          <p:cNvSpPr>
            <a:spLocks noGrp="1"/>
          </p:cNvSpPr>
          <p:nvPr/>
        </p:nvSpPr>
        <p:spPr>
          <a:xfrm>
            <a:off x="6524625" y="2143125"/>
            <a:ext cx="4762500" cy="2190750"/>
          </a:xfrm>
          <a:prstGeom prst="roundRect">
            <a:avLst>
              <a:gd name="adj" fmla="val 6957"/>
            </a:avLst>
          </a:prstGeom>
          <a:solidFill>
            <a:srgbClr val="102B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F2C890-1FA2-4072-8013-2FC2CDB9C3E3}"/>
              </a:ext>
            </a:extLst>
          </p:cNvPr>
          <p:cNvSpPr>
            <a:spLocks noGrp="1"/>
          </p:cNvSpPr>
          <p:nvPr/>
        </p:nvSpPr>
        <p:spPr>
          <a:xfrm>
            <a:off x="6858000" y="2571750"/>
            <a:ext cx="4095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3232"/>
          </a:bodyPr>
          <a:lstStyle/>
          <a:p>
            <a:pPr algn="l">
              <a:buNone/>
              <a:defRPr sz="20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import pandas as pd</a:t>
            </a:r>
          </a:p>
          <a:p>
            <a:endParaRPr sz="202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20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 Imports belong near the top.</a:t>
            </a:r>
          </a:p>
          <a:p>
            <a:pPr algn="l">
              <a:buNone/>
              <a:defRPr sz="20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summary = carbon["CO2"].describe()</a:t>
            </a:r>
          </a:p>
          <a:p>
            <a:pPr algn="l">
              <a:buNone/>
              <a:defRPr sz="20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summary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0A87142-3C43-40C0-BBF1-B3DA373CC3D4}"/>
              </a:ext>
            </a:extLst>
          </p:cNvPr>
          <p:cNvSpPr>
            <a:spLocks noGrp="1"/>
          </p:cNvSpPr>
          <p:nvPr/>
        </p:nvSpPr>
        <p:spPr>
          <a:xfrm>
            <a:off x="1857375" y="4905375"/>
            <a:ext cx="8477250" cy="609600"/>
          </a:xfrm>
          <a:prstGeom prst="roundRect">
            <a:avLst>
              <a:gd name="adj" fmla="val 21875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8837F-F310-4DDA-AEF1-99883E8229F3}"/>
              </a:ext>
            </a:extLst>
          </p:cNvPr>
          <p:cNvSpPr>
            <a:spLocks noGrp="1"/>
          </p:cNvSpPr>
          <p:nvPr/>
        </p:nvSpPr>
        <p:spPr>
          <a:xfrm>
            <a:off x="2095500" y="5029200"/>
            <a:ext cx="800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1875"/>
          </a:bodyPr>
          <a:lstStyle/>
          <a:p>
            <a:pPr algn="ctr">
              <a:buNone/>
              <a:defRPr sz="19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9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Use # for comments; omit In[ ] / Out[ ] prompts in reusable code. · Python Appendix B1.1–B1.3</a:t>
            </a:r>
          </a:p>
        </p:txBody>
      </p:sp>
    </p:spTree>
    <p:extLst>
      <p:ext uri="{BB962C8B-B14F-4D97-AF65-F5344CB8AC3E}">
        <p14:creationId xmlns:p14="http://schemas.microsoft.com/office/powerpoint/2010/main" val="21022535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5DCD911-8974-41D6-9607-33DE157BBE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02EED5-E43E-4D9F-9420-7EA873E13683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PYTHON FOUNDATIONS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314A66-70DF-437C-8E7D-9BAF8D1BBA18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361777-59B4-4C0F-B8D9-F63A7ACE60D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A01A20-CEC9-49F8-B2FC-FC8ACAF040B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EF1263-CCBA-4E6B-A5E3-A9FA15CD4394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 notebook alternates explanation with executable evidence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292E10-292F-403E-9D9B-BDE8A840E093}"/>
              </a:ext>
            </a:extLst>
          </p:cNvPr>
          <p:cNvSpPr>
            <a:spLocks noGrp="1"/>
          </p:cNvSpPr>
          <p:nvPr/>
        </p:nvSpPr>
        <p:spPr>
          <a:xfrm>
            <a:off x="904875" y="1666875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MARKDOWN CELL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21467B6-3C05-4362-BD2C-AF84C099DBB8}"/>
              </a:ext>
            </a:extLst>
          </p:cNvPr>
          <p:cNvSpPr>
            <a:spLocks noGrp="1"/>
          </p:cNvSpPr>
          <p:nvPr/>
        </p:nvSpPr>
        <p:spPr>
          <a:xfrm>
            <a:off x="904875" y="2143125"/>
            <a:ext cx="4762500" cy="2190750"/>
          </a:xfrm>
          <a:prstGeom prst="roundRect">
            <a:avLst>
              <a:gd name="adj" fmla="val 6957"/>
            </a:avLst>
          </a:prstGeom>
          <a:solidFill>
            <a:srgbClr val="F3F9FD"/>
          </a:solidFill>
          <a:ln w="19050">
            <a:solidFill>
              <a:srgbClr val="75B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924EAB-8BFD-410A-9054-FDF2FB37545C}"/>
              </a:ext>
            </a:extLst>
          </p:cNvPr>
          <p:cNvSpPr>
            <a:spLocks noGrp="1"/>
          </p:cNvSpPr>
          <p:nvPr/>
        </p:nvSpPr>
        <p:spPr>
          <a:xfrm>
            <a:off x="1190625" y="2428875"/>
            <a:ext cx="41910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800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## Analysis question</a:t>
            </a:r>
          </a:p>
          <a:p>
            <a:endParaRPr sz="1800" b="0" i="0">
              <a:solidFill>
                <a:srgbClr val="17324D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800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We will summarize the distribution of age and explain what the output means.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419F46-C632-4245-9996-E5F0B09427BE}"/>
              </a:ext>
            </a:extLst>
          </p:cNvPr>
          <p:cNvSpPr>
            <a:spLocks noGrp="1"/>
          </p:cNvSpPr>
          <p:nvPr/>
        </p:nvSpPr>
        <p:spPr>
          <a:xfrm>
            <a:off x="6524625" y="1666875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CODE CELL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350E1B1-07CF-4303-99FF-B090B4EDB335}"/>
              </a:ext>
            </a:extLst>
          </p:cNvPr>
          <p:cNvSpPr>
            <a:spLocks noGrp="1"/>
          </p:cNvSpPr>
          <p:nvPr/>
        </p:nvSpPr>
        <p:spPr>
          <a:xfrm>
            <a:off x="6524625" y="2143125"/>
            <a:ext cx="4762500" cy="2190750"/>
          </a:xfrm>
          <a:prstGeom prst="roundRect">
            <a:avLst>
              <a:gd name="adj" fmla="val 6957"/>
            </a:avLst>
          </a:prstGeom>
          <a:solidFill>
            <a:srgbClr val="102B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F2C890-1FA2-4072-8013-2FC2CDB9C3E3}"/>
              </a:ext>
            </a:extLst>
          </p:cNvPr>
          <p:cNvSpPr>
            <a:spLocks noGrp="1"/>
          </p:cNvSpPr>
          <p:nvPr/>
        </p:nvSpPr>
        <p:spPr>
          <a:xfrm>
            <a:off x="6858000" y="2571750"/>
            <a:ext cx="4095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0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import pandas as pd</a:t>
            </a:r>
          </a:p>
          <a:p>
            <a:endParaRPr sz="202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20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df['Age'].describe()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0A87142-3C43-40C0-BBF1-B3DA373CC3D4}"/>
              </a:ext>
            </a:extLst>
          </p:cNvPr>
          <p:cNvSpPr>
            <a:spLocks noGrp="1"/>
          </p:cNvSpPr>
          <p:nvPr/>
        </p:nvSpPr>
        <p:spPr>
          <a:xfrm>
            <a:off x="1857375" y="4905375"/>
            <a:ext cx="8477250" cy="609600"/>
          </a:xfrm>
          <a:prstGeom prst="roundRect">
            <a:avLst>
              <a:gd name="adj" fmla="val 21875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8837F-F310-4DDA-AEF1-99883E8229F3}"/>
              </a:ext>
            </a:extLst>
          </p:cNvPr>
          <p:cNvSpPr>
            <a:spLocks noGrp="1"/>
          </p:cNvSpPr>
          <p:nvPr/>
        </p:nvSpPr>
        <p:spPr>
          <a:xfrm>
            <a:off x="2095500" y="5029200"/>
            <a:ext cx="800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237"/>
          </a:bodyPr>
          <a:lstStyle/>
          <a:p>
            <a:pPr algn="ctr">
              <a:buNone/>
              <a:defRPr sz="19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9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Run cells in a deliberate order: notebook state persists between executions.</a:t>
            </a:r>
          </a:p>
        </p:txBody>
      </p:sp>
    </p:spTree>
    <p:extLst>
      <p:ext uri="{BB962C8B-B14F-4D97-AF65-F5344CB8AC3E}">
        <p14:creationId xmlns:p14="http://schemas.microsoft.com/office/powerpoint/2010/main" val="2102253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2D87E26-51B8-498B-B41F-D7C1A561AB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AE5606-AD66-40C0-A89E-7E62C9E12F7F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PYTHON FOUNDATIONS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4AE825-27CD-43C0-8B08-6A632CF00D38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80B73-8B03-42DB-B1B9-AAC185B82BB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3984D7-B711-4BD2-9D18-6BB7AFDB491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76C9748-6069-4FD0-A49F-989464BDAC93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Python objects store values—and their types govern behavior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E5AE76C-BEB6-47A4-95B7-9AC6159F8002}"/>
              </a:ext>
            </a:extLst>
          </p:cNvPr>
          <p:cNvSpPr>
            <a:spLocks noGrp="1"/>
          </p:cNvSpPr>
          <p:nvPr/>
        </p:nvSpPr>
        <p:spPr>
          <a:xfrm>
            <a:off x="952500" y="1619250"/>
            <a:ext cx="1285875" cy="457200"/>
          </a:xfrm>
          <a:prstGeom prst="roundRect">
            <a:avLst>
              <a:gd name="adj" fmla="val 20833"/>
            </a:avLst>
          </a:prstGeom>
          <a:solidFill>
            <a:srgbClr val="0074C8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float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980735-F08A-421C-8DFB-EABEA6DCFFDB}"/>
              </a:ext>
            </a:extLst>
          </p:cNvPr>
          <p:cNvSpPr>
            <a:spLocks noGrp="1"/>
          </p:cNvSpPr>
          <p:nvPr/>
        </p:nvSpPr>
        <p:spPr>
          <a:xfrm>
            <a:off x="2619375" y="1600200"/>
            <a:ext cx="576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score = 0.87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0BA534-5FBB-4BBD-A64E-973E576A91AC}"/>
              </a:ext>
            </a:extLst>
          </p:cNvPr>
          <p:cNvSpPr>
            <a:spLocks noGrp="1"/>
          </p:cNvSpPr>
          <p:nvPr/>
        </p:nvSpPr>
        <p:spPr>
          <a:xfrm>
            <a:off x="8858250" y="161925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scalar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1FBAFD6-8034-442B-BD09-910FCE38FCE6}"/>
              </a:ext>
            </a:extLst>
          </p:cNvPr>
          <p:cNvSpPr>
            <a:spLocks noGrp="1"/>
          </p:cNvSpPr>
          <p:nvPr/>
        </p:nvSpPr>
        <p:spPr>
          <a:xfrm>
            <a:off x="952500" y="2400300"/>
            <a:ext cx="1285875" cy="457200"/>
          </a:xfrm>
          <a:prstGeom prst="roundRect">
            <a:avLst>
              <a:gd name="adj" fmla="val 20833"/>
            </a:avLst>
          </a:prstGeom>
          <a:solidFill>
            <a:srgbClr val="00A4B3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str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0FE25F-89DF-4965-A35E-A24B9DDF1C12}"/>
              </a:ext>
            </a:extLst>
          </p:cNvPr>
          <p:cNvSpPr>
            <a:spLocks noGrp="1"/>
          </p:cNvSpPr>
          <p:nvPr/>
        </p:nvSpPr>
        <p:spPr>
          <a:xfrm>
            <a:off x="2619375" y="2381250"/>
            <a:ext cx="576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label = 'spam'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5078C7-06D4-4F46-85AA-2D3F1D00708E}"/>
              </a:ext>
            </a:extLst>
          </p:cNvPr>
          <p:cNvSpPr>
            <a:spLocks noGrp="1"/>
          </p:cNvSpPr>
          <p:nvPr/>
        </p:nvSpPr>
        <p:spPr>
          <a:xfrm>
            <a:off x="8858250" y="24003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scalar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FAF63C7-D0AB-45AA-816A-5478A596D9BB}"/>
              </a:ext>
            </a:extLst>
          </p:cNvPr>
          <p:cNvSpPr>
            <a:spLocks noGrp="1"/>
          </p:cNvSpPr>
          <p:nvPr/>
        </p:nvSpPr>
        <p:spPr>
          <a:xfrm>
            <a:off x="952500" y="3181350"/>
            <a:ext cx="1285875" cy="457200"/>
          </a:xfrm>
          <a:prstGeom prst="roundRect">
            <a:avLst>
              <a:gd name="adj" fmla="val 20833"/>
            </a:avLst>
          </a:prstGeom>
          <a:solidFill>
            <a:srgbClr val="6AA14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bool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541929-90E7-4246-8F46-D5FCCBB8E22B}"/>
              </a:ext>
            </a:extLst>
          </p:cNvPr>
          <p:cNvSpPr>
            <a:spLocks noGrp="1"/>
          </p:cNvSpPr>
          <p:nvPr/>
        </p:nvSpPr>
        <p:spPr>
          <a:xfrm>
            <a:off x="2619375" y="3162300"/>
            <a:ext cx="576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passed = True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0B61C8-B897-41BA-96DA-1F82623B04F0}"/>
              </a:ext>
            </a:extLst>
          </p:cNvPr>
          <p:cNvSpPr>
            <a:spLocks noGrp="1"/>
          </p:cNvSpPr>
          <p:nvPr/>
        </p:nvSpPr>
        <p:spPr>
          <a:xfrm>
            <a:off x="8858250" y="318135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scalar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0E796BC-B832-4E87-863D-235E8A901CE9}"/>
              </a:ext>
            </a:extLst>
          </p:cNvPr>
          <p:cNvSpPr>
            <a:spLocks noGrp="1"/>
          </p:cNvSpPr>
          <p:nvPr/>
        </p:nvSpPr>
        <p:spPr>
          <a:xfrm>
            <a:off x="952500" y="3962400"/>
            <a:ext cx="1285875" cy="457200"/>
          </a:xfrm>
          <a:prstGeom prst="roundRect">
            <a:avLst>
              <a:gd name="adj" fmla="val 20833"/>
            </a:avLst>
          </a:prstGeom>
          <a:solidFill>
            <a:srgbClr val="F2650D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list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891EF6-85D5-473B-A460-FF0D542AA74A}"/>
              </a:ext>
            </a:extLst>
          </p:cNvPr>
          <p:cNvSpPr>
            <a:spLocks noGrp="1"/>
          </p:cNvSpPr>
          <p:nvPr/>
        </p:nvSpPr>
        <p:spPr>
          <a:xfrm>
            <a:off x="2619375" y="3943350"/>
            <a:ext cx="576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scores = [0.2, 0.7, 0.9]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0BC6B3-D625-4503-A777-1D88D37C5223}"/>
              </a:ext>
            </a:extLst>
          </p:cNvPr>
          <p:cNvSpPr>
            <a:spLocks noGrp="1"/>
          </p:cNvSpPr>
          <p:nvPr/>
        </p:nvSpPr>
        <p:spPr>
          <a:xfrm>
            <a:off x="8858250" y="39624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collection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4500D3D-346B-410F-A89E-15D9DD4EE46C}"/>
              </a:ext>
            </a:extLst>
          </p:cNvPr>
          <p:cNvSpPr>
            <a:spLocks noGrp="1"/>
          </p:cNvSpPr>
          <p:nvPr/>
        </p:nvSpPr>
        <p:spPr>
          <a:xfrm>
            <a:off x="952500" y="4743450"/>
            <a:ext cx="1285875" cy="457200"/>
          </a:xfrm>
          <a:prstGeom prst="roundRect">
            <a:avLst>
              <a:gd name="adj" fmla="val 20833"/>
            </a:avLst>
          </a:prstGeom>
          <a:solidFill>
            <a:srgbClr val="F1BB55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dict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D60BAA-B973-4092-926A-22CBAF8CEC0C}"/>
              </a:ext>
            </a:extLst>
          </p:cNvPr>
          <p:cNvSpPr>
            <a:spLocks noGrp="1"/>
          </p:cNvSpPr>
          <p:nvPr/>
        </p:nvSpPr>
        <p:spPr>
          <a:xfrm>
            <a:off x="2619375" y="4724400"/>
            <a:ext cx="576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record = {'id': 42}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4FCA48-55F2-42D1-AD38-96AD1EBAF7E1}"/>
              </a:ext>
            </a:extLst>
          </p:cNvPr>
          <p:cNvSpPr>
            <a:spLocks noGrp="1"/>
          </p:cNvSpPr>
          <p:nvPr/>
        </p:nvSpPr>
        <p:spPr>
          <a:xfrm>
            <a:off x="8858250" y="474345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collection</a:t>
            </a:r>
          </a:p>
        </p:txBody>
      </p:sp>
    </p:spTree>
    <p:extLst>
      <p:ext uri="{BB962C8B-B14F-4D97-AF65-F5344CB8AC3E}">
        <p14:creationId xmlns:p14="http://schemas.microsoft.com/office/powerpoint/2010/main" val="3635213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D2CBA52-35A7-4C83-A87C-5FDFCA0512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3C8C4B-1D7B-493F-8F6F-5787AA485C0D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PYTHON APPENDIX · DATA STRUCTURES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B723CE-8045-4739-B336-6D493FB7871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C87CA9-9B37-413A-B818-C757042B10A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572145-62E4-45D4-A545-CAAEE8AF226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29B415B-97B8-4CA8-956A-29A1FF5D73C8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7922"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 Python list and a NumPy array are not interchangeable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E7EF67-9C54-410C-A6EB-96F0059750C8}"/>
              </a:ext>
            </a:extLst>
          </p:cNvPr>
          <p:cNvSpPr>
            <a:spLocks noGrp="1"/>
          </p:cNvSpPr>
          <p:nvPr/>
        </p:nvSpPr>
        <p:spPr>
          <a:xfrm>
            <a:off x="1000125" y="1714500"/>
            <a:ext cx="438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300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LIST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8C0897-06CC-4C6F-AD58-77E0666472E1}"/>
              </a:ext>
            </a:extLst>
          </p:cNvPr>
          <p:cNvSpPr>
            <a:spLocks noGrp="1"/>
          </p:cNvSpPr>
          <p:nvPr/>
        </p:nvSpPr>
        <p:spPr>
          <a:xfrm>
            <a:off x="1000125" y="2333625"/>
            <a:ext cx="4476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General-purpose collection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AD4B9F-8500-45A1-A6B2-CDF345E77F11}"/>
              </a:ext>
            </a:extLst>
          </p:cNvPr>
          <p:cNvSpPr>
            <a:spLocks noGrp="1"/>
          </p:cNvSpPr>
          <p:nvPr/>
        </p:nvSpPr>
        <p:spPr>
          <a:xfrm>
            <a:off x="1000125" y="3238500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/>
          </a:bodyPr>
          <a:lstStyle/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values = [1, 2, 3, 4]</a:t>
            </a:r>
          </a:p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values / 2</a:t>
            </a:r>
          </a:p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→ TypeError</a:t>
            </a:r>
          </a:p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endParaRPr sz="1875">
              <a:solidFill>
                <a:srgbClr val="17324D"/>
              </a:solidFill>
              <a:latin typeface="Sofia Sans"/>
              <a:ea typeface="Sofia Sans"/>
              <a:cs typeface="Sofia Sans"/>
            </a:endParaRPr>
          </a:p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 list does not apply numeric operations element by element.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5CA70D-7ED7-415B-9D28-19F435A6377B}"/>
              </a:ext>
            </a:extLst>
          </p:cNvPr>
          <p:cNvSpPr>
            <a:spLocks noGrp="1"/>
          </p:cNvSpPr>
          <p:nvPr/>
        </p:nvSpPr>
        <p:spPr>
          <a:xfrm>
            <a:off x="6000750" y="1619250"/>
            <a:ext cx="28575" cy="381000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96727D-A5AE-4F38-ABB9-9A49E27B51E8}"/>
              </a:ext>
            </a:extLst>
          </p:cNvPr>
          <p:cNvSpPr>
            <a:spLocks noGrp="1"/>
          </p:cNvSpPr>
          <p:nvPr/>
        </p:nvSpPr>
        <p:spPr>
          <a:xfrm>
            <a:off x="6667500" y="1714500"/>
            <a:ext cx="438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300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rPr>
              <a:t>NUMPY ARRAY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7575D6-48E6-4A5C-90FB-EAD8705CF7EC}"/>
              </a:ext>
            </a:extLst>
          </p:cNvPr>
          <p:cNvSpPr>
            <a:spLocks noGrp="1"/>
          </p:cNvSpPr>
          <p:nvPr/>
        </p:nvSpPr>
        <p:spPr>
          <a:xfrm>
            <a:off x="6667500" y="2333625"/>
            <a:ext cx="4476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Vectorized numeric object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B9496B-6C5E-4F7F-A2A0-2AC075611FD0}"/>
              </a:ext>
            </a:extLst>
          </p:cNvPr>
          <p:cNvSpPr>
            <a:spLocks noGrp="1"/>
          </p:cNvSpPr>
          <p:nvPr/>
        </p:nvSpPr>
        <p:spPr>
          <a:xfrm>
            <a:off x="6667500" y="3238500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/>
          </a:bodyPr>
          <a:lstStyle/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values = np.array([1, 2, 3, 4])</a:t>
            </a:r>
          </a:p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values / 2</a:t>
            </a:r>
          </a:p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→ [0.5, 1.0, 1.5, 2.0]</a:t>
            </a:r>
          </a:p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endParaRPr sz="1875">
              <a:solidFill>
                <a:srgbClr val="17324D"/>
              </a:solidFill>
              <a:latin typeface="Sofia Sans"/>
              <a:ea typeface="Sofia Sans"/>
              <a:cs typeface="Sofia Sans"/>
            </a:endParaRPr>
          </a:p>
          <a:p>
            <a:pPr marL="26" indent="-18">
              <a:spcAft>
                <a:spcPts val="14"/>
              </a:spcAft>
              <a:buChar char="•"/>
              <a:defRPr sz="18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Array shape and dtype govern numeric behavior. · Appendix B1.3</a:t>
            </a:r>
          </a:p>
        </p:txBody>
      </p:sp>
    </p:spTree>
    <p:extLst>
      <p:ext uri="{BB962C8B-B14F-4D97-AF65-F5344CB8AC3E}">
        <p14:creationId xmlns:p14="http://schemas.microsoft.com/office/powerpoint/2010/main" val="16615639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25BF4410-D173-4F0D-8514-555C2EE20B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79C12C-7AC7-4F28-98C1-046F725B82C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PYTHON FOUNDATIONS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9E22CF-2280-4943-B90C-B4F1152BEE8C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F33DA8-669A-4F8F-8DC0-1246D4CED758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DF2523-C857-4868-AAF9-BF01B89E2AB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DC0EC1E-A340-4EA8-8E37-0657A1F9780D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The first analysis loop is small, repeatable, and inspectable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CB07F0-D6BB-4B96-A960-6C4BE06B4EB5}"/>
              </a:ext>
            </a:extLst>
          </p:cNvPr>
          <p:cNvSpPr>
            <a:spLocks noGrp="1"/>
          </p:cNvSpPr>
          <p:nvPr/>
        </p:nvSpPr>
        <p:spPr>
          <a:xfrm>
            <a:off x="809625" y="1666875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pandas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0B10DC-2BFE-4579-9E39-29846D491385}"/>
              </a:ext>
            </a:extLst>
          </p:cNvPr>
          <p:cNvSpPr>
            <a:spLocks noGrp="1"/>
          </p:cNvSpPr>
          <p:nvPr/>
        </p:nvSpPr>
        <p:spPr>
          <a:xfrm>
            <a:off x="809625" y="21907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tables + analysis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D2E2E-30A2-4C76-B1E3-244858E30034}"/>
              </a:ext>
            </a:extLst>
          </p:cNvPr>
          <p:cNvSpPr>
            <a:spLocks noGrp="1"/>
          </p:cNvSpPr>
          <p:nvPr/>
        </p:nvSpPr>
        <p:spPr>
          <a:xfrm>
            <a:off x="4524375" y="1666875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5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NumPy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524C56-0E94-403F-9BA4-4BAC93974CA7}"/>
              </a:ext>
            </a:extLst>
          </p:cNvPr>
          <p:cNvSpPr>
            <a:spLocks noGrp="1"/>
          </p:cNvSpPr>
          <p:nvPr/>
        </p:nvSpPr>
        <p:spPr>
          <a:xfrm>
            <a:off x="4524375" y="21907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arrays + numerical operations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39C807-C816-42A0-8F34-FB4DC46B315B}"/>
              </a:ext>
            </a:extLst>
          </p:cNvPr>
          <p:cNvSpPr>
            <a:spLocks noGrp="1"/>
          </p:cNvSpPr>
          <p:nvPr/>
        </p:nvSpPr>
        <p:spPr>
          <a:xfrm>
            <a:off x="8239125" y="1666875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55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rPr>
              <a:t>Matplotlib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5DBB3F-69E4-4F07-B7F8-7EE914842A75}"/>
              </a:ext>
            </a:extLst>
          </p:cNvPr>
          <p:cNvSpPr>
            <a:spLocks noGrp="1"/>
          </p:cNvSpPr>
          <p:nvPr/>
        </p:nvSpPr>
        <p:spPr>
          <a:xfrm>
            <a:off x="8239125" y="21907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statistical displays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03B42D-DBAE-442E-83F9-F02BA9749132}"/>
              </a:ext>
            </a:extLst>
          </p:cNvPr>
          <p:cNvSpPr>
            <a:spLocks noGrp="1"/>
          </p:cNvSpPr>
          <p:nvPr/>
        </p:nvSpPr>
        <p:spPr>
          <a:xfrm>
            <a:off x="1238250" y="3695700"/>
            <a:ext cx="9715500" cy="476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0AA0997-A030-47C5-B703-38F468F5D154}"/>
              </a:ext>
            </a:extLst>
          </p:cNvPr>
          <p:cNvSpPr>
            <a:spLocks noGrp="1"/>
          </p:cNvSpPr>
          <p:nvPr/>
        </p:nvSpPr>
        <p:spPr>
          <a:xfrm>
            <a:off x="933450" y="3390900"/>
            <a:ext cx="647700" cy="647700"/>
          </a:xfrm>
          <a:prstGeom prst="ellipse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29F857-F9B9-4D63-A9ED-0C0C98E57CB7}"/>
              </a:ext>
            </a:extLst>
          </p:cNvPr>
          <p:cNvSpPr>
            <a:spLocks noGrp="1"/>
          </p:cNvSpPr>
          <p:nvPr/>
        </p:nvSpPr>
        <p:spPr>
          <a:xfrm>
            <a:off x="933450" y="3409950"/>
            <a:ext cx="647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1AAC23-D36C-4E3A-9B7E-989A0A695379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Import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5083C5C-3CEC-4FFF-94D2-A442A90826C4}"/>
              </a:ext>
            </a:extLst>
          </p:cNvPr>
          <p:cNvSpPr>
            <a:spLocks noGrp="1"/>
          </p:cNvSpPr>
          <p:nvPr/>
        </p:nvSpPr>
        <p:spPr>
          <a:xfrm>
            <a:off x="2762250" y="3390900"/>
            <a:ext cx="647700" cy="647700"/>
          </a:xfrm>
          <a:prstGeom prst="ellipse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1A2A80-3EA4-4407-BDFD-10AABC17B864}"/>
              </a:ext>
            </a:extLst>
          </p:cNvPr>
          <p:cNvSpPr>
            <a:spLocks noGrp="1"/>
          </p:cNvSpPr>
          <p:nvPr/>
        </p:nvSpPr>
        <p:spPr>
          <a:xfrm>
            <a:off x="2762250" y="3409950"/>
            <a:ext cx="647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8ACD52-169C-4122-B4F8-7D6D7D017E5D}"/>
              </a:ext>
            </a:extLst>
          </p:cNvPr>
          <p:cNvSpPr>
            <a:spLocks noGrp="1"/>
          </p:cNvSpPr>
          <p:nvPr/>
        </p:nvSpPr>
        <p:spPr>
          <a:xfrm>
            <a:off x="2438400" y="42672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Inspect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D350BDB-5BB7-47F5-B619-A1C33CBB5B7E}"/>
              </a:ext>
            </a:extLst>
          </p:cNvPr>
          <p:cNvSpPr>
            <a:spLocks noGrp="1"/>
          </p:cNvSpPr>
          <p:nvPr/>
        </p:nvSpPr>
        <p:spPr>
          <a:xfrm>
            <a:off x="4591050" y="3390900"/>
            <a:ext cx="647700" cy="647700"/>
          </a:xfrm>
          <a:prstGeom prst="ellipse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5456D3-875B-4D12-A9B4-1F61A25B6893}"/>
              </a:ext>
            </a:extLst>
          </p:cNvPr>
          <p:cNvSpPr>
            <a:spLocks noGrp="1"/>
          </p:cNvSpPr>
          <p:nvPr/>
        </p:nvSpPr>
        <p:spPr>
          <a:xfrm>
            <a:off x="4591050" y="3409950"/>
            <a:ext cx="647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0B684B-4EAC-4C1F-AE18-8C1FCE738644}"/>
              </a:ext>
            </a:extLst>
          </p:cNvPr>
          <p:cNvSpPr>
            <a:spLocks noGrp="1"/>
          </p:cNvSpPr>
          <p:nvPr/>
        </p:nvSpPr>
        <p:spPr>
          <a:xfrm>
            <a:off x="4267200" y="42672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Clean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839F944-B111-462C-9362-DA870558B879}"/>
              </a:ext>
            </a:extLst>
          </p:cNvPr>
          <p:cNvSpPr>
            <a:spLocks noGrp="1"/>
          </p:cNvSpPr>
          <p:nvPr/>
        </p:nvSpPr>
        <p:spPr>
          <a:xfrm>
            <a:off x="6419850" y="3390900"/>
            <a:ext cx="647700" cy="647700"/>
          </a:xfrm>
          <a:prstGeom prst="ellipse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6B82BB-A73D-4A2F-8F51-201358BC5C3E}"/>
              </a:ext>
            </a:extLst>
          </p:cNvPr>
          <p:cNvSpPr>
            <a:spLocks noGrp="1"/>
          </p:cNvSpPr>
          <p:nvPr/>
        </p:nvSpPr>
        <p:spPr>
          <a:xfrm>
            <a:off x="6419850" y="3409950"/>
            <a:ext cx="647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284802-6E10-4D0B-8173-C23270B2FE34}"/>
              </a:ext>
            </a:extLst>
          </p:cNvPr>
          <p:cNvSpPr>
            <a:spLocks noGrp="1"/>
          </p:cNvSpPr>
          <p:nvPr/>
        </p:nvSpPr>
        <p:spPr>
          <a:xfrm>
            <a:off x="6096000" y="42672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Summarize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67B93C7-B41D-45E6-854D-B72386D0B2D2}"/>
              </a:ext>
            </a:extLst>
          </p:cNvPr>
          <p:cNvSpPr>
            <a:spLocks noGrp="1"/>
          </p:cNvSpPr>
          <p:nvPr/>
        </p:nvSpPr>
        <p:spPr>
          <a:xfrm>
            <a:off x="8248650" y="3390900"/>
            <a:ext cx="647700" cy="647700"/>
          </a:xfrm>
          <a:prstGeom prst="ellipse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1A1182-681E-4E39-B4C8-DA736F218A01}"/>
              </a:ext>
            </a:extLst>
          </p:cNvPr>
          <p:cNvSpPr>
            <a:spLocks noGrp="1"/>
          </p:cNvSpPr>
          <p:nvPr/>
        </p:nvSpPr>
        <p:spPr>
          <a:xfrm>
            <a:off x="8248650" y="3409950"/>
            <a:ext cx="647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72FCDDE-9618-4E20-ACA6-A25E0B6BCAAC}"/>
              </a:ext>
            </a:extLst>
          </p:cNvPr>
          <p:cNvSpPr>
            <a:spLocks noGrp="1"/>
          </p:cNvSpPr>
          <p:nvPr/>
        </p:nvSpPr>
        <p:spPr>
          <a:xfrm>
            <a:off x="7924800" y="42672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Visualize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4D0F339-E5EB-4C7C-B5AB-E8DCFF250486}"/>
              </a:ext>
            </a:extLst>
          </p:cNvPr>
          <p:cNvSpPr>
            <a:spLocks noGrp="1"/>
          </p:cNvSpPr>
          <p:nvPr/>
        </p:nvSpPr>
        <p:spPr>
          <a:xfrm>
            <a:off x="10077450" y="3390900"/>
            <a:ext cx="647700" cy="647700"/>
          </a:xfrm>
          <a:prstGeom prst="ellipse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244D2AB-3881-469D-8F88-AD677C686423}"/>
              </a:ext>
            </a:extLst>
          </p:cNvPr>
          <p:cNvSpPr>
            <a:spLocks noGrp="1"/>
          </p:cNvSpPr>
          <p:nvPr/>
        </p:nvSpPr>
        <p:spPr>
          <a:xfrm>
            <a:off x="10077450" y="3409950"/>
            <a:ext cx="647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0831BD-9FE9-47AA-B9C8-F1DD86D14FA0}"/>
              </a:ext>
            </a:extLst>
          </p:cNvPr>
          <p:cNvSpPr>
            <a:spLocks noGrp="1"/>
          </p:cNvSpPr>
          <p:nvPr/>
        </p:nvSpPr>
        <p:spPr>
          <a:xfrm>
            <a:off x="9753600" y="42672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Interpret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F69C84-6EE0-4F42-B642-012043D41996}"/>
              </a:ext>
            </a:extLst>
          </p:cNvPr>
          <p:cNvSpPr>
            <a:spLocks noGrp="1"/>
          </p:cNvSpPr>
          <p:nvPr/>
        </p:nvSpPr>
        <p:spPr>
          <a:xfrm>
            <a:off x="1619250" y="514350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0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Reproducibility begins with code another person can rerun and understand.</a:t>
            </a:r>
          </a:p>
        </p:txBody>
      </p:sp>
    </p:spTree>
    <p:extLst>
      <p:ext uri="{BB962C8B-B14F-4D97-AF65-F5344CB8AC3E}">
        <p14:creationId xmlns:p14="http://schemas.microsoft.com/office/powerpoint/2010/main" val="7939214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2D87E26-51B8-498B-B41F-D7C1A561AB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AE5606-AD66-40C0-A89E-7E62C9E12F7F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PYTHON APPENDIX · PACKAGE MAP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4AE825-27CD-43C0-8B08-6A632CF00D38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80B73-8B03-42DB-B1B9-AAC185B82BB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3984D7-B711-4BD2-9D18-6BB7AFDB491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76C9748-6069-4FD0-A49F-989464BDAC93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3270"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Python Appendix package map: use each library for one job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E5AE76C-BEB6-47A4-95B7-9AC6159F8002}"/>
              </a:ext>
            </a:extLst>
          </p:cNvPr>
          <p:cNvSpPr>
            <a:spLocks noGrp="1"/>
          </p:cNvSpPr>
          <p:nvPr/>
        </p:nvSpPr>
        <p:spPr>
          <a:xfrm>
            <a:off x="952500" y="1619250"/>
            <a:ext cx="1285875" cy="457200"/>
          </a:xfrm>
          <a:prstGeom prst="roundRect">
            <a:avLst>
              <a:gd name="adj" fmla="val 20833"/>
            </a:avLst>
          </a:prstGeom>
          <a:solidFill>
            <a:srgbClr val="0074C8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pandas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980735-F08A-421C-8DFB-EABEA6DCFFDB}"/>
              </a:ext>
            </a:extLst>
          </p:cNvPr>
          <p:cNvSpPr>
            <a:spLocks noGrp="1"/>
          </p:cNvSpPr>
          <p:nvPr/>
        </p:nvSpPr>
        <p:spPr>
          <a:xfrm>
            <a:off x="2619375" y="1600200"/>
            <a:ext cx="576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DataFrame + CSV I/O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0BA534-5FBB-4BBD-A64E-973E576A91AC}"/>
              </a:ext>
            </a:extLst>
          </p:cNvPr>
          <p:cNvSpPr>
            <a:spLocks noGrp="1"/>
          </p:cNvSpPr>
          <p:nvPr/>
        </p:nvSpPr>
        <p:spPr>
          <a:xfrm>
            <a:off x="8858250" y="161925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data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1FBAFD6-8034-442B-BD09-910FCE38FCE6}"/>
              </a:ext>
            </a:extLst>
          </p:cNvPr>
          <p:cNvSpPr>
            <a:spLocks noGrp="1"/>
          </p:cNvSpPr>
          <p:nvPr/>
        </p:nvSpPr>
        <p:spPr>
          <a:xfrm>
            <a:off x="952500" y="2400300"/>
            <a:ext cx="1285875" cy="457200"/>
          </a:xfrm>
          <a:prstGeom prst="roundRect">
            <a:avLst>
              <a:gd name="adj" fmla="val 20833"/>
            </a:avLst>
          </a:prstGeom>
          <a:solidFill>
            <a:srgbClr val="00A4B3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NumPy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0FE25F-89DF-4965-A35E-A24B9DDF1C12}"/>
              </a:ext>
            </a:extLst>
          </p:cNvPr>
          <p:cNvSpPr>
            <a:spLocks noGrp="1"/>
          </p:cNvSpPr>
          <p:nvPr/>
        </p:nvSpPr>
        <p:spPr>
          <a:xfrm>
            <a:off x="2619375" y="2381250"/>
            <a:ext cx="576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arrays + random Generator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5078C7-06D4-4F46-85AA-2D3F1D00708E}"/>
              </a:ext>
            </a:extLst>
          </p:cNvPr>
          <p:cNvSpPr>
            <a:spLocks noGrp="1"/>
          </p:cNvSpPr>
          <p:nvPr/>
        </p:nvSpPr>
        <p:spPr>
          <a:xfrm>
            <a:off x="8858250" y="24003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numeric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FAF63C7-D0AB-45AA-816A-5478A596D9BB}"/>
              </a:ext>
            </a:extLst>
          </p:cNvPr>
          <p:cNvSpPr>
            <a:spLocks noGrp="1"/>
          </p:cNvSpPr>
          <p:nvPr/>
        </p:nvSpPr>
        <p:spPr>
          <a:xfrm>
            <a:off x="952500" y="3181350"/>
            <a:ext cx="1285875" cy="457200"/>
          </a:xfrm>
          <a:prstGeom prst="roundRect">
            <a:avLst>
              <a:gd name="adj" fmla="val 20833"/>
            </a:avLst>
          </a:prstGeom>
          <a:solidFill>
            <a:srgbClr val="6AA14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2239"/>
          </a:bodyPr>
          <a:lstStyle/>
          <a:p>
            <a:pPr algn="ctr">
              <a:buNone/>
              <a:defRPr sz="16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matplotlib / seaborn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541929-90E7-4246-8F46-D5FCCBB8E22B}"/>
              </a:ext>
            </a:extLst>
          </p:cNvPr>
          <p:cNvSpPr>
            <a:spLocks noGrp="1"/>
          </p:cNvSpPr>
          <p:nvPr/>
        </p:nvSpPr>
        <p:spPr>
          <a:xfrm>
            <a:off x="2619375" y="3162300"/>
            <a:ext cx="576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plots + visual diagnostics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0B61C8-B897-41BA-96DA-1F82623B04F0}"/>
              </a:ext>
            </a:extLst>
          </p:cNvPr>
          <p:cNvSpPr>
            <a:spLocks noGrp="1"/>
          </p:cNvSpPr>
          <p:nvPr/>
        </p:nvSpPr>
        <p:spPr>
          <a:xfrm>
            <a:off x="8858250" y="318135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visual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0E796BC-B832-4E87-863D-235E8A901CE9}"/>
              </a:ext>
            </a:extLst>
          </p:cNvPr>
          <p:cNvSpPr>
            <a:spLocks noGrp="1"/>
          </p:cNvSpPr>
          <p:nvPr/>
        </p:nvSpPr>
        <p:spPr>
          <a:xfrm>
            <a:off x="952500" y="3962400"/>
            <a:ext cx="1285875" cy="457200"/>
          </a:xfrm>
          <a:prstGeom prst="roundRect">
            <a:avLst>
              <a:gd name="adj" fmla="val 20833"/>
            </a:avLst>
          </a:prstGeom>
          <a:solidFill>
            <a:srgbClr val="F2650D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2239"/>
          </a:bodyPr>
          <a:lstStyle/>
          <a:p>
            <a:pPr algn="ctr">
              <a:buNone/>
              <a:defRPr sz="16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SciPy / statsmodels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891EF6-85D5-473B-A460-FF0D542AA74A}"/>
              </a:ext>
            </a:extLst>
          </p:cNvPr>
          <p:cNvSpPr>
            <a:spLocks noGrp="1"/>
          </p:cNvSpPr>
          <p:nvPr/>
        </p:nvSpPr>
        <p:spPr>
          <a:xfrm>
            <a:off x="2619375" y="3943350"/>
            <a:ext cx="576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distributions, tests, CIs, models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0BC6B3-D625-4503-A777-1D88D37C5223}"/>
              </a:ext>
            </a:extLst>
          </p:cNvPr>
          <p:cNvSpPr>
            <a:spLocks noGrp="1"/>
          </p:cNvSpPr>
          <p:nvPr/>
        </p:nvSpPr>
        <p:spPr>
          <a:xfrm>
            <a:off x="8858250" y="39624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inference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4500D3D-346B-410F-A89E-15D9DD4EE46C}"/>
              </a:ext>
            </a:extLst>
          </p:cNvPr>
          <p:cNvSpPr>
            <a:spLocks noGrp="1"/>
          </p:cNvSpPr>
          <p:nvPr/>
        </p:nvSpPr>
        <p:spPr>
          <a:xfrm>
            <a:off x="952500" y="4743450"/>
            <a:ext cx="1285875" cy="457200"/>
          </a:xfrm>
          <a:prstGeom prst="roundRect">
            <a:avLst>
              <a:gd name="adj" fmla="val 20833"/>
            </a:avLst>
          </a:prstGeom>
          <a:solidFill>
            <a:srgbClr val="F1BB55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scikit-learn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D60BAA-B973-4092-926A-22CBAF8CEC0C}"/>
              </a:ext>
            </a:extLst>
          </p:cNvPr>
          <p:cNvSpPr>
            <a:spLocks noGrp="1"/>
          </p:cNvSpPr>
          <p:nvPr/>
        </p:nvSpPr>
        <p:spPr>
          <a:xfrm>
            <a:off x="2619375" y="4724400"/>
            <a:ext cx="576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pipelines, prediction, validation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4FCA48-55F2-42D1-AD38-96AD1EBAF7E1}"/>
              </a:ext>
            </a:extLst>
          </p:cNvPr>
          <p:cNvSpPr>
            <a:spLocks noGrp="1"/>
          </p:cNvSpPr>
          <p:nvPr/>
        </p:nvSpPr>
        <p:spPr>
          <a:xfrm>
            <a:off x="8858250" y="474345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ML</a:t>
            </a:r>
          </a:p>
        </p:txBody>
      </p:sp>
    </p:spTree>
    <p:extLst>
      <p:ext uri="{BB962C8B-B14F-4D97-AF65-F5344CB8AC3E}">
        <p14:creationId xmlns:p14="http://schemas.microsoft.com/office/powerpoint/2010/main" val="3635213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9C2A07E-D997-4CBF-B90F-69667202CE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E29A9D-9937-408C-ABE4-31F1541B7FCD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PYTHON FOUNDATIONS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0CDEA7-B1DF-4CDF-AD53-7AAB239E5DB8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429D39-4964-4B17-AE19-977BF6A0FE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8F81CD-6B8E-4FAA-9734-0CCD0A9870C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59405BD-5EBD-48CC-BB93-BB14A9F5CF7C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One command produces a compact statistical profile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3B61A82-83C6-4E56-94E5-04CF96ED6741}"/>
              </a:ext>
            </a:extLst>
          </p:cNvPr>
          <p:cNvSpPr>
            <a:spLocks noGrp="1"/>
          </p:cNvSpPr>
          <p:nvPr/>
        </p:nvSpPr>
        <p:spPr>
          <a:xfrm>
            <a:off x="742950" y="1581150"/>
            <a:ext cx="5429250" cy="3829050"/>
          </a:xfrm>
          <a:prstGeom prst="roundRect">
            <a:avLst>
              <a:gd name="adj" fmla="val 3980"/>
            </a:avLst>
          </a:prstGeom>
          <a:solidFill>
            <a:srgbClr val="102B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00D50E-8A87-4653-A96C-4D39AA6EF367}"/>
              </a:ext>
            </a:extLst>
          </p:cNvPr>
          <p:cNvSpPr>
            <a:spLocks noGrp="1"/>
          </p:cNvSpPr>
          <p:nvPr/>
        </p:nvSpPr>
        <p:spPr>
          <a:xfrm>
            <a:off x="1066800" y="1924050"/>
            <a:ext cx="4762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6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import pandas as pd</a:t>
            </a:r>
          </a:p>
          <a:p>
            <a:endParaRPr sz="1650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6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ages = [47, 41, 23, 55, 36, 54,</a:t>
            </a:r>
          </a:p>
          <a:p>
            <a:pPr algn="l">
              <a:buNone/>
              <a:defRPr sz="16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48, 23, 22, 27, 37, 43]</a:t>
            </a:r>
          </a:p>
          <a:p>
            <a:endParaRPr sz="1650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6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df = pd.DataFrame({'Age': ages})</a:t>
            </a:r>
          </a:p>
          <a:p>
            <a:pPr algn="l">
              <a:buNone/>
              <a:defRPr sz="16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df['Age'].describe()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C23341-D4EA-43B0-A4A4-B21A00CE9697}"/>
              </a:ext>
            </a:extLst>
          </p:cNvPr>
          <p:cNvSpPr>
            <a:spLocks noGrp="1"/>
          </p:cNvSpPr>
          <p:nvPr/>
        </p:nvSpPr>
        <p:spPr>
          <a:xfrm>
            <a:off x="6953250" y="161925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12A92E-311B-4EBC-BBB1-63238393BB2E}"/>
              </a:ext>
            </a:extLst>
          </p:cNvPr>
          <p:cNvSpPr>
            <a:spLocks noGrp="1"/>
          </p:cNvSpPr>
          <p:nvPr/>
        </p:nvSpPr>
        <p:spPr>
          <a:xfrm>
            <a:off x="6953250" y="2143125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count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5F4AA6-5D9C-4ABC-9C5F-473F20DCE838}"/>
              </a:ext>
            </a:extLst>
          </p:cNvPr>
          <p:cNvSpPr>
            <a:spLocks noGrp="1"/>
          </p:cNvSpPr>
          <p:nvPr/>
        </p:nvSpPr>
        <p:spPr>
          <a:xfrm>
            <a:off x="7905750" y="214312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12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0C9844-9E60-46CA-BC2E-ED705FF7EAD1}"/>
              </a:ext>
            </a:extLst>
          </p:cNvPr>
          <p:cNvSpPr>
            <a:spLocks noGrp="1"/>
          </p:cNvSpPr>
          <p:nvPr/>
        </p:nvSpPr>
        <p:spPr>
          <a:xfrm>
            <a:off x="6953250" y="2600325"/>
            <a:ext cx="18859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C8249B-E0EB-4D25-BF10-46B5E43FF66C}"/>
              </a:ext>
            </a:extLst>
          </p:cNvPr>
          <p:cNvSpPr>
            <a:spLocks noGrp="1"/>
          </p:cNvSpPr>
          <p:nvPr/>
        </p:nvSpPr>
        <p:spPr>
          <a:xfrm>
            <a:off x="6953250" y="2809875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mean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D0C207-D9E4-4DF3-8CBB-E4461FE7AC55}"/>
              </a:ext>
            </a:extLst>
          </p:cNvPr>
          <p:cNvSpPr>
            <a:spLocks noGrp="1"/>
          </p:cNvSpPr>
          <p:nvPr/>
        </p:nvSpPr>
        <p:spPr>
          <a:xfrm>
            <a:off x="7905750" y="280987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38.0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301F02-6626-411D-BFA3-9A90A5ABE3C0}"/>
              </a:ext>
            </a:extLst>
          </p:cNvPr>
          <p:cNvSpPr>
            <a:spLocks noGrp="1"/>
          </p:cNvSpPr>
          <p:nvPr/>
        </p:nvSpPr>
        <p:spPr>
          <a:xfrm>
            <a:off x="6953250" y="3267075"/>
            <a:ext cx="18859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B308B8-2BE0-4F31-AB4F-BAE0E7BE70B9}"/>
              </a:ext>
            </a:extLst>
          </p:cNvPr>
          <p:cNvSpPr>
            <a:spLocks noGrp="1"/>
          </p:cNvSpPr>
          <p:nvPr/>
        </p:nvSpPr>
        <p:spPr>
          <a:xfrm>
            <a:off x="6953250" y="3476625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std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49A4EB-F5AF-44E7-9FC8-F842F477BA66}"/>
              </a:ext>
            </a:extLst>
          </p:cNvPr>
          <p:cNvSpPr>
            <a:spLocks noGrp="1"/>
          </p:cNvSpPr>
          <p:nvPr/>
        </p:nvSpPr>
        <p:spPr>
          <a:xfrm>
            <a:off x="7905750" y="347662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12.0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6033A4-2200-4F97-91E6-1641419CA347}"/>
              </a:ext>
            </a:extLst>
          </p:cNvPr>
          <p:cNvSpPr>
            <a:spLocks noGrp="1"/>
          </p:cNvSpPr>
          <p:nvPr/>
        </p:nvSpPr>
        <p:spPr>
          <a:xfrm>
            <a:off x="6953250" y="3933825"/>
            <a:ext cx="18859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E16E04-3478-4886-959A-C8FD5F8F4B0D}"/>
              </a:ext>
            </a:extLst>
          </p:cNvPr>
          <p:cNvSpPr>
            <a:spLocks noGrp="1"/>
          </p:cNvSpPr>
          <p:nvPr/>
        </p:nvSpPr>
        <p:spPr>
          <a:xfrm>
            <a:off x="6953250" y="4143375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min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EDE053-B719-4477-A9A8-3FC162CD2401}"/>
              </a:ext>
            </a:extLst>
          </p:cNvPr>
          <p:cNvSpPr>
            <a:spLocks noGrp="1"/>
          </p:cNvSpPr>
          <p:nvPr/>
        </p:nvSpPr>
        <p:spPr>
          <a:xfrm>
            <a:off x="7905750" y="414337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22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4386DA-2106-42FE-8B2C-3EFEFC5B0B6A}"/>
              </a:ext>
            </a:extLst>
          </p:cNvPr>
          <p:cNvSpPr>
            <a:spLocks noGrp="1"/>
          </p:cNvSpPr>
          <p:nvPr/>
        </p:nvSpPr>
        <p:spPr>
          <a:xfrm>
            <a:off x="6953250" y="4600575"/>
            <a:ext cx="18859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36FA9C-BEDA-4B9F-947F-6E10D7EAFCFC}"/>
              </a:ext>
            </a:extLst>
          </p:cNvPr>
          <p:cNvSpPr>
            <a:spLocks noGrp="1"/>
          </p:cNvSpPr>
          <p:nvPr/>
        </p:nvSpPr>
        <p:spPr>
          <a:xfrm>
            <a:off x="9096375" y="2143125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25%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451472-CC2D-4706-A816-07E00CCD0841}"/>
              </a:ext>
            </a:extLst>
          </p:cNvPr>
          <p:cNvSpPr>
            <a:spLocks noGrp="1"/>
          </p:cNvSpPr>
          <p:nvPr/>
        </p:nvSpPr>
        <p:spPr>
          <a:xfrm>
            <a:off x="10048875" y="214312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26.0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0568C5-62B1-47AE-9EEA-BD682D9B09C4}"/>
              </a:ext>
            </a:extLst>
          </p:cNvPr>
          <p:cNvSpPr>
            <a:spLocks noGrp="1"/>
          </p:cNvSpPr>
          <p:nvPr/>
        </p:nvSpPr>
        <p:spPr>
          <a:xfrm>
            <a:off x="9096375" y="2600325"/>
            <a:ext cx="18859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02351DB-0498-45AB-ABB9-9733397C0118}"/>
              </a:ext>
            </a:extLst>
          </p:cNvPr>
          <p:cNvSpPr>
            <a:spLocks noGrp="1"/>
          </p:cNvSpPr>
          <p:nvPr/>
        </p:nvSpPr>
        <p:spPr>
          <a:xfrm>
            <a:off x="9096375" y="2809875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50%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F97256-DD06-400F-A0C1-72BE721AA49B}"/>
              </a:ext>
            </a:extLst>
          </p:cNvPr>
          <p:cNvSpPr>
            <a:spLocks noGrp="1"/>
          </p:cNvSpPr>
          <p:nvPr/>
        </p:nvSpPr>
        <p:spPr>
          <a:xfrm>
            <a:off x="10048875" y="280987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39.0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0C6DC9-3867-4984-9D05-23F115D1BB01}"/>
              </a:ext>
            </a:extLst>
          </p:cNvPr>
          <p:cNvSpPr>
            <a:spLocks noGrp="1"/>
          </p:cNvSpPr>
          <p:nvPr/>
        </p:nvSpPr>
        <p:spPr>
          <a:xfrm>
            <a:off x="9096375" y="3267075"/>
            <a:ext cx="18859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7DD434-E4B5-4DA2-88D1-4676D8B9005C}"/>
              </a:ext>
            </a:extLst>
          </p:cNvPr>
          <p:cNvSpPr>
            <a:spLocks noGrp="1"/>
          </p:cNvSpPr>
          <p:nvPr/>
        </p:nvSpPr>
        <p:spPr>
          <a:xfrm>
            <a:off x="9096375" y="3476625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75%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C4E88E-7977-4F82-9EAB-9A6AFBB5056B}"/>
              </a:ext>
            </a:extLst>
          </p:cNvPr>
          <p:cNvSpPr>
            <a:spLocks noGrp="1"/>
          </p:cNvSpPr>
          <p:nvPr/>
        </p:nvSpPr>
        <p:spPr>
          <a:xfrm>
            <a:off x="10048875" y="347662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47.25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7AEAE2-6F46-4256-8F06-07E66204D937}"/>
              </a:ext>
            </a:extLst>
          </p:cNvPr>
          <p:cNvSpPr>
            <a:spLocks noGrp="1"/>
          </p:cNvSpPr>
          <p:nvPr/>
        </p:nvSpPr>
        <p:spPr>
          <a:xfrm>
            <a:off x="9096375" y="3933825"/>
            <a:ext cx="18859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B230D7-CAFA-49E8-B150-F26BA9D08EFC}"/>
              </a:ext>
            </a:extLst>
          </p:cNvPr>
          <p:cNvSpPr>
            <a:spLocks noGrp="1"/>
          </p:cNvSpPr>
          <p:nvPr/>
        </p:nvSpPr>
        <p:spPr>
          <a:xfrm>
            <a:off x="9096375" y="4143375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max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B3ECFB2-1D2A-4175-8682-B0FD495FE15E}"/>
              </a:ext>
            </a:extLst>
          </p:cNvPr>
          <p:cNvSpPr>
            <a:spLocks noGrp="1"/>
          </p:cNvSpPr>
          <p:nvPr/>
        </p:nvSpPr>
        <p:spPr>
          <a:xfrm>
            <a:off x="10048875" y="4143375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55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85938D7-5B66-4046-BDE7-292FD6460AA9}"/>
              </a:ext>
            </a:extLst>
          </p:cNvPr>
          <p:cNvSpPr>
            <a:spLocks noGrp="1"/>
          </p:cNvSpPr>
          <p:nvPr/>
        </p:nvSpPr>
        <p:spPr>
          <a:xfrm>
            <a:off x="9096375" y="4600575"/>
            <a:ext cx="188595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6CC082F-49F5-42F0-98F4-6230E5E30E47}"/>
              </a:ext>
            </a:extLst>
          </p:cNvPr>
          <p:cNvSpPr>
            <a:spLocks noGrp="1"/>
          </p:cNvSpPr>
          <p:nvPr/>
        </p:nvSpPr>
        <p:spPr>
          <a:xfrm>
            <a:off x="6858000" y="500062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7062"/>
          </a:bodyPr>
          <a:lstStyle/>
          <a:p>
            <a:pPr algn="ctr">
              <a:buNone/>
              <a:defRPr sz="1875" b="1" i="0">
                <a:solidFill>
                  <a:srgbClr val="0074C8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0074C8"/>
                </a:solidFill>
                <a:latin typeface="Sofia Sans"/>
                <a:ea typeface="Sofia Sans"/>
                <a:cs typeface="Sofia Sans"/>
              </a:rPr>
              <a:t>Interpret the output; do not merely report it.</a:t>
            </a:r>
          </a:p>
        </p:txBody>
      </p:sp>
    </p:spTree>
    <p:extLst>
      <p:ext uri="{BB962C8B-B14F-4D97-AF65-F5344CB8AC3E}">
        <p14:creationId xmlns:p14="http://schemas.microsoft.com/office/powerpoint/2010/main" val="3344622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F8492D-BC03-4156-96AE-F8320867E84C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BD9AF8-B2BE-4985-BCD0-25C4F2C7DCE6}"/>
              </a:ext>
            </a:extLst>
          </p:cNvPr>
          <p:cNvSpPr>
            <a:spLocks noGrp="1"/>
          </p:cNvSpPr>
          <p:nvPr/>
        </p:nvSpPr>
        <p:spPr>
          <a:xfrm>
            <a:off x="762000" y="666750"/>
            <a:ext cx="1619250" cy="342900"/>
          </a:xfrm>
          <a:prstGeom prst="roundRect">
            <a:avLst>
              <a:gd name="adj" fmla="val 27778"/>
            </a:avLst>
          </a:prstGeom>
          <a:solidFill>
            <a:srgbClr val="75BEE9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/>
          </a:bodyPr>
          <a:lstStyle/>
          <a:p>
            <a:pPr algn="ctr">
              <a:buNone/>
              <a:defRPr sz="13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MINI-LAB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D9EA2C-D8CA-469D-8C09-9FE4E0ED18D2}"/>
              </a:ext>
            </a:extLst>
          </p:cNvPr>
          <p:cNvSpPr>
            <a:spLocks noGrp="1"/>
          </p:cNvSpPr>
          <p:nvPr/>
        </p:nvSpPr>
        <p:spPr>
          <a:xfrm>
            <a:off x="742950" y="1257300"/>
            <a:ext cx="1047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9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9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Turn a dataframe into a defensible description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F43DC4-E80C-4C01-B45C-B4D55CB69AC3}"/>
              </a:ext>
            </a:extLst>
          </p:cNvPr>
          <p:cNvSpPr>
            <a:spLocks noGrp="1"/>
          </p:cNvSpPr>
          <p:nvPr/>
        </p:nvSpPr>
        <p:spPr>
          <a:xfrm>
            <a:off x="1047750" y="2476500"/>
            <a:ext cx="419100" cy="419100"/>
          </a:xfrm>
          <a:prstGeom prst="roundRect">
            <a:avLst>
              <a:gd name="adj" fmla="val 20455"/>
            </a:avLst>
          </a:prstGeom>
          <a:solidFill>
            <a:srgbClr val="75BEE9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128164-BD33-4FB7-986E-28AA91E288A3}"/>
              </a:ext>
            </a:extLst>
          </p:cNvPr>
          <p:cNvSpPr>
            <a:spLocks noGrp="1"/>
          </p:cNvSpPr>
          <p:nvPr/>
        </p:nvSpPr>
        <p:spPr>
          <a:xfrm>
            <a:off x="1762125" y="2438400"/>
            <a:ext cx="914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87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Inspect the column names, dimensions, and data types.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C027AAA-87BF-49F1-8573-D2FBA9830255}"/>
              </a:ext>
            </a:extLst>
          </p:cNvPr>
          <p:cNvSpPr>
            <a:spLocks noGrp="1"/>
          </p:cNvSpPr>
          <p:nvPr/>
        </p:nvSpPr>
        <p:spPr>
          <a:xfrm>
            <a:off x="1047750" y="3095625"/>
            <a:ext cx="419100" cy="419100"/>
          </a:xfrm>
          <a:prstGeom prst="roundRect">
            <a:avLst>
              <a:gd name="adj" fmla="val 20455"/>
            </a:avLst>
          </a:prstGeom>
          <a:solidFill>
            <a:srgbClr val="75BEE9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862202-A7CA-4385-A64C-E351F7252D51}"/>
              </a:ext>
            </a:extLst>
          </p:cNvPr>
          <p:cNvSpPr>
            <a:spLocks noGrp="1"/>
          </p:cNvSpPr>
          <p:nvPr/>
        </p:nvSpPr>
        <p:spPr>
          <a:xfrm>
            <a:off x="1762125" y="3057525"/>
            <a:ext cx="914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87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Use describe() to calculate a compact summary.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7411942-3B6A-4284-93E3-B3466FB5226C}"/>
              </a:ext>
            </a:extLst>
          </p:cNvPr>
          <p:cNvSpPr>
            <a:spLocks noGrp="1"/>
          </p:cNvSpPr>
          <p:nvPr/>
        </p:nvSpPr>
        <p:spPr>
          <a:xfrm>
            <a:off x="1047750" y="3714750"/>
            <a:ext cx="419100" cy="419100"/>
          </a:xfrm>
          <a:prstGeom prst="roundRect">
            <a:avLst>
              <a:gd name="adj" fmla="val 20455"/>
            </a:avLst>
          </a:prstGeom>
          <a:solidFill>
            <a:srgbClr val="75BEE9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0C8ACE-D76C-42BA-8FE5-7B03C28D5757}"/>
              </a:ext>
            </a:extLst>
          </p:cNvPr>
          <p:cNvSpPr>
            <a:spLocks noGrp="1"/>
          </p:cNvSpPr>
          <p:nvPr/>
        </p:nvSpPr>
        <p:spPr>
          <a:xfrm>
            <a:off x="1762125" y="3676650"/>
            <a:ext cx="914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87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Create one histogram and one boxplot.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BBB09B1-6A02-4FEB-9614-596D6D501AE6}"/>
              </a:ext>
            </a:extLst>
          </p:cNvPr>
          <p:cNvSpPr>
            <a:spLocks noGrp="1"/>
          </p:cNvSpPr>
          <p:nvPr/>
        </p:nvSpPr>
        <p:spPr>
          <a:xfrm>
            <a:off x="1047750" y="4333875"/>
            <a:ext cx="419100" cy="419100"/>
          </a:xfrm>
          <a:prstGeom prst="roundRect">
            <a:avLst>
              <a:gd name="adj" fmla="val 20455"/>
            </a:avLst>
          </a:prstGeom>
          <a:solidFill>
            <a:srgbClr val="75BEE9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6CCDEE-BA8F-437B-BBC2-ACF3D180EDBB}"/>
              </a:ext>
            </a:extLst>
          </p:cNvPr>
          <p:cNvSpPr>
            <a:spLocks noGrp="1"/>
          </p:cNvSpPr>
          <p:nvPr/>
        </p:nvSpPr>
        <p:spPr>
          <a:xfrm>
            <a:off x="1762125" y="4295775"/>
            <a:ext cx="914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87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Write three sentences about center, spread, and shape.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82DA34E-4BF8-494E-90D4-FC4FEF800557}"/>
              </a:ext>
            </a:extLst>
          </p:cNvPr>
          <p:cNvSpPr>
            <a:spLocks noGrp="1"/>
          </p:cNvSpPr>
          <p:nvPr/>
        </p:nvSpPr>
        <p:spPr>
          <a:xfrm>
            <a:off x="1047750" y="4953000"/>
            <a:ext cx="419100" cy="419100"/>
          </a:xfrm>
          <a:prstGeom prst="roundRect">
            <a:avLst>
              <a:gd name="adj" fmla="val 20455"/>
            </a:avLst>
          </a:prstGeom>
          <a:solidFill>
            <a:srgbClr val="F2650D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28B7D3-5ECE-432B-A313-0E0DD60D59F9}"/>
              </a:ext>
            </a:extLst>
          </p:cNvPr>
          <p:cNvSpPr>
            <a:spLocks noGrp="1"/>
          </p:cNvSpPr>
          <p:nvPr/>
        </p:nvSpPr>
        <p:spPr>
          <a:xfrm>
            <a:off x="1762125" y="4914900"/>
            <a:ext cx="914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7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87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Identify one data-quality or interpretation limitation.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C90823-81EC-4EE3-B8FC-6C970D9EB3D5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AAI 500  |  WEEK 1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163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3831FC7-84A9-44AE-A095-8FA89184EC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BAF8EA-E344-429C-8FDD-367B8604BBE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CLOSE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8D3584-390A-4073-A23C-68E7E2D9F0C0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E223D4-ABEA-4808-9C10-CCDC39A38E05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50D789-A341-43CB-B364-A7607748BAF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B41193B-6ACA-42E0-B869-5A4F20D5FEE2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Complete Week 1 by connecting theory, code, and explanation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01011E7-7DBB-4B4A-96B1-880BDEB43219}"/>
              </a:ext>
            </a:extLst>
          </p:cNvPr>
          <p:cNvSpPr>
            <a:spLocks noGrp="1"/>
          </p:cNvSpPr>
          <p:nvPr/>
        </p:nvSpPr>
        <p:spPr>
          <a:xfrm>
            <a:off x="904875" y="1676400"/>
            <a:ext cx="114300" cy="552450"/>
          </a:xfrm>
          <a:prstGeom prst="roundRect">
            <a:avLst>
              <a:gd name="adj" fmla="val 50000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C5C4F4-37E4-48F4-8523-49FB5F5A5954}"/>
              </a:ext>
            </a:extLst>
          </p:cNvPr>
          <p:cNvSpPr>
            <a:spLocks noGrp="1"/>
          </p:cNvSpPr>
          <p:nvPr/>
        </p:nvSpPr>
        <p:spPr>
          <a:xfrm>
            <a:off x="1333500" y="161925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9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9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Assignment 1.1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6594C1-ADB1-49D5-BF81-F4AAE5CC387A}"/>
              </a:ext>
            </a:extLst>
          </p:cNvPr>
          <p:cNvSpPr>
            <a:spLocks noGrp="1"/>
          </p:cNvSpPr>
          <p:nvPr/>
        </p:nvSpPr>
        <p:spPr>
          <a:xfrm>
            <a:off x="4953000" y="1619250"/>
            <a:ext cx="590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Chapter 1 exercises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1D5D40-E653-419A-8A70-8EF755B37512}"/>
              </a:ext>
            </a:extLst>
          </p:cNvPr>
          <p:cNvSpPr>
            <a:spLocks noGrp="1"/>
          </p:cNvSpPr>
          <p:nvPr/>
        </p:nvSpPr>
        <p:spPr>
          <a:xfrm>
            <a:off x="1333500" y="2343150"/>
            <a:ext cx="952500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4940B33-5E8F-44EF-AD81-E63EAEB35448}"/>
              </a:ext>
            </a:extLst>
          </p:cNvPr>
          <p:cNvSpPr>
            <a:spLocks noGrp="1"/>
          </p:cNvSpPr>
          <p:nvPr/>
        </p:nvSpPr>
        <p:spPr>
          <a:xfrm>
            <a:off x="904875" y="2581275"/>
            <a:ext cx="114300" cy="552450"/>
          </a:xfrm>
          <a:prstGeom prst="roundRect">
            <a:avLst>
              <a:gd name="adj" fmla="val 50000"/>
            </a:avLst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436816-0326-4D41-A114-E14E08327D2F}"/>
              </a:ext>
            </a:extLst>
          </p:cNvPr>
          <p:cNvSpPr>
            <a:spLocks noGrp="1"/>
          </p:cNvSpPr>
          <p:nvPr/>
        </p:nvSpPr>
        <p:spPr>
          <a:xfrm>
            <a:off x="1333500" y="252412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9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9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Module 1 quiz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DC62FA-CE33-491A-8375-0ED959A583EA}"/>
              </a:ext>
            </a:extLst>
          </p:cNvPr>
          <p:cNvSpPr>
            <a:spLocks noGrp="1"/>
          </p:cNvSpPr>
          <p:nvPr/>
        </p:nvSpPr>
        <p:spPr>
          <a:xfrm>
            <a:off x="4953000" y="2524125"/>
            <a:ext cx="590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Core concepts and terminology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C05877-A95B-4DEC-80D7-3E827D4E2276}"/>
              </a:ext>
            </a:extLst>
          </p:cNvPr>
          <p:cNvSpPr>
            <a:spLocks noGrp="1"/>
          </p:cNvSpPr>
          <p:nvPr/>
        </p:nvSpPr>
        <p:spPr>
          <a:xfrm>
            <a:off x="1333500" y="3248025"/>
            <a:ext cx="952500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CFAEEFA-D49A-4E8C-8D89-35290200D5C5}"/>
              </a:ext>
            </a:extLst>
          </p:cNvPr>
          <p:cNvSpPr>
            <a:spLocks noGrp="1"/>
          </p:cNvSpPr>
          <p:nvPr/>
        </p:nvSpPr>
        <p:spPr>
          <a:xfrm>
            <a:off x="904875" y="3486150"/>
            <a:ext cx="114300" cy="552450"/>
          </a:xfrm>
          <a:prstGeom prst="roundRect">
            <a:avLst>
              <a:gd name="adj" fmla="val 50000"/>
            </a:avLst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A6B5DB-16E6-4475-BB0C-9D5284A82F8D}"/>
              </a:ext>
            </a:extLst>
          </p:cNvPr>
          <p:cNvSpPr>
            <a:spLocks noGrp="1"/>
          </p:cNvSpPr>
          <p:nvPr/>
        </p:nvSpPr>
        <p:spPr>
          <a:xfrm>
            <a:off x="1333500" y="342900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9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9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Python practice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D58071-9D55-4981-A444-DE5498B5CD5B}"/>
              </a:ext>
            </a:extLst>
          </p:cNvPr>
          <p:cNvSpPr>
            <a:spLocks noGrp="1"/>
          </p:cNvSpPr>
          <p:nvPr/>
        </p:nvSpPr>
        <p:spPr>
          <a:xfrm>
            <a:off x="4953000" y="3429000"/>
            <a:ext cx="590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Run and annotate the introductory notebook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63F95C-3B16-4F37-9220-E23B0C8F776B}"/>
              </a:ext>
            </a:extLst>
          </p:cNvPr>
          <p:cNvSpPr>
            <a:spLocks noGrp="1"/>
          </p:cNvSpPr>
          <p:nvPr/>
        </p:nvSpPr>
        <p:spPr>
          <a:xfrm>
            <a:off x="1333500" y="4152900"/>
            <a:ext cx="952500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D693687-9B53-4A63-88B2-9A5F5BBFA30A}"/>
              </a:ext>
            </a:extLst>
          </p:cNvPr>
          <p:cNvSpPr>
            <a:spLocks noGrp="1"/>
          </p:cNvSpPr>
          <p:nvPr/>
        </p:nvSpPr>
        <p:spPr>
          <a:xfrm>
            <a:off x="904875" y="4391025"/>
            <a:ext cx="114300" cy="552450"/>
          </a:xfrm>
          <a:prstGeom prst="roundRect">
            <a:avLst>
              <a:gd name="adj" fmla="val 50000"/>
            </a:avLst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94135A-731E-4378-91BF-ACD90C8C5E05}"/>
              </a:ext>
            </a:extLst>
          </p:cNvPr>
          <p:cNvSpPr>
            <a:spLocks noGrp="1"/>
          </p:cNvSpPr>
          <p:nvPr/>
        </p:nvSpPr>
        <p:spPr>
          <a:xfrm>
            <a:off x="1333500" y="433387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9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9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Preparation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248414-565D-4FF4-A272-3B886F8B9A9B}"/>
              </a:ext>
            </a:extLst>
          </p:cNvPr>
          <p:cNvSpPr>
            <a:spLocks noGrp="1"/>
          </p:cNvSpPr>
          <p:nvPr/>
        </p:nvSpPr>
        <p:spPr>
          <a:xfrm>
            <a:off x="4953000" y="4333875"/>
            <a:ext cx="590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Start early and bring specific questions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BD02EFA-A5B4-40EC-A8B8-94209F4697D1}"/>
              </a:ext>
            </a:extLst>
          </p:cNvPr>
          <p:cNvSpPr>
            <a:spLocks noGrp="1"/>
          </p:cNvSpPr>
          <p:nvPr/>
        </p:nvSpPr>
        <p:spPr>
          <a:xfrm>
            <a:off x="2047875" y="5286375"/>
            <a:ext cx="8096250" cy="514350"/>
          </a:xfrm>
          <a:prstGeom prst="roundRect">
            <a:avLst>
              <a:gd name="adj" fmla="val 25926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CD8404-A898-41CE-9AA8-D9A4104A2AF9}"/>
              </a:ext>
            </a:extLst>
          </p:cNvPr>
          <p:cNvSpPr>
            <a:spLocks noGrp="1"/>
          </p:cNvSpPr>
          <p:nvPr/>
        </p:nvSpPr>
        <p:spPr>
          <a:xfrm>
            <a:off x="2333625" y="5381625"/>
            <a:ext cx="752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654"/>
          </a:bodyPr>
          <a:lstStyle/>
          <a:p>
            <a:pPr algn="ctr">
              <a:buNone/>
              <a:defRPr sz="17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7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Team formation begins in Module 2; professional collaboration starts immediately.</a:t>
            </a:r>
          </a:p>
        </p:txBody>
      </p:sp>
    </p:spTree>
    <p:extLst>
      <p:ext uri="{BB962C8B-B14F-4D97-AF65-F5344CB8AC3E}">
        <p14:creationId xmlns:p14="http://schemas.microsoft.com/office/powerpoint/2010/main" val="10560228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831B154-701A-45A3-9D5B-A4D5561ED033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75AD62-DFAE-444A-93F5-69E9DF290B39}"/>
              </a:ext>
            </a:extLst>
          </p:cNvPr>
          <p:cNvSpPr>
            <a:spLocks noGrp="1"/>
          </p:cNvSpPr>
          <p:nvPr/>
        </p:nvSpPr>
        <p:spPr>
          <a:xfrm>
            <a:off x="714375" y="647700"/>
            <a:ext cx="3619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222"/>
          </a:bodyPr>
          <a:lstStyle/>
          <a:p>
            <a:pPr algn="l">
              <a:buNone/>
              <a:defRPr sz="36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Exit ticket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096919E-651A-4673-8DC7-721DA4C118F1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75BEE9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051D34-981D-42D7-A04A-0C12CBA1EE5C}"/>
              </a:ext>
            </a:extLst>
          </p:cNvPr>
          <p:cNvSpPr>
            <a:spLocks noGrp="1"/>
          </p:cNvSpPr>
          <p:nvPr/>
        </p:nvSpPr>
        <p:spPr>
          <a:xfrm>
            <a:off x="1905000" y="1647825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3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3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One statistical distinction you can now explain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A5B6C1-EC03-44DB-A104-D38020295D49}"/>
              </a:ext>
            </a:extLst>
          </p:cNvPr>
          <p:cNvSpPr>
            <a:spLocks noGrp="1"/>
          </p:cNvSpPr>
          <p:nvPr/>
        </p:nvSpPr>
        <p:spPr>
          <a:xfrm>
            <a:off x="876300" y="280987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75BEE9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E7A98B-D008-45C3-BCFB-E3703C619C65}"/>
              </a:ext>
            </a:extLst>
          </p:cNvPr>
          <p:cNvSpPr>
            <a:spLocks noGrp="1"/>
          </p:cNvSpPr>
          <p:nvPr/>
        </p:nvSpPr>
        <p:spPr>
          <a:xfrm>
            <a:off x="1905000" y="2790825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3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3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One Python operation you can now execute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68EEA1C-FEAE-4328-B759-6856B77F6DE3}"/>
              </a:ext>
            </a:extLst>
          </p:cNvPr>
          <p:cNvSpPr>
            <a:spLocks noGrp="1"/>
          </p:cNvSpPr>
          <p:nvPr/>
        </p:nvSpPr>
        <p:spPr>
          <a:xfrm>
            <a:off x="876300" y="395287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75BEE9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1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B12CB5-E9DC-4998-A870-CFED3D2A43B9}"/>
              </a:ext>
            </a:extLst>
          </p:cNvPr>
          <p:cNvSpPr>
            <a:spLocks noGrp="1"/>
          </p:cNvSpPr>
          <p:nvPr/>
        </p:nvSpPr>
        <p:spPr>
          <a:xfrm>
            <a:off x="1905000" y="3933825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3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3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One question you are carrying forward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5A82A7-BAA5-475E-8661-2E5685A92524}"/>
              </a:ext>
            </a:extLst>
          </p:cNvPr>
          <p:cNvSpPr>
            <a:spLocks noGrp="1"/>
          </p:cNvSpPr>
          <p:nvPr/>
        </p:nvSpPr>
        <p:spPr>
          <a:xfrm>
            <a:off x="1714500" y="5276850"/>
            <a:ext cx="876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Next: representing uncertainty with probability distributions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08EC30-BD05-4E59-8E7F-5DEFF6BF76EF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AAI 500  |  WEEK 1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4904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OPTIONAL TEXTBOOK PRACTICE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5C703031-96E0-40B3-B7FC-ED61812552E5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States with higher gun ownership also show higher suicide rates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1ACF1B0E-62D3-453D-ABAA-6A14368CBBAD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0076A8"/>
          </a:solidFill>
          <a:ln w="0">
            <a:solidFill>
              <a:srgbClr val="007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8235F7C0-638B-469F-BC94-24BF84C58DBD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9765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OPTIONAL TEXTBOOK FIGURE</a:t>
            </a:r>
          </a:p>
        </p:txBody>
      </p:sp>
      <p:sp>
        <p:nvSpPr>
          <p:cNvPr id="18" name="figure-subtitle">
            <a:extLst>
              <a:ext uri="{FF2B5EF4-FFF2-40B4-BE49-F238E27FC236}">
                <a16:creationId xmlns:a16="http://schemas.microsoft.com/office/drawing/2014/main" id="{C4DBCB9E-F6C8-4296-8CF2-9BC7D8DD80B5}"/>
              </a:ext>
            </a:extLst>
          </p:cNvPr>
          <p:cNvSpPr>
            <a:spLocks noGrp="1"/>
          </p:cNvSpPr>
          <p:nvPr/>
        </p:nvSpPr>
        <p:spPr>
          <a:xfrm>
            <a:off x="2895600" y="110490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Textbook Figure 1.7 · state-level association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="666750" y="1562100"/>
          <a:ext cx="723900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insight-card">
            <a:extLst>
              <a:ext uri="{FF2B5EF4-FFF2-40B4-BE49-F238E27FC236}">
                <a16:creationId xmlns:a16="http://schemas.microsoft.com/office/drawing/2014/main" id="{B6B98B37-B91B-405B-AE7C-80A643208A6A}"/>
              </a:ext>
            </a:extLst>
          </p:cNvPr>
          <p:cNvSpPr>
            <a:spLocks noGrp="1"/>
          </p:cNvSpPr>
          <p:nvPr/>
        </p:nvSpPr>
        <p:spPr>
          <a:xfrm>
            <a:off x="8172450" y="1562100"/>
            <a:ext cx="3333750" cy="3905250"/>
          </a:xfrm>
          <a:prstGeom prst="roundRect">
            <a:avLst>
              <a:gd name="adj" fmla="val 3429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insight-label">
            <a:extLst>
              <a:ext uri="{FF2B5EF4-FFF2-40B4-BE49-F238E27FC236}">
                <a16:creationId xmlns:a16="http://schemas.microsoft.com/office/drawing/2014/main" id="{404DD167-C854-4E31-80A7-03D0498A2C55}"/>
              </a:ext>
            </a:extLst>
          </p:cNvPr>
          <p:cNvSpPr>
            <a:spLocks noGrp="1"/>
          </p:cNvSpPr>
          <p:nvPr/>
        </p:nvSpPr>
        <p:spPr>
          <a:xfrm>
            <a:off x="8401050" y="17716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READ THE FIGURE</a:t>
            </a:r>
          </a:p>
        </p:txBody>
      </p:sp>
      <p:sp>
        <p:nvSpPr>
          <p:cNvPr id="22" name="insight-copy">
            <a:extLst>
              <a:ext uri="{FF2B5EF4-FFF2-40B4-BE49-F238E27FC236}">
                <a16:creationId xmlns:a16="http://schemas.microsoft.com/office/drawing/2014/main" id="{C85B7910-E541-4F76-A383-6E3FB69635A1}"/>
              </a:ext>
            </a:extLst>
          </p:cNvPr>
          <p:cNvSpPr>
            <a:spLocks noGrp="1"/>
          </p:cNvSpPr>
          <p:nvPr/>
        </p:nvSpPr>
        <p:spPr>
          <a:xfrm>
            <a:off x="8362950" y="2152650"/>
            <a:ext cx="2914650" cy="308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 = 0.739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Fitted rate = 7.390 + 0.1936 × gun ownership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Association is not causation; the unit is a state.</a:t>
            </a:r>
          </a:p>
        </p:txBody>
      </p:sp>
      <p:sp>
        <p:nvSpPr>
          <p:cNvPr id="23" name="visible-source">
            <a:extLst>
              <a:ext uri="{FF2B5EF4-FFF2-40B4-BE49-F238E27FC236}">
                <a16:creationId xmlns:a16="http://schemas.microsoft.com/office/drawing/2014/main" id="{51D47AB8-3F1D-46C9-8318-E60CDA7E24EB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Textbook §1.5.1, Fig. 1.7 · Guns_Suicide.dat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OPTIONAL TEXTBOOK PRACTICE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803B79F7-E49B-4961-B31E-08402E424571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Party-identification distributions differ across racial groups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B928F169-9276-44BB-A737-448A02EE7820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0076A8"/>
          </a:solidFill>
          <a:ln w="0">
            <a:solidFill>
              <a:srgbClr val="007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DFBB8748-DC90-4FC9-BD77-E91999EAAE73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9765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OPTIONAL TEXTBOOK FIGURE</a:t>
            </a:r>
          </a:p>
        </p:txBody>
      </p:sp>
      <p:sp>
        <p:nvSpPr>
          <p:cNvPr id="18" name="figure-subtitle">
            <a:extLst>
              <a:ext uri="{FF2B5EF4-FFF2-40B4-BE49-F238E27FC236}">
                <a16:creationId xmlns:a16="http://schemas.microsoft.com/office/drawing/2014/main" id="{5630C011-7C6D-4E7A-AF4A-C33594D5B839}"/>
              </a:ext>
            </a:extLst>
          </p:cNvPr>
          <p:cNvSpPr>
            <a:spLocks noGrp="1"/>
          </p:cNvSpPr>
          <p:nvPr/>
        </p:nvSpPr>
        <p:spPr>
          <a:xfrm>
            <a:off x="2895600" y="110490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Compare conditional percentages within each group—not raw counts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="666750" y="1562100"/>
          <a:ext cx="723900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insight-card">
            <a:extLst>
              <a:ext uri="{FF2B5EF4-FFF2-40B4-BE49-F238E27FC236}">
                <a16:creationId xmlns:a16="http://schemas.microsoft.com/office/drawing/2014/main" id="{0E8C2C16-9FFE-4D48-8E06-1282648F3B07}"/>
              </a:ext>
            </a:extLst>
          </p:cNvPr>
          <p:cNvSpPr>
            <a:spLocks noGrp="1"/>
          </p:cNvSpPr>
          <p:nvPr/>
        </p:nvSpPr>
        <p:spPr>
          <a:xfrm>
            <a:off x="8172450" y="1562100"/>
            <a:ext cx="3333750" cy="3905250"/>
          </a:xfrm>
          <a:prstGeom prst="roundRect">
            <a:avLst>
              <a:gd name="adj" fmla="val 3429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insight-label">
            <a:extLst>
              <a:ext uri="{FF2B5EF4-FFF2-40B4-BE49-F238E27FC236}">
                <a16:creationId xmlns:a16="http://schemas.microsoft.com/office/drawing/2014/main" id="{012E93C6-23F2-4F39-9C13-2DB8A4A15D5A}"/>
              </a:ext>
            </a:extLst>
          </p:cNvPr>
          <p:cNvSpPr>
            <a:spLocks noGrp="1"/>
          </p:cNvSpPr>
          <p:nvPr/>
        </p:nvSpPr>
        <p:spPr>
          <a:xfrm>
            <a:off x="8401050" y="17716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READ THE FIGURE</a:t>
            </a:r>
          </a:p>
        </p:txBody>
      </p:sp>
      <p:sp>
        <p:nvSpPr>
          <p:cNvPr id="22" name="insight-copy">
            <a:extLst>
              <a:ext uri="{FF2B5EF4-FFF2-40B4-BE49-F238E27FC236}">
                <a16:creationId xmlns:a16="http://schemas.microsoft.com/office/drawing/2014/main" id="{497F3698-19F0-461F-8B98-51D176B45EEE}"/>
              </a:ext>
            </a:extLst>
          </p:cNvPr>
          <p:cNvSpPr>
            <a:spLocks noGrp="1"/>
          </p:cNvSpPr>
          <p:nvPr/>
        </p:nvSpPr>
        <p:spPr>
          <a:xfrm>
            <a:off x="8362950" y="2152650"/>
            <a:ext cx="2914650" cy="308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Black respondents: 74.7% Democrat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White respondents: 43.8% Republican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Describe a sample association; do not infer mechanism.</a:t>
            </a:r>
          </a:p>
        </p:txBody>
      </p:sp>
      <p:sp>
        <p:nvSpPr>
          <p:cNvPr id="23" name="visible-source">
            <a:extLst>
              <a:ext uri="{FF2B5EF4-FFF2-40B4-BE49-F238E27FC236}">
                <a16:creationId xmlns:a16="http://schemas.microsoft.com/office/drawing/2014/main" id="{88A39D73-8EE4-4518-8D5F-0F997777BB3A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Textbook §1.5.2, Table 1.1 · PartyID.dat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OPTIONAL TEXTBOOK PRACTICE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F8A84D53-3079-4098-9241-C9AAA620163F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Worked exercise 1.1 · A statistic estimates a parameter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E76F6AA5-0F21-47AD-92A6-FC7E78B84ED4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75FA92BA-AA22-4151-8076-A3F6B39F803C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OPTIONAL WORKED EXERCISE</a:t>
            </a:r>
          </a:p>
        </p:txBody>
      </p:sp>
      <p:sp>
        <p:nvSpPr>
          <p:cNvPr id="18" name="prompt-card">
            <a:extLst>
              <a:ext uri="{FF2B5EF4-FFF2-40B4-BE49-F238E27FC236}">
                <a16:creationId xmlns:a16="http://schemas.microsoft.com/office/drawing/2014/main" id="{43328208-CA5D-40FB-9250-852E20A24277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mpt-label">
            <a:extLst>
              <a:ext uri="{FF2B5EF4-FFF2-40B4-BE49-F238E27FC236}">
                <a16:creationId xmlns:a16="http://schemas.microsoft.com/office/drawing/2014/main" id="{A8F5E9B3-64B4-46D5-B2CC-5B939F500D2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20" name="prompt-copy">
            <a:extLst>
              <a:ext uri="{FF2B5EF4-FFF2-40B4-BE49-F238E27FC236}">
                <a16:creationId xmlns:a16="http://schemas.microsoft.com/office/drawing/2014/main" id="{95308A36-BC67-4608-9569-3E45097C0621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 California Senate exit poll sampled 1,882 voters; 52.5% reported voting for Feinstein. The official proportion among all 11.1 million voters was 54.2%. Identify the subject, sample, population, statistic, and parameter.</a:t>
            </a:r>
          </a:p>
        </p:txBody>
      </p:sp>
      <p:sp>
        <p:nvSpPr>
          <p:cNvPr id="21" name="answer-label">
            <a:extLst>
              <a:ext uri="{FF2B5EF4-FFF2-40B4-BE49-F238E27FC236}">
                <a16:creationId xmlns:a16="http://schemas.microsoft.com/office/drawing/2014/main" id="{8E24179B-2FC0-4975-A8F0-CFC4187F6CC5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WORKED ANSWER</a:t>
            </a:r>
          </a:p>
        </p:txBody>
      </p:sp>
      <p:sp>
        <p:nvSpPr>
          <p:cNvPr id="22" name="answer-card">
            <a:extLst>
              <a:ext uri="{FF2B5EF4-FFF2-40B4-BE49-F238E27FC236}">
                <a16:creationId xmlns:a16="http://schemas.microsoft.com/office/drawing/2014/main" id="{8E767BDE-6381-46A1-8DCA-3720FC2EFCF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swer-copy">
            <a:extLst>
              <a:ext uri="{FF2B5EF4-FFF2-40B4-BE49-F238E27FC236}">
                <a16:creationId xmlns:a16="http://schemas.microsoft.com/office/drawing/2014/main" id="{60D55762-7F32-4814-802E-141E05D46DAE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Subject: one California voter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Sample: 1,882 exit-poll respondents; population: all 11.1 million voters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Statistic: p̂ = 0.525; parameter: p = 0.542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Discrepancy: −1.7 percentage points; sampling, design, and nonresponse error may contribute.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664410C6-F850-4B3A-8FAF-20649DFC789C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Adapted from textbook Exercise 1.1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OPTIONAL TEXTBOOK PRACTICE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89A31369-60B4-45DF-9730-8D977BC58D01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Worked exercise 1.13 · The empirical rule needs a shape assumption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6C537532-ED5D-4CE9-849F-469A3CB74B5E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4FDCC7D5-D28A-4E23-8DB0-FDDAFB0526B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OPTIONAL WORKED EXERCISE</a:t>
            </a:r>
          </a:p>
        </p:txBody>
      </p:sp>
      <p:sp>
        <p:nvSpPr>
          <p:cNvPr id="18" name="prompt-card">
            <a:extLst>
              <a:ext uri="{FF2B5EF4-FFF2-40B4-BE49-F238E27FC236}">
                <a16:creationId xmlns:a16="http://schemas.microsoft.com/office/drawing/2014/main" id="{ABE49681-5ABB-440A-8777-9F0412BF4E09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mpt-label">
            <a:extLst>
              <a:ext uri="{FF2B5EF4-FFF2-40B4-BE49-F238E27FC236}">
                <a16:creationId xmlns:a16="http://schemas.microsoft.com/office/drawing/2014/main" id="{7BE8057A-45F9-48D4-99DC-E05489C6239B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20" name="prompt-copy">
            <a:extLst>
              <a:ext uri="{FF2B5EF4-FFF2-40B4-BE49-F238E27FC236}">
                <a16:creationId xmlns:a16="http://schemas.microsoft.com/office/drawing/2014/main" id="{08F9D984-C91E-4A97-8188-07A0B367501F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NYC public-school salaries have approximate mean $69,000 and SD $6,000. Assuming a bell shape, give the 68%, 95%, and nearly-all intervals; then assess $100,000.</a:t>
            </a:r>
          </a:p>
        </p:txBody>
      </p:sp>
      <p:sp>
        <p:nvSpPr>
          <p:cNvPr id="21" name="answer-label">
            <a:extLst>
              <a:ext uri="{FF2B5EF4-FFF2-40B4-BE49-F238E27FC236}">
                <a16:creationId xmlns:a16="http://schemas.microsoft.com/office/drawing/2014/main" id="{DDBE20BB-D18B-4BC8-BF4F-11C6DD3B8339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WORKED ANSWER</a:t>
            </a:r>
          </a:p>
        </p:txBody>
      </p:sp>
      <p:sp>
        <p:nvSpPr>
          <p:cNvPr id="22" name="answer-card">
            <a:extLst>
              <a:ext uri="{FF2B5EF4-FFF2-40B4-BE49-F238E27FC236}">
                <a16:creationId xmlns:a16="http://schemas.microsoft.com/office/drawing/2014/main" id="{EBBBB646-16D9-47DD-9EB3-193069405EC4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swer-copy">
            <a:extLst>
              <a:ext uri="{FF2B5EF4-FFF2-40B4-BE49-F238E27FC236}">
                <a16:creationId xmlns:a16="http://schemas.microsoft.com/office/drawing/2014/main" id="{B165132C-3129-4395-9E53-A0E7072BAC8D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68%: $63,000–$75,000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95%: $57,000–$81,000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Nearly all: $51,000–$87,000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z = (100,000 − 69,000)/6,000 = 5.17; $100,000 is highly unusual under the bell-shape model.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FF25EADF-01AA-4664-A791-4362629A4C04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Adapted from textbook Exercise 1.13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OPTIONAL TEXTBOOK PRACTICE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C953A117-0B35-42E6-BD40-CD0A1E43558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Worked exercise 1.14 · Quartiles reveal spread and skew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CBDCFAC8-6ED8-42D8-9BDA-AE96B19B78A9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EE39CE10-5364-4AA5-B30A-3F576D76FC9E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OPTIONAL WORKED EXERCISE</a:t>
            </a:r>
          </a:p>
        </p:txBody>
      </p:sp>
      <p:sp>
        <p:nvSpPr>
          <p:cNvPr id="18" name="prompt-card">
            <a:extLst>
              <a:ext uri="{FF2B5EF4-FFF2-40B4-BE49-F238E27FC236}">
                <a16:creationId xmlns:a16="http://schemas.microsoft.com/office/drawing/2014/main" id="{3594C047-2CC5-41FA-A992-E3A50E4C5B8D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mpt-label">
            <a:extLst>
              <a:ext uri="{FF2B5EF4-FFF2-40B4-BE49-F238E27FC236}">
                <a16:creationId xmlns:a16="http://schemas.microsoft.com/office/drawing/2014/main" id="{3E7ABFBA-89C0-483B-9343-87F999A5D29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20" name="prompt-copy">
            <a:extLst>
              <a:ext uri="{FF2B5EF4-FFF2-40B4-BE49-F238E27FC236}">
                <a16:creationId xmlns:a16="http://schemas.microsoft.com/office/drawing/2014/main" id="{42A1AF9B-116D-4619-AC21-ACC82577FB53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State uninsured percentages have five-number summary 3, 6, 8, 9.5, 17. Interpret the quartiles, find the IQR, and check the upper outlier fence.</a:t>
            </a:r>
          </a:p>
        </p:txBody>
      </p:sp>
      <p:sp>
        <p:nvSpPr>
          <p:cNvPr id="21" name="answer-label">
            <a:extLst>
              <a:ext uri="{FF2B5EF4-FFF2-40B4-BE49-F238E27FC236}">
                <a16:creationId xmlns:a16="http://schemas.microsoft.com/office/drawing/2014/main" id="{C1B2D1E2-6650-452D-8B44-F37D653D3C4E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WORKED ANSWER</a:t>
            </a:r>
          </a:p>
        </p:txBody>
      </p:sp>
      <p:sp>
        <p:nvSpPr>
          <p:cNvPr id="22" name="answer-card">
            <a:extLst>
              <a:ext uri="{FF2B5EF4-FFF2-40B4-BE49-F238E27FC236}">
                <a16:creationId xmlns:a16="http://schemas.microsoft.com/office/drawing/2014/main" id="{7305139B-2C06-4EC3-B09F-5742835BCA2E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swer-copy">
            <a:extLst>
              <a:ext uri="{FF2B5EF4-FFF2-40B4-BE49-F238E27FC236}">
                <a16:creationId xmlns:a16="http://schemas.microsoft.com/office/drawing/2014/main" id="{352CAFD7-D966-4F81-ABEE-E5542BB9635E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Q1 = 6%, median = 8%, Q3 = 9.5%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IQR = 9.5 − 6 = 3.5 percentage points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Upper fence = 9.5 + 1.5(3.5) = 14.75%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17% maximum is a potential high outlier; the long upper tail suggests right skew.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2090FD03-3539-43A6-9F38-1905A82ABD78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Adapted from textbook Exercise 1.14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OPTIONAL TEXTBOOK PRACTICE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C4ACEBCC-D457-430D-87A6-A77B57B39FE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Advanced Python · Audit outliers within groups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97CCB74D-E3DA-4E06-BC0E-A1A1D2DADA38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5D086BD9-EC6F-46C5-9AE3-AC003E631D3C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ADVANCED PYTHON APPENDIX</a:t>
            </a:r>
          </a:p>
        </p:txBody>
      </p:sp>
      <p:sp>
        <p:nvSpPr>
          <p:cNvPr id="18" name="code-intro">
            <a:extLst>
              <a:ext uri="{FF2B5EF4-FFF2-40B4-BE49-F238E27FC236}">
                <a16:creationId xmlns:a16="http://schemas.microsoft.com/office/drawing/2014/main" id="{1D29FC3E-ABBE-4CB3-AD00-BFFB09B66789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Extend the appendix’s grouped summaries into a reproducible influence audit.</a:t>
            </a:r>
          </a:p>
        </p:txBody>
      </p:sp>
      <p:sp>
        <p:nvSpPr>
          <p:cNvPr id="19" name="code-card">
            <a:extLst>
              <a:ext uri="{FF2B5EF4-FFF2-40B4-BE49-F238E27FC236}">
                <a16:creationId xmlns:a16="http://schemas.microsoft.com/office/drawing/2014/main" id="{14162E27-2AF7-4B64-86F5-C90BAB7A64BF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code-copy">
            <a:extLst>
              <a:ext uri="{FF2B5EF4-FFF2-40B4-BE49-F238E27FC236}">
                <a16:creationId xmlns:a16="http://schemas.microsoft.com/office/drawing/2014/main" id="{039D34DF-59E3-48A2-907C-D5DE4AA5866B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crime = pd.read_csv(MURDER_URL, sep=r"\s+")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q = crime.groupby("nation")["murder"].quantile([.25,.75]).unstack()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q.columns = ["q1", "q3"]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q["iqr"] = q.q3 - q.q1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q["lo"] = q.q1 - 1.5*q.iqr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q["hi"] = q.q3 + 1.5*q.iqr</a:t>
            </a:r>
          </a:p>
          <a:p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audit = crime.join(q, on="nation")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audit.query("murder &lt; lo or murder &gt; hi")</a:t>
            </a:r>
          </a:p>
        </p:txBody>
      </p:sp>
      <p:sp>
        <p:nvSpPr>
          <p:cNvPr id="21" name="code-insight-card">
            <a:extLst>
              <a:ext uri="{FF2B5EF4-FFF2-40B4-BE49-F238E27FC236}">
                <a16:creationId xmlns:a16="http://schemas.microsoft.com/office/drawing/2014/main" id="{700E74E2-0274-4820-A2CD-0519F54CAD3E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code-insight-label">
            <a:extLst>
              <a:ext uri="{FF2B5EF4-FFF2-40B4-BE49-F238E27FC236}">
                <a16:creationId xmlns:a16="http://schemas.microsoft.com/office/drawing/2014/main" id="{6F4ADE84-8A51-4F3B-9D1F-7AC786850197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VERIFY AND INTERPRET</a:t>
            </a:r>
          </a:p>
        </p:txBody>
      </p:sp>
      <p:sp>
        <p:nvSpPr>
          <p:cNvPr id="23" name="code-insight-copy">
            <a:extLst>
              <a:ext uri="{FF2B5EF4-FFF2-40B4-BE49-F238E27FC236}">
                <a16:creationId xmlns:a16="http://schemas.microsoft.com/office/drawing/2014/main" id="{A23C4220-A5AE-4640-ACD9-213C474E6758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Louisiana and D.C. exceed the U.S. upper fence.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Manitoba exceeds the Canadian upper fence.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Group-specific fences prevent one scale from masking another.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9F0B375B-CC77-47A0-8FB0-0D4790A633DB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Python Appendix B0.2, B1.2.2 · Murder2.dat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PYTHON PRACTICE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C4ACEBCC-D457-430D-87A6-A77B57B39FE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Worked Python · Audit the data before trusting the summary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97CCB74D-E3DA-4E06-BC0E-A1A1D2DADA38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5D086BD9-EC6F-46C5-9AE3-AC003E631D3C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WORKED PYTHON EXAMPLE</a:t>
            </a:r>
          </a:p>
        </p:txBody>
      </p:sp>
      <p:sp>
        <p:nvSpPr>
          <p:cNvPr id="18" name="code-intro">
            <a:extLst>
              <a:ext uri="{FF2B5EF4-FFF2-40B4-BE49-F238E27FC236}">
                <a16:creationId xmlns:a16="http://schemas.microsoft.com/office/drawing/2014/main" id="{1D29FC3E-ABBE-4CB3-AD00-BFFB09B66789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A six-row latency file contains a duplicate pair and one missing value.</a:t>
            </a:r>
          </a:p>
        </p:txBody>
      </p:sp>
      <p:sp>
        <p:nvSpPr>
          <p:cNvPr id="19" name="code-card">
            <a:extLst>
              <a:ext uri="{FF2B5EF4-FFF2-40B4-BE49-F238E27FC236}">
                <a16:creationId xmlns:a16="http://schemas.microsoft.com/office/drawing/2014/main" id="{14162E27-2AF7-4B64-86F5-C90BAB7A64BF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code-copy">
            <a:extLst>
              <a:ext uri="{FF2B5EF4-FFF2-40B4-BE49-F238E27FC236}">
                <a16:creationId xmlns:a16="http://schemas.microsoft.com/office/drawing/2014/main" id="{039D34DF-59E3-48A2-907C-D5DE4AA5866B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pandas as pd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raw = pd.DataFrame({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"case_id": [101,102,103,103,104,105],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"latency_ms": [182,205,240,240,None,195]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})</a:t>
            </a:r>
          </a:p>
          <a:p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audit = {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"rows": len(raw),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"unique_cases": raw.case_id.nunique(),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"missing": raw.latency_ms.isna().sum(),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"duplicate_rows": raw.duplicated(keep=False).sum()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}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clean = raw.drop_duplicates().dropna()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print(audit)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print(clean.latency_ms.agg(["count","mean","median"]))</a:t>
            </a:r>
          </a:p>
        </p:txBody>
      </p:sp>
      <p:sp>
        <p:nvSpPr>
          <p:cNvPr id="21" name="code-insight-card">
            <a:extLst>
              <a:ext uri="{FF2B5EF4-FFF2-40B4-BE49-F238E27FC236}">
                <a16:creationId xmlns:a16="http://schemas.microsoft.com/office/drawing/2014/main" id="{700E74E2-0274-4820-A2CD-0519F54CAD3E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code-insight-label">
            <a:extLst>
              <a:ext uri="{FF2B5EF4-FFF2-40B4-BE49-F238E27FC236}">
                <a16:creationId xmlns:a16="http://schemas.microsoft.com/office/drawing/2014/main" id="{6F4ADE84-8A51-4F3B-9D1F-7AC786850197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OUTPUT AND INTERPRETATION</a:t>
            </a:r>
          </a:p>
        </p:txBody>
      </p:sp>
      <p:sp>
        <p:nvSpPr>
          <p:cNvPr id="23" name="code-insight-copy">
            <a:extLst>
              <a:ext uri="{FF2B5EF4-FFF2-40B4-BE49-F238E27FC236}">
                <a16:creationId xmlns:a16="http://schemas.microsoft.com/office/drawing/2014/main" id="{A23C4220-A5AE-4640-ACD9-213C474E6758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Audit: 6 rows, 5 case IDs, 1 missing value, and 2 rows in one duplicate pair.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Clean summary: n=4, mean=205.5 ms, median=200.0 ms.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240 ms value pulls the mean above the median.</a:t>
            </a: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Document cleaning rules rather than applying them silently.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9F0B375B-CC77-47A0-8FB0-0D4790A633DB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Textbook §§1.2, 1.4 · Python Appendix B0.2, B1.2 · pandas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PYTHON PRACTICE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C953A117-0B35-42E6-BD40-CD0A1E43558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Optional Python · Compare conditional error percentages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CBDCFAC8-6ED8-42D8-9BDA-AE96B19B78A9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EE39CE10-5364-4AA5-B30A-3F576D76FC9E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OPTIONAL PYTHON PRACTICE</a:t>
            </a:r>
          </a:p>
        </p:txBody>
      </p:sp>
      <p:sp>
        <p:nvSpPr>
          <p:cNvPr id="18" name="prompt-card">
            <a:extLst>
              <a:ext uri="{FF2B5EF4-FFF2-40B4-BE49-F238E27FC236}">
                <a16:creationId xmlns:a16="http://schemas.microsoft.com/office/drawing/2014/main" id="{3594C047-2CC5-41FA-A992-E3A50E4C5B8D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mpt-label">
            <a:extLst>
              <a:ext uri="{FF2B5EF4-FFF2-40B4-BE49-F238E27FC236}">
                <a16:creationId xmlns:a16="http://schemas.microsoft.com/office/drawing/2014/main" id="{3E7ABFBA-89C0-483B-9343-87F999A5D29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20" name="prompt-copy">
            <a:extLst>
              <a:ext uri="{FF2B5EF4-FFF2-40B4-BE49-F238E27FC236}">
                <a16:creationId xmlns:a16="http://schemas.microsoft.com/office/drawing/2014/main" id="{42A1AF9B-116D-4619-AC21-ACC82577FB53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Models A and B each classify 50 prompts. A has 42 correct and 8 errors; B has 30 correct and 20 errors. Use pandas to compare them.</a:t>
            </a:r>
          </a:p>
        </p:txBody>
      </p:sp>
      <p:sp>
        <p:nvSpPr>
          <p:cNvPr id="21" name="answer-label">
            <a:extLst>
              <a:ext uri="{FF2B5EF4-FFF2-40B4-BE49-F238E27FC236}">
                <a16:creationId xmlns:a16="http://schemas.microsoft.com/office/drawing/2014/main" id="{C1B2D1E2-6650-452D-8B44-F37D653D3C4E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YOUR TASK</a:t>
            </a:r>
          </a:p>
        </p:txBody>
      </p:sp>
      <p:sp>
        <p:nvSpPr>
          <p:cNvPr id="22" name="answer-card">
            <a:extLst>
              <a:ext uri="{FF2B5EF4-FFF2-40B4-BE49-F238E27FC236}">
                <a16:creationId xmlns:a16="http://schemas.microsoft.com/office/drawing/2014/main" id="{7305139B-2C06-4EC3-B09F-5742835BCA2E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swer-copy">
            <a:extLst>
              <a:ext uri="{FF2B5EF4-FFF2-40B4-BE49-F238E27FC236}">
                <a16:creationId xmlns:a16="http://schemas.microsoft.com/office/drawing/2014/main" id="{352CAFD7-D966-4F81-ABEE-E5542BB9635E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Create a 2 × 2 count table and compute row percentages.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Plot the two error rates on a common 0%–50% scale.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Report the B-minus-A percentage-point difference.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Name one design condition needed before making a causal claim.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2090FD03-3539-43A6-9F38-1905A82ABD78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Textbook §§1.3.5, 1.5.2 · Python Appendix B1.4 · pandas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A1CBB0-4E75-4DEB-8E2D-F38A387CD581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1E162B-C282-4752-8445-86F930797D8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238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491"/>
          </a:bodyPr>
          <a:lstStyle/>
          <a:p>
            <a:pPr algn="l">
              <a:buNone/>
              <a:def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543FA5-F1D4-4E2B-AFE0-B64AEB14FB5D}"/>
              </a:ext>
            </a:extLst>
          </p:cNvPr>
          <p:cNvSpPr>
            <a:spLocks noGrp="1"/>
          </p:cNvSpPr>
          <p:nvPr/>
        </p:nvSpPr>
        <p:spPr>
          <a:xfrm>
            <a:off x="2857500" y="1200150"/>
            <a:ext cx="838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4546"/>
          </a:bodyPr>
          <a:lstStyle/>
          <a:p>
            <a:pPr algn="l">
              <a:buNone/>
              <a:defRPr sz="46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6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Assignment 1.1 classroom walkthrough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19F286-2412-410F-B629-E0B941AAFA23}"/>
              </a:ext>
            </a:extLst>
          </p:cNvPr>
          <p:cNvSpPr>
            <a:spLocks noGrp="1"/>
          </p:cNvSpPr>
          <p:nvPr/>
        </p:nvSpPr>
        <p:spPr>
          <a:xfrm>
            <a:off x="2905125" y="2324100"/>
            <a:ext cx="1333500" cy="47625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FD3FD7-31B5-44CA-8D5A-5612B092C99A}"/>
              </a:ext>
            </a:extLst>
          </p:cNvPr>
          <p:cNvSpPr>
            <a:spLocks noGrp="1"/>
          </p:cNvSpPr>
          <p:nvPr/>
        </p:nvSpPr>
        <p:spPr>
          <a:xfrm>
            <a:off x="2905125" y="2686050"/>
            <a:ext cx="7715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For every prompt: define the question, choose a reproducible method, and explain the evidence—without copying an assignment solution.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D43755-256B-4B48-82CD-A243EE09E967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AAI 500  |  WEEK 1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2037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25BF4410-D173-4F0D-8514-555C2EE20B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79C12C-7AC7-4F28-98C1-046F725B82C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ASSIGNMENT 1.1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9E22CF-2280-4943-B90C-B4F1152BEE8C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F33DA8-669A-4F8F-8DC0-1246D4CED758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DF2523-C857-4868-AAF9-BF01B89E2AB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DC0EC1E-A340-4EA8-8E37-0657A1F9780D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Use one six-step loop for every coding problem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CB07F0-D6BB-4B96-A960-6C4BE06B4EB5}"/>
              </a:ext>
            </a:extLst>
          </p:cNvPr>
          <p:cNvSpPr>
            <a:spLocks noGrp="1"/>
          </p:cNvSpPr>
          <p:nvPr/>
        </p:nvSpPr>
        <p:spPr>
          <a:xfrm>
            <a:off x="809625" y="1666875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Notebook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0B10DC-2BFE-4579-9E39-29846D491385}"/>
              </a:ext>
            </a:extLst>
          </p:cNvPr>
          <p:cNvSpPr>
            <a:spLocks noGrp="1"/>
          </p:cNvSpPr>
          <p:nvPr/>
        </p:nvSpPr>
        <p:spPr>
          <a:xfrm>
            <a:off x="809625" y="21907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rename + run in order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D2E2E-30A2-4C76-B1E3-244858E30034}"/>
              </a:ext>
            </a:extLst>
          </p:cNvPr>
          <p:cNvSpPr>
            <a:spLocks noGrp="1"/>
          </p:cNvSpPr>
          <p:nvPr/>
        </p:nvSpPr>
        <p:spPr>
          <a:xfrm>
            <a:off x="4524375" y="1666875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5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524C56-0E94-403F-9BA4-4BAC93974CA7}"/>
              </a:ext>
            </a:extLst>
          </p:cNvPr>
          <p:cNvSpPr>
            <a:spLocks noGrp="1"/>
          </p:cNvSpPr>
          <p:nvPr/>
        </p:nvSpPr>
        <p:spPr>
          <a:xfrm>
            <a:off x="4524375" y="21907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load + verify structure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39C807-C816-42A0-8F34-FB4DC46B315B}"/>
              </a:ext>
            </a:extLst>
          </p:cNvPr>
          <p:cNvSpPr>
            <a:spLocks noGrp="1"/>
          </p:cNvSpPr>
          <p:nvPr/>
        </p:nvSpPr>
        <p:spPr>
          <a:xfrm>
            <a:off x="8239125" y="1666875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55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rPr>
              <a:t>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5DBB3F-69E4-4F07-B7F8-7EE914842A75}"/>
              </a:ext>
            </a:extLst>
          </p:cNvPr>
          <p:cNvSpPr>
            <a:spLocks noGrp="1"/>
          </p:cNvSpPr>
          <p:nvPr/>
        </p:nvSpPr>
        <p:spPr>
          <a:xfrm>
            <a:off x="8239125" y="21907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table or plot + explanation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03B42D-DBAE-442E-83F9-F02BA9749132}"/>
              </a:ext>
            </a:extLst>
          </p:cNvPr>
          <p:cNvSpPr>
            <a:spLocks noGrp="1"/>
          </p:cNvSpPr>
          <p:nvPr/>
        </p:nvSpPr>
        <p:spPr>
          <a:xfrm>
            <a:off x="1238250" y="3695700"/>
            <a:ext cx="9715500" cy="476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0AA0997-A030-47C5-B703-38F468F5D154}"/>
              </a:ext>
            </a:extLst>
          </p:cNvPr>
          <p:cNvSpPr>
            <a:spLocks noGrp="1"/>
          </p:cNvSpPr>
          <p:nvPr/>
        </p:nvSpPr>
        <p:spPr>
          <a:xfrm>
            <a:off x="933450" y="3390900"/>
            <a:ext cx="647700" cy="647700"/>
          </a:xfrm>
          <a:prstGeom prst="ellipse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29F857-F9B9-4D63-A9ED-0C0C98E57CB7}"/>
              </a:ext>
            </a:extLst>
          </p:cNvPr>
          <p:cNvSpPr>
            <a:spLocks noGrp="1"/>
          </p:cNvSpPr>
          <p:nvPr/>
        </p:nvSpPr>
        <p:spPr>
          <a:xfrm>
            <a:off x="933450" y="3409950"/>
            <a:ext cx="647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1AAC23-D36C-4E3A-9B7E-989A0A695379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Read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5083C5C-3CEC-4FFF-94D2-A442A90826C4}"/>
              </a:ext>
            </a:extLst>
          </p:cNvPr>
          <p:cNvSpPr>
            <a:spLocks noGrp="1"/>
          </p:cNvSpPr>
          <p:nvPr/>
        </p:nvSpPr>
        <p:spPr>
          <a:xfrm>
            <a:off x="2762250" y="3390900"/>
            <a:ext cx="647700" cy="647700"/>
          </a:xfrm>
          <a:prstGeom prst="ellipse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1A2A80-3EA4-4407-BDFD-10AABC17B864}"/>
              </a:ext>
            </a:extLst>
          </p:cNvPr>
          <p:cNvSpPr>
            <a:spLocks noGrp="1"/>
          </p:cNvSpPr>
          <p:nvPr/>
        </p:nvSpPr>
        <p:spPr>
          <a:xfrm>
            <a:off x="2762250" y="3409950"/>
            <a:ext cx="647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8ACD52-169C-4122-B4F8-7D6D7D017E5D}"/>
              </a:ext>
            </a:extLst>
          </p:cNvPr>
          <p:cNvSpPr>
            <a:spLocks noGrp="1"/>
          </p:cNvSpPr>
          <p:nvPr/>
        </p:nvSpPr>
        <p:spPr>
          <a:xfrm>
            <a:off x="2438400" y="42672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Define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D350BDB-5BB7-47F5-B619-A1C33CBB5B7E}"/>
              </a:ext>
            </a:extLst>
          </p:cNvPr>
          <p:cNvSpPr>
            <a:spLocks noGrp="1"/>
          </p:cNvSpPr>
          <p:nvPr/>
        </p:nvSpPr>
        <p:spPr>
          <a:xfrm>
            <a:off x="4591050" y="3390900"/>
            <a:ext cx="647700" cy="647700"/>
          </a:xfrm>
          <a:prstGeom prst="ellipse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5456D3-875B-4D12-A9B4-1F61A25B6893}"/>
              </a:ext>
            </a:extLst>
          </p:cNvPr>
          <p:cNvSpPr>
            <a:spLocks noGrp="1"/>
          </p:cNvSpPr>
          <p:nvPr/>
        </p:nvSpPr>
        <p:spPr>
          <a:xfrm>
            <a:off x="4591050" y="3409950"/>
            <a:ext cx="647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0B684B-4EAC-4C1F-AE18-8C1FCE738644}"/>
              </a:ext>
            </a:extLst>
          </p:cNvPr>
          <p:cNvSpPr>
            <a:spLocks noGrp="1"/>
          </p:cNvSpPr>
          <p:nvPr/>
        </p:nvSpPr>
        <p:spPr>
          <a:xfrm>
            <a:off x="4267200" y="42672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Load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839F944-B111-462C-9362-DA870558B879}"/>
              </a:ext>
            </a:extLst>
          </p:cNvPr>
          <p:cNvSpPr>
            <a:spLocks noGrp="1"/>
          </p:cNvSpPr>
          <p:nvPr/>
        </p:nvSpPr>
        <p:spPr>
          <a:xfrm>
            <a:off x="6419850" y="3390900"/>
            <a:ext cx="647700" cy="647700"/>
          </a:xfrm>
          <a:prstGeom prst="ellipse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6B82BB-A73D-4A2F-8F51-201358BC5C3E}"/>
              </a:ext>
            </a:extLst>
          </p:cNvPr>
          <p:cNvSpPr>
            <a:spLocks noGrp="1"/>
          </p:cNvSpPr>
          <p:nvPr/>
        </p:nvSpPr>
        <p:spPr>
          <a:xfrm>
            <a:off x="6419850" y="3409950"/>
            <a:ext cx="647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284802-6E10-4D0B-8173-C23270B2FE34}"/>
              </a:ext>
            </a:extLst>
          </p:cNvPr>
          <p:cNvSpPr>
            <a:spLocks noGrp="1"/>
          </p:cNvSpPr>
          <p:nvPr/>
        </p:nvSpPr>
        <p:spPr>
          <a:xfrm>
            <a:off x="6096000" y="42672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Verify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67B93C7-B41D-45E6-854D-B72386D0B2D2}"/>
              </a:ext>
            </a:extLst>
          </p:cNvPr>
          <p:cNvSpPr>
            <a:spLocks noGrp="1"/>
          </p:cNvSpPr>
          <p:nvPr/>
        </p:nvSpPr>
        <p:spPr>
          <a:xfrm>
            <a:off x="8248650" y="3390900"/>
            <a:ext cx="647700" cy="647700"/>
          </a:xfrm>
          <a:prstGeom prst="ellipse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1A1182-681E-4E39-B4C8-DA736F218A01}"/>
              </a:ext>
            </a:extLst>
          </p:cNvPr>
          <p:cNvSpPr>
            <a:spLocks noGrp="1"/>
          </p:cNvSpPr>
          <p:nvPr/>
        </p:nvSpPr>
        <p:spPr>
          <a:xfrm>
            <a:off x="8248650" y="3409950"/>
            <a:ext cx="647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72FCDDE-9618-4E20-ACA6-A25E0B6BCAAC}"/>
              </a:ext>
            </a:extLst>
          </p:cNvPr>
          <p:cNvSpPr>
            <a:spLocks noGrp="1"/>
          </p:cNvSpPr>
          <p:nvPr/>
        </p:nvSpPr>
        <p:spPr>
          <a:xfrm>
            <a:off x="7924800" y="42672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Analyze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4D0F339-E5EB-4C7C-B5AB-E8DCFF250486}"/>
              </a:ext>
            </a:extLst>
          </p:cNvPr>
          <p:cNvSpPr>
            <a:spLocks noGrp="1"/>
          </p:cNvSpPr>
          <p:nvPr/>
        </p:nvSpPr>
        <p:spPr>
          <a:xfrm>
            <a:off x="10077450" y="3390900"/>
            <a:ext cx="647700" cy="647700"/>
          </a:xfrm>
          <a:prstGeom prst="ellipse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244D2AB-3881-469D-8F88-AD677C686423}"/>
              </a:ext>
            </a:extLst>
          </p:cNvPr>
          <p:cNvSpPr>
            <a:spLocks noGrp="1"/>
          </p:cNvSpPr>
          <p:nvPr/>
        </p:nvSpPr>
        <p:spPr>
          <a:xfrm>
            <a:off x="10077450" y="3409950"/>
            <a:ext cx="647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0831BD-9FE9-47AA-B9C8-F1DD86D14FA0}"/>
              </a:ext>
            </a:extLst>
          </p:cNvPr>
          <p:cNvSpPr>
            <a:spLocks noGrp="1"/>
          </p:cNvSpPr>
          <p:nvPr/>
        </p:nvSpPr>
        <p:spPr>
          <a:xfrm>
            <a:off x="9753600" y="42672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Explain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F69C84-6EE0-4F42-B642-012043D41996}"/>
              </a:ext>
            </a:extLst>
          </p:cNvPr>
          <p:cNvSpPr>
            <a:spLocks noGrp="1"/>
          </p:cNvSpPr>
          <p:nvPr/>
        </p:nvSpPr>
        <p:spPr>
          <a:xfrm>
            <a:off x="1619250" y="514350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71413"/>
          </a:bodyPr>
          <a:lstStyle/>
          <a:p>
            <a:pPr algn="ctr">
              <a:buNone/>
              <a:defRPr sz="20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Submission check: required PDF name · no .ipynb · labeled axes · graph titles · two-decimal rounding.</a:t>
            </a:r>
          </a:p>
        </p:txBody>
      </p:sp>
    </p:spTree>
    <p:extLst>
      <p:ext uri="{BB962C8B-B14F-4D97-AF65-F5344CB8AC3E}">
        <p14:creationId xmlns:p14="http://schemas.microsoft.com/office/powerpoint/2010/main" val="7939214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ASSIGNMENT 1.1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F8A84D53-3079-4098-9241-C9AAA620163F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1.1 · Separate the observed people from the target group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E76F6AA5-0F21-47AD-92A6-FC7E78B84ED4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75FA92BA-AA22-4151-8076-A3F6B39F803C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66704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GUIDED REASONING · NO ASSIGNMENT ANSWER</a:t>
            </a:r>
          </a:p>
        </p:txBody>
      </p:sp>
      <p:sp>
        <p:nvSpPr>
          <p:cNvPr id="18" name="prompt-card">
            <a:extLst>
              <a:ext uri="{FF2B5EF4-FFF2-40B4-BE49-F238E27FC236}">
                <a16:creationId xmlns:a16="http://schemas.microsoft.com/office/drawing/2014/main" id="{43328208-CA5D-40FB-9250-852E20A24277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mpt-label">
            <a:extLst>
              <a:ext uri="{FF2B5EF4-FFF2-40B4-BE49-F238E27FC236}">
                <a16:creationId xmlns:a16="http://schemas.microsoft.com/office/drawing/2014/main" id="{A8F5E9B3-64B4-46D5-B2CC-5B939F500D2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WHAT THE PROMPT REQUIRES</a:t>
            </a:r>
          </a:p>
        </p:txBody>
      </p:sp>
      <p:sp>
        <p:nvSpPr>
          <p:cNvPr id="20" name="prompt-copy">
            <a:extLst>
              <a:ext uri="{FF2B5EF4-FFF2-40B4-BE49-F238E27FC236}">
                <a16:creationId xmlns:a16="http://schemas.microsoft.com/office/drawing/2014/main" id="{95308A36-BC67-4608-9569-3E45097C0621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Identify the subject, sample, and population. Treat each as a precise noun phrase before using either percentage.</a:t>
            </a:r>
          </a:p>
        </p:txBody>
      </p:sp>
      <p:sp>
        <p:nvSpPr>
          <p:cNvPr id="21" name="answer-label">
            <a:extLst>
              <a:ext uri="{FF2B5EF4-FFF2-40B4-BE49-F238E27FC236}">
                <a16:creationId xmlns:a16="http://schemas.microsoft.com/office/drawing/2014/main" id="{8E24179B-2FC0-4975-A8F0-CFC4187F6CC5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71563"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PARALLEL EXEMPLAR · TRANSIT SURVEY</a:t>
            </a:r>
          </a:p>
        </p:txBody>
      </p:sp>
      <p:sp>
        <p:nvSpPr>
          <p:cNvPr id="22" name="answer-card">
            <a:extLst>
              <a:ext uri="{FF2B5EF4-FFF2-40B4-BE49-F238E27FC236}">
                <a16:creationId xmlns:a16="http://schemas.microsoft.com/office/drawing/2014/main" id="{8E767BDE-6381-46A1-8DCA-3720FC2EFCF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swer-copy">
            <a:extLst>
              <a:ext uri="{FF2B5EF4-FFF2-40B4-BE49-F238E27FC236}">
                <a16:creationId xmlns:a16="http://schemas.microsoft.com/office/drawing/2014/main" id="{60D55762-7F32-4814-802E-141E05D46DAE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Scenario: 240 of 8,000 students answer a transit survey.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Subject = one observational unit; sample = the 240 observed students.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Population = the full 8,000 students the study seeks to describe.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Return to 1.1 and write three equally precise phrases in your own words.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664410C6-F850-4B3A-8FAF-20649DFC789C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1.1 · Parallel exemplar uses different data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ASSIGNMENT 1.1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C4ACEBCC-D457-430D-87A6-A77B57B39FE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1.2(a) · Prove the Students file loaded correctly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97CCB74D-E3DA-4E06-BC0E-A1A1D2DADA38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5D086BD9-EC6F-46C5-9AE3-AC003E631D3C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0773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SCAFFOLD · COMPLETE IN CLASS</a:t>
            </a:r>
          </a:p>
        </p:txBody>
      </p:sp>
      <p:sp>
        <p:nvSpPr>
          <p:cNvPr id="18" name="code-intro">
            <a:extLst>
              <a:ext uri="{FF2B5EF4-FFF2-40B4-BE49-F238E27FC236}">
                <a16:creationId xmlns:a16="http://schemas.microsoft.com/office/drawing/2014/main" id="{1D29FC3E-ABBE-4CB3-AD00-BFFB09B66789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The loading pattern is complete; students supply the assignment URL and verify the result.</a:t>
            </a:r>
          </a:p>
        </p:txBody>
      </p:sp>
      <p:sp>
        <p:nvSpPr>
          <p:cNvPr id="19" name="code-card">
            <a:extLst>
              <a:ext uri="{FF2B5EF4-FFF2-40B4-BE49-F238E27FC236}">
                <a16:creationId xmlns:a16="http://schemas.microsoft.com/office/drawing/2014/main" id="{14162E27-2AF7-4B64-86F5-C90BAB7A64BF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code-copy">
            <a:extLst>
              <a:ext uri="{FF2B5EF4-FFF2-40B4-BE49-F238E27FC236}">
                <a16:creationId xmlns:a16="http://schemas.microsoft.com/office/drawing/2014/main" id="{039D34DF-59E3-48A2-907C-D5DE4AA5866B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pandas as pd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url = "PASTE_ASSIGNMENT_URL_HERE"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students = pd.read_csv(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url, sep=r"\s+"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display(students.head())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print(students.shape)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students.info()</a:t>
            </a:r>
          </a:p>
        </p:txBody>
      </p:sp>
      <p:sp>
        <p:nvSpPr>
          <p:cNvPr id="21" name="code-insight-card">
            <a:extLst>
              <a:ext uri="{FF2B5EF4-FFF2-40B4-BE49-F238E27FC236}">
                <a16:creationId xmlns:a16="http://schemas.microsoft.com/office/drawing/2014/main" id="{700E74E2-0274-4820-A2CD-0519F54CAD3E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code-insight-label">
            <a:extLst>
              <a:ext uri="{FF2B5EF4-FFF2-40B4-BE49-F238E27FC236}">
                <a16:creationId xmlns:a16="http://schemas.microsoft.com/office/drawing/2014/main" id="{6F4ADE84-8A51-4F3B-9D1F-7AC786850197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CHECK BEFORE MOVING ON</a:t>
            </a:r>
          </a:p>
        </p:txBody>
      </p:sp>
      <p:sp>
        <p:nvSpPr>
          <p:cNvPr id="23" name="code-insight-copy">
            <a:extLst>
              <a:ext uri="{FF2B5EF4-FFF2-40B4-BE49-F238E27FC236}">
                <a16:creationId xmlns:a16="http://schemas.microsoft.com/office/drawing/2014/main" id="{A23C4220-A5AE-4640-ACD9-213C474E6758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Confirm the field names match the supplied data dictionary.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Check that row and column counts are plausible.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Look for shifted fields, unexpected types, and missing values.</a:t>
            </a: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Write one sentence describing what was successfully loaded.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9F0B375B-CC77-47A0-8FB0-0D4790A633DB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1.1 · pandas read_csv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ASSIGNMENT 1.1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C953A117-0B35-42E6-BD40-CD0A1E43558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1.2(b) · Write a sample question and a population question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CBDCFAC8-6ED8-42D8-9BDA-AE96B19B78A9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EE39CE10-5364-4AA5-B30A-3F576D76FC9E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70188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 DESIGN · NO ASSIGNMENT ANSWER</a:t>
            </a:r>
          </a:p>
        </p:txBody>
      </p:sp>
      <p:sp>
        <p:nvSpPr>
          <p:cNvPr id="18" name="prompt-card">
            <a:extLst>
              <a:ext uri="{FF2B5EF4-FFF2-40B4-BE49-F238E27FC236}">
                <a16:creationId xmlns:a16="http://schemas.microsoft.com/office/drawing/2014/main" id="{3594C047-2CC5-41FA-A992-E3A50E4C5B8D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mpt-label">
            <a:extLst>
              <a:ext uri="{FF2B5EF4-FFF2-40B4-BE49-F238E27FC236}">
                <a16:creationId xmlns:a16="http://schemas.microsoft.com/office/drawing/2014/main" id="{3E7ABFBA-89C0-483B-9343-87F999A5D29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WHAT THE PROMPT REQUIRES</a:t>
            </a:r>
          </a:p>
        </p:txBody>
      </p:sp>
      <p:sp>
        <p:nvSpPr>
          <p:cNvPr id="20" name="prompt-copy">
            <a:extLst>
              <a:ext uri="{FF2B5EF4-FFF2-40B4-BE49-F238E27FC236}">
                <a16:creationId xmlns:a16="http://schemas.microsoft.com/office/drawing/2014/main" id="{42A1AF9B-116D-4619-AC21-ACC82577FB53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Using abor, state one descriptive question about the observed students and one inferential question about a broader population.</a:t>
            </a:r>
          </a:p>
        </p:txBody>
      </p:sp>
      <p:sp>
        <p:nvSpPr>
          <p:cNvPr id="21" name="answer-label">
            <a:extLst>
              <a:ext uri="{FF2B5EF4-FFF2-40B4-BE49-F238E27FC236}">
                <a16:creationId xmlns:a16="http://schemas.microsoft.com/office/drawing/2014/main" id="{C1B2D1E2-6650-452D-8B44-F37D653D3C4E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74063"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TWO TRANSFERABLE QUESTION STEMS</a:t>
            </a:r>
          </a:p>
        </p:txBody>
      </p:sp>
      <p:sp>
        <p:nvSpPr>
          <p:cNvPr id="22" name="answer-card">
            <a:extLst>
              <a:ext uri="{FF2B5EF4-FFF2-40B4-BE49-F238E27FC236}">
                <a16:creationId xmlns:a16="http://schemas.microsoft.com/office/drawing/2014/main" id="{7305139B-2C06-4EC3-B09F-5742835BCA2E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swer-copy">
            <a:extLst>
              <a:ext uri="{FF2B5EF4-FFF2-40B4-BE49-F238E27FC236}">
                <a16:creationId xmlns:a16="http://schemas.microsoft.com/office/drawing/2014/main" id="{352CAFD7-D966-4F81-ABEE-E5542BB9635E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Descriptive: “Among the surveyed cases, what proportion ...?”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Inferential: “For the population represented by this sample, what proportion ...?”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Name the population explicitly; do not call a sample result a population truth.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two questions must differ in scope—not merely in wording.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2090FD03-3539-43A6-9F38-1905A82ABD78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1.1 · Description versus inference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ASSIGNMENT 1.1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C953A117-0B35-42E6-BD40-CD0A1E43558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Problems 1.3–1.4 · Classify variables before analysis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CBDCFAC8-6ED8-42D8-9BDA-AE96B19B78A9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EE39CE10-5364-4AA5-B30A-3F576D76FC9E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4973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PARALLEL CLASSIFICATION EXAMPLE</a:t>
            </a:r>
          </a:p>
        </p:txBody>
      </p:sp>
      <p:sp>
        <p:nvSpPr>
          <p:cNvPr id="18" name="prompt-card">
            <a:extLst>
              <a:ext uri="{FF2B5EF4-FFF2-40B4-BE49-F238E27FC236}">
                <a16:creationId xmlns:a16="http://schemas.microsoft.com/office/drawing/2014/main" id="{3594C047-2CC5-41FA-A992-E3A50E4C5B8D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mpt-label">
            <a:extLst>
              <a:ext uri="{FF2B5EF4-FFF2-40B4-BE49-F238E27FC236}">
                <a16:creationId xmlns:a16="http://schemas.microsoft.com/office/drawing/2014/main" id="{3E7ABFBA-89C0-483B-9343-87F999A5D29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WHAT THE PROMPTS REQUIRE</a:t>
            </a:r>
          </a:p>
        </p:txBody>
      </p:sp>
      <p:sp>
        <p:nvSpPr>
          <p:cNvPr id="20" name="prompt-copy">
            <a:extLst>
              <a:ext uri="{FF2B5EF4-FFF2-40B4-BE49-F238E27FC236}">
                <a16:creationId xmlns:a16="http://schemas.microsoft.com/office/drawing/2014/main" id="{42A1AF9B-116D-4619-AC21-ACC82577FB53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Classify each listed variable as categorical or quantitative, then supply examples of categorical, quantitative, discrete, and continuous variables.</a:t>
            </a:r>
          </a:p>
        </p:txBody>
      </p:sp>
      <p:sp>
        <p:nvSpPr>
          <p:cNvPr id="21" name="answer-label">
            <a:extLst>
              <a:ext uri="{FF2B5EF4-FFF2-40B4-BE49-F238E27FC236}">
                <a16:creationId xmlns:a16="http://schemas.microsoft.com/office/drawing/2014/main" id="{C1B2D1E2-6650-452D-8B44-F37D653D3C4E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APPLY THESE TESTS</a:t>
            </a:r>
          </a:p>
        </p:txBody>
      </p:sp>
      <p:sp>
        <p:nvSpPr>
          <p:cNvPr id="22" name="answer-card">
            <a:extLst>
              <a:ext uri="{FF2B5EF4-FFF2-40B4-BE49-F238E27FC236}">
                <a16:creationId xmlns:a16="http://schemas.microsoft.com/office/drawing/2014/main" id="{7305139B-2C06-4EC3-B09F-5742835BCA2E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swer-copy">
            <a:extLst>
              <a:ext uri="{FF2B5EF4-FFF2-40B4-BE49-F238E27FC236}">
                <a16:creationId xmlns:a16="http://schemas.microsoft.com/office/drawing/2014/main" id="{352CAFD7-D966-4F81-ABEE-E5542BB9635E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Order count → quantitative and discrete: it is a count.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Neighborhood → categorical: it is a label, even if coded with numbers.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Temperature → quantitative and continuous: it is measured on a scale.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For each assignment item, state the type and add a one-clause reason.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2090FD03-3539-43A6-9F38-1905A82ABD78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1.1 · Parallel variables use different contexts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ASSIGNMENT 1.1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C4ACEBCC-D457-430D-87A6-A77B57B39FE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1.10(a) · Make the frequency table agree with the histogram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97CCB74D-E3DA-4E06-BC0E-A1A1D2DADA38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5D086BD9-EC6F-46C5-9AE3-AC003E631D3C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PARALLEL PYTHON EXEMPLAR</a:t>
            </a:r>
          </a:p>
        </p:txBody>
      </p:sp>
      <p:sp>
        <p:nvSpPr>
          <p:cNvPr id="18" name="code-intro">
            <a:extLst>
              <a:ext uri="{FF2B5EF4-FFF2-40B4-BE49-F238E27FC236}">
                <a16:creationId xmlns:a16="http://schemas.microsoft.com/office/drawing/2014/main" id="{1D29FC3E-ABBE-4CB3-AD00-BFFB09B66789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Use unrelated wait-time data to practice binning, counting, labeling, and describing shape.</a:t>
            </a:r>
          </a:p>
        </p:txBody>
      </p:sp>
      <p:sp>
        <p:nvSpPr>
          <p:cNvPr id="19" name="code-card">
            <a:extLst>
              <a:ext uri="{FF2B5EF4-FFF2-40B4-BE49-F238E27FC236}">
                <a16:creationId xmlns:a16="http://schemas.microsoft.com/office/drawing/2014/main" id="{14162E27-2AF7-4B64-86F5-C90BAB7A64BF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code-copy">
            <a:extLst>
              <a:ext uri="{FF2B5EF4-FFF2-40B4-BE49-F238E27FC236}">
                <a16:creationId xmlns:a16="http://schemas.microsoft.com/office/drawing/2014/main" id="{039D34DF-59E3-48A2-907C-D5DE4AA5866B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pandas as pd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matplotlib.pyplot as plt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wait = pd.Series(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[2.1,3.8,4.4,6.2,8.7,9.1,12.5],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name="wait_min"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bins = [0,5,10,15]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assert bins[-1] &gt; wait.max()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freq = pd.cut(wait,bins,right=False)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print(freq.value_counts().sort_index())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wait.plot.hist(bins=bins,edgecolor="white")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plt.xlabel("Wait (minutes)")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plt.title("Parallel example: wait times")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plt.show()</a:t>
            </a:r>
          </a:p>
        </p:txBody>
      </p:sp>
      <p:sp>
        <p:nvSpPr>
          <p:cNvPr id="21" name="code-insight-card">
            <a:extLst>
              <a:ext uri="{FF2B5EF4-FFF2-40B4-BE49-F238E27FC236}">
                <a16:creationId xmlns:a16="http://schemas.microsoft.com/office/drawing/2014/main" id="{700E74E2-0274-4820-A2CD-0519F54CAD3E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code-insight-label">
            <a:extLst>
              <a:ext uri="{FF2B5EF4-FFF2-40B4-BE49-F238E27FC236}">
                <a16:creationId xmlns:a16="http://schemas.microsoft.com/office/drawing/2014/main" id="{6F4ADE84-8A51-4F3B-9D1F-7AC786850197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HOW TO TRANSFER THE METHOD</a:t>
            </a:r>
          </a:p>
        </p:txBody>
      </p:sp>
      <p:sp>
        <p:nvSpPr>
          <p:cNvPr id="23" name="code-insight-copy">
            <a:extLst>
              <a:ext uri="{FF2B5EF4-FFF2-40B4-BE49-F238E27FC236}">
                <a16:creationId xmlns:a16="http://schemas.microsoft.com/office/drawing/2014/main" id="{A23C4220-A5AE-4640-ACD9-213C474E6758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Choose bins that cover the full range with readable widths.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Confirm that the frequency counts add to the sample size.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Describe center, spread, skew, gaps, and unusual values.</a:t>
            </a: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Replace only the series and labels when adapting to Carbon_West.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9F0B375B-CC77-47A0-8FB0-0D4790A633DB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1.1 · pandas cut · Matplotlib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ASSIGNMENT 1.1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C953A117-0B35-42E6-BD40-CD0A1E43558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1.10(b) · Interpret center and spread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CBDCFAC8-6ED8-42D8-9BDA-AE96B19B78A9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EE39CE10-5364-4AA5-B30A-3F576D76FC9E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PARALLEL NUMERIC EXEMPLAR</a:t>
            </a:r>
          </a:p>
        </p:txBody>
      </p:sp>
      <p:sp>
        <p:nvSpPr>
          <p:cNvPr id="18" name="prompt-card">
            <a:extLst>
              <a:ext uri="{FF2B5EF4-FFF2-40B4-BE49-F238E27FC236}">
                <a16:creationId xmlns:a16="http://schemas.microsoft.com/office/drawing/2014/main" id="{3594C047-2CC5-41FA-A992-E3A50E4C5B8D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mpt-label">
            <a:extLst>
              <a:ext uri="{FF2B5EF4-FFF2-40B4-BE49-F238E27FC236}">
                <a16:creationId xmlns:a16="http://schemas.microsoft.com/office/drawing/2014/main" id="{3E7ABFBA-89C0-483B-9343-87F999A5D29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WHAT THE PROMPT REQUIRES</a:t>
            </a:r>
          </a:p>
        </p:txBody>
      </p:sp>
      <p:sp>
        <p:nvSpPr>
          <p:cNvPr id="20" name="prompt-copy">
            <a:extLst>
              <a:ext uri="{FF2B5EF4-FFF2-40B4-BE49-F238E27FC236}">
                <a16:creationId xmlns:a16="http://schemas.microsoft.com/office/drawing/2014/main" id="{42A1AF9B-116D-4619-AC21-ACC82577FB53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Compute the mean, median, and sample standard deviation, then interpret all three—not merely report a table.</a:t>
            </a:r>
          </a:p>
        </p:txBody>
      </p:sp>
      <p:sp>
        <p:nvSpPr>
          <p:cNvPr id="21" name="answer-label">
            <a:extLst>
              <a:ext uri="{FF2B5EF4-FFF2-40B4-BE49-F238E27FC236}">
                <a16:creationId xmlns:a16="http://schemas.microsoft.com/office/drawing/2014/main" id="{C1B2D1E2-6650-452D-8B44-F37D653D3C4E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CHECKOUT-TIME EXAMPLE</a:t>
            </a:r>
          </a:p>
        </p:txBody>
      </p:sp>
      <p:sp>
        <p:nvSpPr>
          <p:cNvPr id="22" name="answer-card">
            <a:extLst>
              <a:ext uri="{FF2B5EF4-FFF2-40B4-BE49-F238E27FC236}">
                <a16:creationId xmlns:a16="http://schemas.microsoft.com/office/drawing/2014/main" id="{7305139B-2C06-4EC3-B09F-5742835BCA2E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swer-copy">
            <a:extLst>
              <a:ext uri="{FF2B5EF4-FFF2-40B4-BE49-F238E27FC236}">
                <a16:creationId xmlns:a16="http://schemas.microsoft.com/office/drawing/2014/main" id="{352CAFD7-D966-4F81-ABEE-E5542BB9635E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Example only: mean 8.40 min; median 7.90 min; SD 2.10 min.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Mean = average across cases; median = midpoint of ordered cases.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SD ≈ typical distance from the mean—not a range or a percent.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Finish by connecting mean versus median to the histogram’s shape.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2090FD03-3539-43A6-9F38-1905A82ABD78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1.1 · Parallel values are not Carbon_West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ASSIGNMENT 1.1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C953A117-0B35-42E6-BD40-CD0A1E43558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1.11 · Let mean versus median suggest a tail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CBDCFAC8-6ED8-42D8-9BDA-AE96B19B78A9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EE39CE10-5364-4AA5-B30A-3F576D76FC9E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77165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SHAPE REASONING · PARALLEL EXAMPLE</a:t>
            </a:r>
          </a:p>
        </p:txBody>
      </p:sp>
      <p:sp>
        <p:nvSpPr>
          <p:cNvPr id="18" name="prompt-card">
            <a:extLst>
              <a:ext uri="{FF2B5EF4-FFF2-40B4-BE49-F238E27FC236}">
                <a16:creationId xmlns:a16="http://schemas.microsoft.com/office/drawing/2014/main" id="{3594C047-2CC5-41FA-A992-E3A50E4C5B8D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mpt-label">
            <a:extLst>
              <a:ext uri="{FF2B5EF4-FFF2-40B4-BE49-F238E27FC236}">
                <a16:creationId xmlns:a16="http://schemas.microsoft.com/office/drawing/2014/main" id="{3E7ABFBA-89C0-483B-9343-87F999A5D29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WHAT THE PROMPT REQUIRES</a:t>
            </a:r>
          </a:p>
        </p:txBody>
      </p:sp>
      <p:sp>
        <p:nvSpPr>
          <p:cNvPr id="20" name="prompt-copy">
            <a:extLst>
              <a:ext uri="{FF2B5EF4-FFF2-40B4-BE49-F238E27FC236}">
                <a16:creationId xmlns:a16="http://schemas.microsoft.com/office/drawing/2014/main" id="{42A1AF9B-116D-4619-AC21-ACC82577FB53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Use the reported mean and median to predict distribution shape, and explain the mechanism—not just the label.</a:t>
            </a:r>
          </a:p>
        </p:txBody>
      </p:sp>
      <p:sp>
        <p:nvSpPr>
          <p:cNvPr id="21" name="answer-label">
            <a:extLst>
              <a:ext uri="{FF2B5EF4-FFF2-40B4-BE49-F238E27FC236}">
                <a16:creationId xmlns:a16="http://schemas.microsoft.com/office/drawing/2014/main" id="{C1B2D1E2-6650-452D-8B44-F37D653D3C4E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82817"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PARALLEL SERVICE-TIME EXAMPLE</a:t>
            </a:r>
          </a:p>
        </p:txBody>
      </p:sp>
      <p:sp>
        <p:nvSpPr>
          <p:cNvPr id="22" name="answer-card">
            <a:extLst>
              <a:ext uri="{FF2B5EF4-FFF2-40B4-BE49-F238E27FC236}">
                <a16:creationId xmlns:a16="http://schemas.microsoft.com/office/drawing/2014/main" id="{7305139B-2C06-4EC3-B09F-5742835BCA2E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swer-copy">
            <a:extLst>
              <a:ext uri="{FF2B5EF4-FFF2-40B4-BE49-F238E27FC236}">
                <a16:creationId xmlns:a16="http://schemas.microsoft.com/office/drawing/2014/main" id="{352CAFD7-D966-4F81-ABEE-E5542BB9635E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Parallel case: mean = 18 minutes; median = 12 minutes.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 long upper tail can pull the mean above the median.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 long lower tail can pull the mean below the median.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State a prediction, then note that a plot would be needed to confirm it.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2090FD03-3539-43A6-9F38-1905A82ABD78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1.1 · Parallel values use service times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ASSIGNMENT 1.1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C953A117-0B35-42E6-BD40-CD0A1E43558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1.13 · Check shape, then use the empirical rule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CBDCFAC8-6ED8-42D8-9BDA-AE96B19B78A9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EE39CE10-5364-4AA5-B30A-3F576D76FC9E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4373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PARALLEL EMPIRICAL-RULE EXAMPLE</a:t>
            </a:r>
          </a:p>
        </p:txBody>
      </p:sp>
      <p:sp>
        <p:nvSpPr>
          <p:cNvPr id="18" name="prompt-card">
            <a:extLst>
              <a:ext uri="{FF2B5EF4-FFF2-40B4-BE49-F238E27FC236}">
                <a16:creationId xmlns:a16="http://schemas.microsoft.com/office/drawing/2014/main" id="{3594C047-2CC5-41FA-A992-E3A50E4C5B8D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mpt-label">
            <a:extLst>
              <a:ext uri="{FF2B5EF4-FFF2-40B4-BE49-F238E27FC236}">
                <a16:creationId xmlns:a16="http://schemas.microsoft.com/office/drawing/2014/main" id="{3E7ABFBA-89C0-483B-9343-87F999A5D29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WHAT THE PROMPT REQUIRES</a:t>
            </a:r>
          </a:p>
        </p:txBody>
      </p:sp>
      <p:sp>
        <p:nvSpPr>
          <p:cNvPr id="20" name="prompt-copy">
            <a:extLst>
              <a:ext uri="{FF2B5EF4-FFF2-40B4-BE49-F238E27FC236}">
                <a16:creationId xmlns:a16="http://schemas.microsoft.com/office/drawing/2014/main" id="{42A1AF9B-116D-4619-AC21-ACC82577FB53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For a bell-shaped distribution, build intervals at 1, 2, and 3 SDs from the mean; then standardize the proposed value.</a:t>
            </a:r>
          </a:p>
        </p:txBody>
      </p:sp>
      <p:sp>
        <p:nvSpPr>
          <p:cNvPr id="21" name="answer-label">
            <a:extLst>
              <a:ext uri="{FF2B5EF4-FFF2-40B4-BE49-F238E27FC236}">
                <a16:creationId xmlns:a16="http://schemas.microsoft.com/office/drawing/2014/main" id="{C1B2D1E2-6650-452D-8B44-F37D653D3C4E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PARALLEL VALUES · μ50, σ4</a:t>
            </a:r>
          </a:p>
        </p:txBody>
      </p:sp>
      <p:sp>
        <p:nvSpPr>
          <p:cNvPr id="22" name="answer-card">
            <a:extLst>
              <a:ext uri="{FF2B5EF4-FFF2-40B4-BE49-F238E27FC236}">
                <a16:creationId xmlns:a16="http://schemas.microsoft.com/office/drawing/2014/main" id="{7305139B-2C06-4EC3-B09F-5742835BCA2E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swer-copy">
            <a:extLst>
              <a:ext uri="{FF2B5EF4-FFF2-40B4-BE49-F238E27FC236}">
                <a16:creationId xmlns:a16="http://schemas.microsoft.com/office/drawing/2014/main" id="{352CAFD7-D966-4F81-ABEE-E5542BB9635E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68%: μ ± σ = 46–54; 95%: μ ± 2σ = 42–58.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Nearly all: μ ± 3σ = 38–62.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For any candidate x, calculate z = (x − μ)/σ.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Judge unusualness from |z| and keep the bell-shape assumption explicit.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2090FD03-3539-43A6-9F38-1905A82ABD78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1.1 · Parallel parameters differ from salaries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ASSIGNMENT 1.1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C4ACEBCC-D457-430D-87A6-A77B57B39FE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1.17(a–b) · Exclude the named case before summarizing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97CCB74D-E3DA-4E06-BC0E-A1A1D2DADA38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5D086BD9-EC6F-46C5-9AE3-AC003E631D3C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5581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PARALLEL INFLUENCE-AUDIT EXAMPLE</a:t>
            </a:r>
          </a:p>
        </p:txBody>
      </p:sp>
      <p:sp>
        <p:nvSpPr>
          <p:cNvPr id="18" name="code-intro">
            <a:extLst>
              <a:ext uri="{FF2B5EF4-FFF2-40B4-BE49-F238E27FC236}">
                <a16:creationId xmlns:a16="http://schemas.microsoft.com/office/drawing/2014/main" id="{1D29FC3E-ABBE-4CB3-AD00-BFFB09B66789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A toy regional-rate dataset practices filtering, summaries, a five-number profile, and a box plot.</a:t>
            </a:r>
          </a:p>
        </p:txBody>
      </p:sp>
      <p:sp>
        <p:nvSpPr>
          <p:cNvPr id="19" name="code-card">
            <a:extLst>
              <a:ext uri="{FF2B5EF4-FFF2-40B4-BE49-F238E27FC236}">
                <a16:creationId xmlns:a16="http://schemas.microsoft.com/office/drawing/2014/main" id="{14162E27-2AF7-4B64-86F5-C90BAB7A64BF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code-copy">
            <a:extLst>
              <a:ext uri="{FF2B5EF4-FFF2-40B4-BE49-F238E27FC236}">
                <a16:creationId xmlns:a16="http://schemas.microsoft.com/office/drawing/2014/main" id="{039D34DF-59E3-48A2-907C-D5DE4AA5866B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pandas as pd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matplotlib.pyplot as plt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demo = pd.DataFrame({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"region":["A","B","C","D","CAP"],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"rate":[2.4,3.1,3.7,4.8,12.0]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})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base = demo.query("region != 'CAP'")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print(base.rate.agg(["mean","std"]))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print(base.rate.quantile([0,.25,.5,.75,1]))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base.boxplot(column="rate")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plt.ylabel("Rate per 100,000")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plt.title("Parallel example without CAP")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plt.show()</a:t>
            </a:r>
          </a:p>
        </p:txBody>
      </p:sp>
      <p:sp>
        <p:nvSpPr>
          <p:cNvPr id="21" name="code-insight-card">
            <a:extLst>
              <a:ext uri="{FF2B5EF4-FFF2-40B4-BE49-F238E27FC236}">
                <a16:creationId xmlns:a16="http://schemas.microsoft.com/office/drawing/2014/main" id="{700E74E2-0274-4820-A2CD-0519F54CAD3E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code-insight-label">
            <a:extLst>
              <a:ext uri="{FF2B5EF4-FFF2-40B4-BE49-F238E27FC236}">
                <a16:creationId xmlns:a16="http://schemas.microsoft.com/office/drawing/2014/main" id="{6F4ADE84-8A51-4F3B-9D1F-7AC786850197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ASSIGNMENT TRANSFER CHECKLIST</a:t>
            </a:r>
          </a:p>
        </p:txBody>
      </p:sp>
      <p:sp>
        <p:nvSpPr>
          <p:cNvPr id="23" name="code-insight-copy">
            <a:extLst>
              <a:ext uri="{FF2B5EF4-FFF2-40B4-BE49-F238E27FC236}">
                <a16:creationId xmlns:a16="http://schemas.microsoft.com/office/drawing/2014/main" id="{A23C4220-A5AE-4640-ACD9-213C474E6758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Inspect the actual region labels before filtering.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Report mean, SD, and the five-number summary with units.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Interpret box-plot center, IQR, whiskers, and flagged points.</a:t>
            </a: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For the assignment, exclude D.C. first and keep that filter visible.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9F0B375B-CC77-47A0-8FB0-0D4790A633DB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1.1 · Parallel regional-rate data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ASSIGNMENT 1.1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C953A117-0B35-42E6-BD40-CD0A1E43558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1.17(c) · Audit outlier influence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CBDCFAC8-6ED8-42D8-9BDA-AE96B19B78A9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EE39CE10-5364-4AA5-B30A-3F576D76FC9E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6873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OUTLIER-INFLUENCE WORKFLOW</a:t>
            </a:r>
          </a:p>
        </p:txBody>
      </p:sp>
      <p:sp>
        <p:nvSpPr>
          <p:cNvPr id="18" name="prompt-card">
            <a:extLst>
              <a:ext uri="{FF2B5EF4-FFF2-40B4-BE49-F238E27FC236}">
                <a16:creationId xmlns:a16="http://schemas.microsoft.com/office/drawing/2014/main" id="{3594C047-2CC5-41FA-A992-E3A50E4C5B8D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mpt-label">
            <a:extLst>
              <a:ext uri="{FF2B5EF4-FFF2-40B4-BE49-F238E27FC236}">
                <a16:creationId xmlns:a16="http://schemas.microsoft.com/office/drawing/2014/main" id="{3E7ABFBA-89C0-483B-9343-87F999A5D29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WHAT THE PROMPT REQUIRES</a:t>
            </a:r>
          </a:p>
        </p:txBody>
      </p:sp>
      <p:sp>
        <p:nvSpPr>
          <p:cNvPr id="20" name="prompt-copy">
            <a:extLst>
              <a:ext uri="{FF2B5EF4-FFF2-40B4-BE49-F238E27FC236}">
                <a16:creationId xmlns:a16="http://schemas.microsoft.com/office/drawing/2014/main" id="{42A1AF9B-116D-4619-AC21-ACC82577FB53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Add D.C. back, then decide which center and which spread measure are affected more by the outlier.</a:t>
            </a:r>
          </a:p>
        </p:txBody>
      </p:sp>
      <p:sp>
        <p:nvSpPr>
          <p:cNvPr id="21" name="answer-label">
            <a:extLst>
              <a:ext uri="{FF2B5EF4-FFF2-40B4-BE49-F238E27FC236}">
                <a16:creationId xmlns:a16="http://schemas.microsoft.com/office/drawing/2014/main" id="{C1B2D1E2-6650-452D-8B44-F37D653D3C4E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93963"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BUILD A BEFORE–AFTER AUDIT</a:t>
            </a:r>
          </a:p>
        </p:txBody>
      </p:sp>
      <p:sp>
        <p:nvSpPr>
          <p:cNvPr id="22" name="answer-card">
            <a:extLst>
              <a:ext uri="{FF2B5EF4-FFF2-40B4-BE49-F238E27FC236}">
                <a16:creationId xmlns:a16="http://schemas.microsoft.com/office/drawing/2014/main" id="{7305139B-2C06-4EC3-B09F-5742835BCA2E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swer-copy">
            <a:extLst>
              <a:ext uri="{FF2B5EF4-FFF2-40B4-BE49-F238E27FC236}">
                <a16:creationId xmlns:a16="http://schemas.microsoft.com/office/drawing/2014/main" id="{352CAFD7-D966-4F81-ABEE-E5542BB9635E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Create two rows: without D.C. and with D.C.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Use columns for mean, median, range, and IQR.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Compute the absolute change in each statistic before comparing.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Explain the result using resistance—not only ‘bigger’ or ‘smaller.’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2090FD03-3539-43A6-9F38-1905A82ABD78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1.1 · No Murder-data results shown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ASSIGNMENT 1.1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C4ACEBCC-D457-430D-87A6-A77B57B39FE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1.18(a–b) · Pair the distribution picture with a numeric profile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97CCB74D-E3DA-4E06-BC0E-A1A1D2DADA38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5D086BD9-EC6F-46C5-9AE3-AC003E631D3C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8073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PARALLEL INCOME-LIKE EXAMPLE</a:t>
            </a:r>
          </a:p>
        </p:txBody>
      </p:sp>
      <p:sp>
        <p:nvSpPr>
          <p:cNvPr id="18" name="code-intro">
            <a:extLst>
              <a:ext uri="{FF2B5EF4-FFF2-40B4-BE49-F238E27FC236}">
                <a16:creationId xmlns:a16="http://schemas.microsoft.com/office/drawing/2014/main" id="{1D29FC3E-ABBE-4CB3-AD00-BFFB09B66789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A small unrelated annual-amount dataset illustrates the required histogram-to-summary reasoning.</a:t>
            </a:r>
          </a:p>
        </p:txBody>
      </p:sp>
      <p:sp>
        <p:nvSpPr>
          <p:cNvPr id="19" name="code-card">
            <a:extLst>
              <a:ext uri="{FF2B5EF4-FFF2-40B4-BE49-F238E27FC236}">
                <a16:creationId xmlns:a16="http://schemas.microsoft.com/office/drawing/2014/main" id="{14162E27-2AF7-4B64-86F5-C90BAB7A64BF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code-copy">
            <a:extLst>
              <a:ext uri="{FF2B5EF4-FFF2-40B4-BE49-F238E27FC236}">
                <a16:creationId xmlns:a16="http://schemas.microsoft.com/office/drawing/2014/main" id="{039D34DF-59E3-48A2-907C-D5DE4AA5866B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pandas as pd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seaborn as sns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matplotlib.pyplot as plt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demo = pd.DataFrame({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"annual_k":[28,31,35,36,42,48,70,95]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})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sns.histplot(data=demo,x="annual_k",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         bins=5,edgecolor="white")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plt.xlabel("Annual amount ($000s)")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plt.title("Parallel income-like data")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plt.show()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print(demo.annual_k.describe())</a:t>
            </a:r>
          </a:p>
        </p:txBody>
      </p:sp>
      <p:sp>
        <p:nvSpPr>
          <p:cNvPr id="21" name="code-insight-card">
            <a:extLst>
              <a:ext uri="{FF2B5EF4-FFF2-40B4-BE49-F238E27FC236}">
                <a16:creationId xmlns:a16="http://schemas.microsoft.com/office/drawing/2014/main" id="{700E74E2-0274-4820-A2CD-0519F54CAD3E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code-insight-label">
            <a:extLst>
              <a:ext uri="{FF2B5EF4-FFF2-40B4-BE49-F238E27FC236}">
                <a16:creationId xmlns:a16="http://schemas.microsoft.com/office/drawing/2014/main" id="{6F4ADE84-8A51-4F3B-9D1F-7AC786850197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INTERPRET IN THIS ORDER</a:t>
            </a:r>
          </a:p>
        </p:txBody>
      </p:sp>
      <p:sp>
        <p:nvSpPr>
          <p:cNvPr id="23" name="code-insight-copy">
            <a:extLst>
              <a:ext uri="{FF2B5EF4-FFF2-40B4-BE49-F238E27FC236}">
                <a16:creationId xmlns:a16="http://schemas.microsoft.com/office/drawing/2014/main" id="{A23C4220-A5AE-4640-ACD9-213C474E6758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Check missing values before plotting or summarizing.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Describe shape, center, spread, gaps, and unusual values.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Use the variable’s stated units in every interpretation.</a:t>
            </a: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Let the plot explain why mean and median may differ.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9F0B375B-CC77-47A0-8FB0-0D4790A633DB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1.1 · seaborn histplot · pandas describe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ASSIGNMENT 1.1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C4ACEBCC-D457-430D-87A6-A77B57B39FE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1.18(c) · Compare KDE bandwidths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97CCB74D-E3DA-4E06-BC0E-A1A1D2DADA38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5D086BD9-EC6F-46C5-9AE3-AC003E631D3C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PARALLEL KDE COMPARISON</a:t>
            </a:r>
          </a:p>
        </p:txBody>
      </p:sp>
      <p:sp>
        <p:nvSpPr>
          <p:cNvPr id="18" name="code-intro">
            <a:extLst>
              <a:ext uri="{FF2B5EF4-FFF2-40B4-BE49-F238E27FC236}">
                <a16:creationId xmlns:a16="http://schemas.microsoft.com/office/drawing/2014/main" id="{1D29FC3E-ABBE-4CB3-AD00-BFFB09B66789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Continue with the demo data from the previous slide; keep the data and axis fixed while changing only bandwidth.</a:t>
            </a:r>
          </a:p>
        </p:txBody>
      </p:sp>
      <p:sp>
        <p:nvSpPr>
          <p:cNvPr id="19" name="code-card">
            <a:extLst>
              <a:ext uri="{FF2B5EF4-FFF2-40B4-BE49-F238E27FC236}">
                <a16:creationId xmlns:a16="http://schemas.microsoft.com/office/drawing/2014/main" id="{14162E27-2AF7-4B64-86F5-C90BAB7A64BF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code-copy">
            <a:extLst>
              <a:ext uri="{FF2B5EF4-FFF2-40B4-BE49-F238E27FC236}">
                <a16:creationId xmlns:a16="http://schemas.microsoft.com/office/drawing/2014/main" id="{039D34DF-59E3-48A2-907C-D5DE4AA5866B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seaborn as sns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matplotlib.pyplot as plt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for bw in (0.4,1.0,2.5):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sns.kdeplot(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  data=demo,x="annual_k",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  bw_adjust=bw,label=f"bw={bw}"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plt.xlabel("Annual amount ($000s)")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plt.title("Parallel KDE bandwidths")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plt.legend()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plt.show()</a:t>
            </a:r>
          </a:p>
        </p:txBody>
      </p:sp>
      <p:sp>
        <p:nvSpPr>
          <p:cNvPr id="21" name="code-insight-card">
            <a:extLst>
              <a:ext uri="{FF2B5EF4-FFF2-40B4-BE49-F238E27FC236}">
                <a16:creationId xmlns:a16="http://schemas.microsoft.com/office/drawing/2014/main" id="{700E74E2-0274-4820-A2CD-0519F54CAD3E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code-insight-label">
            <a:extLst>
              <a:ext uri="{FF2B5EF4-FFF2-40B4-BE49-F238E27FC236}">
                <a16:creationId xmlns:a16="http://schemas.microsoft.com/office/drawing/2014/main" id="{6F4ADE84-8A51-4F3B-9D1F-7AC786850197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WHAT TO EXPLAIN</a:t>
            </a:r>
          </a:p>
        </p:txBody>
      </p:sp>
      <p:sp>
        <p:nvSpPr>
          <p:cNvPr id="23" name="code-insight-copy">
            <a:extLst>
              <a:ext uri="{FF2B5EF4-FFF2-40B4-BE49-F238E27FC236}">
                <a16:creationId xmlns:a16="http://schemas.microsoft.com/office/drawing/2014/main" id="{A23C4220-A5AE-4640-ACD9-213C474E6758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Smaller bandwidth follows local bumps and may undersmooth.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Larger bandwidth merges features and may oversmooth.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Compare curves on the same axis and with the same observations.</a:t>
            </a: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KDE curves can extend beyond physically possible boundaries.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9F0B375B-CC77-47A0-8FB0-0D4790A633DB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1.1 · seaborn kdeplot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ASSIGNMENT 1.1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C4ACEBCC-D457-430D-87A6-A77B57B39FE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1.18(d) · Support group comparisons with both plots and numbers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97CCB74D-E3DA-4E06-BC0E-A1A1D2DADA38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5D086BD9-EC6F-46C5-9AE3-AC003E631D3C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78965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PARALLEL GROUP-COMPARISON EXAMPLE</a:t>
            </a:r>
          </a:p>
        </p:txBody>
      </p:sp>
      <p:sp>
        <p:nvSpPr>
          <p:cNvPr id="18" name="code-intro">
            <a:extLst>
              <a:ext uri="{FF2B5EF4-FFF2-40B4-BE49-F238E27FC236}">
                <a16:creationId xmlns:a16="http://schemas.microsoft.com/office/drawing/2014/main" id="{1D29FC3E-ABBE-4CB3-AD00-BFFB09B66789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Use a neutral plan-versus-spend example before adapting the pattern to income by race.</a:t>
            </a:r>
          </a:p>
        </p:txBody>
      </p:sp>
      <p:sp>
        <p:nvSpPr>
          <p:cNvPr id="19" name="code-card">
            <a:extLst>
              <a:ext uri="{FF2B5EF4-FFF2-40B4-BE49-F238E27FC236}">
                <a16:creationId xmlns:a16="http://schemas.microsoft.com/office/drawing/2014/main" id="{14162E27-2AF7-4B64-86F5-C90BAB7A64BF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code-copy">
            <a:extLst>
              <a:ext uri="{FF2B5EF4-FFF2-40B4-BE49-F238E27FC236}">
                <a16:creationId xmlns:a16="http://schemas.microsoft.com/office/drawing/2014/main" id="{039D34DF-59E3-48A2-907C-D5DE4AA5866B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pandas as pd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seaborn as sns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matplotlib.pyplot as plt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demo = pd.DataFrame({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"plan":["A"]*5 + ["B"]*5,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"spend":[42,55,63,58,70,38,61,79,65,72]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})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sns.boxplot(data=demo,x="plan",y="spend")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plt.ylabel("Monthly spend ($)")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plt.title("Parallel group comparison")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plt.show()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print(demo.groupby("plan").spend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  .agg(["count","mean","median","std"]))</a:t>
            </a:r>
          </a:p>
        </p:txBody>
      </p:sp>
      <p:sp>
        <p:nvSpPr>
          <p:cNvPr id="21" name="code-insight-card">
            <a:extLst>
              <a:ext uri="{FF2B5EF4-FFF2-40B4-BE49-F238E27FC236}">
                <a16:creationId xmlns:a16="http://schemas.microsoft.com/office/drawing/2014/main" id="{700E74E2-0274-4820-A2CD-0519F54CAD3E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code-insight-label">
            <a:extLst>
              <a:ext uri="{FF2B5EF4-FFF2-40B4-BE49-F238E27FC236}">
                <a16:creationId xmlns:a16="http://schemas.microsoft.com/office/drawing/2014/main" id="{6F4ADE84-8A51-4F3B-9D1F-7AC786850197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COMPARE WITHOUT OVERCLAIMING</a:t>
            </a:r>
          </a:p>
        </p:txBody>
      </p:sp>
      <p:sp>
        <p:nvSpPr>
          <p:cNvPr id="23" name="code-insight-copy">
            <a:extLst>
              <a:ext uri="{FF2B5EF4-FFF2-40B4-BE49-F238E27FC236}">
                <a16:creationId xmlns:a16="http://schemas.microsoft.com/office/drawing/2014/main" id="{A23C4220-A5AE-4640-ACD9-213C474E6758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Compare medians, IQRs, overlap, and flagged points.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Use one common scale and report group sample sizes.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Use the numeric table to support—not replace—the plot.</a:t>
            </a: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Describe observed differences; do not claim a causal effect.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9F0B375B-CC77-47A0-8FB0-0D4790A633DB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1.1 · seaborn boxplot · pandas groupby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ASSIGNMENT 1.1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60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C4ACEBCC-D457-430D-87A6-A77B57B39FE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1.19(a, c) · Pair histogram and box plot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97CCB74D-E3DA-4E06-BC0E-A1A1D2DADA38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5D086BD9-EC6F-46C5-9AE3-AC003E631D3C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PARALLEL PRICE EXAMPLE</a:t>
            </a:r>
          </a:p>
        </p:txBody>
      </p:sp>
      <p:sp>
        <p:nvSpPr>
          <p:cNvPr id="18" name="code-intro">
            <a:extLst>
              <a:ext uri="{FF2B5EF4-FFF2-40B4-BE49-F238E27FC236}">
                <a16:creationId xmlns:a16="http://schemas.microsoft.com/office/drawing/2014/main" id="{1D29FC3E-ABBE-4CB3-AD00-BFFB09B66789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A synthetic selling-price series practices frequency bins, shape description, and box-plot interpretation.</a:t>
            </a:r>
          </a:p>
        </p:txBody>
      </p:sp>
      <p:sp>
        <p:nvSpPr>
          <p:cNvPr id="19" name="code-card">
            <a:extLst>
              <a:ext uri="{FF2B5EF4-FFF2-40B4-BE49-F238E27FC236}">
                <a16:creationId xmlns:a16="http://schemas.microsoft.com/office/drawing/2014/main" id="{14162E27-2AF7-4B64-86F5-C90BAB7A64BF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code-copy">
            <a:extLst>
              <a:ext uri="{FF2B5EF4-FFF2-40B4-BE49-F238E27FC236}">
                <a16:creationId xmlns:a16="http://schemas.microsoft.com/office/drawing/2014/main" id="{039D34DF-59E3-48A2-907C-D5DE4AA5866B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pandas as pd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matplotlib.pyplot as plt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price = pd.Series(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[145,152,160,168,175,190,240,310],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name="price_k"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print(pd.cut(price,bins=4)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  .value_counts().sort_index())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fig,ax = plt.subplots(1,2,figsize=(9,3))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price.plot.hist(bins=4,ax=ax[0])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price.plot.box(ax=ax[1])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ax[0].set_title("Parallel histogram")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ax[1].set_title("Parallel box plot")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ax[0].set_xlabel("Price ($000s)")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ax[0].set_ylabel("Frequency")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ax[1].set_ylabel("Price ($000s)")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plt.show()</a:t>
            </a:r>
          </a:p>
        </p:txBody>
      </p:sp>
      <p:sp>
        <p:nvSpPr>
          <p:cNvPr id="21" name="code-insight-card">
            <a:extLst>
              <a:ext uri="{FF2B5EF4-FFF2-40B4-BE49-F238E27FC236}">
                <a16:creationId xmlns:a16="http://schemas.microsoft.com/office/drawing/2014/main" id="{700E74E2-0274-4820-A2CD-0519F54CAD3E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code-insight-label">
            <a:extLst>
              <a:ext uri="{FF2B5EF4-FFF2-40B4-BE49-F238E27FC236}">
                <a16:creationId xmlns:a16="http://schemas.microsoft.com/office/drawing/2014/main" id="{6F4ADE84-8A51-4F3B-9D1F-7AC786850197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READ BOTH DISPLAYS</a:t>
            </a:r>
          </a:p>
        </p:txBody>
      </p:sp>
      <p:sp>
        <p:nvSpPr>
          <p:cNvPr id="23" name="code-insight-copy">
            <a:extLst>
              <a:ext uri="{FF2B5EF4-FFF2-40B4-BE49-F238E27FC236}">
                <a16:creationId xmlns:a16="http://schemas.microsoft.com/office/drawing/2014/main" id="{A23C4220-A5AE-4640-ACD9-213C474E6758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Verify that frequency counts sum to the sample size.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Use the histogram to describe shape and gaps.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Use the box plot for median, IQR, whiskers, and flagged points.</a:t>
            </a: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Label the price units and avoid calling every high value an outlier.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9F0B375B-CC77-47A0-8FB0-0D4790A633DB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1.1 · Parallel synthetic prices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ASSIGNMENT 1.1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61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C953A117-0B35-42E6-BD40-CD0A1E43558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Problem 1.19(b, d) · Test one-SD coverage, then compare house groups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CBDCFAC8-6ED8-42D8-9BDA-AE96B19B78A9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EE39CE10-5364-4AA5-B30A-3F576D76FC9E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70188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CALCULATION AND COMPARISON WORKFLOW</a:t>
            </a:r>
          </a:p>
        </p:txBody>
      </p:sp>
      <p:sp>
        <p:nvSpPr>
          <p:cNvPr id="18" name="prompt-card">
            <a:extLst>
              <a:ext uri="{FF2B5EF4-FFF2-40B4-BE49-F238E27FC236}">
                <a16:creationId xmlns:a16="http://schemas.microsoft.com/office/drawing/2014/main" id="{3594C047-2CC5-41FA-A992-E3A50E4C5B8D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mpt-label">
            <a:extLst>
              <a:ext uri="{FF2B5EF4-FFF2-40B4-BE49-F238E27FC236}">
                <a16:creationId xmlns:a16="http://schemas.microsoft.com/office/drawing/2014/main" id="{3E7ABFBA-89C0-483B-9343-87F999A5D29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WHAT THE PROMPT REQUIRES</a:t>
            </a:r>
          </a:p>
        </p:txBody>
      </p:sp>
      <p:sp>
        <p:nvSpPr>
          <p:cNvPr id="20" name="prompt-copy">
            <a:extLst>
              <a:ext uri="{FF2B5EF4-FFF2-40B4-BE49-F238E27FC236}">
                <a16:creationId xmlns:a16="http://schemas.microsoft.com/office/drawing/2014/main" id="{42A1AF9B-116D-4619-AC21-ACC82577FB53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Find the percentage within one sample SD of the mean, explain why 68% is not automatic, and compare prices for new versus existing houses.</a:t>
            </a:r>
          </a:p>
        </p:txBody>
      </p:sp>
      <p:sp>
        <p:nvSpPr>
          <p:cNvPr id="21" name="answer-label">
            <a:extLst>
              <a:ext uri="{FF2B5EF4-FFF2-40B4-BE49-F238E27FC236}">
                <a16:creationId xmlns:a16="http://schemas.microsoft.com/office/drawing/2014/main" id="{C1B2D1E2-6650-452D-8B44-F37D653D3C4E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HOW TO APPROACH</a:t>
            </a:r>
          </a:p>
        </p:txBody>
      </p:sp>
      <p:sp>
        <p:nvSpPr>
          <p:cNvPr id="22" name="answer-card">
            <a:extLst>
              <a:ext uri="{FF2B5EF4-FFF2-40B4-BE49-F238E27FC236}">
                <a16:creationId xmlns:a16="http://schemas.microsoft.com/office/drawing/2014/main" id="{7305139B-2C06-4EC3-B09F-5742835BCA2E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swer-copy">
            <a:extLst>
              <a:ext uri="{FF2B5EF4-FFF2-40B4-BE49-F238E27FC236}">
                <a16:creationId xmlns:a16="http://schemas.microsoft.com/office/drawing/2014/main" id="{352CAFD7-D966-4F81-ABEE-E5542BB9635E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Set lower = mean − SD and upper = mean + SD.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Percentage = 100 × mean(x.between(lower, upper)).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68% rule requires an approximately bell-shaped distribution.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For new vs existing: compare n, center, spread, and box plots—without claiming causation.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2090FD03-3539-43A6-9F38-1905A82ABD78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1.1 · No Houses-data results shown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25BF4410-D173-4F0D-8514-555C2EE20B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79C12C-7AC7-4F28-98C1-046F725B82C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AI EXTENSION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9E22CF-2280-4943-B90C-B4F1152BEE8C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62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F33DA8-669A-4F8F-8DC0-1246D4CED758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DF2523-C857-4868-AAF9-BF01B89E2AB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DC0EC1E-A340-4EA8-8E37-0657A1F9780D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3853"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Treat the AI extension as an audit—not a modeling shortcut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CB07F0-D6BB-4B96-A960-6C4BE06B4EB5}"/>
              </a:ext>
            </a:extLst>
          </p:cNvPr>
          <p:cNvSpPr>
            <a:spLocks noGrp="1"/>
          </p:cNvSpPr>
          <p:nvPr/>
        </p:nvSpPr>
        <p:spPr>
          <a:xfrm>
            <a:off x="809625" y="1666875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Original 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0B10DC-2BFE-4579-9E39-29846D491385}"/>
              </a:ext>
            </a:extLst>
          </p:cNvPr>
          <p:cNvSpPr>
            <a:spLocks noGrp="1"/>
          </p:cNvSpPr>
          <p:nvPr/>
        </p:nvSpPr>
        <p:spPr>
          <a:xfrm>
            <a:off x="809625" y="21907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preserve + document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D2E2E-30A2-4C76-B1E3-244858E30034}"/>
              </a:ext>
            </a:extLst>
          </p:cNvPr>
          <p:cNvSpPr>
            <a:spLocks noGrp="1"/>
          </p:cNvSpPr>
          <p:nvPr/>
        </p:nvSpPr>
        <p:spPr>
          <a:xfrm>
            <a:off x="4524375" y="1666875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5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Target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524C56-0E94-403F-9BA4-4BAC93974CA7}"/>
              </a:ext>
            </a:extLst>
          </p:cNvPr>
          <p:cNvSpPr>
            <a:spLocks noGrp="1"/>
          </p:cNvSpPr>
          <p:nvPr/>
        </p:nvSpPr>
        <p:spPr>
          <a:xfrm>
            <a:off x="4524375" y="21907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check balance + validity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39C807-C816-42A0-8F34-FB4DC46B315B}"/>
              </a:ext>
            </a:extLst>
          </p:cNvPr>
          <p:cNvSpPr>
            <a:spLocks noGrp="1"/>
          </p:cNvSpPr>
          <p:nvPr/>
        </p:nvSpPr>
        <p:spPr>
          <a:xfrm>
            <a:off x="8239125" y="1666875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55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rPr>
              <a:t>Synthetic rows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5DBB3F-69E4-4F07-B7F8-7EE914842A75}"/>
              </a:ext>
            </a:extLst>
          </p:cNvPr>
          <p:cNvSpPr>
            <a:spLocks noGrp="1"/>
          </p:cNvSpPr>
          <p:nvPr/>
        </p:nvSpPr>
        <p:spPr>
          <a:xfrm>
            <a:off x="8239125" y="21907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tag + validate separately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03B42D-DBAE-442E-83F9-F02BA9749132}"/>
              </a:ext>
            </a:extLst>
          </p:cNvPr>
          <p:cNvSpPr>
            <a:spLocks noGrp="1"/>
          </p:cNvSpPr>
          <p:nvPr/>
        </p:nvSpPr>
        <p:spPr>
          <a:xfrm>
            <a:off x="1238250" y="3695700"/>
            <a:ext cx="9715500" cy="476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0AA0997-A030-47C5-B703-38F468F5D154}"/>
              </a:ext>
            </a:extLst>
          </p:cNvPr>
          <p:cNvSpPr>
            <a:spLocks noGrp="1"/>
          </p:cNvSpPr>
          <p:nvPr/>
        </p:nvSpPr>
        <p:spPr>
          <a:xfrm>
            <a:off x="933450" y="3390900"/>
            <a:ext cx="647700" cy="647700"/>
          </a:xfrm>
          <a:prstGeom prst="ellipse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29F857-F9B9-4D63-A9ED-0C0C98E57CB7}"/>
              </a:ext>
            </a:extLst>
          </p:cNvPr>
          <p:cNvSpPr>
            <a:spLocks noGrp="1"/>
          </p:cNvSpPr>
          <p:nvPr/>
        </p:nvSpPr>
        <p:spPr>
          <a:xfrm>
            <a:off x="933450" y="3409950"/>
            <a:ext cx="647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1AAC23-D36C-4E3A-9B7E-989A0A695379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Load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5083C5C-3CEC-4FFF-94D2-A442A90826C4}"/>
              </a:ext>
            </a:extLst>
          </p:cNvPr>
          <p:cNvSpPr>
            <a:spLocks noGrp="1"/>
          </p:cNvSpPr>
          <p:nvPr/>
        </p:nvSpPr>
        <p:spPr>
          <a:xfrm>
            <a:off x="2762250" y="3390900"/>
            <a:ext cx="647700" cy="647700"/>
          </a:xfrm>
          <a:prstGeom prst="ellipse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1A2A80-3EA4-4407-BDFD-10AABC17B864}"/>
              </a:ext>
            </a:extLst>
          </p:cNvPr>
          <p:cNvSpPr>
            <a:spLocks noGrp="1"/>
          </p:cNvSpPr>
          <p:nvPr/>
        </p:nvSpPr>
        <p:spPr>
          <a:xfrm>
            <a:off x="2762250" y="3409950"/>
            <a:ext cx="647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8ACD52-169C-4122-B4F8-7D6D7D017E5D}"/>
              </a:ext>
            </a:extLst>
          </p:cNvPr>
          <p:cNvSpPr>
            <a:spLocks noGrp="1"/>
          </p:cNvSpPr>
          <p:nvPr/>
        </p:nvSpPr>
        <p:spPr>
          <a:xfrm>
            <a:off x="2438400" y="42672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Audit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D350BDB-5BB7-47F5-B619-A1C33CBB5B7E}"/>
              </a:ext>
            </a:extLst>
          </p:cNvPr>
          <p:cNvSpPr>
            <a:spLocks noGrp="1"/>
          </p:cNvSpPr>
          <p:nvPr/>
        </p:nvSpPr>
        <p:spPr>
          <a:xfrm>
            <a:off x="4591050" y="3390900"/>
            <a:ext cx="647700" cy="647700"/>
          </a:xfrm>
          <a:prstGeom prst="ellipse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5456D3-875B-4D12-A9B4-1F61A25B6893}"/>
              </a:ext>
            </a:extLst>
          </p:cNvPr>
          <p:cNvSpPr>
            <a:spLocks noGrp="1"/>
          </p:cNvSpPr>
          <p:nvPr/>
        </p:nvSpPr>
        <p:spPr>
          <a:xfrm>
            <a:off x="4591050" y="3409950"/>
            <a:ext cx="647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0B684B-4EAC-4C1F-AE18-8C1FCE738644}"/>
              </a:ext>
            </a:extLst>
          </p:cNvPr>
          <p:cNvSpPr>
            <a:spLocks noGrp="1"/>
          </p:cNvSpPr>
          <p:nvPr/>
        </p:nvSpPr>
        <p:spPr>
          <a:xfrm>
            <a:off x="4267200" y="42672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Profile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839F944-B111-462C-9362-DA870558B879}"/>
              </a:ext>
            </a:extLst>
          </p:cNvPr>
          <p:cNvSpPr>
            <a:spLocks noGrp="1"/>
          </p:cNvSpPr>
          <p:nvPr/>
        </p:nvSpPr>
        <p:spPr>
          <a:xfrm>
            <a:off x="6419850" y="3390900"/>
            <a:ext cx="647700" cy="647700"/>
          </a:xfrm>
          <a:prstGeom prst="ellipse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6B82BB-A73D-4A2F-8F51-201358BC5C3E}"/>
              </a:ext>
            </a:extLst>
          </p:cNvPr>
          <p:cNvSpPr>
            <a:spLocks noGrp="1"/>
          </p:cNvSpPr>
          <p:nvPr/>
        </p:nvSpPr>
        <p:spPr>
          <a:xfrm>
            <a:off x="6419850" y="3409950"/>
            <a:ext cx="647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284802-6E10-4D0B-8173-C23270B2FE34}"/>
              </a:ext>
            </a:extLst>
          </p:cNvPr>
          <p:cNvSpPr>
            <a:spLocks noGrp="1"/>
          </p:cNvSpPr>
          <p:nvPr/>
        </p:nvSpPr>
        <p:spPr>
          <a:xfrm>
            <a:off x="6096000" y="42672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Visualize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67B93C7-B41D-45E6-854D-B72386D0B2D2}"/>
              </a:ext>
            </a:extLst>
          </p:cNvPr>
          <p:cNvSpPr>
            <a:spLocks noGrp="1"/>
          </p:cNvSpPr>
          <p:nvPr/>
        </p:nvSpPr>
        <p:spPr>
          <a:xfrm>
            <a:off x="8248650" y="3390900"/>
            <a:ext cx="647700" cy="647700"/>
          </a:xfrm>
          <a:prstGeom prst="ellipse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1A1182-681E-4E39-B4C8-DA736F218A01}"/>
              </a:ext>
            </a:extLst>
          </p:cNvPr>
          <p:cNvSpPr>
            <a:spLocks noGrp="1"/>
          </p:cNvSpPr>
          <p:nvPr/>
        </p:nvSpPr>
        <p:spPr>
          <a:xfrm>
            <a:off x="8248650" y="3409950"/>
            <a:ext cx="647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72FCDDE-9618-4E20-ACA6-A25E0B6BCAAC}"/>
              </a:ext>
            </a:extLst>
          </p:cNvPr>
          <p:cNvSpPr>
            <a:spLocks noGrp="1"/>
          </p:cNvSpPr>
          <p:nvPr/>
        </p:nvSpPr>
        <p:spPr>
          <a:xfrm>
            <a:off x="7924800" y="42672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Augment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4D0F339-E5EB-4C7C-B5AB-E8DCFF250486}"/>
              </a:ext>
            </a:extLst>
          </p:cNvPr>
          <p:cNvSpPr>
            <a:spLocks noGrp="1"/>
          </p:cNvSpPr>
          <p:nvPr/>
        </p:nvSpPr>
        <p:spPr>
          <a:xfrm>
            <a:off x="10077450" y="3390900"/>
            <a:ext cx="647700" cy="647700"/>
          </a:xfrm>
          <a:prstGeom prst="ellipse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244D2AB-3881-469D-8F88-AD677C686423}"/>
              </a:ext>
            </a:extLst>
          </p:cNvPr>
          <p:cNvSpPr>
            <a:spLocks noGrp="1"/>
          </p:cNvSpPr>
          <p:nvPr/>
        </p:nvSpPr>
        <p:spPr>
          <a:xfrm>
            <a:off x="10077450" y="3409950"/>
            <a:ext cx="647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0831BD-9FE9-47AA-B9C8-F1DD86D14FA0}"/>
              </a:ext>
            </a:extLst>
          </p:cNvPr>
          <p:cNvSpPr>
            <a:spLocks noGrp="1"/>
          </p:cNvSpPr>
          <p:nvPr/>
        </p:nvSpPr>
        <p:spPr>
          <a:xfrm>
            <a:off x="9753600" y="42672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Compare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F69C84-6EE0-4F42-B642-012043D41996}"/>
              </a:ext>
            </a:extLst>
          </p:cNvPr>
          <p:cNvSpPr>
            <a:spLocks noGrp="1"/>
          </p:cNvSpPr>
          <p:nvPr/>
        </p:nvSpPr>
        <p:spPr>
          <a:xfrm>
            <a:off x="1619250" y="514350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64815"/>
          </a:bodyPr>
          <a:lstStyle/>
          <a:p>
            <a:pPr algn="ctr">
              <a:buNone/>
              <a:defRPr sz="20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Never overwrite the original data, contaminate evaluation, or call a generator a GAN unless one was actually trained.</a:t>
            </a:r>
          </a:p>
        </p:txBody>
      </p:sp>
    </p:spTree>
    <p:extLst>
      <p:ext uri="{BB962C8B-B14F-4D97-AF65-F5344CB8AC3E}">
        <p14:creationId xmlns:p14="http://schemas.microsoft.com/office/powerpoint/2010/main" val="79392142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ASSIGNMENT 1.1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63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C4ACEBCC-D457-430D-87A6-A77B57B39FE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AI part (a) · Audit structure, quality, and target balance first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97CCB74D-E3DA-4E06-BC0E-A1A1D2DADA38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5D086BD9-EC6F-46C5-9AE3-AC003E631D3C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4373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SCAFFOLD · NO DATA RESULTS</a:t>
            </a:r>
          </a:p>
        </p:txBody>
      </p:sp>
      <p:sp>
        <p:nvSpPr>
          <p:cNvPr id="18" name="code-intro">
            <a:extLst>
              <a:ext uri="{FF2B5EF4-FFF2-40B4-BE49-F238E27FC236}">
                <a16:creationId xmlns:a16="http://schemas.microsoft.com/office/drawing/2014/main" id="{1D29FC3E-ABBE-4CB3-AD00-BFFB09B66789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Students insert the downloaded file path and target column, then explain what each check implies.</a:t>
            </a:r>
          </a:p>
        </p:txBody>
      </p:sp>
      <p:sp>
        <p:nvSpPr>
          <p:cNvPr id="19" name="code-card">
            <a:extLst>
              <a:ext uri="{FF2B5EF4-FFF2-40B4-BE49-F238E27FC236}">
                <a16:creationId xmlns:a16="http://schemas.microsoft.com/office/drawing/2014/main" id="{14162E27-2AF7-4B64-86F5-C90BAB7A64BF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code-copy">
            <a:extLst>
              <a:ext uri="{FF2B5EF4-FFF2-40B4-BE49-F238E27FC236}">
                <a16:creationId xmlns:a16="http://schemas.microsoft.com/office/drawing/2014/main" id="{039D34DF-59E3-48A2-907C-D5DE4AA5866B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pandas as pd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path = "YOUR_DOWNLOADED_FILE.xlsx"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data = pd.read_excel(path)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target = "TARGET_COLUMN"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display(data.head())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data.info()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print(data.shape)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print(data.isna().sum())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print(data.duplicated().sum())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print(data.describe(include="all").T)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print(data[target].value_counts(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  normalize=True))</a:t>
            </a:r>
          </a:p>
        </p:txBody>
      </p:sp>
      <p:sp>
        <p:nvSpPr>
          <p:cNvPr id="21" name="code-insight-card">
            <a:extLst>
              <a:ext uri="{FF2B5EF4-FFF2-40B4-BE49-F238E27FC236}">
                <a16:creationId xmlns:a16="http://schemas.microsoft.com/office/drawing/2014/main" id="{700E74E2-0274-4820-A2CD-0519F54CAD3E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code-insight-label">
            <a:extLst>
              <a:ext uri="{FF2B5EF4-FFF2-40B4-BE49-F238E27FC236}">
                <a16:creationId xmlns:a16="http://schemas.microsoft.com/office/drawing/2014/main" id="{6F4ADE84-8A51-4F3B-9D1F-7AC786850197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TURN OUTPUT INTO DECISIONS</a:t>
            </a:r>
          </a:p>
        </p:txBody>
      </p:sp>
      <p:sp>
        <p:nvSpPr>
          <p:cNvPr id="23" name="code-insight-copy">
            <a:extLst>
              <a:ext uri="{FF2B5EF4-FFF2-40B4-BE49-F238E27FC236}">
                <a16:creationId xmlns:a16="http://schemas.microsoft.com/office/drawing/2014/main" id="{A23C4220-A5AE-4640-ACD9-213C474E6758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Identify numeric, categorical, binary, and bounded features.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Check missingness, duplicates, valid ranges, and target balance.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Verify target coding; never assume that 1 means the condition is present.</a:t>
            </a: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Tie every preprocessing proposal to evidence from the audit.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9F0B375B-CC77-47A0-8FB0-0D4790A633DB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notebook AI extension · pandas read_excel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ASSIGNMENT 1.1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64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C953A117-0B35-42E6-BD40-CD0A1E43558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AI part (b) · Plan five visuals around five questions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CBDCFAC8-6ED8-42D8-9BDA-AE96B19B78A9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EE39CE10-5364-4AA5-B30A-3F576D76FC9E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3658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VISUAL ANALYSIS PLAN · NO FINDINGS</a:t>
            </a:r>
          </a:p>
        </p:txBody>
      </p:sp>
      <p:sp>
        <p:nvSpPr>
          <p:cNvPr id="18" name="prompt-card">
            <a:extLst>
              <a:ext uri="{FF2B5EF4-FFF2-40B4-BE49-F238E27FC236}">
                <a16:creationId xmlns:a16="http://schemas.microsoft.com/office/drawing/2014/main" id="{3594C047-2CC5-41FA-A992-E3A50E4C5B8D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mpt-label">
            <a:extLst>
              <a:ext uri="{FF2B5EF4-FFF2-40B4-BE49-F238E27FC236}">
                <a16:creationId xmlns:a16="http://schemas.microsoft.com/office/drawing/2014/main" id="{3E7ABFBA-89C0-483B-9343-87F999A5D29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WHAT THE PROMPT REQUIRES</a:t>
            </a:r>
          </a:p>
        </p:txBody>
      </p:sp>
      <p:sp>
        <p:nvSpPr>
          <p:cNvPr id="20" name="prompt-copy">
            <a:extLst>
              <a:ext uri="{FF2B5EF4-FFF2-40B4-BE49-F238E27FC236}">
                <a16:creationId xmlns:a16="http://schemas.microsoft.com/office/drawing/2014/main" id="{42A1AF9B-116D-4619-AC21-ACC82577FB53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Prepare at least five clean visualizations about key features and their relationship to gallstone status, then write a brief report.</a:t>
            </a:r>
          </a:p>
        </p:txBody>
      </p:sp>
      <p:sp>
        <p:nvSpPr>
          <p:cNvPr id="21" name="answer-label">
            <a:extLst>
              <a:ext uri="{FF2B5EF4-FFF2-40B4-BE49-F238E27FC236}">
                <a16:creationId xmlns:a16="http://schemas.microsoft.com/office/drawing/2014/main" id="{C1B2D1E2-6650-452D-8B44-F37D653D3C4E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80830"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A DEFENSIBLE FIVE-QUESTION PLAN</a:t>
            </a:r>
          </a:p>
        </p:txBody>
      </p:sp>
      <p:sp>
        <p:nvSpPr>
          <p:cNvPr id="22" name="answer-card">
            <a:extLst>
              <a:ext uri="{FF2B5EF4-FFF2-40B4-BE49-F238E27FC236}">
                <a16:creationId xmlns:a16="http://schemas.microsoft.com/office/drawing/2014/main" id="{7305139B-2C06-4EC3-B09F-5742835BCA2E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swer-copy">
            <a:extLst>
              <a:ext uri="{FF2B5EF4-FFF2-40B4-BE49-F238E27FC236}">
                <a16:creationId xmlns:a16="http://schemas.microsoft.com/office/drawing/2014/main" id="{352CAFD7-D966-4F81-ABEE-E5542BB9635E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87449"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1 · Target count — is the outcome balanced?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2 · Numeric histogram — what is the feature’s overall shape?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3 · Numeric box plot by status — how do center and spread differ?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4 · Categorical composition — how do category proportions differ?</a:t>
            </a: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5 · Association view — which relationships deserve follow-up?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2090FD03-3539-43A6-9F38-1905A82ABD78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notebook AI extension · Plot plan only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ASSIGNMENT 1.1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65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C4ACEBCC-D457-430D-87A6-A77B57B39FE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AI part (c) · Generate, tag, validate, and compare synthetic rows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97CCB74D-E3DA-4E06-BC0E-A1A1D2DADA38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5D086BD9-EC6F-46C5-9AE3-AC003E631D3C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75958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PARALLEL CONTINUOUS-FEATURE PATTERN</a:t>
            </a:r>
          </a:p>
        </p:txBody>
      </p:sp>
      <p:sp>
        <p:nvSpPr>
          <p:cNvPr id="18" name="code-intro">
            <a:extLst>
              <a:ext uri="{FF2B5EF4-FFF2-40B4-BE49-F238E27FC236}">
                <a16:creationId xmlns:a16="http://schemas.microsoft.com/office/drawing/2014/main" id="{1D29FC3E-ABBE-4CB3-AD00-BFFB09B66789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This toy pattern samples from a fitted multivariate-normal model for suitable continuous features.</a:t>
            </a:r>
          </a:p>
        </p:txBody>
      </p:sp>
      <p:sp>
        <p:nvSpPr>
          <p:cNvPr id="19" name="code-card">
            <a:extLst>
              <a:ext uri="{FF2B5EF4-FFF2-40B4-BE49-F238E27FC236}">
                <a16:creationId xmlns:a16="http://schemas.microsoft.com/office/drawing/2014/main" id="{14162E27-2AF7-4B64-86F5-C90BAB7A64BF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code-copy">
            <a:extLst>
              <a:ext uri="{FF2B5EF4-FFF2-40B4-BE49-F238E27FC236}">
                <a16:creationId xmlns:a16="http://schemas.microsoft.com/office/drawing/2014/main" id="{039D34DF-59E3-48A2-907C-D5DE4AA5866B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numpy as np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pandas as pd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demo = pd.DataFrame({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"class_label":["other"]*3 + ["focus"]*5,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"a":[10,12,14,18,20,22,19,21],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"b":[2.1,2.4,2.7,3.2,3.6,3.9,3.4,3.7]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})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focus = demo.query("class_label == 'focus'")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cols = ["a","b"]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rng = np.random.default_rng(500)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draws = rng.multivariate_normal(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focus[cols].mean(),focus[cols].cov(),50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synthetic = pd.DataFrame(draws,columns=cols)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synthetic = synthetic.assign(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class_label="focus",is_synthetic=True)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combined = pd.concat([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demo.assign(is_synthetic=False),synthetic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],ignore_index=True)</a:t>
            </a:r>
          </a:p>
        </p:txBody>
      </p:sp>
      <p:sp>
        <p:nvSpPr>
          <p:cNvPr id="21" name="code-insight-card">
            <a:extLst>
              <a:ext uri="{FF2B5EF4-FFF2-40B4-BE49-F238E27FC236}">
                <a16:creationId xmlns:a16="http://schemas.microsoft.com/office/drawing/2014/main" id="{700E74E2-0274-4820-A2CD-0519F54CAD3E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code-insight-label">
            <a:extLst>
              <a:ext uri="{FF2B5EF4-FFF2-40B4-BE49-F238E27FC236}">
                <a16:creationId xmlns:a16="http://schemas.microsoft.com/office/drawing/2014/main" id="{6F4ADE84-8A51-4F3B-9D1F-7AC786850197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VALIDATION IS PART OF THE TASK</a:t>
            </a:r>
          </a:p>
        </p:txBody>
      </p:sp>
      <p:sp>
        <p:nvSpPr>
          <p:cNvPr id="23" name="code-insight-copy">
            <a:extLst>
              <a:ext uri="{FF2B5EF4-FFF2-40B4-BE49-F238E27FC236}">
                <a16:creationId xmlns:a16="http://schemas.microsoft.com/office/drawing/2014/main" id="{A23C4220-A5AE-4640-ACD9-213C474E6758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Verify the requested class and whether augmentation is needed first.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Tag synthetic rows and inspect impossible or implausible values.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Keep synthetic cases out of evaluation data in any later model.</a:t>
            </a: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Re-run the same diagnostics; report changes rather than assuming variance ‘smooths.’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9F0B375B-CC77-47A0-8FB0-0D4790A633DB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Assignment notebook AI extension · NumPy multivariate_normal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3831FC7-84A9-44AE-A095-8FA89184EC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BAF8EA-E344-429C-8FDD-367B8604BBE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WEEK 1  |  ASSIGNMENT 1.1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8D3584-390A-4073-A23C-68E7E2D9F0C0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66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E223D4-ABEA-4808-9C10-CCDC39A38E05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50D789-A341-43CB-B364-A7607748BAF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B41193B-6ACA-42E0-B869-5A4F20D5FEE2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Make every result reproducible before submitting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01011E7-7DBB-4B4A-96B1-880BDEB43219}"/>
              </a:ext>
            </a:extLst>
          </p:cNvPr>
          <p:cNvSpPr>
            <a:spLocks noGrp="1"/>
          </p:cNvSpPr>
          <p:nvPr/>
        </p:nvSpPr>
        <p:spPr>
          <a:xfrm>
            <a:off x="904875" y="1676400"/>
            <a:ext cx="114300" cy="552450"/>
          </a:xfrm>
          <a:prstGeom prst="roundRect">
            <a:avLst>
              <a:gd name="adj" fmla="val 50000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C5C4F4-37E4-48F4-8523-49FB5F5A5954}"/>
              </a:ext>
            </a:extLst>
          </p:cNvPr>
          <p:cNvSpPr>
            <a:spLocks noGrp="1"/>
          </p:cNvSpPr>
          <p:nvPr/>
        </p:nvSpPr>
        <p:spPr>
          <a:xfrm>
            <a:off x="1333500" y="161925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9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9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Notebook order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6594C1-ADB1-49D5-BF81-F4AAE5CC387A}"/>
              </a:ext>
            </a:extLst>
          </p:cNvPr>
          <p:cNvSpPr>
            <a:spLocks noGrp="1"/>
          </p:cNvSpPr>
          <p:nvPr/>
        </p:nvSpPr>
        <p:spPr>
          <a:xfrm>
            <a:off x="4953000" y="1619250"/>
            <a:ext cx="590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0627"/>
          </a:bodyPr>
          <a:lstStyle/>
          <a:p>
            <a:pPr algn="l">
              <a:buNone/>
              <a:def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Run top-to-bottom; remove stale output and unresolved TODOs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1D5D40-E653-419A-8A70-8EF755B37512}"/>
              </a:ext>
            </a:extLst>
          </p:cNvPr>
          <p:cNvSpPr>
            <a:spLocks noGrp="1"/>
          </p:cNvSpPr>
          <p:nvPr/>
        </p:nvSpPr>
        <p:spPr>
          <a:xfrm>
            <a:off x="1333500" y="2343150"/>
            <a:ext cx="952500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4940B33-5E8F-44EF-AD81-E63EAEB35448}"/>
              </a:ext>
            </a:extLst>
          </p:cNvPr>
          <p:cNvSpPr>
            <a:spLocks noGrp="1"/>
          </p:cNvSpPr>
          <p:nvPr/>
        </p:nvSpPr>
        <p:spPr>
          <a:xfrm>
            <a:off x="904875" y="2581275"/>
            <a:ext cx="114300" cy="552450"/>
          </a:xfrm>
          <a:prstGeom prst="roundRect">
            <a:avLst>
              <a:gd name="adj" fmla="val 50000"/>
            </a:avLst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436816-0326-4D41-A114-E14E08327D2F}"/>
              </a:ext>
            </a:extLst>
          </p:cNvPr>
          <p:cNvSpPr>
            <a:spLocks noGrp="1"/>
          </p:cNvSpPr>
          <p:nvPr/>
        </p:nvSpPr>
        <p:spPr>
          <a:xfrm>
            <a:off x="1333500" y="252412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9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9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Required evidence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DC62FA-CE33-491A-8375-0ED959A583EA}"/>
              </a:ext>
            </a:extLst>
          </p:cNvPr>
          <p:cNvSpPr>
            <a:spLocks noGrp="1"/>
          </p:cNvSpPr>
          <p:nvPr/>
        </p:nvSpPr>
        <p:spPr>
          <a:xfrm>
            <a:off x="4953000" y="2524125"/>
            <a:ext cx="590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0278"/>
          </a:bodyPr>
          <a:lstStyle/>
          <a:p>
            <a:pPr algn="l">
              <a:buNone/>
              <a:def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All requested tables and plots are present with titles, axes, and units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C05877-A95B-4DEC-80D7-3E827D4E2276}"/>
              </a:ext>
            </a:extLst>
          </p:cNvPr>
          <p:cNvSpPr>
            <a:spLocks noGrp="1"/>
          </p:cNvSpPr>
          <p:nvPr/>
        </p:nvSpPr>
        <p:spPr>
          <a:xfrm>
            <a:off x="1333500" y="3248025"/>
            <a:ext cx="952500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CFAEEFA-D49A-4E8C-8D89-35290200D5C5}"/>
              </a:ext>
            </a:extLst>
          </p:cNvPr>
          <p:cNvSpPr>
            <a:spLocks noGrp="1"/>
          </p:cNvSpPr>
          <p:nvPr/>
        </p:nvSpPr>
        <p:spPr>
          <a:xfrm>
            <a:off x="904875" y="3486150"/>
            <a:ext cx="114300" cy="552450"/>
          </a:xfrm>
          <a:prstGeom prst="roundRect">
            <a:avLst>
              <a:gd name="adj" fmla="val 50000"/>
            </a:avLst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A6B5DB-16E6-4475-BB0C-9D5284A82F8D}"/>
              </a:ext>
            </a:extLst>
          </p:cNvPr>
          <p:cNvSpPr>
            <a:spLocks noGrp="1"/>
          </p:cNvSpPr>
          <p:nvPr/>
        </p:nvSpPr>
        <p:spPr>
          <a:xfrm>
            <a:off x="1333500" y="342900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9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9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Written reasoning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D58071-9D55-4981-A444-DE5498B5CD5B}"/>
              </a:ext>
            </a:extLst>
          </p:cNvPr>
          <p:cNvSpPr>
            <a:spLocks noGrp="1"/>
          </p:cNvSpPr>
          <p:nvPr/>
        </p:nvSpPr>
        <p:spPr>
          <a:xfrm>
            <a:off x="4953000" y="3429000"/>
            <a:ext cx="590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0278"/>
          </a:bodyPr>
          <a:lstStyle/>
          <a:p>
            <a:pPr algn="l">
              <a:buNone/>
              <a:def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Interpret every output; round requested quantities to two decimals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63F95C-3B16-4F37-9220-E23B0C8F776B}"/>
              </a:ext>
            </a:extLst>
          </p:cNvPr>
          <p:cNvSpPr>
            <a:spLocks noGrp="1"/>
          </p:cNvSpPr>
          <p:nvPr/>
        </p:nvSpPr>
        <p:spPr>
          <a:xfrm>
            <a:off x="1333500" y="4152900"/>
            <a:ext cx="9525000" cy="952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D693687-9B53-4A63-88B2-9A5F5BBFA30A}"/>
              </a:ext>
            </a:extLst>
          </p:cNvPr>
          <p:cNvSpPr>
            <a:spLocks noGrp="1"/>
          </p:cNvSpPr>
          <p:nvPr/>
        </p:nvSpPr>
        <p:spPr>
          <a:xfrm>
            <a:off x="904875" y="4391025"/>
            <a:ext cx="114300" cy="552450"/>
          </a:xfrm>
          <a:prstGeom prst="roundRect">
            <a:avLst>
              <a:gd name="adj" fmla="val 50000"/>
            </a:avLst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94135A-731E-4378-91BF-ACD90C8C5E05}"/>
              </a:ext>
            </a:extLst>
          </p:cNvPr>
          <p:cNvSpPr>
            <a:spLocks noGrp="1"/>
          </p:cNvSpPr>
          <p:nvPr/>
        </p:nvSpPr>
        <p:spPr>
          <a:xfrm>
            <a:off x="1333500" y="433387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9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9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Export check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248414-565D-4FF4-A272-3B886F8B9A9B}"/>
              </a:ext>
            </a:extLst>
          </p:cNvPr>
          <p:cNvSpPr>
            <a:spLocks noGrp="1"/>
          </p:cNvSpPr>
          <p:nvPr/>
        </p:nvSpPr>
        <p:spPr>
          <a:xfrm>
            <a:off x="4953000" y="4333875"/>
            <a:ext cx="590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0278"/>
          </a:bodyPr>
          <a:lstStyle/>
          <a:p>
            <a:pPr algn="l">
              <a:buNone/>
              <a:def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Save as your_name_assignment_number.pdf; inspect every page; do not submit .ipynb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BD02EFA-A5B4-40EC-A8B8-94209F4697D1}"/>
              </a:ext>
            </a:extLst>
          </p:cNvPr>
          <p:cNvSpPr>
            <a:spLocks noGrp="1"/>
          </p:cNvSpPr>
          <p:nvPr/>
        </p:nvSpPr>
        <p:spPr>
          <a:xfrm>
            <a:off x="2047875" y="5286375"/>
            <a:ext cx="8096250" cy="514350"/>
          </a:xfrm>
          <a:prstGeom prst="roundRect">
            <a:avLst>
              <a:gd name="adj" fmla="val 25926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CD8404-A898-41CE-9AA8-D9A4104A2AF9}"/>
              </a:ext>
            </a:extLst>
          </p:cNvPr>
          <p:cNvSpPr>
            <a:spLocks noGrp="1"/>
          </p:cNvSpPr>
          <p:nvPr/>
        </p:nvSpPr>
        <p:spPr>
          <a:xfrm>
            <a:off x="2333625" y="5381625"/>
            <a:ext cx="752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9728"/>
          </a:bodyPr>
          <a:lstStyle/>
          <a:p>
            <a:pPr algn="ctr">
              <a:buNone/>
              <a:defRPr sz="17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725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Final test: could another reader reproduce each step without guessing?</a:t>
            </a:r>
          </a:p>
        </p:txBody>
      </p:sp>
    </p:spTree>
    <p:extLst>
      <p:ext uri="{BB962C8B-B14F-4D97-AF65-F5344CB8AC3E}">
        <p14:creationId xmlns:p14="http://schemas.microsoft.com/office/powerpoint/2010/main" val="105602285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MODULE 1  |  PROJECT BRIDGE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67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F8A84D53-3079-4098-9241-C9AAA620163F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Final team project · See the whole path before teams begin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E76F6AA5-0F21-47AD-92A6-FC7E78B84ED4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75FA92BA-AA22-4151-8076-A3F6B39F803C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8073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ORIENTATION · WEEK 1</a:t>
            </a:r>
          </a:p>
        </p:txBody>
      </p:sp>
      <p:sp>
        <p:nvSpPr>
          <p:cNvPr id="18" name="prompt-card">
            <a:extLst>
              <a:ext uri="{FF2B5EF4-FFF2-40B4-BE49-F238E27FC236}">
                <a16:creationId xmlns:a16="http://schemas.microsoft.com/office/drawing/2014/main" id="{43328208-CA5D-40FB-9250-852E20A24277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mpt-label">
            <a:extLst>
              <a:ext uri="{FF2B5EF4-FFF2-40B4-BE49-F238E27FC236}">
                <a16:creationId xmlns:a16="http://schemas.microsoft.com/office/drawing/2014/main" id="{A8F5E9B3-64B4-46D5-B2CC-5B939F500D2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WHAT THE COURSE REQUIRES</a:t>
            </a:r>
          </a:p>
        </p:txBody>
      </p:sp>
      <p:sp>
        <p:nvSpPr>
          <p:cNvPr id="20" name="prompt-copy">
            <a:extLst>
              <a:ext uri="{FF2B5EF4-FFF2-40B4-BE49-F238E27FC236}">
                <a16:creationId xmlns:a16="http://schemas.microsoft.com/office/drawing/2014/main" id="{95308A36-BC67-4608-9569-3E45097C0621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Teams of 2–3 are assigned in Module 2, select and introduce a dataset by the end of Week 4, and submit the final report and presentation in Week 7.</a:t>
            </a:r>
          </a:p>
        </p:txBody>
      </p:sp>
      <p:sp>
        <p:nvSpPr>
          <p:cNvPr id="21" name="answer-label">
            <a:extLst>
              <a:ext uri="{FF2B5EF4-FFF2-40B4-BE49-F238E27FC236}">
                <a16:creationId xmlns:a16="http://schemas.microsoft.com/office/drawing/2014/main" id="{8E24179B-2FC0-4975-A8F0-CFC4187F6CC5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THE SEVEN-WEEK ARC</a:t>
            </a:r>
          </a:p>
        </p:txBody>
      </p:sp>
      <p:sp>
        <p:nvSpPr>
          <p:cNvPr id="22" name="answer-card">
            <a:extLst>
              <a:ext uri="{FF2B5EF4-FFF2-40B4-BE49-F238E27FC236}">
                <a16:creationId xmlns:a16="http://schemas.microsoft.com/office/drawing/2014/main" id="{8E767BDE-6381-46A1-8DCA-3720FC2EFCF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swer-copy">
            <a:extLst>
              <a:ext uri="{FF2B5EF4-FFF2-40B4-BE49-F238E27FC236}">
                <a16:creationId xmlns:a16="http://schemas.microsoft.com/office/drawing/2014/main" id="{60D55762-7F32-4814-802E-141E05D46DAE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Week 1: notice questions and datasets worth investigating.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Week 2: form teams and compare possible topics.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Week 4: lock the dataset and submit the team status update.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Week 7: deliver the technical PDF and 8–10 minute team video.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664410C6-F850-4B3A-8FAF-20649DFC789C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Canvas Final Team Project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MODULE 1  |  PROJECT BRIDGE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68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F8A84D53-3079-4098-9241-C9AAA620163F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Choose a project topic that can become a statistical question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E76F6AA5-0F21-47AD-92A6-FC7E78B84ED4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75FA92BA-AA22-4151-8076-A3F6B39F803C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84973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 TOPIC · BEGINNER CHECKLIST</a:t>
            </a:r>
          </a:p>
        </p:txBody>
      </p:sp>
      <p:sp>
        <p:nvSpPr>
          <p:cNvPr id="18" name="prompt-card">
            <a:extLst>
              <a:ext uri="{FF2B5EF4-FFF2-40B4-BE49-F238E27FC236}">
                <a16:creationId xmlns:a16="http://schemas.microsoft.com/office/drawing/2014/main" id="{43328208-CA5D-40FB-9250-852E20A24277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mpt-label">
            <a:extLst>
              <a:ext uri="{FF2B5EF4-FFF2-40B4-BE49-F238E27FC236}">
                <a16:creationId xmlns:a16="http://schemas.microsoft.com/office/drawing/2014/main" id="{A8F5E9B3-64B4-46D5-B2CC-5B939F500D2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A TOPIC IS NOT YET A QUESTION</a:t>
            </a:r>
          </a:p>
        </p:txBody>
      </p:sp>
      <p:sp>
        <p:nvSpPr>
          <p:cNvPr id="20" name="prompt-copy">
            <a:extLst>
              <a:ext uri="{FF2B5EF4-FFF2-40B4-BE49-F238E27FC236}">
                <a16:creationId xmlns:a16="http://schemas.microsoft.com/office/drawing/2014/main" id="{95308A36-BC67-4608-9569-3E45097C0621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Move from a broad interest to a measurable outcome, a target population, candidate predictors, and a decision the analysis could support.</a:t>
            </a:r>
          </a:p>
        </p:txBody>
      </p:sp>
      <p:sp>
        <p:nvSpPr>
          <p:cNvPr id="21" name="answer-label">
            <a:extLst>
              <a:ext uri="{FF2B5EF4-FFF2-40B4-BE49-F238E27FC236}">
                <a16:creationId xmlns:a16="http://schemas.microsoft.com/office/drawing/2014/main" id="{8E24179B-2FC0-4975-A8F0-CFC4187F6CC5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TOPIC-TO-QUESTION FRAME</a:t>
            </a:r>
          </a:p>
        </p:txBody>
      </p:sp>
      <p:sp>
        <p:nvSpPr>
          <p:cNvPr id="22" name="answer-card">
            <a:extLst>
              <a:ext uri="{FF2B5EF4-FFF2-40B4-BE49-F238E27FC236}">
                <a16:creationId xmlns:a16="http://schemas.microsoft.com/office/drawing/2014/main" id="{8E767BDE-6381-46A1-8DCA-3720FC2EFCF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swer-copy">
            <a:extLst>
              <a:ext uri="{FF2B5EF4-FFF2-40B4-BE49-F238E27FC236}">
                <a16:creationId xmlns:a16="http://schemas.microsoft.com/office/drawing/2014/main" id="{60D55762-7F32-4814-802E-141E05D46DAE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Context: who or what is affected, and why does it matter?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Outcome: what measurable quantity or category will be explained?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Predictors: which available fields might relate to the outcome?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Decision: what could a nontechnical stakeholder do with the result?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664410C6-F850-4B3A-8FAF-20649DFC789C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Canvas Final Team Project · README guidance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MODULE 1  |  PROJECT BRIDGE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69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C4ACEBCC-D457-430D-87A6-A77B57B39FE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Screen a candidate dataset before the team commits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97CCB74D-E3DA-4E06-BC0E-A1A1D2DADA38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5D086BD9-EC6F-46C5-9AE3-AC003E631D3C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75958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DATA AUDIT · PARALLEL TEMPLATE</a:t>
            </a:r>
          </a:p>
        </p:txBody>
      </p:sp>
      <p:sp>
        <p:nvSpPr>
          <p:cNvPr id="18" name="code-intro">
            <a:extLst>
              <a:ext uri="{FF2B5EF4-FFF2-40B4-BE49-F238E27FC236}">
                <a16:creationId xmlns:a16="http://schemas.microsoft.com/office/drawing/2014/main" id="{1D29FC3E-ABBE-4CB3-AD00-BFFB09B66789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Replace the placeholder path only after downloading a candidate dataset; this audit reveals whether the topic is feasible.</a:t>
            </a:r>
          </a:p>
        </p:txBody>
      </p:sp>
      <p:sp>
        <p:nvSpPr>
          <p:cNvPr id="19" name="code-card">
            <a:extLst>
              <a:ext uri="{FF2B5EF4-FFF2-40B4-BE49-F238E27FC236}">
                <a16:creationId xmlns:a16="http://schemas.microsoft.com/office/drawing/2014/main" id="{14162E27-2AF7-4B64-86F5-C90BAB7A64BF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code-copy">
            <a:extLst>
              <a:ext uri="{FF2B5EF4-FFF2-40B4-BE49-F238E27FC236}">
                <a16:creationId xmlns:a16="http://schemas.microsoft.com/office/drawing/2014/main" id="{039D34DF-59E3-48A2-907C-D5DE4AA5866B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pandas as pd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013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path = "PASTE_CANDIDATE_FILE.csv"</a:t>
            </a: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df = pd.read_csv(path)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013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display(df.head())</a:t>
            </a: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print("shape:", df.shape)</a:t>
            </a: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print(df.dtypes)</a:t>
            </a: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print(df.isna().mean().sort_values(ascending=False).head())</a:t>
            </a:r>
          </a:p>
          <a:p>
            <a:pPr algn="l">
              <a:lnSpc>
                <a:spcPct val="92000"/>
              </a:lnSpc>
              <a:buNone/>
              <a:def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13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print("duplicates:", df.duplicated().sum())</a:t>
            </a:r>
          </a:p>
        </p:txBody>
      </p:sp>
      <p:sp>
        <p:nvSpPr>
          <p:cNvPr id="21" name="code-insight-card">
            <a:extLst>
              <a:ext uri="{FF2B5EF4-FFF2-40B4-BE49-F238E27FC236}">
                <a16:creationId xmlns:a16="http://schemas.microsoft.com/office/drawing/2014/main" id="{700E74E2-0274-4820-A2CD-0519F54CAD3E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code-insight-label">
            <a:extLst>
              <a:ext uri="{FF2B5EF4-FFF2-40B4-BE49-F238E27FC236}">
                <a16:creationId xmlns:a16="http://schemas.microsoft.com/office/drawing/2014/main" id="{6F4ADE84-8A51-4F3B-9D1F-7AC786850197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GO / REVISE / REJECT</a:t>
            </a:r>
          </a:p>
        </p:txBody>
      </p:sp>
      <p:sp>
        <p:nvSpPr>
          <p:cNvPr id="23" name="code-insight-copy">
            <a:extLst>
              <a:ext uri="{FF2B5EF4-FFF2-40B4-BE49-F238E27FC236}">
                <a16:creationId xmlns:a16="http://schemas.microsoft.com/office/drawing/2014/main" id="{A23C4220-A5AE-4640-ACD9-213C474E6758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Go: outcome and key predictors exist with usable definitions.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Revise: the question is possible after documented cleaning or recoding.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Reject: the outcome is absent, unusable, or ethically inappropriate.</a:t>
            </a: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Save the source link, license, access date, and data dictionary.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9F0B375B-CC77-47A0-8FB0-0D4790A633DB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pandas documentation · Canvas project requirements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MODULE 1  |  PROJECT BRIDGE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70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F8A84D53-3079-4098-9241-C9AAA620163F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Teams succeed when everyone codes, reviews, and communicates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E76F6AA5-0F21-47AD-92A6-FC7E78B84ED4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75FA92BA-AA22-4151-8076-A3F6B39F803C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75119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PRACTICE · REQUIRED EXPECTATION</a:t>
            </a:r>
          </a:p>
        </p:txBody>
      </p:sp>
      <p:sp>
        <p:nvSpPr>
          <p:cNvPr id="18" name="prompt-card">
            <a:extLst>
              <a:ext uri="{FF2B5EF4-FFF2-40B4-BE49-F238E27FC236}">
                <a16:creationId xmlns:a16="http://schemas.microsoft.com/office/drawing/2014/main" id="{43328208-CA5D-40FB-9250-852E20A24277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mpt-label">
            <a:extLst>
              <a:ext uri="{FF2B5EF4-FFF2-40B4-BE49-F238E27FC236}">
                <a16:creationId xmlns:a16="http://schemas.microsoft.com/office/drawing/2014/main" id="{A8F5E9B3-64B4-46D5-B2CC-5B939F500D2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59524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CANVAS TEAM EXPECTATION</a:t>
            </a:r>
          </a:p>
        </p:txBody>
      </p:sp>
      <p:sp>
        <p:nvSpPr>
          <p:cNvPr id="20" name="prompt-copy">
            <a:extLst>
              <a:ext uri="{FF2B5EF4-FFF2-40B4-BE49-F238E27FC236}">
                <a16:creationId xmlns:a16="http://schemas.microsoft.com/office/drawing/2014/main" id="{95308A36-BC67-4608-9569-3E45097C0621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Divide work equally, ensure every member codes and reviews, communicate throughout the course, and contact the instructor promptly when team dynamics fail.</a:t>
            </a:r>
          </a:p>
        </p:txBody>
      </p:sp>
      <p:sp>
        <p:nvSpPr>
          <p:cNvPr id="21" name="answer-label">
            <a:extLst>
              <a:ext uri="{FF2B5EF4-FFF2-40B4-BE49-F238E27FC236}">
                <a16:creationId xmlns:a16="http://schemas.microsoft.com/office/drawing/2014/main" id="{8E24179B-2FC0-4975-A8F0-CFC4187F6CC5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75837"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START WITH A CONTRIBUTION LEDGER</a:t>
            </a:r>
          </a:p>
        </p:txBody>
      </p:sp>
      <p:sp>
        <p:nvSpPr>
          <p:cNvPr id="22" name="answer-card">
            <a:extLst>
              <a:ext uri="{FF2B5EF4-FFF2-40B4-BE49-F238E27FC236}">
                <a16:creationId xmlns:a16="http://schemas.microsoft.com/office/drawing/2014/main" id="{8E767BDE-6381-46A1-8DCA-3720FC2EFCF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swer-copy">
            <a:extLst>
              <a:ext uri="{FF2B5EF4-FFF2-40B4-BE49-F238E27FC236}">
                <a16:creationId xmlns:a16="http://schemas.microsoft.com/office/drawing/2014/main" id="{60D55762-7F32-4814-802E-141E05D46DAE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Owner: who drafts this analysis or report section?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Reviewer: who reruns the code and checks the interpretation?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Evidence: link the notebook, figure, paragraph, or commit.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Status: next action, due point, and blocker—updated each week.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664410C6-F850-4B3A-8FAF-20649DFC789C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Canvas Final Team Project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949FC4-71AB-4E90-9868-65EBF8A02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84F05-7A35-4426-A1E1-B66BF72E818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  |  MODULE 1  |  PROJECT BRIDGE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644D55-9009-4C9B-9509-F5935ECF389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71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464D94-5990-47AF-B0A1-AFF75C3763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E5EE9-25C1-407F-9120-99B77538B0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5" name="enrichment-title">
            <a:extLst>
              <a:ext uri="{FF2B5EF4-FFF2-40B4-BE49-F238E27FC236}">
                <a16:creationId xmlns:a16="http://schemas.microsoft.com/office/drawing/2014/main" id="{F8A84D53-3079-4098-9241-C9AAA620163F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Week 1 exit ticket · Arrive in Module 2 ready to collaborate</a:t>
            </a:r>
          </a:p>
        </p:txBody>
      </p:sp>
      <p:sp>
        <p:nvSpPr>
          <p:cNvPr id="16" name="badge-surface">
            <a:extLst>
              <a:ext uri="{FF2B5EF4-FFF2-40B4-BE49-F238E27FC236}">
                <a16:creationId xmlns:a16="http://schemas.microsoft.com/office/drawing/2014/main" id="{E76F6AA5-0F21-47AD-92A6-FC7E78B84ED4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adge-label">
            <a:extLst>
              <a:ext uri="{FF2B5EF4-FFF2-40B4-BE49-F238E27FC236}">
                <a16:creationId xmlns:a16="http://schemas.microsoft.com/office/drawing/2014/main" id="{75FA92BA-AA22-4151-8076-A3F6B39F803C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70312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READINESS · NO SUBMISSION CLAIM</a:t>
            </a:r>
          </a:p>
        </p:txBody>
      </p:sp>
      <p:sp>
        <p:nvSpPr>
          <p:cNvPr id="18" name="prompt-card">
            <a:extLst>
              <a:ext uri="{FF2B5EF4-FFF2-40B4-BE49-F238E27FC236}">
                <a16:creationId xmlns:a16="http://schemas.microsoft.com/office/drawing/2014/main" id="{43328208-CA5D-40FB-9250-852E20A24277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mpt-label">
            <a:extLst>
              <a:ext uri="{FF2B5EF4-FFF2-40B4-BE49-F238E27FC236}">
                <a16:creationId xmlns:a16="http://schemas.microsoft.com/office/drawing/2014/main" id="{A8F5E9B3-64B4-46D5-B2CC-5B939F500D2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60268"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BRING THESE FOUR ITEMS</a:t>
            </a:r>
          </a:p>
        </p:txBody>
      </p:sp>
      <p:sp>
        <p:nvSpPr>
          <p:cNvPr id="20" name="prompt-copy">
            <a:extLst>
              <a:ext uri="{FF2B5EF4-FFF2-40B4-BE49-F238E27FC236}">
                <a16:creationId xmlns:a16="http://schemas.microsoft.com/office/drawing/2014/main" id="{95308A36-BC67-4608-9569-3E45097C0621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This planning activity is preparation for team formation; it is not presented as a separate graded Week 1 submission unless Canvas says otherwise.</a:t>
            </a:r>
          </a:p>
        </p:txBody>
      </p:sp>
      <p:sp>
        <p:nvSpPr>
          <p:cNvPr id="21" name="answer-label">
            <a:extLst>
              <a:ext uri="{FF2B5EF4-FFF2-40B4-BE49-F238E27FC236}">
                <a16:creationId xmlns:a16="http://schemas.microsoft.com/office/drawing/2014/main" id="{8E24179B-2FC0-4975-A8F0-CFC4187F6CC5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 fontScale="89997"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YOUR PRIVATE ONE-PAGE BRIEF</a:t>
            </a:r>
          </a:p>
        </p:txBody>
      </p:sp>
      <p:sp>
        <p:nvSpPr>
          <p:cNvPr id="22" name="answer-card">
            <a:extLst>
              <a:ext uri="{FF2B5EF4-FFF2-40B4-BE49-F238E27FC236}">
                <a16:creationId xmlns:a16="http://schemas.microsoft.com/office/drawing/2014/main" id="{8E767BDE-6381-46A1-8DCA-3720FC2EFCF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swer-copy">
            <a:extLst>
              <a:ext uri="{FF2B5EF4-FFF2-40B4-BE49-F238E27FC236}">
                <a16:creationId xmlns:a16="http://schemas.microsoft.com/office/drawing/2014/main" id="{60D55762-7F32-4814-802E-141E05D46DAE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One broad topic and one decision-focused question draft.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One candidate dataset link with source and license.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One likely outcome plus two possible predictors.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One data-quality, ethics, or feasibility risk to investigate.</a:t>
            </a:r>
          </a:p>
        </p:txBody>
      </p:sp>
      <p:sp>
        <p:nvSpPr>
          <p:cNvPr id="24" name="visible-source">
            <a:extLst>
              <a:ext uri="{FF2B5EF4-FFF2-40B4-BE49-F238E27FC236}">
                <a16:creationId xmlns:a16="http://schemas.microsoft.com/office/drawing/2014/main" id="{664410C6-F850-4B3A-8FAF-20649DFC789C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Canvas Final Team Project · instructor-created readiness bridge</a:t>
            </a:r>
          </a:p>
        </p:txBody>
      </p:sp>
    </p:spTree>
    <p:extLst>
      <p:ext uri="{BB962C8B-B14F-4D97-AF65-F5344CB8AC3E}">
        <p14:creationId xmlns:p14="http://schemas.microsoft.com/office/powerpoint/2010/main" val="181626872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University of San Diego 2026">
      <a:dk1>
        <a:srgbClr val="000000"/>
      </a:dk1>
      <a:lt1>
        <a:srgbClr val="FFFFFF"/>
      </a:lt1>
      <a:dk2>
        <a:srgbClr val="003B70"/>
      </a:dk2>
      <a:lt2>
        <a:srgbClr val="E9EAEC"/>
      </a:lt2>
      <a:accent1>
        <a:srgbClr val="003B70"/>
      </a:accent1>
      <a:accent2>
        <a:srgbClr val="0074C8"/>
      </a:accent2>
      <a:accent3>
        <a:srgbClr val="75BEE9"/>
      </a:accent3>
      <a:accent4>
        <a:srgbClr val="00A4B3"/>
      </a:accent4>
      <a:accent5>
        <a:srgbClr val="F2650D"/>
      </a:accent5>
      <a:accent6>
        <a:srgbClr val="6AA14A"/>
      </a:accent6>
      <a:hlink>
        <a:srgbClr val="0074C8"/>
      </a:hlink>
      <a:folHlink>
        <a:srgbClr val="5B3A8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iversity of San Diego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University of San Diego 2026">
      <a:dk1>
        <a:srgbClr val="000000"/>
      </a:dk1>
      <a:lt1>
        <a:srgbClr val="FFFFFF"/>
      </a:lt1>
      <a:dk2>
        <a:srgbClr val="003B70"/>
      </a:dk2>
      <a:lt2>
        <a:srgbClr val="E9EAEC"/>
      </a:lt2>
      <a:accent1>
        <a:srgbClr val="003B70"/>
      </a:accent1>
      <a:accent2>
        <a:srgbClr val="0074C8"/>
      </a:accent2>
      <a:accent3>
        <a:srgbClr val="75BEE9"/>
      </a:accent3>
      <a:accent4>
        <a:srgbClr val="00A4B3"/>
      </a:accent4>
      <a:accent5>
        <a:srgbClr val="F2650D"/>
      </a:accent5>
      <a:accent6>
        <a:srgbClr val="6AA14A"/>
      </a:accent6>
      <a:hlink>
        <a:srgbClr val="0074C8"/>
      </a:hlink>
      <a:folHlink>
        <a:srgbClr val="5B3A8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iversity of San Diego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11577</Words>
  <Application>Microsoft Macintosh PowerPoint</Application>
  <DocSecurity>0</DocSecurity>
  <PresentationFormat>Widescreen</PresentationFormat>
  <Paragraphs>1623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8" baseType="lpstr">
      <vt:lpstr>Aptos Mono</vt:lpstr>
      <vt:lpstr>Arial</vt:lpstr>
      <vt:lpstr>Calibri</vt:lpstr>
      <vt:lpstr>Courier New</vt:lpstr>
      <vt:lpstr>Sofia Sans</vt:lpstr>
      <vt:lpstr>Sofia Sans Extra Condensed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/>
  <cp:keywords/>
  <dc:description/>
  <cp:lastModifiedBy>Daniel Smith</cp:lastModifiedBy>
  <cp:revision>1</cp:revision>
  <dcterms:created xsi:type="dcterms:W3CDTF">2026-08-28T00:02:15Z</dcterms:created>
  <dcterms:modified xsi:type="dcterms:W3CDTF">2026-08-28T00:23:46Z</dcterms:modified>
  <cp:category/>
</cp:coreProperties>
</file>