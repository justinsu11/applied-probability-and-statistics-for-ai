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309" r:id="rId2"/>
    <p:sldId id="310"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75"/>
  </p:normalViewPr>
  <p:slideViewPr>
    <p:cSldViewPr snapToGrid="0">
      <p:cViewPr varScale="1">
        <p:scale>
          <a:sx n="126" d="100"/>
          <a:sy n="126" d="100"/>
        </p:scale>
        <p:origin x="23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54</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Assignment 3.1 · Start with the current source and the global rules</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SOURCE + DIRECTIONS</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96318"/>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VERSION CHECK</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The supplied IPYNB and HTML contain 18 response cells, including the AI problem. The legacy 2023 PDF ends at Problem 3.26 and omits that final problem.</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DO THIS FIRST</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Use the current IPYNB or HTML as the assignment checklist; do not rely on the legacy PDF alone.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Use Python, even when a textbook exercise names R; enter your name and date.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Submit PDF or HTML; label axes, title every graph, and round displayed quantities to two decimals.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Keep full precision in code and round only the values shown in the written response.</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supplied IPYNB, HTML, and legacy PDF</a:t>
            </a:r>
          </a:p>
        </p:txBody>
      </p:sp>
    </p:spTree>
    <p:extLst>
      <p:ext uri="{BB962C8B-B14F-4D97-AF65-F5344CB8AC3E}">
        <p14:creationId xmlns:p14="http://schemas.microsoft.com/office/powerpoint/2010/main" val="1663347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55</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Build one reproducible notebook setup before solving any problem</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BEGINNER SETUP</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Run this once near the top. Keep one generator alive; do not recreate it inside every loop.</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import numpy as np</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import pandas as pd</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import matplotlib.pyplot as plt</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from scipy import stats</a:t>
            </a:r>
          </a:p>
          <a:p>
            <a:pPr algn="l">
              <a:lnSpc>
                <a:spcPct val="96000"/>
              </a:lnSpc>
              <a:buNone/>
              <a:defRPr sz="1200" b="0" i="0">
                <a:solidFill>
                  <a:srgbClr val="FFFFFF"/>
                </a:solidFill>
                <a:latin typeface="Aptos Mono"/>
                <a:ea typeface="Aptos Mono"/>
                <a:cs typeface="Aptos Mono"/>
              </a:defRPr>
            </a:pPr>
            <a:endParaRPr sz="938" b="0" i="0">
              <a:solidFill>
                <a:srgbClr val="FFFFFF"/>
              </a:solidFill>
              <a:latin typeface="Aptos Mono"/>
              <a:ea typeface="Aptos Mono"/>
              <a:cs typeface="Aptos Mono"/>
            </a:endParaRP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rng = np.random.default_rng(500)</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B = 10_000</a:t>
            </a:r>
          </a:p>
          <a:p>
            <a:pPr algn="l">
              <a:lnSpc>
                <a:spcPct val="96000"/>
              </a:lnSpc>
              <a:buNone/>
              <a:defRPr sz="1200" b="0" i="0">
                <a:solidFill>
                  <a:srgbClr val="FFFFFF"/>
                </a:solidFill>
                <a:latin typeface="Aptos Mono"/>
                <a:ea typeface="Aptos Mono"/>
                <a:cs typeface="Aptos Mono"/>
              </a:defRPr>
            </a:pPr>
            <a:endParaRPr sz="938" b="0" i="0">
              <a:solidFill>
                <a:srgbClr val="FFFFFF"/>
              </a:solidFill>
              <a:latin typeface="Aptos Mono"/>
              <a:ea typeface="Aptos Mono"/>
              <a:cs typeface="Aptos Mono"/>
            </a:endParaRP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def finish_plot(xlabel, title):</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    plt.xlabel(xlabel)</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    plt.ylabel("Frequency")</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    plt.title(title)</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    plt.tight_layout()</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NOTEBOOK HABITS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fontScale="97520"/>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Write reasoning in Markdown and calculations in code; both must appear in the exported file.</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Use n for observations in one sample and B for the number of repeated samples.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Run Restart and Run All before exporting so hidden state cannot mask a missing definition.</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A seed makes the workflow reproducible; it does not make one simulated output universal.</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Week 3 simulation conventions</a:t>
            </a:r>
          </a:p>
        </p:txBody>
      </p:sp>
    </p:spTree>
    <p:extLst>
      <p:ext uri="{BB962C8B-B14F-4D97-AF65-F5344CB8AC3E}">
        <p14:creationId xmlns:p14="http://schemas.microsoft.com/office/powerpoint/2010/main" val="1663347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56</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Every response needs evidence, not only executable code</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RESPONSE RECIPE</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72211"/>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FIVE-PART RESPONSE</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For each of the 18 answer cells, make the reader able to reconstruct what was assumed, computed, observed, and concluded without guessing from a raw number.</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WRITE IN THIS ORDER</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1 · Given and target: name the population parameter, statistic, n, and question.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2 · Method: state the formula, simulation model, repetitions, tail, or approximation.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3 · Evidence: show code, numerical output, and any required labeled plot.</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4 · Interpretation: answer in context; 5 · Limitation: name the assumption that matters most.</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Week 3 lecture workflow</a:t>
            </a:r>
          </a:p>
        </p:txBody>
      </p:sp>
    </p:spTree>
    <p:extLst>
      <p:ext uri="{BB962C8B-B14F-4D97-AF65-F5344CB8AC3E}">
        <p14:creationId xmlns:p14="http://schemas.microsoft.com/office/powerpoint/2010/main" val="1663347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57</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3.2 · Separate the SE calculation from the surprise question</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3.2 · A–B</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80018"/>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ARIZONA EXIT POLL</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An exit poll of n=1,648 reports 51.5% for Kelly. Under a true 50% tie, find the proportion SE; then use simulation and that SE to judge surprise and whether to predict the winner.</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TRANSLATE THE TASK</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Part (a): use the null proportion in SE(p-hat)=sqrt[p0(1-p0)/n].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Part (b): simulate Binomial counts under p0, divide by n, and compare with the reported lead.</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Use a two-sided tail for 'surprising'; label a one-sided winner question separately if used.</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The reported 51.5% is rounded and is not one exact integer count; disclose the threshold rule.</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3.2</a:t>
            </a:r>
          </a:p>
        </p:txBody>
      </p:sp>
    </p:spTree>
    <p:extLst>
      <p:ext uri="{BB962C8B-B14F-4D97-AF65-F5344CB8AC3E}">
        <p14:creationId xmlns:p14="http://schemas.microsoft.com/office/powerpoint/2010/main" val="1663347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58</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3.2 · Simulate the null and define the tail before counting</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3.2 · PYTHON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Fill the TODOs from the prompt. Keep the two-sided and one-sided questions as separate outputs.</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n = TODO_N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p0 = TODO_NULL_PROPORTION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observed = TODO_REPORTED_PROPORTION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B = 50_000</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sim = rng.binomial(n, p0, size=B) / 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se = np.sqrt(p0 * (1-p0) / 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two_sided = np.mean(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np.abs(sim-p0) &gt;= abs(observed-p0)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right_tail = np.mean(sim &gt;= observed)</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plt.hist(sim, bins=35)</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finish_plot("Simulated sample proportion",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"Null sampling distribution")</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WHAT TO REPORT</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fontScale="94097"/>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Report theoretical SE, empirical simulated SD, the chosen tail rate, and the number of repetitions.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Compare the observed-null gap with the SE; do not call an election from sampling error alone.</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Mention simple-random-sample, coverage, nonresponse, and measurement assumptions.</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If rounding to a voter count, state the rule and check that the conclusion is not threshold-sensitive.</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3.2 · NumPy Binomial pattern</a:t>
            </a:r>
          </a:p>
        </p:txBody>
      </p:sp>
    </p:spTree>
    <p:extLst>
      <p:ext uri="{BB962C8B-B14F-4D97-AF65-F5344CB8AC3E}">
        <p14:creationId xmlns:p14="http://schemas.microsoft.com/office/powerpoint/2010/main" val="1663347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59</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3.3 · 'A majority prefers Coke' is a one-sided claim</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3.3</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80132"/>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COLA PREFERENCE</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Among 49 blinded Coke-versus-Pepsi comparisons, Coke was preferred 29 times. Use a simulated sampling distribution to assess strong evidence that a population majority prefers Coke.</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EVIDENCE PLAN</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Null model: each preference is Bernoulli with p0=.50; the statistic can be a count or proportion.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Alternative: p&gt;.50, so count simulated results at least as large as the observed result.</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Plot the null distribution, mark the observed statistic, and report B and the empirical right tail.</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Conclude about evidence for a population majority, not about certainty or all cola drinkers.</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3.3</a:t>
            </a:r>
          </a:p>
        </p:txBody>
      </p:sp>
    </p:spTree>
    <p:extLst>
      <p:ext uri="{BB962C8B-B14F-4D97-AF65-F5344CB8AC3E}">
        <p14:creationId xmlns:p14="http://schemas.microsoft.com/office/powerpoint/2010/main" val="1663347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60</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fontScale="97395"/>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3.3 · Simulate counts, then convert only if a proportion aids interpretation</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3.3 · PYTHON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A count preserves the discrete comparison. Fill the TODOs and add an observed-value marker to the plot.</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n = TODO_CLASS_SIZE</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observed_count = TODO_COKE_COUNT</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p0 = 0.50</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B = 50_000</a:t>
            </a:r>
          </a:p>
          <a:p>
            <a:pPr algn="l">
              <a:lnSpc>
                <a:spcPct val="96000"/>
              </a:lnSpc>
              <a:buNone/>
              <a:defRPr sz="1200" b="0" i="0">
                <a:solidFill>
                  <a:srgbClr val="FFFFFF"/>
                </a:solidFill>
                <a:latin typeface="Aptos Mono"/>
                <a:ea typeface="Aptos Mono"/>
                <a:cs typeface="Aptos Mono"/>
              </a:defRPr>
            </a:pPr>
            <a:endParaRPr sz="938" b="0" i="0">
              <a:solidFill>
                <a:srgbClr val="FFFFFF"/>
              </a:solidFill>
              <a:latin typeface="Aptos Mono"/>
              <a:ea typeface="Aptos Mono"/>
              <a:cs typeface="Aptos Mono"/>
            </a:endParaRP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null_counts = rng.binomial(n, p0, size=B)</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p_right = np.mean(null_counts &gt;= observed_count)</a:t>
            </a:r>
          </a:p>
          <a:p>
            <a:pPr algn="l">
              <a:lnSpc>
                <a:spcPct val="96000"/>
              </a:lnSpc>
              <a:buNone/>
              <a:defRPr sz="1200" b="0" i="0">
                <a:solidFill>
                  <a:srgbClr val="FFFFFF"/>
                </a:solidFill>
                <a:latin typeface="Aptos Mono"/>
                <a:ea typeface="Aptos Mono"/>
                <a:cs typeface="Aptos Mono"/>
              </a:defRPr>
            </a:pPr>
            <a:endParaRPr sz="938" b="0" i="0">
              <a:solidFill>
                <a:srgbClr val="FFFFFF"/>
              </a:solidFill>
              <a:latin typeface="Aptos Mono"/>
              <a:ea typeface="Aptos Mono"/>
              <a:cs typeface="Aptos Mono"/>
            </a:endParaRP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plt.hist(null_counts, bins=np.arange(-.5, n+1.5))</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plt.axvline(observed_count, color="#F36C21")</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finish_plot("Coke preferences under p0",</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            "Problem 3.3 null simulation")</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print(null_counts.std(ddof=1), p_right)</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INTERPRET WITH CARE</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empirical tail is a simulation estimate, so nearby seeds can differ slightly.</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Use enough repetitions to stabilize the displayed two-decimal conclusion.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class is the population represented only if its sampling and context justify that scope.</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Do not compare the observed proportion with a Normal curve when direct Binomial simulation is available.</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3.3 · NumPy Binomial pattern</a:t>
            </a:r>
          </a:p>
        </p:txBody>
      </p:sp>
    </p:spTree>
    <p:extLst>
      <p:ext uri="{BB962C8B-B14F-4D97-AF65-F5344CB8AC3E}">
        <p14:creationId xmlns:p14="http://schemas.microsoft.com/office/powerpoint/2010/main" val="1663347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61</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3.5 · Theory and simulation should estimate the same spread</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3.5 · A–B</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6160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SAMPLE MEANS + GAMMA</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For n=25, compare theoretical SEs for sigma=5 and 8 with 100,000 simulated-mean SDs. Then verify the stated Gamma probability for mu=20, sigma=5, between 15 and 25.</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TWO DISTINCT CHECKS</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Part (a): calculate sigma/sqrt(n) separately for each scenario; empirical SD uses ddof=1.</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The prompt omits the textbook's simulation output, so reproduce it or cite the exact textbook values used.</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Part (b): convert Gamma mean and SD to shape and scale before calling a CDF.</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Compute CDF(upper)-CDF(lower); state that this is an individual-value probability, not a mean probability.</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3.5</a:t>
            </a:r>
          </a:p>
        </p:txBody>
      </p:sp>
    </p:spTree>
    <p:extLst>
      <p:ext uri="{BB962C8B-B14F-4D97-AF65-F5344CB8AC3E}">
        <p14:creationId xmlns:p14="http://schemas.microsoft.com/office/powerpoint/2010/main" val="1663347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62</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3.5 · Convert moments, simulate means, and subtract Gamma CDFs</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3.5 · PYTHON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fontScale="95509"/>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Complete the TODOs. Use the same population model as the referenced scenario and keep probability bounds separate from n.</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mu, sigma, n = TODO_MU, TODO_SIGMA, TODO_N</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B = 100_000</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shape = (mu / sigma)**2</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scale = sigma**2 / mu</a:t>
            </a:r>
          </a:p>
          <a:p>
            <a:pPr algn="l">
              <a:lnSpc>
                <a:spcPct val="96000"/>
              </a:lnSpc>
              <a:buNone/>
              <a:defRPr sz="1200" b="0" i="0">
                <a:solidFill>
                  <a:srgbClr val="FFFFFF"/>
                </a:solidFill>
                <a:latin typeface="Aptos Mono"/>
                <a:ea typeface="Aptos Mono"/>
                <a:cs typeface="Aptos Mono"/>
              </a:defRPr>
            </a:pPr>
            <a:endParaRPr sz="938" b="0" i="0">
              <a:solidFill>
                <a:srgbClr val="FFFFFF"/>
              </a:solidFill>
              <a:latin typeface="Aptos Mono"/>
              <a:ea typeface="Aptos Mono"/>
              <a:cs typeface="Aptos Mono"/>
            </a:endParaRP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means = rng.gamma(shape, scale, size=(B, n)).mean(1)</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theory_se = sigma / np.sqrt(n)</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empirical_se = means.std(ddof=1)</a:t>
            </a:r>
          </a:p>
          <a:p>
            <a:pPr algn="l">
              <a:lnSpc>
                <a:spcPct val="96000"/>
              </a:lnSpc>
              <a:buNone/>
              <a:defRPr sz="1200" b="0" i="0">
                <a:solidFill>
                  <a:srgbClr val="FFFFFF"/>
                </a:solidFill>
                <a:latin typeface="Aptos Mono"/>
                <a:ea typeface="Aptos Mono"/>
                <a:cs typeface="Aptos Mono"/>
              </a:defRPr>
            </a:pPr>
            <a:endParaRPr sz="938" b="0" i="0">
              <a:solidFill>
                <a:srgbClr val="FFFFFF"/>
              </a:solidFill>
              <a:latin typeface="Aptos Mono"/>
              <a:ea typeface="Aptos Mono"/>
              <a:cs typeface="Aptos Mono"/>
            </a:endParaRP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lower, upper = TODO_LOWER, TODO_UPPER</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inside = stats.gamma.cdf(upper, shape, scale=scale)</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inside -= stats.gamma.cdf(lower, shape, scale=scale)</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print(theory_se, empirical_se, inside)</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VERIFY BEFORE WRITING</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Check simulated population mean and SD before trusting the sample-mean comparison.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Run the second sigma scenario separately and retain the prompt's 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Large B reduces simulation noise; it does not change theoretical SE.</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Round the final comparison to two decimals, while retaining full precision during calculation.</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3.5 · SciPy Gamma parameterization</a:t>
            </a:r>
          </a:p>
        </p:txBody>
      </p:sp>
    </p:spTree>
    <p:extLst>
      <p:ext uri="{BB962C8B-B14F-4D97-AF65-F5344CB8AC3E}">
        <p14:creationId xmlns:p14="http://schemas.microsoft.com/office/powerpoint/2010/main" val="1663347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63</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3.8 · Construct an exact distribution before discussing the CLT</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3.8</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BALANCED-COIN PROPORTIONS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Construct the sampling distribution of the proportion of heads for n=1, 2, 3, and 4. Describe how its shape changes and what continued growth in n would do, with reasoning.</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CONSTRUCTION RECIPE</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For each n, possible head counts are k=0,...,n and possible proportions are k/n.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Assign each proportion probability C(n,k)(.5)^k(.5)^(n-k); verify probabilities sum to one.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Use four discrete bar charts or tables; a smooth histogram hides the exact support.</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Discuss center, number of support points, concentration, symmetry, and the Normal approximation condition.</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3.8</a:t>
            </a:r>
          </a:p>
        </p:txBody>
      </p:sp>
    </p:spTree>
    <p:extLst>
      <p:ext uri="{BB962C8B-B14F-4D97-AF65-F5344CB8AC3E}">
        <p14:creationId xmlns:p14="http://schemas.microsoft.com/office/powerpoint/2010/main" val="1663347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64</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3.8 · Generate each exact PMF with one reusable function</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3.8 · PYTHON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Fill the requested sample sizes. Inspect the table before plotting so duplicated or missing support values are visible.</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def p_hat_distribution(n, p=0.50):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k = np.arange(n + 1)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prob = stats.binom.pmf(k, n, p)</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return pd.DataFrame({</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"heads": k,</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"p_hat": k / 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"probability": prob</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 n in TODO_SAMPLE_SIZES: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table = p_hat_distribution(n)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assert np.isclose(table.probability.sum(), 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print(n, table)</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table.plot.bar(x="p_hat", y="probability")</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INTERPRET THE SERIES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expected proportion stays at the true coin probability for every 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standard error shrinks as sqrt[p(1-p)/n].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More support points do not mean more spread; probability becomes more concentrated near the center.</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State why a large-n Normal approximation is about the sampling distribution, not individual flips.</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3.8 · SciPy Binomial PMF</a:t>
            </a:r>
          </a:p>
        </p:txBody>
      </p:sp>
    </p:spTree>
    <p:extLst>
      <p:ext uri="{BB962C8B-B14F-4D97-AF65-F5344CB8AC3E}">
        <p14:creationId xmlns:p14="http://schemas.microsoft.com/office/powerpoint/2010/main" val="1663347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65</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3.13 · State the simulation choices the prompt leaves open</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3.13</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UNIFORM CLT SIMULATION</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Simulate random sampling from a Uniform population with several n values to illustrate the Central Limit Theorem. The prompt does not specify bounds, n values, or repetitions.</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fontScale="96150"/>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MAKE THE DESIGN AUDITABLE</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Choose and state lower and upper bounds; derive the population mean and SD from those bounds.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Choose at least four n values from very small to clearly larger and state a common B.</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For each n, simulate B complete samples, save one mean per sample, and use comparable plot scales.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Compare empirical center/SE/shape with theory; distinguish CLT from the Law of Large Numbers.</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3.13</a:t>
            </a:r>
          </a:p>
        </p:txBody>
      </p:sp>
    </p:spTree>
    <p:extLst>
      <p:ext uri="{BB962C8B-B14F-4D97-AF65-F5344CB8AC3E}">
        <p14:creationId xmlns:p14="http://schemas.microsoft.com/office/powerpoint/2010/main" val="1663347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66</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3.13 · Repeat whole samples and store one mean from each</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3.13 · PYTHON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Complete the design TODOs. Reuse bounds and B so differences across panels come from n.</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low, high = TODO_LOW, TODO_HIGH</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B = TODO_REPETITIONS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n_values = TODO_N_VALUES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fig, axes = plt.subplots(1, len(n_values),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figsize=(12, 3))</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 ax, n in zip(axes, n_values):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x = rng.uniform(low, high, size=(B, 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means = x.mean(axis=1)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ax.hist(means, bins=30)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ax.set_title(f"n={n}")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ax.set_xlabel("Sample mean")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print(n, means.mean(), means.std(ddof=1))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plt.tight_layout()</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CLT CHECKLIST</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Empirical centers should remain near the Uniform population mean.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Empirical SE should track population SD divided by sqrt(n).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distribution of means becomes smoother and more Normal even though individual data stay Uniform.</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Explain shape, center, and spread for every selected n; a figure without interpretation is incomplete.</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3.13 · NumPy Uniform simulation</a:t>
            </a:r>
          </a:p>
        </p:txBody>
      </p:sp>
    </p:spTree>
    <p:extLst>
      <p:ext uri="{BB962C8B-B14F-4D97-AF65-F5344CB8AC3E}">
        <p14:creationId xmlns:p14="http://schemas.microsoft.com/office/powerpoint/2010/main" val="1663347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67</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3.14 · Build the distribution of a sum from one bet</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3.14</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ONE HUNDRED PLUS/MINUS BETS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Each independent bet wins $1 with probability .50 and loses $1 with probability .50. Let Y be the total after 100 bets. State and justify Y's approximate distribution.</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REASONING CHAIN</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Find one bet's mean and variance from the two possible outcomes and their probabilities.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For an independent sum, add 100 means and 100 variances; take a square root for the sum's SD.</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Use the CLT because Y sums many bounded independent variables; label Normal parameters as mean and SD.</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Optional check: if X is the number of wins, express Y as a linear transformation of a Binomial X.</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3.14</a:t>
            </a:r>
          </a:p>
        </p:txBody>
      </p:sp>
    </p:spTree>
    <p:extLst>
      <p:ext uri="{BB962C8B-B14F-4D97-AF65-F5344CB8AC3E}">
        <p14:creationId xmlns:p14="http://schemas.microsoft.com/office/powerpoint/2010/main" val="1663347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68</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3.15 · Three questions use three different views of the same count</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3.15 · A–C</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NUMBER OF GOOD FRIENDS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A friend-count distribution has mean about 5.5 and SD about 3.9. Assess Normal plausibility; describe the mean's sampling distribution for n=1,000; then form a 'very sure' interval if those are sample statistics.</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PART-BY-PART PLAN</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Part (a): check discreteness, nonnegative support, likely skew, and Normal probability below zero.</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Part (b): name the statistic, CLT shape, center, and population-SD-over-root-n SE.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Part (c): state what 'very sure' means before choosing a multiplier or confidence procedure.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If sigma is unknown, distinguish a formal t interval from a rough two- or three-SE teaching rule.</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3.15</a:t>
            </a:r>
          </a:p>
        </p:txBody>
      </p:sp>
    </p:spTree>
    <p:extLst>
      <p:ext uri="{BB962C8B-B14F-4D97-AF65-F5344CB8AC3E}">
        <p14:creationId xmlns:p14="http://schemas.microsoft.com/office/powerpoint/2010/main" val="1663347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69</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3.15 · Use code to audit support, SE, and the chosen interval rule</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3.15 · PYTHON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fontScale="99316"/>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Complete the TODOs and explain every printed value in Markdown. Do not let code choose what 'very sure' means silently.</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center = TODO_CENTER</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spread = TODO_SPREAD</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n = TODO_SAMPLE_SIZE</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p_below_zero = stats.norm.cdf(0, center, spread)</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se = spread / np.sqrt(n)</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multiplier = TODO_JUSTIFIED_MULTIPLIER</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rough_interval = (center-multiplier*se,</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center+multiplier*se)</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t_crit = stats.t.ppf(TODO_CONFIDENCE_TAIL, n-1)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formal_interval = (center-t_crit*se,</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center+t_crit*se)</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print(p_below_zero, se, rough_interval, formal_interval)</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EXPLAIN THE CHOICE</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fontScale="95836"/>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Probability below zero is one diagnostic, not the only reason a count may be non-Normal.</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large n supports a Normal-shaped sampling distribution even when individual counts are skewed.</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A confidence level or multiplier must appear in the written reasoning because the prompt is ambiguous.</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Use sample SD in a t procedure only after stating that population sigma is being estimated.</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3.15 · SciPy Normal and t distributions</a:t>
            </a:r>
          </a:p>
        </p:txBody>
      </p:sp>
    </p:spTree>
    <p:extLst>
      <p:ext uri="{BB962C8B-B14F-4D97-AF65-F5344CB8AC3E}">
        <p14:creationId xmlns:p14="http://schemas.microsoft.com/office/powerpoint/2010/main" val="1663347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70</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3.18(a–b) · Name the distribution before naming its center and spread</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3.18 · A–B</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SUNSHINE CITY</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A left-skewed population of 90,000 has mean age 72 and SD 12; one random sample of 100 has mean 70 and SD 11. Describe population and sample data, then the sampling distribution of the mean.</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THREE-DISTRIBUTION TABLE</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Population: individual ages vary; use population center, spread, and stated left-skewed shape.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Sample data: the 100 observed ages vary; use sample center and spread, with only a qualified shape claim.</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Sampling distribution: means from repeated n=100 samples vary; use population mean and mean SE.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Use the CLT for approximate shape and state what repeated-study process the distribution describes.</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3.18(a–b)</a:t>
            </a:r>
          </a:p>
        </p:txBody>
      </p:sp>
    </p:spTree>
    <p:extLst>
      <p:ext uri="{BB962C8B-B14F-4D97-AF65-F5344CB8AC3E}">
        <p14:creationId xmlns:p14="http://schemas.microsoft.com/office/powerpoint/2010/main" val="1663347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71</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3.18(c–d) · Compare scales and include the finite population endpoints</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3.18 · C–D</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ONE PERSON, ONE MEAN, TWO LIMITS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Explain why age 60 can occur for one resident but a mean of 60 is highly unusual for n=100. Then describe the sampling distribution of the mean for n=1 and for a census of all 90,000.</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WALKTHROUGH</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Standardize an individual with population SD; standardize a sample mean with the much smaller mean SE.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For sampling without replacement, optionally multiply sigma/sqrt(n) by sqrt[(N-n)/(N-1)].</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At n=1, the sample mean is one age, so its distribution matches the population distribution.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At n=N in a census, the sample mean is fixed and its sampling spread is zero.</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3.18(c–d)</a:t>
            </a:r>
          </a:p>
        </p:txBody>
      </p:sp>
    </p:spTree>
    <p:extLst>
      <p:ext uri="{BB962C8B-B14F-4D97-AF65-F5344CB8AC3E}">
        <p14:creationId xmlns:p14="http://schemas.microsoft.com/office/powerpoint/2010/main" val="1663347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72</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3.18 · Make individual and sample-mean scales explicit in code</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3.18 · PYTHON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Complete the TODOs. Report whether the finite population correction changes the rounded conclusion.</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N, n = TODO_POPULATION_SIZE, TODO_SAMPLE_SIZE</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mu, sigma = TODO_POP_MEAN, TODO_POP_SD</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value = TODO_COMPARISON_VALUE</a:t>
            </a:r>
          </a:p>
          <a:p>
            <a:pPr algn="l">
              <a:lnSpc>
                <a:spcPct val="96000"/>
              </a:lnSpc>
              <a:buNone/>
              <a:defRPr sz="1200" b="0" i="0">
                <a:solidFill>
                  <a:srgbClr val="FFFFFF"/>
                </a:solidFill>
                <a:latin typeface="Aptos Mono"/>
                <a:ea typeface="Aptos Mono"/>
                <a:cs typeface="Aptos Mono"/>
              </a:defRPr>
            </a:pPr>
            <a:endParaRPr sz="938" b="0" i="0">
              <a:solidFill>
                <a:srgbClr val="FFFFFF"/>
              </a:solidFill>
              <a:latin typeface="Aptos Mono"/>
              <a:ea typeface="Aptos Mono"/>
              <a:cs typeface="Aptos Mono"/>
            </a:endParaRP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fpc = np.sqrt((N-n) / (N-1))</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se_mean = sigma / np.sqrt(n) * fpc</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z_individual = (value-mu) / sigma</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z_mean = (value-mu) / se_mean</a:t>
            </a:r>
          </a:p>
          <a:p>
            <a:pPr algn="l">
              <a:lnSpc>
                <a:spcPct val="96000"/>
              </a:lnSpc>
              <a:buNone/>
              <a:defRPr sz="1200" b="0" i="0">
                <a:solidFill>
                  <a:srgbClr val="FFFFFF"/>
                </a:solidFill>
                <a:latin typeface="Aptos Mono"/>
                <a:ea typeface="Aptos Mono"/>
                <a:cs typeface="Aptos Mono"/>
              </a:defRPr>
            </a:pPr>
            <a:endParaRPr sz="938" b="0" i="0">
              <a:solidFill>
                <a:srgbClr val="FFFFFF"/>
              </a:solidFill>
              <a:latin typeface="Aptos Mono"/>
              <a:ea typeface="Aptos Mono"/>
              <a:cs typeface="Aptos Mono"/>
            </a:endParaRP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se_n1 = sigma</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se_census = 0.0</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print(fpc, se_mean, z_individual, z_mean)</a:t>
            </a:r>
          </a:p>
          <a:p>
            <a:pPr algn="l">
              <a:lnSpc>
                <a:spcPct val="92000"/>
              </a:lnSpc>
              <a:buNone/>
              <a:defRPr sz="938" b="0" i="0">
                <a:solidFill>
                  <a:srgbClr val="FFFFFF"/>
                </a:solidFill>
                <a:latin typeface="Aptos Mono"/>
                <a:ea typeface="Aptos Mono"/>
                <a:cs typeface="Aptos Mono"/>
              </a:defRPr>
            </a:pPr>
            <a:r>
              <a:rPr sz="938" b="0" i="0">
                <a:solidFill>
                  <a:srgbClr val="FFFFFF"/>
                </a:solidFill>
                <a:latin typeface="Aptos Mono"/>
                <a:ea typeface="Aptos Mono"/>
                <a:cs typeface="Aptos Mono"/>
              </a:rPr>
              <a:t>print(se_n1, se_census)</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WRITE FOUR DISTINCT ANSWERS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Part (a) describes observed units; part (b) describes repeated sample means.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Part (c) compares the same age value on two different spread scales.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Part (d) is a boundary check: one draw retains population variation; a census removes sampling variation.</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If omitting FPC because the sampling fraction is tiny, state and verify that approximation.</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3.18 · finite population correction</a:t>
            </a:r>
          </a:p>
        </p:txBody>
      </p:sp>
    </p:spTree>
    <p:extLst>
      <p:ext uri="{BB962C8B-B14F-4D97-AF65-F5344CB8AC3E}">
        <p14:creationId xmlns:p14="http://schemas.microsoft.com/office/powerpoint/2010/main" val="1663347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73</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3.21 · Contrast one data set with a distribution of sample means</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3.21</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92182"/>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GPA SIMULATION</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GPA is modeled approximately Normal with mu=3.0 and sigma=.40. Draw n=25 students and simulate the contrast between a sample-data distribution and the sampling distribution of the mean.</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CORRECT THE TARGET</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The prompt prints Y, but its intended second object is the sampling distribution of Y-bar.</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Plot one sample's 25 GPA values; then plot one mean from each of many independent samples of 25.</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Compare units, centers, spreads, and shapes; the mean distribution should be much narrower.</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GPA is bounded while a Normal model is not; note rare out-of-range draws rather than clipping silently.</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3.21</a:t>
            </a:r>
          </a:p>
        </p:txBody>
      </p:sp>
    </p:spTree>
    <p:extLst>
      <p:ext uri="{BB962C8B-B14F-4D97-AF65-F5344CB8AC3E}">
        <p14:creationId xmlns:p14="http://schemas.microsoft.com/office/powerpoint/2010/main" val="1663347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74</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3.21 · Store one sample separately from many repeated-sample means</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3.21 · PYTHON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Complete the TODOs and keep the objects separate. Do not flatten the repeated-sample matrix before taking means.</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mu, sigma, n = TODO_MU, TODO_SD, TODO_N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B = 10_000</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one_sample = rng.normal(mu, sigma, size=n)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repeated = rng.normal(mu, sigma, size=(B, 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sample_means = repeated.mean(axis=1)</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fig, axes = plt.subplots(1, 2, figsize=(10, 4))</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axes[0].hist(one_sample, bins=10)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axes[0].set_title("One sample: individual GPAs")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axes[1].hist(sample_means, bins=30)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axes[1].set_title("Repeated samples: means")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 ax in axes: ax.set_xlabel("GPA")</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plt.tight_layout()</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COMPARE THE RIGHT THINGS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left plot has n observations; the right plot has B statistics.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Both horizontal axes use GPA units, but the plotted units are individuals versus sample means.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Compare empirical mean-distribution SD with sigma/sqrt(n).</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Report any simulated values outside the plausible GPA range as a limitation of the assigned approximation.</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3.21 · NumPy Normal simulation</a:t>
            </a:r>
          </a:p>
        </p:txBody>
      </p:sp>
    </p:spTree>
    <p:extLst>
      <p:ext uri="{BB962C8B-B14F-4D97-AF65-F5344CB8AC3E}">
        <p14:creationId xmlns:p14="http://schemas.microsoft.com/office/powerpoint/2010/main" val="1663347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75</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3.26 · Extreme rankings can be a variance story</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3.26</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SMALL STATES AND SCHOOLS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Explain why both the highest and nearly lowest brain-cancer states, and both the best and worst schools, can be small groups because variability of means and proportions depends on sample size.</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EXPLANATION FRAME</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For a mean, SE scales as sigma/sqrt(n); for a proportion, it scales as sqrt[p(1-p)/n].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Smaller n produces a wider sampling distribution even when every group has the same true performance.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 wider distribution sends more small groups into both tails, so raw rank confounds signal with precision.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Recommend intervals, minimum n, shrinkage, or uncertainty-aware ranks instead of unsupported raw ordering.</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3.26</a:t>
            </a:r>
          </a:p>
        </p:txBody>
      </p:sp>
    </p:spTree>
    <p:extLst>
      <p:ext uri="{BB962C8B-B14F-4D97-AF65-F5344CB8AC3E}">
        <p14:creationId xmlns:p14="http://schemas.microsoft.com/office/powerpoint/2010/main" val="1663347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76</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Problem 3.26 · Simulate equal truth with unequal precision</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PROBLEM 3.26 · PYTHON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Use unassigned group sizes as a demonstration. The code changes only n, not the true center or spread.</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true_mean = 70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pop_sd = 10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demo_sizes = [20, 80, 320]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B = 5_000</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 n in demo_sizes: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means = rng.normal(</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true_mean, pop_sd, size=(B, 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).mean(axis=1)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print(n, means.std(ddof=1))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plt.hist(means, bins=30, alpha=.45,</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label=f"n={n}")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plt.xlabel("Simulated group mean")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plt.legend(); plt.tight_layout()</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TRANSFER TO THE PROMPT</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fontScale="97520"/>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Equal true centers can still yield different frequencies of extreme observed ranks.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smallest simulated groups should have the widest distribution of observed means.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For rates, replace Normal observations with a Binomial count and divide by group size.</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Use the simulation to support reasoning, not as a substitute for the contextual explanation.</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Problem 3.26 · parallel simulation</a:t>
            </a:r>
          </a:p>
        </p:txBody>
      </p:sp>
    </p:spTree>
    <p:extLst>
      <p:ext uri="{BB962C8B-B14F-4D97-AF65-F5344CB8AC3E}">
        <p14:creationId xmlns:p14="http://schemas.microsoft.com/office/powerpoint/2010/main" val="1663347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77</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AI problem · Turn the long prompt into a ten-item deliverable checklist</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AI PROBLEM · REQUIREMENTS</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FRAUD-METRIC VARIABILITY</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Model precision is compared under imbalance. Use the given target moments, two 10,000-value populations, 1,000 with-replacement resamples at n=50 and n=500, plots, SEs, interpretation, and mitigation.</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DO NOT OMIT</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Create and audit one population per model using the given target mean and SD.</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Generate four distributions: two models crossed with n=50 and n=500; each has 1,000 means.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Plot both models at each n with common bins, labels, titles, and legends; compute both small-n SEs.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Explain CLT shape, low-n rank flips, decision impact, and one defensible imbalance mitigation.</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AI Problem</a:t>
            </a:r>
          </a:p>
        </p:txBody>
      </p:sp>
    </p:spTree>
    <p:extLst>
      <p:ext uri="{BB962C8B-B14F-4D97-AF65-F5344CB8AC3E}">
        <p14:creationId xmlns:p14="http://schemas.microsoft.com/office/powerpoint/2010/main" val="1663347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78</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AI problem · The assigned lognormal is a teaching model with important flaws</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AI PROBLEM · MODEL AUDIT</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61832"/>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PARAMETERS + SUPPORT</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Precision is bounded in [0,1], but a lognormal is positive and unbounded. NumPy also expects log-space mean and sigma, not the target arithmetic mean and SD stated in the prompt.</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fontScale="86037"/>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DISCLOSE THE MODELING CHOICE</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Convert arithmetic moments to log-space parameters; direct use of the targets is a parameterization error.</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Audit min, max, mean, SD, and fraction above 1 for each generated population.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Raw lognormal follows the prompt but permits impossible precision; clipping changes the target distribution.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Call this repeated sampling from a simulated population, not a classical bootstrap from observed data.</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AI Problem · model-support audit</a:t>
            </a:r>
          </a:p>
        </p:txBody>
      </p:sp>
    </p:spTree>
    <p:extLst>
      <p:ext uri="{BB962C8B-B14F-4D97-AF65-F5344CB8AC3E}">
        <p14:creationId xmlns:p14="http://schemas.microsoft.com/office/powerpoint/2010/main" val="1663347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79</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AI problem · Convert arithmetic moments before generating either population</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AI PROBLEM · POPULATIONS</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The function is reusable. Fill the two target pairs from the prompt and audit support before resampling.</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def lognormal_params(mean, sd):</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log_var = np.log1p((sd/mean)**2)</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return np.log(mean)-log_var/2, np.sqrt(log_var)</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def make_population(mean, sd, size=10_000):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log_mu, log_sd = lognormal_params(mean, sd)</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return rng.lognormal(log_mu, log_sd, size)</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targets = {</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"logistic": (TODO_MEAN_1, TODO_SD_1),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"ensemble": (TODO_MEAN_2, TODO_SD_2)</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pops = {k: make_population(*v) for k, v in targets.items()}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 k, x in pops.items():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print(k, len(x), x.mean(), x.std(ddof=1), (x&gt;1).mean())</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POPULATION GATE</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fontScale="97520"/>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Do not continue until each population has 10,000 values and approximate target moments.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Report the support violation and any treatment; never clip silently.</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If clipping or rejecting values, recalculate mean and SD and describe the changed estimand.</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Use one generator sequentially or documented independent streams; avoid resetting an identical seed per model.</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AI Problem · NumPy lognormal moment conversion</a:t>
            </a:r>
          </a:p>
        </p:txBody>
      </p:sp>
    </p:spTree>
    <p:extLst>
      <p:ext uri="{BB962C8B-B14F-4D97-AF65-F5344CB8AC3E}">
        <p14:creationId xmlns:p14="http://schemas.microsoft.com/office/powerpoint/2010/main" val="1663347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80</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AI problem · Build four with-replacement distributions of sample means</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AI PROBLEM · RESAMPLING</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This is Monte Carlo sampling from each generated population using bootstrap-like replacement. Keep n and B visible.</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def resampled_means(pop, n, B=1_000):</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index = rng.integers(0, len(pop), size=(B, 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return pop[index].mean(axis=1)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sizes = [TODO_SMALL_N, TODO_LARGE_N]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results = {}</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 model, pop in pops.items():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for n in sizes: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results[(model, n)] = resampled_means(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pop, n, B=TODO_RESAMPLES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t>
            </a:r>
          </a:p>
          <a:p>
            <a:pPr algn="l">
              <a:lnSpc>
                <a:spcPct val="96000"/>
              </a:lnSpc>
              <a:buNone/>
              <a:defRPr sz="1200" b="0" i="0">
                <a:solidFill>
                  <a:srgbClr val="FFFFFF"/>
                </a:solidFill>
                <a:latin typeface="Aptos Mono"/>
                <a:ea typeface="Aptos Mono"/>
                <a:cs typeface="Aptos Mono"/>
              </a:defRPr>
            </a:pPr>
            <a:endParaRPr sz="863" b="0" i="0">
              <a:solidFill>
                <a:srgbClr val="FFFFFF"/>
              </a:solidFill>
              <a:latin typeface="Aptos Mono"/>
              <a:ea typeface="Aptos Mono"/>
              <a:cs typeface="Aptos Mono"/>
            </a:endParaRP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 key, values in results.items():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print(key, len(values), values.mean(),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values.std(ddof=1))</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COUNT AND VERIFY</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There must be four arrays, each containing 1,000 resampled means.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replace=True is implicit through repeated integer indices; duplicates are expected.</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Empirical SE is each array's SD with ddof=1; report both model SEs for the small-n case.</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Increasing B stabilizes the estimate; increasing n narrows the underlying sampling distribution.</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AI Problem · with-replacement mean simulation</a:t>
            </a:r>
          </a:p>
        </p:txBody>
      </p:sp>
    </p:spTree>
    <p:extLst>
      <p:ext uri="{BB962C8B-B14F-4D97-AF65-F5344CB8AC3E}">
        <p14:creationId xmlns:p14="http://schemas.microsoft.com/office/powerpoint/2010/main" val="1663347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81</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AI problem · Plot model overlap at each n and compute the requested SEs</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AI PROBLEM · PLOTS + SE</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Use one panel per sample size and the same bin edges within each panel so overlap is interpretable.</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fig, axes = plt.subplots(1, 2, figsize=(11, 4))</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 ax, n in zip(axes, sizes):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 = results[("logistic", 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b = results[("ensemble", 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edges = np.linspace(min(a.min(), b.min()),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max(a.max(), b.max()), 31)</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ax.hist(a, bins=edges, alpha=.55, label="Logistic")</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ax.hist(b, bins=edges, alpha=.55, label="Ensemble")</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ax.set_title(f"Resampled means: n={n}")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ax.set_xlabel("Mean precision")</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ax.legend()</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plt.tight_layout()</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for model in pops:</a:t>
            </a:r>
          </a:p>
          <a:p>
            <a:pPr algn="l">
              <a:lnSpc>
                <a:spcPct val="92000"/>
              </a:lnSpc>
              <a:buNone/>
              <a:defRPr sz="863" b="0" i="0">
                <a:solidFill>
                  <a:srgbClr val="FFFFFF"/>
                </a:solidFill>
                <a:latin typeface="Aptos Mono"/>
                <a:ea typeface="Aptos Mono"/>
                <a:cs typeface="Aptos Mono"/>
              </a:defRPr>
            </a:pPr>
            <a:r>
              <a:rPr sz="863" b="0" i="0">
                <a:solidFill>
                  <a:srgbClr val="FFFFFF"/>
                </a:solidFill>
                <a:latin typeface="Aptos Mono"/>
                <a:ea typeface="Aptos Mono"/>
                <a:cs typeface="Aptos Mono"/>
              </a:rPr>
              <a:t>    print(model, results[(model, TODO_SMALL_N)].std(ddof=1))</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READ THE FIGURE</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fontScale="97520"/>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Describe center, spread, shape, overlap, and any impossible values for both panels.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CLT predicts more nearly Normal means; larger n should mainly reduce spread.</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Low n permits more overlap and more ranking reversals even when population means differ.</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Report empirical SE values to two decimals only after verifying full-precision arrays.</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AI Problem · matplotlib comparison pattern</a:t>
            </a:r>
          </a:p>
        </p:txBody>
      </p:sp>
    </p:spTree>
    <p:extLst>
      <p:ext uri="{BB962C8B-B14F-4D97-AF65-F5344CB8AC3E}">
        <p14:creationId xmlns:p14="http://schemas.microsoft.com/office/powerpoint/2010/main" val="1663347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82</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AI problem · End with a deployment argument, not only four histograms</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AI PROBLEM · INTERPRETATION</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CLT, RANKING, IMPACT, MITIGATION</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Explain how sample size changes the sampling distributions, why low-n rankings can flip, how unstable precision can affect an AI decision, and what imbalance mitigation is defensible.</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FOUR-PARAGRAPH CLOSE</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CLT: means can be approximately Normal while their SE shrinks at a root-n rate under valid conditions.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Ranking: wider low-n distributions overlap more, so one validation result can reverse the population ordering.</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Impact: an unstable rank can select, reject, or deploy the wrong model and conceal uncertainty from stakeholders.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Mitigate with repeated stratified evaluation and uncertainty; in production, bootstrap paired validation cases.</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AI Problem · responsible evaluation extension</a:t>
            </a:r>
          </a:p>
        </p:txBody>
      </p:sp>
    </p:spTree>
    <p:extLst>
      <p:ext uri="{BB962C8B-B14F-4D97-AF65-F5344CB8AC3E}">
        <p14:creationId xmlns:p14="http://schemas.microsoft.com/office/powerpoint/2010/main" val="1663347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83</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Small-group topic · Choose a resampling unit that preserves the study design</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GROUP ACTIVITY</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88282"/>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FOUR SCENARIOS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Choose and defend a resampling unit for transactions within customers, weekly demand, patients within hospitals, and a rare-fraud validation set. Ordinary row resampling is not automatically valid.</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DISCUSS ALL FOUR</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Transactions: compare row, customer, and time units; preserve repeated-customer dependence.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Weekly demand: compare random days with seven-day blocks that retain seasonality and local dependence.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Hospitals: decide whether patient, hospital, or multilevel resampling matches the inference target.</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Rare fraud: compare ordinary and stratified plans; ask whether the sample contains enough positives at all.</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Current Week 3 deck · small-group resampling activity</a:t>
            </a:r>
          </a:p>
        </p:txBody>
      </p:sp>
    </p:spTree>
    <p:extLst>
      <p:ext uri="{BB962C8B-B14F-4D97-AF65-F5344CB8AC3E}">
        <p14:creationId xmlns:p14="http://schemas.microsoft.com/office/powerpoint/2010/main" val="16633475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84</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Small-group debrief · Use the same four-question test for every resampling plan</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GROUP ACTIVITY · DEBRIEF</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DESIGN TEST</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For any proposed bootstrap, test the independent unit, preserved structure, target population, and blind spot. A method name without this reasoning is not a defensible design.</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DEBRIEF TEMPLATE</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1 · What unit can plausibly be treated as independent: row, person, site, or block?</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2 · What clustering, ordering, or class representation must each resample preserve?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3 · What population and statistic is the resulting distribution intended to describe?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4 · What bias or missing information will the bootstrap reproduce rather than repair?</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Current Week 3 deck · bootstrap limitations</a:t>
            </a:r>
          </a:p>
        </p:txBody>
      </p:sp>
    </p:spTree>
    <p:extLst>
      <p:ext uri="{BB962C8B-B14F-4D97-AF65-F5344CB8AC3E}">
        <p14:creationId xmlns:p14="http://schemas.microsoft.com/office/powerpoint/2010/main" val="16633475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85</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Team-project milestone · Leave Week 3 with an auditable project status</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TEAM PROJECT CHECK-IN</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65289"/>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TEACHABLE MILESTONE</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The exact Week 3 Canvas check-in fields were not supplied. Use this preparation milestone without claiming it is the submission form: dataset, statistical question, roles, repository, and risk status.</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TEAM STATUS PACKET</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Dataset: source, unit of observation, target, key variables, access/license, and current cleaning status.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Question: one population, statistic, or model comparison that the available variables can actually answer.</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Roles: owner and reviewer for data, EDA, modeling, writing, GitHub, and presentation; everyone codes and reviews.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Risk status: red/amber/green for access, quality, imbalance, scope, schedule, and team coordination; name next action.</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Final Team Project Canvas screenshots · README guidance</a:t>
            </a:r>
          </a:p>
        </p:txBody>
      </p:sp>
    </p:spTree>
    <p:extLst>
      <p:ext uri="{BB962C8B-B14F-4D97-AF65-F5344CB8AC3E}">
        <p14:creationId xmlns:p14="http://schemas.microsoft.com/office/powerpoint/2010/main" val="16633475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86</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Team repository · Make collaboration and project intent visible in GitHub</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TEAM PROJECT · GITHUB</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PROJECT INFRASTRUCTURE</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The final project requires GitHub and a README, but Assignment 3.1 itself does not. Use the repository now to make dataset decisions, roles, setup, and progress reviewable by the team.</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README + WORKFLOW</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README: title/status, objective, contributors, methods, technologies, data description, license, acknowledgments.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Describe dataset source, variables, size, dictionary, questions, hypotheses, analysis, roadblocks, and limitations.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Add installation/run instructions and a setup.md when dependencies or data access are complicated.</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Commit small changes, use descriptive messages, review teammates' code, and keep secrets and restricted data out.</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Final Team Project Canvas screenshots · GitHub README template</a:t>
            </a:r>
          </a:p>
        </p:txBody>
      </p:sp>
    </p:spTree>
    <p:extLst>
      <p:ext uri="{BB962C8B-B14F-4D97-AF65-F5344CB8AC3E}">
        <p14:creationId xmlns:p14="http://schemas.microsoft.com/office/powerpoint/2010/main" val="16633475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00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ASSIGNMENT WALKTHROUGH</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87</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Assignment 3.1 · Export only after every response survives a clean run</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FINAL SUBMISSION QA</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t">
            <a:normAutofit/>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PDF OR HTML</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Before submission, restart the kernel, run every cell in order, export to PDF or HTML, reopen the exported file, and verify that all 18 responses, code outputs, formulas, and figures are readable.</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t">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FINAL CHECKLIST</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fontScale="99217"/>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All 18 answer locations contain reasoning and, where appropriate, executed Python output.</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Every graph has a descriptive title, labeled axes with units, legible legend, and visible observed marker if needed.</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Quantitative displays use two decimals; code retains full precision and includes n, B, seed, and assumptions.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No errors, TODOs, clipped content, missing images, hidden-state dependencies, or unsupported certainty claims remain.</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submission directions</a:t>
            </a:r>
          </a:p>
        </p:txBody>
      </p:sp>
    </p:spTree>
    <p:extLst>
      <p:ext uri="{BB962C8B-B14F-4D97-AF65-F5344CB8AC3E}">
        <p14:creationId xmlns:p14="http://schemas.microsoft.com/office/powerpoint/2010/main" val="1663347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88</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Beginner coding lab · Build one simulation you can explain</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fontScale="81858"/>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START HERE · ANSWER-SAFE SUPPORT</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THE GOAL</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Open the supplied notebook, run it in order, build one statistic per repeated sample, and explain the evidence without relying on copied output.</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USE THIS ORDER</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Save a working copy, then alternate Markdown reasoning with executable Python.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Keep n for observations per sample and B for repeated samples.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Label every graph; retain full precision in code and round only displayed results.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Complete all 18 response locations and use the file format required in live Canvas.</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directions · Jupyter documentation</a:t>
            </a:r>
          </a:p>
        </p:txBody>
      </p:sp>
    </p:spTree>
    <p:extLst>
      <p:ext uri="{BB962C8B-B14F-4D97-AF65-F5344CB8AC3E}">
        <p14:creationId xmlns:p14="http://schemas.microsoft.com/office/powerpoint/2010/main" val="1663347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89</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Open the supplied notebook in Jupyter or Google Colab</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JUPYTER · FIRST LAUNCH</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fontScale="85353"/>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Run local launch commands in Terminal or Anaconda Prompt, not a Python cell. Colab can upload the same IPYNB without a local installation.</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Local Terminal or Anaconda Prompt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cd PATH_TO_COURSE_FOLDER</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jupyter notebook</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Or in Google Colab:</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File &gt; Upload notebook</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Select the supplied .ipynb</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Save a working copy before editing</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WHAT EACH STEP DOES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cd makes Jupyter open in the folder that contains the assignment.</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Jupyter dashboard opens an existing notebook when you click its filename.</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Colab accepts an uploaded Jupyter/IPython notebook from its File menu.</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If local launch fails, use the course-supported environment before installing tools.</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Project Jupyter · Google Colab FAQ</a:t>
            </a:r>
          </a:p>
        </p:txBody>
      </p:sp>
    </p:spTree>
    <p:extLst>
      <p:ext uri="{BB962C8B-B14F-4D97-AF65-F5344CB8AC3E}">
        <p14:creationId xmlns:p14="http://schemas.microsoft.com/office/powerpoint/2010/main" val="1663347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90</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Markdown explains; code runs; output appears below the code</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JUPYTER · CELL BASICS</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THREE LAYERS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A notebook combines explanation, executable Python, and the output produced by that Python. The cell type determines what Shift+Enter does.</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SAFE CELL HABITS</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Use Markdown for headings, formulas, assumptions, and interpretation.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Use Code for Python only; do not type a displayed result back into the code.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Shift+Enter runs the selected cell and moves to the next cell.</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In [ ] has not run; In [*] is busy; a number shows completed execution.</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Jupyter Notebook and JupyterLab user guides</a:t>
            </a:r>
          </a:p>
        </p:txBody>
      </p:sp>
    </p:spTree>
    <p:extLst>
      <p:ext uri="{BB962C8B-B14F-4D97-AF65-F5344CB8AC3E}">
        <p14:creationId xmlns:p14="http://schemas.microsoft.com/office/powerpoint/2010/main" val="16633475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91</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Run imports once; install only when a package is missing</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PYTHON · SETUP CELL</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fontScale="96291"/>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Place this cell near the top. If an import fails, run the exact `%pip` command below in a separate cell, restart, and rerun imports.</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import numpy as np</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import pandas as pd</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import matplotlib.pyplot as plt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from scipy import stats</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rng = np.random.default_rng(500)</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READ THE IMPORTS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import loads a package; as creates a short conventional alias.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np handles arrays; pd builds tables; plt makes plots; stats supplies distributions.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After ModuleNotFoundError, run `%pip install numpy pandas matplotlib scipy` in a separate cell.</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Restart after installation; otherwise keep one rng instead of resetting it in each cell.</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NumPy beginner and random Generator documentation</a:t>
            </a:r>
          </a:p>
        </p:txBody>
      </p:sp>
    </p:spTree>
    <p:extLst>
      <p:ext uri="{BB962C8B-B14F-4D97-AF65-F5344CB8AC3E}">
        <p14:creationId xmlns:p14="http://schemas.microsoft.com/office/powerpoint/2010/main" val="1663347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92</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Read Python punctuation like a sentence</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PYTHON · SYNTAX DECODER</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ctr">
            <a:normAutofit fontScale="72661"/>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SYMBOLS HAVE JOBS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Most beginner errors come from one missing symbol, mismatched name, or indentation level. Read each line from left to right before running it.</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CORE TRANSLATIONS</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 stores a value; == compares values; / divides; ** raises to a power.</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Parentheses call a function; commas separate its arguments.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Brackets create or select; a colon starts a block; indentation belongs to it.</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 hash begins a comment; names are case-sensitive; use straight quotation marks.</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Official Python tutorial</a:t>
            </a:r>
          </a:p>
        </p:txBody>
      </p:sp>
    </p:spTree>
    <p:extLst>
      <p:ext uri="{BB962C8B-B14F-4D97-AF65-F5344CB8AC3E}">
        <p14:creationId xmlns:p14="http://schemas.microsoft.com/office/powerpoint/2010/main" val="16633475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93</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Translate a practice prompt into n, p, B, and a statistic</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SIMULATION · NAME THE PARTS</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Practice case: an event has probability .30. Simulate 5,000 studies of 12 trials and save each study's event proportion.</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n_demo = 12</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p_demo = 0.30</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B_demo = 5_000</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counts_demo = rng.binomial(</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n=n_demo, p=p_demo, size=B_demo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p_hats_demo = counts_demo / n_demo</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TRANSLATE BEFORE RUNNING</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n_demo is the number of trials inside one study.</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p_demo is the event probability for each independent trial.</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B_demo is the number of repeated studies, not a larger sample size.</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p_hats_demo stores one proportion from every repeated study.</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NumPy Generator.binomial documentation</a:t>
            </a:r>
          </a:p>
        </p:txBody>
      </p:sp>
    </p:spTree>
    <p:extLst>
      <p:ext uri="{BB962C8B-B14F-4D97-AF65-F5344CB8AC3E}">
        <p14:creationId xmlns:p14="http://schemas.microsoft.com/office/powerpoint/2010/main" val="1663347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94</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shape=(B, n) means B studies with n observations each</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NUMPY · SHAPE AND AXIS</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fontScale="88184"/>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Rows represent repeated studies; columns represent observations within a study. Average across each row to keep one statistic per study.</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B_demo, n_demo = 4, 3</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samples_demo = rng.uniform(</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2, 8, size=(B_demo, n_demo)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print(samples_demo.shape)</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means_demo = samples_demo.mean(axis=1)</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print(means_demo.shape)</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PREDICT THE SHAPES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sample matrix has B_demo rows and n_demo columns.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axis=1 averages across each row and leaves B_demo means.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axis=0 leaves one mean per column, which is not the target here.</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A mean with no axis collapses the matrix to one number and loses the distribution.</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NumPy array shape, axes, and aggregation guide</a:t>
            </a:r>
          </a:p>
        </p:txBody>
      </p:sp>
    </p:spTree>
    <p:extLst>
      <p:ext uri="{BB962C8B-B14F-4D97-AF65-F5344CB8AC3E}">
        <p14:creationId xmlns:p14="http://schemas.microsoft.com/office/powerpoint/2010/main" val="16633475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95</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 seed reproduces a stream; it does not improve the result</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fontScale="99035"/>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RANDOMNESS · REPRODUCIBILITY</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fontScale="98341"/>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Create one generator and let it continue. Restarting the entire notebook with the same seed reproduces the same sequence.</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rng_seed_demo = np.random.default_rng(500)</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first_demo = rng_seed_demo.normal(size=3)</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second_demo = rng_seed_demo.normal(size=3)</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Another call continues this same stream.</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third_demo = rng_seed_demo.normal(size=3)</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print(first_demo)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print(second_demo)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print(third_demo)</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WHAT A SEED DOES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One generator produces a continuing sequence of pseudorandom values.</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same seed, environment, and call order reproduce the demonstration.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Different seeds can give slightly different Monte Carlo summaries.</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Do not reset a seed inside a loop; a seed does not remove bias or create precision.</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NumPy random Generator documentation</a:t>
            </a:r>
          </a:p>
        </p:txBody>
      </p:sp>
    </p:spTree>
    <p:extLst>
      <p:ext uri="{BB962C8B-B14F-4D97-AF65-F5344CB8AC3E}">
        <p14:creationId xmlns:p14="http://schemas.microsoft.com/office/powerpoint/2010/main" val="16633475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96</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One sample and many sample means need separate objects</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SAMPLING · DO NOT FLATTEN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fontScale="96578"/>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Use an unrelated skewed population to see the difference between n raw observations and B statistics from repeated samples.</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n_demo, B_demo = 20, 5_000</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one_sample_demo = rng.exponential(</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scale=2, size=n_demo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repeated_demo = rng.exponential(</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scale=2, size=(B_demo, n_demo)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means_demo = repeated_demo.mean(axis=1)</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print(one_sample_demo.shape)</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print(repeated_demo.shape)</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print(means_demo.shape)</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KEEP THE OBJECTS DISTINCT</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one_sample_demo contains individual observations from one study.</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repeated_demo contains all simulated observations arranged by study.</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means_demo contains one statistic from every simulated study.</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Plot means_demo for a sampling distribution; raw columns repeat the data shape.</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NumPy exponential sampling and mean documentation</a:t>
            </a:r>
          </a:p>
        </p:txBody>
      </p:sp>
    </p:spTree>
    <p:extLst>
      <p:ext uri="{BB962C8B-B14F-4D97-AF65-F5344CB8AC3E}">
        <p14:creationId xmlns:p14="http://schemas.microsoft.com/office/powerpoint/2010/main" val="16633475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97</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 Binomial draw is a count before it becomes a proportion</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fontScale="96873"/>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BINOMIAL · KEEP SCALES ALIGNED</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Generate counts first. Divide by n only when the question, plot, or threshold is expressed as a proportion.</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n_demo, p_demo = 12, 0.30</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B_demo = 5_000</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counts_demo = rng.binomial(</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n_demo, p_demo, size=B_demo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proportions_demo = counts_demo / n_demo</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print(counts_demo.min(), counts_demo.max())</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print(proportions_demo.min(), proportions_demo.max())</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CHECK THE SCALE</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Counts are whole numbers between zero and n_demo.</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Proportions are between zero and one.</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Compare counts with a count threshold or proportions with a proportion threshold.</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Choose equality, one-sided tail, or two-sided distance before writing the comparison.</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NumPy Generator.binomial · SciPy Binomial reference</a:t>
            </a:r>
          </a:p>
        </p:txBody>
      </p:sp>
    </p:spTree>
    <p:extLst>
      <p:ext uri="{BB962C8B-B14F-4D97-AF65-F5344CB8AC3E}">
        <p14:creationId xmlns:p14="http://schemas.microsoft.com/office/powerpoint/2010/main" val="1663347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98</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Theory and simulation should estimate the same standard error</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fontScale="99158"/>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STANDARD ERROR · TWO CHECKS</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Use an unrelated Normal example. The formula predicts sampling spread; the repeated-study SD checks it empirically.</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mu_demo, sigma_demo = 15, 4.8</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n_demo, B_demo = 36, 5_000</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means_demo = rng.normal(</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mu_demo, sigma_demo,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size=(B_demo, n_demo)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).mean(axis=1)</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theory_se_demo = sigma_demo / np.sqrt(n_demo)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empirical_se_demo = means_demo.std(ddof=1)</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print(theory_se_demo, empirical_se_demo)</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COMPARE THE RIGHT SPREADS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theoretical SE uses population sigma and sample size 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empirical SE is the SD of B_demo statistics, not one sample's raw SD.</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Larger B stabilizes the check; larger n changes the sampling spread itself.</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Keep guard digits in code and round only the value displayed in the response.</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NumPy mean and standard-deviation documentation</a:t>
            </a:r>
          </a:p>
        </p:txBody>
      </p:sp>
    </p:spTree>
    <p:extLst>
      <p:ext uri="{BB962C8B-B14F-4D97-AF65-F5344CB8AC3E}">
        <p14:creationId xmlns:p14="http://schemas.microsoft.com/office/powerpoint/2010/main" val="16633475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99</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Build an exact probability table before drawing a bar chart</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fontScale="84373"/>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DISCRETE PMF · ANALOGOUS PRACTICE</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fontScale="96484"/>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Practice with five inspections and event probability .20. Include every possible count and verify that all probabilities sum to one.</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n_demo, p_demo = 5, 0.20</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k_demo = np.arange(n_demo + 1)</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prob_demo = stats.binom.pmf(k_demo, n_demo, p_demo)</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pmf_demo = pd.DataFrame({</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"count": k_demo,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"proportion": k_demo / n_demo,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"probability": prob_demo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assert np.isclose(prob_demo.sum(), 1)</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display(pmf_demo)</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EXACT DISTRIBUTION CHECKS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np.arange(n_demo + 1) includes every count from zero through n_demo.</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The PMF assigns one probability to each discrete support value.</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Use a bar chart for exact support; a smooth KDE can imply impossible values.</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A probability sum different from one signals missing or duplicated support.</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SciPy Binomial distribution documentation</a:t>
            </a:r>
          </a:p>
        </p:txBody>
      </p:sp>
    </p:spTree>
    <p:extLst>
      <p:ext uri="{BB962C8B-B14F-4D97-AF65-F5344CB8AC3E}">
        <p14:creationId xmlns:p14="http://schemas.microsoft.com/office/powerpoint/2010/main" val="16633475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100</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 probability between two bounds is a difference of CDF values</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fontScale="91588"/>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GAMMA · PARAMETER TRANSLATION</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fontScale="96484"/>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Use unrelated moments and bounds. Convert arithmetic mean and SD to SciPy shape and scale before evaluating the interval.</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mean_demo, sd_demo = 18, 6</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shape_demo = (mean_demo / sd_demo) ** 2</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scale_demo = sd_demo ** 2 / mean_demo</a:t>
            </a:r>
          </a:p>
          <a:p>
            <a:pPr algn="l">
              <a:lnSpc>
                <a:spcPct val="92000"/>
              </a:lnSpc>
              <a:buNone/>
              <a:defRPr sz="863" b="0" i="0">
                <a:solidFill>
                  <a:srgbClr val="FFFFFF"/>
                </a:solidFill>
                <a:latin typeface="Aptos Mono"/>
                <a:ea typeface="Aptos Mono"/>
                <a:cs typeface="Aptos Mono"/>
              </a:defRPr>
            </a:pPr>
            <a:endParaRPr sz="1200" b="0" i="0">
              <a:solidFill>
                <a:srgbClr val="FFFFFF"/>
              </a:solidFill>
              <a:latin typeface="Aptos Mono"/>
              <a:ea typeface="Aptos Mono"/>
              <a:cs typeface="Aptos Mono"/>
            </a:endParaRP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lower_demo, upper_demo = 12, 24</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prob_demo = stats.gamma.cdf(</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upper_demo, shape_demo, scale=scale_demo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 stats.gamma.cdf(</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lower_demo, shape_demo, scale=scale_demo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assert 0 &lt;= prob_demo &lt;= 1</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READ THE PARAMETERS</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SciPy's shape and scale are not the arithmetic mean and SD.</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A CDF returns probability at or below its bound.</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Subtract the lower CDF from the upper CDF and keep the bounds in order.</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This is an individual-value probability unless the modeled variable is a mean.</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SciPy Gamma distribution documentation</a:t>
            </a:r>
          </a:p>
        </p:txBody>
      </p:sp>
    </p:spTree>
    <p:extLst>
      <p:ext uri="{BB962C8B-B14F-4D97-AF65-F5344CB8AC3E}">
        <p14:creationId xmlns:p14="http://schemas.microsoft.com/office/powerpoint/2010/main" val="16633475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101</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A6BA12EF-A1C8-4236-8526-327BF0192C22}"/>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A graph needs a title, labeled axes, and a reference marker</a:t>
            </a:r>
          </a:p>
        </p:txBody>
      </p:sp>
      <p:sp>
        <p:nvSpPr>
          <p:cNvPr id="28" name="badge-surface">
            <a:extLst>
              <a:ext uri="{FF2B5EF4-FFF2-40B4-BE49-F238E27FC236}">
                <a16:creationId xmlns:a16="http://schemas.microsoft.com/office/drawing/2014/main" id="{F5D14A50-E463-407D-A919-CBD2A1E903A5}"/>
              </a:ext>
            </a:extLst>
          </p:cNvPr>
          <p:cNvSpPr>
            <a:spLocks noGrp="1"/>
          </p:cNvSpPr>
          <p:nvPr/>
        </p:nvSpPr>
        <p:spPr>
          <a:xfrm>
            <a:off x="666750" y="1104900"/>
            <a:ext cx="2333625" cy="285750"/>
          </a:xfrm>
          <a:prstGeom prst="roundRect">
            <a:avLst>
              <a:gd name="adj" fmla="val 50000"/>
            </a:avLst>
          </a:prstGeom>
          <a:solidFill>
            <a:srgbClr val="00A6A6"/>
          </a:solidFill>
          <a:ln w="0">
            <a:solidFill>
              <a:srgbClr val="00A6A6"/>
            </a:solidFill>
            <a:prstDash val="solid"/>
          </a:ln>
        </p:spPr>
        <p:txBody>
          <a:bodyPr/>
          <a:lstStyle/>
          <a:p>
            <a:endParaRPr lang="en-US"/>
          </a:p>
        </p:txBody>
      </p:sp>
      <p:sp>
        <p:nvSpPr>
          <p:cNvPr id="29" name="badge-label">
            <a:extLst>
              <a:ext uri="{FF2B5EF4-FFF2-40B4-BE49-F238E27FC236}">
                <a16:creationId xmlns:a16="http://schemas.microsoft.com/office/drawing/2014/main" id="{9433791A-E1FC-4ADC-8841-95D545AC9ECB}"/>
              </a:ext>
            </a:extLst>
          </p:cNvPr>
          <p:cNvSpPr>
            <a:spLocks noGrp="1"/>
          </p:cNvSpPr>
          <p:nvPr/>
        </p:nvSpPr>
        <p:spPr>
          <a:xfrm>
            <a:off x="742950" y="1123950"/>
            <a:ext cx="2181225" cy="247650"/>
          </a:xfrm>
          <a:prstGeom prst="rect">
            <a:avLst/>
          </a:prstGeom>
          <a:noFill/>
          <a:ln w="0">
            <a:noFill/>
            <a:prstDash val="solid"/>
          </a:ln>
        </p:spPr>
        <p:txBody>
          <a:bodyPr wrap="square" lIns="38100" tIns="28575" rIns="38100" bIns="28575" anchor="ctr">
            <a:normAutofit fontScale="84973"/>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MATPLOTLIB · REQUIRED GRAPH PARTS</a:t>
            </a:r>
          </a:p>
        </p:txBody>
      </p:sp>
      <p:sp>
        <p:nvSpPr>
          <p:cNvPr id="30" name="code-intro">
            <a:extLst>
              <a:ext uri="{FF2B5EF4-FFF2-40B4-BE49-F238E27FC236}">
                <a16:creationId xmlns:a16="http://schemas.microsoft.com/office/drawing/2014/main" id="{D2A345A4-8F31-490B-88BC-8495A0BA3D0A}"/>
              </a:ext>
            </a:extLst>
          </p:cNvPr>
          <p:cNvSpPr>
            <a:spLocks noGrp="1"/>
          </p:cNvSpPr>
          <p:nvPr/>
        </p:nvSpPr>
        <p:spPr>
          <a:xfrm>
            <a:off x="3143250" y="1104900"/>
            <a:ext cx="8324850" cy="323850"/>
          </a:xfrm>
          <a:prstGeom prst="rect">
            <a:avLst/>
          </a:prstGeom>
          <a:noFill/>
          <a:ln w="0">
            <a:noFill/>
            <a:prstDash val="solid"/>
          </a:ln>
        </p:spPr>
        <p:txBody>
          <a:bodyPr wrap="square" lIns="38100" tIns="28575" rIns="38100" bIns="28575" anchor="ctr">
            <a:normAutofit/>
          </a:bodyPr>
          <a:lstStyle/>
          <a:p>
            <a:pPr algn="l">
              <a:lnSpc>
                <a:spcPct val="100000"/>
              </a:lnSpc>
              <a:buNone/>
              <a:defRPr sz="1200" b="0" i="0">
                <a:solidFill>
                  <a:srgbClr val="5E7184"/>
                </a:solidFill>
                <a:latin typeface="Arial"/>
                <a:ea typeface="Arial"/>
                <a:cs typeface="Arial"/>
              </a:defRPr>
            </a:pPr>
            <a:r>
              <a:rPr sz="1200" b="0" i="0">
                <a:solidFill>
                  <a:srgbClr val="5E7184"/>
                </a:solidFill>
                <a:latin typeface="Arial"/>
                <a:ea typeface="Arial"/>
                <a:cs typeface="Arial"/>
              </a:rPr>
              <a:t>Start with an existing array of simulated statistics. Replace bracketed labels with the statistic and its real units.</a:t>
            </a:r>
          </a:p>
        </p:txBody>
      </p:sp>
      <p:sp>
        <p:nvSpPr>
          <p:cNvPr id="31" name="code-card">
            <a:extLst>
              <a:ext uri="{FF2B5EF4-FFF2-40B4-BE49-F238E27FC236}">
                <a16:creationId xmlns:a16="http://schemas.microsoft.com/office/drawing/2014/main" id="{AF925790-9E30-4AD2-B567-5938E29F6F36}"/>
              </a:ext>
            </a:extLst>
          </p:cNvPr>
          <p:cNvSpPr>
            <a:spLocks noGrp="1"/>
          </p:cNvSpPr>
          <p:nvPr/>
        </p:nvSpPr>
        <p:spPr>
          <a:xfrm>
            <a:off x="666750" y="1562100"/>
            <a:ext cx="6667500" cy="4000500"/>
          </a:xfrm>
          <a:prstGeom prst="roundRect">
            <a:avLst>
              <a:gd name="adj" fmla="val 2857"/>
            </a:avLst>
          </a:prstGeom>
          <a:solidFill>
            <a:srgbClr val="0B263C"/>
          </a:solidFill>
          <a:ln w="0">
            <a:solidFill>
              <a:srgbClr val="0B263C"/>
            </a:solidFill>
            <a:prstDash val="solid"/>
          </a:ln>
        </p:spPr>
        <p:txBody>
          <a:bodyPr/>
          <a:lstStyle/>
          <a:p>
            <a:endParaRPr lang="en-US"/>
          </a:p>
        </p:txBody>
      </p:sp>
      <p:sp>
        <p:nvSpPr>
          <p:cNvPr id="32" name="code-copy">
            <a:extLst>
              <a:ext uri="{FF2B5EF4-FFF2-40B4-BE49-F238E27FC236}">
                <a16:creationId xmlns:a16="http://schemas.microsoft.com/office/drawing/2014/main" id="{BA3D0E77-4337-4A5E-99BD-E45A0024DE8F}"/>
              </a:ext>
            </a:extLst>
          </p:cNvPr>
          <p:cNvSpPr>
            <a:spLocks noGrp="1"/>
          </p:cNvSpPr>
          <p:nvPr/>
        </p:nvSpPr>
        <p:spPr>
          <a:xfrm>
            <a:off x="895350" y="1752600"/>
            <a:ext cx="6210300" cy="3619500"/>
          </a:xfrm>
          <a:prstGeom prst="rect">
            <a:avLst/>
          </a:prstGeom>
          <a:noFill/>
          <a:ln w="0">
            <a:noFill/>
            <a:prstDash val="solid"/>
          </a:ln>
        </p:spPr>
        <p:txBody>
          <a:bodyPr wrap="square" lIns="38100" tIns="28575" rIns="38100" bIns="28575" anchor="t">
            <a:normAutofit/>
          </a:bodyPr>
          <a:lstStyle/>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values_demo = means_demo</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reference_demo = means_demo.mean()</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fig, ax = plt.subplots(figsize=(7, 4))</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ax.hist(values_demo, bins=30, edgecolor="white")</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ax.axvline(reference_demo, color="#F36C21",</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           label="Reference")</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ax.set_title("Sampling distribution of [statistic]")</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ax.set_xlabel("[Statistic and units]")</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ax.set_ylabel("Frequency")</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ax.legend()</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fig.tight_layout()</a:t>
            </a:r>
          </a:p>
          <a:p>
            <a:pPr algn="l">
              <a:lnSpc>
                <a:spcPct val="92000"/>
              </a:lnSpc>
              <a:buNone/>
              <a:defRPr sz="1200" b="0" i="0">
                <a:solidFill>
                  <a:srgbClr val="FFFFFF"/>
                </a:solidFill>
                <a:latin typeface="Aptos Mono"/>
                <a:ea typeface="Aptos Mono"/>
                <a:cs typeface="Aptos Mono"/>
              </a:defRPr>
            </a:pPr>
            <a:r>
              <a:rPr sz="1200" b="0" i="0">
                <a:solidFill>
                  <a:srgbClr val="FFFFFF"/>
                </a:solidFill>
                <a:latin typeface="Aptos Mono"/>
                <a:ea typeface="Aptos Mono"/>
                <a:cs typeface="Aptos Mono"/>
              </a:rPr>
              <a:t>plt.show()</a:t>
            </a:r>
          </a:p>
        </p:txBody>
      </p:sp>
      <p:sp>
        <p:nvSpPr>
          <p:cNvPr id="33" name="code-insight-card">
            <a:extLst>
              <a:ext uri="{FF2B5EF4-FFF2-40B4-BE49-F238E27FC236}">
                <a16:creationId xmlns:a16="http://schemas.microsoft.com/office/drawing/2014/main" id="{55767337-3761-4467-9EEA-49CEDEC398C4}"/>
              </a:ext>
            </a:extLst>
          </p:cNvPr>
          <p:cNvSpPr>
            <a:spLocks noGrp="1"/>
          </p:cNvSpPr>
          <p:nvPr/>
        </p:nvSpPr>
        <p:spPr>
          <a:xfrm>
            <a:off x="7620000" y="1562100"/>
            <a:ext cx="3886200" cy="4000500"/>
          </a:xfrm>
          <a:prstGeom prst="roundRect">
            <a:avLst>
              <a:gd name="adj" fmla="val 2941"/>
            </a:avLst>
          </a:prstGeom>
          <a:solidFill>
            <a:srgbClr val="EAF5FB"/>
          </a:solidFill>
          <a:ln w="9525">
            <a:solidFill>
              <a:srgbClr val="B7DDF2"/>
            </a:solidFill>
            <a:prstDash val="solid"/>
          </a:ln>
        </p:spPr>
        <p:txBody>
          <a:bodyPr/>
          <a:lstStyle/>
          <a:p>
            <a:endParaRPr lang="en-US"/>
          </a:p>
        </p:txBody>
      </p:sp>
      <p:sp>
        <p:nvSpPr>
          <p:cNvPr id="34" name="code-insight-label">
            <a:extLst>
              <a:ext uri="{FF2B5EF4-FFF2-40B4-BE49-F238E27FC236}">
                <a16:creationId xmlns:a16="http://schemas.microsoft.com/office/drawing/2014/main" id="{028C4DFC-76B7-4B5C-A68B-B2E6357D3168}"/>
              </a:ext>
            </a:extLst>
          </p:cNvPr>
          <p:cNvSpPr>
            <a:spLocks noGrp="1"/>
          </p:cNvSpPr>
          <p:nvPr/>
        </p:nvSpPr>
        <p:spPr>
          <a:xfrm>
            <a:off x="7867650" y="1790700"/>
            <a:ext cx="3333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050" b="1" i="0">
                <a:solidFill>
                  <a:srgbClr val="0076A8"/>
                </a:solidFill>
                <a:latin typeface="Arial"/>
                <a:ea typeface="Arial"/>
                <a:cs typeface="Arial"/>
              </a:defRPr>
            </a:pPr>
            <a:r>
              <a:rPr sz="1050" b="1" i="0">
                <a:solidFill>
                  <a:srgbClr val="0076A8"/>
                </a:solidFill>
                <a:latin typeface="Arial"/>
                <a:ea typeface="Arial"/>
                <a:cs typeface="Arial"/>
              </a:rPr>
              <a:t>MAKE THE FIGURE DEFENSIBLE</a:t>
            </a:r>
          </a:p>
        </p:txBody>
      </p:sp>
      <p:sp>
        <p:nvSpPr>
          <p:cNvPr id="35" name="code-insight-copy">
            <a:extLst>
              <a:ext uri="{FF2B5EF4-FFF2-40B4-BE49-F238E27FC236}">
                <a16:creationId xmlns:a16="http://schemas.microsoft.com/office/drawing/2014/main" id="{0F9D210A-8D90-4A57-A3EB-231E40FFA2AD}"/>
              </a:ext>
            </a:extLst>
          </p:cNvPr>
          <p:cNvSpPr>
            <a:spLocks noGrp="1"/>
          </p:cNvSpPr>
          <p:nvPr/>
        </p:nvSpPr>
        <p:spPr>
          <a:xfrm>
            <a:off x="7848600" y="2209800"/>
            <a:ext cx="3390900" cy="3048000"/>
          </a:xfrm>
          <a:prstGeom prst="rect">
            <a:avLst/>
          </a:prstGeom>
          <a:noFill/>
          <a:ln w="0">
            <a:noFill/>
            <a:prstDash val="solid"/>
          </a:ln>
        </p:spPr>
        <p:txBody>
          <a:bodyPr wrap="square" lIns="38100" tIns="28575" rIns="38100" bIns="28575" anchor="t">
            <a:normAutofit/>
          </a:bodyPr>
          <a:lstStyle/>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Use a histogram for simulated statistics and a bar chart for an exact discrete PMF.</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Mark the observed or reference value when unusualness drives the interpretation.</a:t>
            </a:r>
          </a:p>
          <a:p>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Use common bins or axis limits when comparing two distributions.</a:t>
            </a:r>
          </a:p>
          <a:p>
            <a:pPr algn="l">
              <a:lnSpc>
                <a:spcPct val="102000"/>
              </a:lnSpc>
              <a:buNone/>
              <a:defRPr sz="1350" b="0" i="0">
                <a:solidFill>
                  <a:srgbClr val="17324D"/>
                </a:solidFill>
                <a:latin typeface="Arial"/>
                <a:ea typeface="Arial"/>
                <a:cs typeface="Arial"/>
              </a:defRPr>
            </a:pPr>
            <a:endParaRPr sz="1350" b="0" i="0">
              <a:solidFill>
                <a:srgbClr val="17324D"/>
              </a:solidFill>
              <a:latin typeface="Arial"/>
              <a:ea typeface="Arial"/>
              <a:cs typeface="Arial"/>
            </a:endParaRPr>
          </a:p>
          <a:p>
            <a:pPr algn="l">
              <a:lnSpc>
                <a:spcPct val="102000"/>
              </a:lnSpc>
              <a:buNone/>
              <a:defRPr sz="1350" b="0" i="0">
                <a:solidFill>
                  <a:srgbClr val="17324D"/>
                </a:solidFill>
                <a:latin typeface="Arial"/>
                <a:ea typeface="Arial"/>
                <a:cs typeface="Arial"/>
              </a:defRPr>
            </a:pPr>
            <a:r>
              <a:rPr sz="1350" b="0" i="0">
                <a:solidFill>
                  <a:srgbClr val="17324D"/>
                </a:solidFill>
                <a:latin typeface="Arial"/>
                <a:ea typeface="Arial"/>
                <a:cs typeface="Arial"/>
              </a:rPr>
              <a:t>• Never submit a default plot without a descriptive title and axis labels.</a:t>
            </a:r>
          </a:p>
        </p:txBody>
      </p:sp>
      <p:sp>
        <p:nvSpPr>
          <p:cNvPr id="36" name="visible-source">
            <a:extLst>
              <a:ext uri="{FF2B5EF4-FFF2-40B4-BE49-F238E27FC236}">
                <a16:creationId xmlns:a16="http://schemas.microsoft.com/office/drawing/2014/main" id="{BF72EB8B-3480-4451-854F-74B70BA0A262}"/>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Matplotlib quick-start documentation</a:t>
            </a:r>
          </a:p>
        </p:txBody>
      </p:sp>
    </p:spTree>
    <p:extLst>
      <p:ext uri="{BB962C8B-B14F-4D97-AF65-F5344CB8AC3E}">
        <p14:creationId xmlns:p14="http://schemas.microsoft.com/office/powerpoint/2010/main" val="16633475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102</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Turn output into a four-sentence statistical argument</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fontScale="95188"/>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WRITING · EVIDENCE TO MEANING</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ctr">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CODE IS NOT THE CONCLUSION</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A complete response states the repeated-study design, describes the statistic's distribution, answers the question in context, and names a limitation.</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USE FOUR SENTENCES</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Method: I simulated B samples of size n from ___ and saved one ___ per sample.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Evidence: The statistics were centered near ___ with empirical SE ___; theory gives ___.</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Conclusion: Relative to the target and SE, the observed value suggests ___ in context.</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Boundary: This assumes ___ and does not repair selection, measurement, or coverage bias.</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Assignment 3.1 · preserved Week 3 lecture workflow</a:t>
            </a:r>
          </a:p>
        </p:txBody>
      </p:sp>
    </p:spTree>
    <p:extLst>
      <p:ext uri="{BB962C8B-B14F-4D97-AF65-F5344CB8AC3E}">
        <p14:creationId xmlns:p14="http://schemas.microsoft.com/office/powerpoint/2010/main" val="16633475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103</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Debug in a fixed order instead of changing random lines</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PYTHON · ERROR CLINIC</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ctr">
            <a:normAutofit fontScale="59524"/>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READ THE LAST LINE FIRST</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The final traceback line names the error type. Fix the earliest failing cell, then restart and run all cells so hidden state cannot mask another problem.</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COMMON REPAIRS</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NameError: run the definition/import and check spelling and capitalization.</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Syntax or indentation error: check paired symbols, the prior line, colon, and spaces.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TypeError: inspect type(name); ValueError: inspect np.shape(name) for every input.</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Slow or busy kernel: interrupt, reduce B while testing, then restore the required B.</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Python errors · Jupyter Notebook workflow</a:t>
            </a:r>
          </a:p>
        </p:txBody>
      </p:sp>
    </p:spTree>
    <p:extLst>
      <p:ext uri="{BB962C8B-B14F-4D97-AF65-F5344CB8AC3E}">
        <p14:creationId xmlns:p14="http://schemas.microsoft.com/office/powerpoint/2010/main" val="16633475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104</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Quiz compass · First identify what varies</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fontScale="89788"/>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QUIZ REVIEW · NO KEYED ANSWERS</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ctr">
            <a:normAutofit fontScale="70539"/>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FINISH THE SENTENCE</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For every distribution, finish this sentence: The values that vary are ___.</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FOUR DISTINCT OBJECTS</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Population distribution: individual outcomes in the population vary.</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Sample-data distribution: observations within one selected sample vary.</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Sampling distribution: a statistic computed from each repeated sample varies.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Standard error: sampling SD of the statistic; closeness to the target also depends on bias.</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Module 3 quiz concepts · preserved lecture distinctions</a:t>
            </a:r>
          </a:p>
        </p:txBody>
      </p:sp>
    </p:spTree>
    <p:extLst>
      <p:ext uri="{BB962C8B-B14F-4D97-AF65-F5344CB8AC3E}">
        <p14:creationId xmlns:p14="http://schemas.microsoft.com/office/powerpoint/2010/main" val="16633475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105</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Quiz compass · Separate CLT, LLN, and exact equality</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QUIZ REVIEW · CONCEPT TEST</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ctr">
            <a:normAutofit fontScale="59818"/>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THREE DIFFERENT CLAIMS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The theorem, the long-run convergence claim, and the probability of one exact count answer different questions. Identify the event before choosing a rule.</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DISTINCTIONS TO EXPLAIN</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CLT concerns a statistic's sampling-distribution shape under appropriate conditions.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CLT does not make the population or one sample's raw observations Normal.</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LLN concerns an estimate approaching its target as n grows.</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 narrow band near a target is not the same event as one exact central count.</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Module 3 quiz bank · preserved Week 3 lecture</a:t>
            </a:r>
          </a:p>
        </p:txBody>
      </p:sp>
    </p:spTree>
    <p:extLst>
      <p:ext uri="{BB962C8B-B14F-4D97-AF65-F5344CB8AC3E}">
        <p14:creationId xmlns:p14="http://schemas.microsoft.com/office/powerpoint/2010/main" val="16633475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106</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Quiz compass · Read the API and bootstrap claim literally</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fontScale="77165"/>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QUIZ REVIEW · PYTHON AND RESAMPLING</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ctr">
            <a:normAutofit fontScale="70539"/>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NAMESPACE + DESIGN</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Python syntax depends on the imported namespace. Bootstrap meaning depends on the resampled unit, statistic, sample size, and number of repetitions.</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SAFE DECISION RULES</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After from numpy import random, methods attach to random; modern code uses rng.normal and rng.uniform.</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Bootstrap resamples cases with replacement and recomputes one statistic per resample.</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Bootstrap does not normalize raw data, reveal an exact metric, or balance classes automatically.</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B controls simulation smoothness; n controls precision; no universal CLT cutoff exists.</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NumPy random · SciPy bootstrap · Module 3 quiz bank</a:t>
            </a:r>
          </a:p>
        </p:txBody>
      </p:sp>
    </p:spTree>
    <p:extLst>
      <p:ext uri="{BB962C8B-B14F-4D97-AF65-F5344CB8AC3E}">
        <p14:creationId xmlns:p14="http://schemas.microsoft.com/office/powerpoint/2010/main" val="16633475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CFD37C-1B5C-4F97-8703-DA4D3DBF4821}"/>
              </a:ext>
            </a:extLst>
          </p:cNvPr>
          <p:cNvSpPr>
            <a:spLocks noGrp="1"/>
          </p:cNvSpPr>
          <p:nvPr/>
        </p:nvSpPr>
        <p:spPr>
          <a:xfrm>
            <a:off x="0" y="0"/>
            <a:ext cx="12192000" cy="381000"/>
          </a:xfrm>
          <a:prstGeom prst="rect">
            <a:avLst/>
          </a:prstGeom>
          <a:solidFill>
            <a:srgbClr val="003B70"/>
          </a:solidFill>
          <a:ln w="0">
            <a:noFill/>
            <a:prstDash val="solid"/>
          </a:ln>
        </p:spPr>
        <p:txBody>
          <a:bodyPr/>
          <a:lstStyle/>
          <a:p>
            <a:endParaRPr lang="en-US"/>
          </a:p>
        </p:txBody>
      </p:sp>
      <p:sp>
        <p:nvSpPr>
          <p:cNvPr id="2" name="Rectangle 1">
            <a:extLst>
              <a:ext uri="{FF2B5EF4-FFF2-40B4-BE49-F238E27FC236}">
                <a16:creationId xmlns:a16="http://schemas.microsoft.com/office/drawing/2014/main" id="{43E35158-C36A-426B-8068-4BBDE149E2EF}"/>
              </a:ext>
            </a:extLst>
          </p:cNvPr>
          <p:cNvSpPr>
            <a:spLocks noGrp="1"/>
          </p:cNvSpPr>
          <p:nvPr/>
        </p:nvSpPr>
        <p:spPr>
          <a:xfrm>
            <a:off x="609600" y="76200"/>
            <a:ext cx="6667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AAI 500</a:t>
            </a:r>
          </a:p>
        </p:txBody>
      </p:sp>
      <p:sp>
        <p:nvSpPr>
          <p:cNvPr id="3" name="Rectangle 2">
            <a:extLst>
              <a:ext uri="{FF2B5EF4-FFF2-40B4-BE49-F238E27FC236}">
                <a16:creationId xmlns:a16="http://schemas.microsoft.com/office/drawing/2014/main" id="{849A71B2-CA52-40F3-899A-86526FABF004}"/>
              </a:ext>
            </a:extLst>
          </p:cNvPr>
          <p:cNvSpPr>
            <a:spLocks noGrp="1"/>
          </p:cNvSpPr>
          <p:nvPr/>
        </p:nvSpPr>
        <p:spPr>
          <a:xfrm>
            <a:off x="129540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4" name="Rectangle 3">
            <a:extLst>
              <a:ext uri="{FF2B5EF4-FFF2-40B4-BE49-F238E27FC236}">
                <a16:creationId xmlns:a16="http://schemas.microsoft.com/office/drawing/2014/main" id="{0E14D457-4DEB-492E-A0FA-EE7342917604}"/>
              </a:ext>
            </a:extLst>
          </p:cNvPr>
          <p:cNvSpPr>
            <a:spLocks noGrp="1"/>
          </p:cNvSpPr>
          <p:nvPr/>
        </p:nvSpPr>
        <p:spPr>
          <a:xfrm>
            <a:off x="1447800" y="76200"/>
            <a:ext cx="74295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WEEK 3</a:t>
            </a:r>
          </a:p>
        </p:txBody>
      </p:sp>
      <p:sp>
        <p:nvSpPr>
          <p:cNvPr id="5" name="Rectangle 4">
            <a:extLst>
              <a:ext uri="{FF2B5EF4-FFF2-40B4-BE49-F238E27FC236}">
                <a16:creationId xmlns:a16="http://schemas.microsoft.com/office/drawing/2014/main" id="{DAB50FC1-6F64-4EB9-9165-EE693E1A7E2B}"/>
              </a:ext>
            </a:extLst>
          </p:cNvPr>
          <p:cNvSpPr>
            <a:spLocks noGrp="1"/>
          </p:cNvSpPr>
          <p:nvPr/>
        </p:nvSpPr>
        <p:spPr>
          <a:xfrm>
            <a:off x="2228850" y="76200"/>
            <a:ext cx="114300" cy="209550"/>
          </a:xfrm>
          <a:prstGeom prst="rect">
            <a:avLst/>
          </a:prstGeom>
          <a:noFill/>
          <a:ln w="0">
            <a:noFill/>
            <a:prstDash val="solid"/>
          </a:ln>
        </p:spPr>
        <p:txBody>
          <a:bodyPr wrap="square" lIns="38100" tIns="19050" rIns="38100" bIns="19050" anchor="ctr">
            <a:noAutofit/>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a:t>
            </a:r>
          </a:p>
        </p:txBody>
      </p:sp>
      <p:sp>
        <p:nvSpPr>
          <p:cNvPr id="6" name="Rectangle 5">
            <a:extLst>
              <a:ext uri="{FF2B5EF4-FFF2-40B4-BE49-F238E27FC236}">
                <a16:creationId xmlns:a16="http://schemas.microsoft.com/office/drawing/2014/main" id="{C892B1FC-158B-49E7-8F9A-16E89B09FAA4}"/>
              </a:ext>
            </a:extLst>
          </p:cNvPr>
          <p:cNvSpPr>
            <a:spLocks noGrp="1"/>
          </p:cNvSpPr>
          <p:nvPr/>
        </p:nvSpPr>
        <p:spPr>
          <a:xfrm>
            <a:off x="2381250" y="76200"/>
            <a:ext cx="1123950" cy="209550"/>
          </a:xfrm>
          <a:prstGeom prst="rect">
            <a:avLst/>
          </a:prstGeom>
          <a:noFill/>
          <a:ln w="0">
            <a:noFill/>
            <a:prstDash val="solid"/>
          </a:ln>
        </p:spPr>
        <p:txBody>
          <a:bodyPr wrap="square" lIns="38100" tIns="19050" rIns="38100" bIns="19050" anchor="ctr">
            <a:normAutofit fontScale="50730"/>
          </a:bodyPr>
          <a:lstStyle/>
          <a:p>
            <a:pPr algn="l">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BEGINNER CODE &amp; QUIZ LAB</a:t>
            </a:r>
          </a:p>
        </p:txBody>
      </p:sp>
      <p:sp>
        <p:nvSpPr>
          <p:cNvPr id="7" name="Rectangle 6">
            <a:extLst>
              <a:ext uri="{FF2B5EF4-FFF2-40B4-BE49-F238E27FC236}">
                <a16:creationId xmlns:a16="http://schemas.microsoft.com/office/drawing/2014/main" id="{7111B58C-1BFC-407A-BB05-C14CBB117579}"/>
              </a:ext>
            </a:extLst>
          </p:cNvPr>
          <p:cNvSpPr>
            <a:spLocks noGrp="1"/>
          </p:cNvSpPr>
          <p:nvPr/>
        </p:nvSpPr>
        <p:spPr>
          <a:xfrm>
            <a:off x="11277600" y="76200"/>
            <a:ext cx="361950" cy="209550"/>
          </a:xfrm>
          <a:prstGeom prst="rect">
            <a:avLst/>
          </a:prstGeom>
          <a:noFill/>
          <a:ln w="0">
            <a:noFill/>
            <a:prstDash val="solid"/>
          </a:ln>
        </p:spPr>
        <p:txBody>
          <a:bodyPr wrap="square" lIns="38100" tIns="19050" rIns="38100" bIns="19050" anchor="ctr">
            <a:normAutofit/>
          </a:bodyPr>
          <a:lstStyle/>
          <a:p>
            <a:pPr algn="r">
              <a:buNone/>
              <a:defRPr sz="1125" b="1" i="0">
                <a:solidFill>
                  <a:srgbClr val="FFFFFF"/>
                </a:solidFill>
                <a:latin typeface="Sofia Sans"/>
                <a:ea typeface="Sofia Sans"/>
                <a:cs typeface="Sofia Sans"/>
              </a:defRPr>
            </a:pPr>
            <a:r>
              <a:rPr sz="1125" b="1" i="0">
                <a:solidFill>
                  <a:srgbClr val="FFFFFF"/>
                </a:solidFill>
                <a:latin typeface="Sofia Sans"/>
                <a:ea typeface="Sofia Sans"/>
                <a:cs typeface="Sofia Sans"/>
              </a:rPr>
              <a:t>107</a:t>
            </a:r>
          </a:p>
        </p:txBody>
      </p:sp>
      <p:sp>
        <p:nvSpPr>
          <p:cNvPr id="8" name="Rectangle 7">
            <a:extLst>
              <a:ext uri="{FF2B5EF4-FFF2-40B4-BE49-F238E27FC236}">
                <a16:creationId xmlns:a16="http://schemas.microsoft.com/office/drawing/2014/main" id="{E580F45E-82E6-4EBF-8D7B-45E949249017}"/>
              </a:ext>
            </a:extLst>
          </p:cNvPr>
          <p:cNvSpPr>
            <a:spLocks noGrp="1"/>
          </p:cNvSpPr>
          <p:nvPr/>
        </p:nvSpPr>
        <p:spPr>
          <a:xfrm>
            <a:off x="609600" y="6191250"/>
            <a:ext cx="10972800" cy="19050"/>
          </a:xfrm>
          <a:prstGeom prst="rect">
            <a:avLst/>
          </a:prstGeom>
          <a:solidFill>
            <a:srgbClr val="75BEE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E42F5D8-86ED-46A1-8AB5-11123C473DBC}"/>
              </a:ext>
            </a:extLst>
          </p:cNvPr>
          <p:cNvSpPr>
            <a:spLocks noGrp="1"/>
          </p:cNvSpPr>
          <p:nvPr/>
        </p:nvSpPr>
        <p:spPr>
          <a:xfrm>
            <a:off x="609600" y="6419850"/>
            <a:ext cx="5715000" cy="228600"/>
          </a:xfrm>
          <a:prstGeom prst="rect">
            <a:avLst/>
          </a:prstGeom>
          <a:noFill/>
          <a:ln w="0">
            <a:noFill/>
            <a:prstDash val="solid"/>
          </a:ln>
        </p:spPr>
        <p:txBody>
          <a:bodyPr wrap="square" lIns="38100" tIns="19050" rIns="38100" bIns="19050" anchor="ctr">
            <a:normAutofit/>
          </a:bodyPr>
          <a:lstStyle/>
          <a:p>
            <a:pPr algn="l">
              <a:buNone/>
              <a:defRPr sz="1050" b="0" i="0">
                <a:solidFill>
                  <a:srgbClr val="7E7E81"/>
                </a:solidFill>
                <a:latin typeface="Sofia Sans"/>
                <a:ea typeface="Sofia Sans"/>
                <a:cs typeface="Sofia Sans"/>
              </a:defRPr>
            </a:pPr>
            <a:r>
              <a:rPr sz="1050" b="0" i="0">
                <a:solidFill>
                  <a:srgbClr val="7E7E81"/>
                </a:solidFill>
                <a:latin typeface="Sofia Sans"/>
                <a:ea typeface="Sofia Sans"/>
                <a:cs typeface="Sofia Sans"/>
              </a:rPr>
              <a:t>Probability and Statistics for Artificial Intelligence</a:t>
            </a:r>
          </a:p>
        </p:txBody>
      </p:sp>
      <p:pic>
        <p:nvPicPr>
          <p:cNvPr id="47" name="Picture 46"/>
          <p:cNvPicPr>
            <a:picLocks noChangeAspect="1"/>
          </p:cNvPicPr>
          <p:nvPr/>
        </p:nvPicPr>
        <p:blipFill>
          <a:blip r:embed="rId3"/>
          <a:stretch/>
        </p:blipFill>
        <p:spPr>
          <a:xfrm>
            <a:off x="9848850" y="6346569"/>
            <a:ext cx="1733550" cy="403738"/>
          </a:xfrm>
          <a:prstGeom prst="rect">
            <a:avLst/>
          </a:prstGeom>
        </p:spPr>
      </p:pic>
      <p:sp>
        <p:nvSpPr>
          <p:cNvPr id="27" name="enrichment-title">
            <a:extLst>
              <a:ext uri="{FF2B5EF4-FFF2-40B4-BE49-F238E27FC236}">
                <a16:creationId xmlns:a16="http://schemas.microsoft.com/office/drawing/2014/main" id="{FC38B900-2DA9-40C3-8978-33BBA0FCCC48}"/>
              </a:ext>
            </a:extLst>
          </p:cNvPr>
          <p:cNvSpPr>
            <a:spLocks noGrp="1"/>
          </p:cNvSpPr>
          <p:nvPr/>
        </p:nvSpPr>
        <p:spPr>
          <a:xfrm>
            <a:off x="609600" y="552450"/>
            <a:ext cx="10972800" cy="514350"/>
          </a:xfrm>
          <a:prstGeom prst="rect">
            <a:avLst/>
          </a:prstGeom>
          <a:noFill/>
          <a:ln w="0">
            <a:noFill/>
            <a:prstDash val="solid"/>
          </a:ln>
        </p:spPr>
        <p:txBody>
          <a:bodyPr wrap="square" lIns="38100" tIns="28575" rIns="38100" bIns="28575" anchor="ctr">
            <a:normAutofit/>
          </a:bodyPr>
          <a:lstStyle/>
          <a:p>
            <a:pPr algn="l">
              <a:lnSpc>
                <a:spcPct val="100000"/>
              </a:lnSpc>
              <a:buNone/>
              <a:defRPr sz="2250" b="1" i="0">
                <a:solidFill>
                  <a:srgbClr val="003B70"/>
                </a:solidFill>
                <a:latin typeface="Arial"/>
                <a:ea typeface="Arial"/>
                <a:cs typeface="Arial"/>
              </a:defRPr>
            </a:pPr>
            <a:r>
              <a:rPr sz="2250" b="1" i="0">
                <a:solidFill>
                  <a:srgbClr val="003B70"/>
                </a:solidFill>
                <a:latin typeface="Arial"/>
                <a:ea typeface="Arial"/>
                <a:cs typeface="Arial"/>
              </a:rPr>
              <a:t>Use official help, then submit evidence that survives a clean run</a:t>
            </a:r>
          </a:p>
        </p:txBody>
      </p:sp>
      <p:sp>
        <p:nvSpPr>
          <p:cNvPr id="28" name="badge-surface">
            <a:extLst>
              <a:ext uri="{FF2B5EF4-FFF2-40B4-BE49-F238E27FC236}">
                <a16:creationId xmlns:a16="http://schemas.microsoft.com/office/drawing/2014/main" id="{3DD21640-8586-4143-ABD1-4BB340285726}"/>
              </a:ext>
            </a:extLst>
          </p:cNvPr>
          <p:cNvSpPr>
            <a:spLocks noGrp="1"/>
          </p:cNvSpPr>
          <p:nvPr/>
        </p:nvSpPr>
        <p:spPr>
          <a:xfrm>
            <a:off x="666750" y="1104900"/>
            <a:ext cx="2238375" cy="285750"/>
          </a:xfrm>
          <a:prstGeom prst="roundRect">
            <a:avLst>
              <a:gd name="adj" fmla="val 50000"/>
            </a:avLst>
          </a:prstGeom>
          <a:solidFill>
            <a:srgbClr val="F05A28"/>
          </a:solidFill>
          <a:ln w="0">
            <a:solidFill>
              <a:srgbClr val="F05A28"/>
            </a:solidFill>
            <a:prstDash val="solid"/>
          </a:ln>
        </p:spPr>
        <p:txBody>
          <a:bodyPr/>
          <a:lstStyle/>
          <a:p>
            <a:endParaRPr lang="en-US"/>
          </a:p>
        </p:txBody>
      </p:sp>
      <p:sp>
        <p:nvSpPr>
          <p:cNvPr id="29" name="badge-label">
            <a:extLst>
              <a:ext uri="{FF2B5EF4-FFF2-40B4-BE49-F238E27FC236}">
                <a16:creationId xmlns:a16="http://schemas.microsoft.com/office/drawing/2014/main" id="{41B34F1E-3F91-4779-8C49-D19D9E046863}"/>
              </a:ext>
            </a:extLst>
          </p:cNvPr>
          <p:cNvSpPr>
            <a:spLocks noGrp="1"/>
          </p:cNvSpPr>
          <p:nvPr/>
        </p:nvSpPr>
        <p:spPr>
          <a:xfrm>
            <a:off x="742950" y="1123950"/>
            <a:ext cx="2085975" cy="247650"/>
          </a:xfrm>
          <a:prstGeom prst="rect">
            <a:avLst/>
          </a:prstGeom>
          <a:noFill/>
          <a:ln w="0">
            <a:noFill/>
            <a:prstDash val="solid"/>
          </a:ln>
        </p:spPr>
        <p:txBody>
          <a:bodyPr wrap="square" lIns="38100" tIns="28575" rIns="38100" bIns="28575" anchor="ctr">
            <a:normAutofit fontScale="96873"/>
          </a:bodyPr>
          <a:lstStyle/>
          <a:p>
            <a:pPr algn="ctr">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RESOURCES · FINAL SELF-CHECK</a:t>
            </a:r>
          </a:p>
        </p:txBody>
      </p:sp>
      <p:sp>
        <p:nvSpPr>
          <p:cNvPr id="30" name="prompt-card">
            <a:extLst>
              <a:ext uri="{FF2B5EF4-FFF2-40B4-BE49-F238E27FC236}">
                <a16:creationId xmlns:a16="http://schemas.microsoft.com/office/drawing/2014/main" id="{33DD8706-A310-4EBC-BE99-A537EE06D2CF}"/>
              </a:ext>
            </a:extLst>
          </p:cNvPr>
          <p:cNvSpPr>
            <a:spLocks noGrp="1"/>
          </p:cNvSpPr>
          <p:nvPr/>
        </p:nvSpPr>
        <p:spPr>
          <a:xfrm>
            <a:off x="666750" y="1504950"/>
            <a:ext cx="10839450" cy="1143000"/>
          </a:xfrm>
          <a:prstGeom prst="roundRect">
            <a:avLst>
              <a:gd name="adj" fmla="val 10000"/>
            </a:avLst>
          </a:prstGeom>
          <a:solidFill>
            <a:srgbClr val="FFF3E8"/>
          </a:solidFill>
          <a:ln w="9525">
            <a:solidFill>
              <a:srgbClr val="F4C6A5"/>
            </a:solidFill>
            <a:prstDash val="solid"/>
          </a:ln>
        </p:spPr>
        <p:txBody>
          <a:bodyPr/>
          <a:lstStyle/>
          <a:p>
            <a:endParaRPr lang="en-US"/>
          </a:p>
        </p:txBody>
      </p:sp>
      <p:sp>
        <p:nvSpPr>
          <p:cNvPr id="31" name="prompt-label">
            <a:extLst>
              <a:ext uri="{FF2B5EF4-FFF2-40B4-BE49-F238E27FC236}">
                <a16:creationId xmlns:a16="http://schemas.microsoft.com/office/drawing/2014/main" id="{1567088A-7C54-47CE-B5AE-9B555937699D}"/>
              </a:ext>
            </a:extLst>
          </p:cNvPr>
          <p:cNvSpPr>
            <a:spLocks noGrp="1"/>
          </p:cNvSpPr>
          <p:nvPr/>
        </p:nvSpPr>
        <p:spPr>
          <a:xfrm>
            <a:off x="895350" y="1657350"/>
            <a:ext cx="1143000" cy="247650"/>
          </a:xfrm>
          <a:prstGeom prst="rect">
            <a:avLst/>
          </a:prstGeom>
          <a:noFill/>
          <a:ln w="0">
            <a:noFill/>
            <a:prstDash val="solid"/>
          </a:ln>
        </p:spPr>
        <p:txBody>
          <a:bodyPr wrap="square" lIns="38100" tIns="28575" rIns="38100" bIns="28575" anchor="ctr">
            <a:normAutofit fontScale="84932"/>
          </a:bodyPr>
          <a:lstStyle/>
          <a:p>
            <a:pPr algn="l">
              <a:lnSpc>
                <a:spcPct val="100000"/>
              </a:lnSpc>
              <a:buNone/>
              <a:defRPr sz="1050" b="1" i="0">
                <a:solidFill>
                  <a:srgbClr val="F05A28"/>
                </a:solidFill>
                <a:latin typeface="Arial"/>
                <a:ea typeface="Arial"/>
                <a:cs typeface="Arial"/>
              </a:defRPr>
            </a:pPr>
            <a:r>
              <a:rPr sz="1050" b="1" i="0">
                <a:solidFill>
                  <a:srgbClr val="F05A28"/>
                </a:solidFill>
                <a:latin typeface="Arial"/>
                <a:ea typeface="Arial"/>
                <a:cs typeface="Arial"/>
              </a:rPr>
              <a:t>WHEN CODE FAILS</a:t>
            </a:r>
          </a:p>
        </p:txBody>
      </p:sp>
      <p:sp>
        <p:nvSpPr>
          <p:cNvPr id="32" name="prompt-copy">
            <a:extLst>
              <a:ext uri="{FF2B5EF4-FFF2-40B4-BE49-F238E27FC236}">
                <a16:creationId xmlns:a16="http://schemas.microsoft.com/office/drawing/2014/main" id="{6D613391-18E7-4E90-8732-6C787529EDF8}"/>
              </a:ext>
            </a:extLst>
          </p:cNvPr>
          <p:cNvSpPr>
            <a:spLocks noGrp="1"/>
          </p:cNvSpPr>
          <p:nvPr/>
        </p:nvSpPr>
        <p:spPr>
          <a:xfrm>
            <a:off x="895350" y="1943100"/>
            <a:ext cx="10363200" cy="571500"/>
          </a:xfrm>
          <a:prstGeom prst="rect">
            <a:avLst/>
          </a:prstGeom>
          <a:noFill/>
          <a:ln w="0">
            <a:noFill/>
            <a:prstDash val="solid"/>
          </a:ln>
        </p:spPr>
        <p:txBody>
          <a:bodyPr wrap="square" lIns="38100" tIns="28575" rIns="38100" bIns="28575" anchor="ctr">
            <a:normAutofit/>
          </a:bodyPr>
          <a:lstStyle/>
          <a:p>
            <a:pPr algn="l">
              <a:lnSpc>
                <a:spcPct val="100000"/>
              </a:lnSpc>
              <a:buNone/>
              <a:defRPr sz="1350" b="0" i="0">
                <a:solidFill>
                  <a:srgbClr val="17324D"/>
                </a:solidFill>
                <a:latin typeface="Arial"/>
                <a:ea typeface="Arial"/>
                <a:cs typeface="Arial"/>
              </a:defRPr>
            </a:pPr>
            <a:r>
              <a:rPr sz="1350" b="0" i="0">
                <a:solidFill>
                  <a:srgbClr val="17324D"/>
                </a:solidFill>
                <a:latin typeface="Arial"/>
                <a:ea typeface="Arial"/>
                <a:cs typeface="Arial"/>
              </a:rPr>
              <a:t>Run the setup cell, inspect type and shape, read the full error, and open the official page for the exact function before changing the analysis.</a:t>
            </a:r>
          </a:p>
        </p:txBody>
      </p:sp>
      <p:sp>
        <p:nvSpPr>
          <p:cNvPr id="33" name="answer-label">
            <a:extLst>
              <a:ext uri="{FF2B5EF4-FFF2-40B4-BE49-F238E27FC236}">
                <a16:creationId xmlns:a16="http://schemas.microsoft.com/office/drawing/2014/main" id="{58A99D1D-E7E7-4EA4-98E6-3675FC2DE57C}"/>
              </a:ext>
            </a:extLst>
          </p:cNvPr>
          <p:cNvSpPr>
            <a:spLocks noGrp="1"/>
          </p:cNvSpPr>
          <p:nvPr/>
        </p:nvSpPr>
        <p:spPr>
          <a:xfrm>
            <a:off x="723900" y="2857500"/>
            <a:ext cx="2190750" cy="285750"/>
          </a:xfrm>
          <a:prstGeom prst="rect">
            <a:avLst/>
          </a:prstGeom>
          <a:noFill/>
          <a:ln w="0">
            <a:noFill/>
            <a:prstDash val="solid"/>
          </a:ln>
        </p:spPr>
        <p:txBody>
          <a:bodyPr wrap="square" lIns="38100" tIns="28575" rIns="38100" bIns="28575" anchor="ctr">
            <a:normAutofit/>
          </a:bodyPr>
          <a:lstStyle/>
          <a:p>
            <a:pPr algn="l">
              <a:lnSpc>
                <a:spcPct val="100000"/>
              </a:lnSpc>
              <a:buNone/>
              <a:defRPr sz="1125" b="1" i="0">
                <a:solidFill>
                  <a:srgbClr val="5A9E3F"/>
                </a:solidFill>
                <a:latin typeface="Arial"/>
                <a:ea typeface="Arial"/>
                <a:cs typeface="Arial"/>
              </a:defRPr>
            </a:pPr>
            <a:r>
              <a:rPr sz="1125" b="1" i="0">
                <a:solidFill>
                  <a:srgbClr val="5A9E3F"/>
                </a:solidFill>
                <a:latin typeface="Arial"/>
                <a:ea typeface="Arial"/>
                <a:cs typeface="Arial"/>
              </a:rPr>
              <a:t>BOOKMARK + SUBMIT</a:t>
            </a:r>
          </a:p>
        </p:txBody>
      </p:sp>
      <p:sp>
        <p:nvSpPr>
          <p:cNvPr id="34" name="answer-card">
            <a:extLst>
              <a:ext uri="{FF2B5EF4-FFF2-40B4-BE49-F238E27FC236}">
                <a16:creationId xmlns:a16="http://schemas.microsoft.com/office/drawing/2014/main" id="{1FBBCC9D-9348-4C47-AB72-E5B58AA573AA}"/>
              </a:ext>
            </a:extLst>
          </p:cNvPr>
          <p:cNvSpPr>
            <a:spLocks noGrp="1"/>
          </p:cNvSpPr>
          <p:nvPr/>
        </p:nvSpPr>
        <p:spPr>
          <a:xfrm>
            <a:off x="666750" y="3181350"/>
            <a:ext cx="10839450" cy="2381250"/>
          </a:xfrm>
          <a:prstGeom prst="roundRect">
            <a:avLst>
              <a:gd name="adj" fmla="val 4800"/>
            </a:avLst>
          </a:prstGeom>
          <a:solidFill>
            <a:srgbClr val="EAF6EE"/>
          </a:solidFill>
          <a:ln w="9525">
            <a:solidFill>
              <a:srgbClr val="B7D6C0"/>
            </a:solidFill>
            <a:prstDash val="solid"/>
          </a:ln>
        </p:spPr>
        <p:txBody>
          <a:bodyPr/>
          <a:lstStyle/>
          <a:p>
            <a:endParaRPr lang="en-US"/>
          </a:p>
        </p:txBody>
      </p:sp>
      <p:sp>
        <p:nvSpPr>
          <p:cNvPr id="35" name="answer-copy">
            <a:extLst>
              <a:ext uri="{FF2B5EF4-FFF2-40B4-BE49-F238E27FC236}">
                <a16:creationId xmlns:a16="http://schemas.microsoft.com/office/drawing/2014/main" id="{04D61DB9-1628-4C6C-A1B2-E1245D1FC96C}"/>
              </a:ext>
            </a:extLst>
          </p:cNvPr>
          <p:cNvSpPr>
            <a:spLocks noGrp="1"/>
          </p:cNvSpPr>
          <p:nvPr/>
        </p:nvSpPr>
        <p:spPr>
          <a:xfrm>
            <a:off x="952500" y="3390900"/>
            <a:ext cx="10287000" cy="2000250"/>
          </a:xfrm>
          <a:prstGeom prst="rect">
            <a:avLst/>
          </a:prstGeom>
          <a:noFill/>
          <a:ln w="0">
            <a:noFill/>
            <a:prstDash val="solid"/>
          </a:ln>
        </p:spPr>
        <p:txBody>
          <a:bodyPr wrap="square" lIns="38100" tIns="28575" rIns="38100" bIns="28575" anchor="t">
            <a:normAutofit/>
          </a:bodyPr>
          <a:lstStyle/>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Jupyter basics: jupyter-notebook.readthedocs.io/en/stable/notebook.html</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NumPy basics: numpy.org/doc/stable/user/absolute_beginners.html</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SciPy distributions: docs.scipy.org/doc/scipy/reference/stats.html</a:t>
            </a:r>
          </a:p>
          <a:p>
            <a:endParaRPr sz="1500" b="0" i="0">
              <a:solidFill>
                <a:srgbClr val="17324D"/>
              </a:solidFill>
              <a:latin typeface="Arial"/>
              <a:ea typeface="Arial"/>
              <a:cs typeface="Arial"/>
            </a:endParaRPr>
          </a:p>
          <a:p>
            <a:pPr algn="l">
              <a:lnSpc>
                <a:spcPct val="102000"/>
              </a:lnSpc>
              <a:buNone/>
              <a:defRPr sz="1500" b="0" i="0">
                <a:solidFill>
                  <a:srgbClr val="17324D"/>
                </a:solidFill>
                <a:latin typeface="Arial"/>
                <a:ea typeface="Arial"/>
                <a:cs typeface="Arial"/>
              </a:defRPr>
            </a:pPr>
            <a:r>
              <a:rPr sz="1500" b="0" i="0">
                <a:solidFill>
                  <a:srgbClr val="17324D"/>
                </a:solidFill>
                <a:latin typeface="Arial"/>
                <a:ea typeface="Arial"/>
                <a:cs typeface="Arial"/>
              </a:rPr>
              <a:t>• Restart, run all, inspect 18 responses, export as Canvas requires, reopen, and upload.</a:t>
            </a:r>
          </a:p>
        </p:txBody>
      </p:sp>
      <p:sp>
        <p:nvSpPr>
          <p:cNvPr id="36" name="visible-source">
            <a:extLst>
              <a:ext uri="{FF2B5EF4-FFF2-40B4-BE49-F238E27FC236}">
                <a16:creationId xmlns:a16="http://schemas.microsoft.com/office/drawing/2014/main" id="{3C555690-A818-4AA1-9DF3-0F943455DDA5}"/>
              </a:ext>
            </a:extLst>
          </p:cNvPr>
          <p:cNvSpPr>
            <a:spLocks noGrp="1"/>
          </p:cNvSpPr>
          <p:nvPr/>
        </p:nvSpPr>
        <p:spPr>
          <a:xfrm>
            <a:off x="666750" y="5886450"/>
            <a:ext cx="10668000" cy="228600"/>
          </a:xfrm>
          <a:prstGeom prst="rect">
            <a:avLst/>
          </a:prstGeom>
          <a:noFill/>
          <a:ln w="0">
            <a:noFill/>
            <a:prstDash val="solid"/>
          </a:ln>
        </p:spPr>
        <p:txBody>
          <a:bodyPr wrap="square" lIns="38100" tIns="28575" rIns="38100" bIns="28575" anchor="ctr">
            <a:normAutofit/>
          </a:bodyPr>
          <a:lstStyle/>
          <a:p>
            <a:pPr algn="l">
              <a:lnSpc>
                <a:spcPct val="100000"/>
              </a:lnSpc>
              <a:buNone/>
              <a:defRPr sz="900" b="0" i="1">
                <a:solidFill>
                  <a:srgbClr val="5E7184"/>
                </a:solidFill>
                <a:latin typeface="Arial"/>
                <a:ea typeface="Arial"/>
                <a:cs typeface="Arial"/>
              </a:defRPr>
            </a:pPr>
            <a:r>
              <a:rPr sz="900" b="0" i="1">
                <a:solidFill>
                  <a:srgbClr val="5E7184"/>
                </a:solidFill>
                <a:latin typeface="Arial"/>
                <a:ea typeface="Arial"/>
                <a:cs typeface="Arial"/>
              </a:rPr>
              <a:t>Source: Official Jupyter, Python, NumPy, SciPy, and Matplotlib guides</a:t>
            </a:r>
          </a:p>
        </p:txBody>
      </p:sp>
    </p:spTree>
    <p:extLst>
      <p:ext uri="{BB962C8B-B14F-4D97-AF65-F5344CB8AC3E}">
        <p14:creationId xmlns:p14="http://schemas.microsoft.com/office/powerpoint/2010/main" val="1663347503"/>
      </p:ext>
    </p:extLst>
  </p:cSld>
  <p:clrMapOvr>
    <a:masterClrMapping/>
  </p:clrMapOvr>
</p:sld>
</file>

<file path=ppt/theme/theme1.xml><?xml version="1.0" encoding="utf-8"?>
<a:theme xmlns:a="http://schemas.openxmlformats.org/drawingml/2006/main" name="ChatGPT">
  <a:themeElements>
    <a:clrScheme name="University of San Diego 2026">
      <a:dk1>
        <a:srgbClr val="000000"/>
      </a:dk1>
      <a:lt1>
        <a:srgbClr val="FFFFFF"/>
      </a:lt1>
      <a:dk2>
        <a:srgbClr val="003B70"/>
      </a:dk2>
      <a:lt2>
        <a:srgbClr val="E9EAEC"/>
      </a:lt2>
      <a:accent1>
        <a:srgbClr val="003B70"/>
      </a:accent1>
      <a:accent2>
        <a:srgbClr val="0074C8"/>
      </a:accent2>
      <a:accent3>
        <a:srgbClr val="75BEE9"/>
      </a:accent3>
      <a:accent4>
        <a:srgbClr val="00A4B3"/>
      </a:accent4>
      <a:accent5>
        <a:srgbClr val="F2650D"/>
      </a:accent5>
      <a:accent6>
        <a:srgbClr val="6AA14A"/>
      </a:accent6>
      <a:hlink>
        <a:srgbClr val="0074C8"/>
      </a:hlink>
      <a:folHlink>
        <a:srgbClr val="5B3A8C"/>
      </a:folHlink>
    </a:clrScheme>
    <a:fontScheme name="Office">
      <a:majorFont>
        <a:latin typeface="Calibri Light"/>
        <a:ea typeface="Calibri Light"/>
        <a:cs typeface="Calibri Light"/>
      </a:majorFont>
      <a:minorFont>
        <a:latin typeface="Calibri"/>
        <a:ea typeface="Calibri"/>
        <a:cs typeface="Calibri"/>
      </a:minorFont>
    </a:fontScheme>
    <a:fmtScheme name="University of San Diego 2026">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University of San Diego 2026">
      <a:dk1>
        <a:srgbClr val="000000"/>
      </a:dk1>
      <a:lt1>
        <a:srgbClr val="FFFFFF"/>
      </a:lt1>
      <a:dk2>
        <a:srgbClr val="003B70"/>
      </a:dk2>
      <a:lt2>
        <a:srgbClr val="E9EAEC"/>
      </a:lt2>
      <a:accent1>
        <a:srgbClr val="003B70"/>
      </a:accent1>
      <a:accent2>
        <a:srgbClr val="0074C8"/>
      </a:accent2>
      <a:accent3>
        <a:srgbClr val="75BEE9"/>
      </a:accent3>
      <a:accent4>
        <a:srgbClr val="00A4B3"/>
      </a:accent4>
      <a:accent5>
        <a:srgbClr val="F2650D"/>
      </a:accent5>
      <a:accent6>
        <a:srgbClr val="6AA14A"/>
      </a:accent6>
      <a:hlink>
        <a:srgbClr val="0074C8"/>
      </a:hlink>
      <a:folHlink>
        <a:srgbClr val="5B3A8C"/>
      </a:folHlink>
    </a:clrScheme>
    <a:fontScheme name="Office">
      <a:majorFont>
        <a:latin typeface="Calibri Light"/>
        <a:ea typeface="Calibri Light"/>
        <a:cs typeface="Calibri Light"/>
      </a:majorFont>
      <a:minorFont>
        <a:latin typeface="Calibri"/>
        <a:ea typeface="Calibri"/>
        <a:cs typeface="Calibri"/>
      </a:minorFont>
    </a:fontScheme>
    <a:fmtScheme name="University of San Diego 2026">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10238</Words>
  <Application>Microsoft Macintosh PowerPoint</Application>
  <DocSecurity>0</DocSecurity>
  <PresentationFormat>Widescreen</PresentationFormat>
  <Paragraphs>1699</Paragraphs>
  <Slides>54</Slides>
  <Notes>54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Aptos Mono</vt:lpstr>
      <vt:lpstr>Arial</vt:lpstr>
      <vt:lpstr>Calibri</vt:lpstr>
      <vt:lpstr>Sofia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
  <dc:creator/>
  <cp:keywords/>
  <dc:description/>
  <cp:lastModifiedBy>Daniel Smith</cp:lastModifiedBy>
  <cp:revision>1</cp:revision>
  <dcterms:created xsi:type="dcterms:W3CDTF">2026-09-07T20:50:57Z</dcterms:created>
  <dcterms:modified xsi:type="dcterms:W3CDTF">2026-09-14T16:30:10Z</dcterms:modified>
  <cp:category/>
</cp:coreProperties>
</file>