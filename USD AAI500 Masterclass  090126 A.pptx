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C1F06E8-D50B-4784-AB83-0D2E73EA27C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30000" y="164592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E2FAC22-8DD0-4E44-97D6-AC853FEDCE6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30000" y="164592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B71A386-44BF-4640-AC14-0218571BF87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30000" y="164592"/>
            <a:ext cx="320040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3AE7A9-8C67-4AEB-9804-B956EEFF55F7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LIVE SAMPLE CLASS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576E2D-20E2-4D86-8E07-75C29F4089BD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E399B2-68C2-4D29-9834-22350C838288}"/>
              </a:ext>
            </a:extLst>
          </p:cNvPr>
          <p:cNvSpPr>
            <a:spLocks noGrp="1"/>
          </p:cNvSpPr>
          <p:nvPr/>
        </p:nvSpPr>
        <p:spPr>
          <a:xfrm>
            <a:off x="566928" y="713232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103B50"/>
          </a:solidFill>
          <a:ln w="12700">
            <a:solidFill>
              <a:srgbClr val="103B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1D7DDC-F63A-4897-B533-67057F572BA3}"/>
              </a:ext>
            </a:extLst>
          </p:cNvPr>
          <p:cNvSpPr>
            <a:spLocks noGrp="1"/>
          </p:cNvSpPr>
          <p:nvPr/>
        </p:nvSpPr>
        <p:spPr>
          <a:xfrm>
            <a:off x="640080" y="763524"/>
            <a:ext cx="154533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AAI 500 MASTERCLASS</a:t>
            </a:r>
            <a:endParaRPr sz="82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F46246-BFD5-4F02-9D74-D1253D2CB8CC}"/>
              </a:ext>
            </a:extLst>
          </p:cNvPr>
          <p:cNvSpPr>
            <a:spLocks noGrp="1"/>
          </p:cNvSpPr>
          <p:nvPr/>
        </p:nvSpPr>
        <p:spPr>
          <a:xfrm>
            <a:off x="566928" y="1234440"/>
            <a:ext cx="59893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Should AI Block</a:t>
            </a:r>
            <a:endParaRPr sz="3700"/>
          </a:p>
          <a:p>
            <a:pPr marL="0" indent="0">
              <a:buNone/>
            </a:pPr>
            <a:r>
              <a:rPr sz="3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Payment?</a:t>
            </a:r>
            <a:endParaRPr sz="3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7688962-39F9-4C3D-A66B-9875AD277387}"/>
              </a:ext>
            </a:extLst>
          </p:cNvPr>
          <p:cNvSpPr>
            <a:spLocks noGrp="1"/>
          </p:cNvSpPr>
          <p:nvPr/>
        </p:nvSpPr>
        <p:spPr>
          <a:xfrm>
            <a:off x="594360" y="2852928"/>
            <a:ext cx="58521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B8D6E4"/>
                </a:solidFill>
                <a:latin typeface="Arial"/>
                <a:ea typeface="Arial"/>
                <a:cs typeface="Arial"/>
              </a:rPr>
              <a:t>How probability, statistics, and Python turn a risk score into a decision you can defend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A3B5FF-F9F9-409C-A98F-5F2438ADDEE2}"/>
              </a:ext>
            </a:extLst>
          </p:cNvPr>
          <p:cNvSpPr>
            <a:spLocks noGrp="1"/>
          </p:cNvSpPr>
          <p:nvPr/>
        </p:nvSpPr>
        <p:spPr>
          <a:xfrm>
            <a:off x="594360" y="4937760"/>
            <a:ext cx="5349240" cy="502920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>
              <a:buNone/>
            </a:pPr>
            <a:r>
              <a:rPr sz="1020">
                <a:solidFill>
                  <a:srgbClr val="A7C7D8"/>
                </a:solidFill>
                <a:latin typeface="Arial"/>
                <a:ea typeface="Arial"/>
                <a:cs typeface="Arial"/>
              </a:rPr>
              <a:t>Daniel Smith, PhD, MBA</a:t>
            </a:r>
            <a:endParaRPr sz="1020"/>
          </a:p>
          <a:p>
            <a:pPr marL="0" indent="0">
              <a:buNone/>
            </a:pPr>
            <a:r>
              <a:rPr sz="1020">
                <a:solidFill>
                  <a:srgbClr val="A7C7D8"/>
                </a:solidFill>
                <a:latin typeface="Arial"/>
                <a:ea typeface="Arial"/>
                <a:cs typeface="Arial"/>
              </a:rPr>
              <a:t>University of San Diego  •  Applied Artificial Intelligence</a:t>
            </a:r>
            <a:endParaRPr sz="102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88054D6-8725-4CCA-9E67-55819F7E405A}"/>
              </a:ext>
            </a:extLst>
          </p:cNvPr>
          <p:cNvSpPr>
            <a:spLocks noGrp="1"/>
          </p:cNvSpPr>
          <p:nvPr/>
        </p:nvSpPr>
        <p:spPr>
          <a:xfrm>
            <a:off x="6903720" y="1005840"/>
            <a:ext cx="4434840" cy="4251960"/>
          </a:xfrm>
          <a:prstGeom prst="roundRect">
            <a:avLst>
              <a:gd name="adj" fmla="val 2151"/>
            </a:avLst>
          </a:prstGeom>
          <a:solidFill>
            <a:srgbClr val="0B304B"/>
          </a:solidFill>
          <a:ln w="15240">
            <a:solidFill>
              <a:srgbClr val="2B60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BFBD0EF-4259-465E-A752-7077D10E8B78}"/>
              </a:ext>
            </a:extLst>
          </p:cNvPr>
          <p:cNvSpPr>
            <a:spLocks noGrp="1"/>
          </p:cNvSpPr>
          <p:nvPr/>
        </p:nvSpPr>
        <p:spPr>
          <a:xfrm>
            <a:off x="7223760" y="135331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100">
                <a:solidFill>
                  <a:srgbClr val="8FD6E4"/>
                </a:solidFill>
                <a:latin typeface="Arial"/>
                <a:ea typeface="Arial"/>
                <a:cs typeface="Arial"/>
              </a:rPr>
              <a:t>PAYMENT REVIEW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E469249-32FD-4DF7-8BC1-47B232B8B5D3}"/>
              </a:ext>
            </a:extLst>
          </p:cNvPr>
          <p:cNvSpPr>
            <a:spLocks noGrp="1"/>
          </p:cNvSpPr>
          <p:nvPr/>
        </p:nvSpPr>
        <p:spPr>
          <a:xfrm>
            <a:off x="7223760" y="1755648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INR 50,000</a:t>
            </a:r>
            <a:endParaRPr sz="31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7FAD73-059B-4440-BF04-24BF15D16E9D}"/>
              </a:ext>
            </a:extLst>
          </p:cNvPr>
          <p:cNvSpPr>
            <a:spLocks noGrp="1"/>
          </p:cNvSpPr>
          <p:nvPr/>
        </p:nvSpPr>
        <p:spPr>
          <a:xfrm>
            <a:off x="7242048" y="241401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B8D6E4"/>
                </a:solidFill>
                <a:latin typeface="Arial"/>
                <a:ea typeface="Arial"/>
                <a:cs typeface="Arial"/>
              </a:rPr>
              <a:t>New phone  •  Travel context  •  Known merchant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C3B75F-5053-478A-9B01-1E94DE9FDC83}"/>
              </a:ext>
            </a:extLst>
          </p:cNvPr>
          <p:cNvSpPr>
            <a:spLocks noGrp="1"/>
          </p:cNvSpPr>
          <p:nvPr/>
        </p:nvSpPr>
        <p:spPr>
          <a:xfrm>
            <a:off x="7269480" y="2907792"/>
            <a:ext cx="3611880" cy="0"/>
          </a:xfrm>
          <a:prstGeom prst="line">
            <a:avLst/>
          </a:prstGeom>
          <a:noFill/>
          <a:ln w="12700">
            <a:solidFill>
              <a:srgbClr val="2B60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4545F5-46A7-4F7C-A3FA-1A3EACA172DA}"/>
              </a:ext>
            </a:extLst>
          </p:cNvPr>
          <p:cNvSpPr>
            <a:spLocks noGrp="1"/>
          </p:cNvSpPr>
          <p:nvPr/>
        </p:nvSpPr>
        <p:spPr>
          <a:xfrm>
            <a:off x="7242048" y="318211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8FD6E4"/>
                </a:solidFill>
                <a:latin typeface="Arial"/>
                <a:ea typeface="Arial"/>
                <a:cs typeface="Arial"/>
              </a:rPr>
              <a:t>MODEL RISK SCORE</a:t>
            </a:r>
            <a:endParaRPr sz="8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067F4F-DF7D-4F80-BADA-668C08838CCB}"/>
              </a:ext>
            </a:extLst>
          </p:cNvPr>
          <p:cNvSpPr>
            <a:spLocks noGrp="1"/>
          </p:cNvSpPr>
          <p:nvPr/>
        </p:nvSpPr>
        <p:spPr>
          <a:xfrm>
            <a:off x="7223760" y="3429000"/>
            <a:ext cx="146304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3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0.82</a:t>
            </a:r>
            <a:endParaRPr sz="43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7E72454-EBAB-441B-B555-73A60FAAA144}"/>
              </a:ext>
            </a:extLst>
          </p:cNvPr>
          <p:cNvSpPr>
            <a:spLocks noGrp="1"/>
          </p:cNvSpPr>
          <p:nvPr/>
        </p:nvSpPr>
        <p:spPr>
          <a:xfrm>
            <a:off x="8869680" y="3273552"/>
            <a:ext cx="1874520" cy="384048"/>
          </a:xfrm>
          <a:prstGeom prst="roundRect">
            <a:avLst>
              <a:gd name="adj" fmla="val 9524"/>
            </a:avLst>
          </a:prstGeom>
          <a:solidFill>
            <a:srgbClr val="102C40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14CBBD3-3BE7-473F-AFD1-D2B50BA310DB}"/>
              </a:ext>
            </a:extLst>
          </p:cNvPr>
          <p:cNvSpPr>
            <a:spLocks noGrp="1"/>
          </p:cNvSpPr>
          <p:nvPr/>
        </p:nvSpPr>
        <p:spPr>
          <a:xfrm>
            <a:off x="8979408" y="3374136"/>
            <a:ext cx="164592" cy="16459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963A260-6480-467F-B082-154461C7CFB1}"/>
              </a:ext>
            </a:extLst>
          </p:cNvPr>
          <p:cNvSpPr>
            <a:spLocks noGrp="1"/>
          </p:cNvSpPr>
          <p:nvPr/>
        </p:nvSpPr>
        <p:spPr>
          <a:xfrm>
            <a:off x="9235440" y="3378708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</a:t>
            </a:r>
            <a:endParaRPr sz="9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428651D-4BD5-4933-B3D3-5B9D9108D20F}"/>
              </a:ext>
            </a:extLst>
          </p:cNvPr>
          <p:cNvSpPr>
            <a:spLocks noGrp="1"/>
          </p:cNvSpPr>
          <p:nvPr/>
        </p:nvSpPr>
        <p:spPr>
          <a:xfrm>
            <a:off x="8869680" y="3822192"/>
            <a:ext cx="1874520" cy="384048"/>
          </a:xfrm>
          <a:prstGeom prst="roundRect">
            <a:avLst>
              <a:gd name="adj" fmla="val 9524"/>
            </a:avLst>
          </a:prstGeom>
          <a:solidFill>
            <a:srgbClr val="102C40"/>
          </a:solidFill>
          <a:ln w="1524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4808720-48BB-4225-A645-AC58C92F7264}"/>
              </a:ext>
            </a:extLst>
          </p:cNvPr>
          <p:cNvSpPr>
            <a:spLocks noGrp="1"/>
          </p:cNvSpPr>
          <p:nvPr/>
        </p:nvSpPr>
        <p:spPr>
          <a:xfrm>
            <a:off x="8979408" y="3922776"/>
            <a:ext cx="164592" cy="164592"/>
          </a:xfrm>
          <a:prstGeom prst="ellipse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8919488-CA88-4B88-B83C-85D61764DC08}"/>
              </a:ext>
            </a:extLst>
          </p:cNvPr>
          <p:cNvSpPr>
            <a:spLocks noGrp="1"/>
          </p:cNvSpPr>
          <p:nvPr/>
        </p:nvSpPr>
        <p:spPr>
          <a:xfrm>
            <a:off x="9235440" y="3927348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  <a:endParaRPr sz="9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D475141-A640-4918-B30E-724A58737426}"/>
              </a:ext>
            </a:extLst>
          </p:cNvPr>
          <p:cNvSpPr>
            <a:spLocks noGrp="1"/>
          </p:cNvSpPr>
          <p:nvPr/>
        </p:nvSpPr>
        <p:spPr>
          <a:xfrm>
            <a:off x="8869680" y="4370832"/>
            <a:ext cx="1874520" cy="384048"/>
          </a:xfrm>
          <a:prstGeom prst="roundRect">
            <a:avLst>
              <a:gd name="adj" fmla="val 9524"/>
            </a:avLst>
          </a:prstGeom>
          <a:solidFill>
            <a:srgbClr val="102C40"/>
          </a:solidFill>
          <a:ln w="1524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A0C9BEE-396B-403C-B847-5AD90311E1B3}"/>
              </a:ext>
            </a:extLst>
          </p:cNvPr>
          <p:cNvSpPr>
            <a:spLocks noGrp="1"/>
          </p:cNvSpPr>
          <p:nvPr/>
        </p:nvSpPr>
        <p:spPr>
          <a:xfrm>
            <a:off x="8979408" y="4471416"/>
            <a:ext cx="164592" cy="164592"/>
          </a:xfrm>
          <a:prstGeom prst="ellipse">
            <a:avLst/>
          </a:prstGeom>
          <a:solidFill>
            <a:srgbClr val="C7483C"/>
          </a:solidFill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148C987-E6EE-4D69-8F2C-40A4085C9084}"/>
              </a:ext>
            </a:extLst>
          </p:cNvPr>
          <p:cNvSpPr>
            <a:spLocks noGrp="1"/>
          </p:cNvSpPr>
          <p:nvPr/>
        </p:nvSpPr>
        <p:spPr>
          <a:xfrm>
            <a:off x="9235440" y="4475988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  <a:endParaRPr sz="95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AE8F64E-4455-4555-B804-DEFCE6874F3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AD75FED6-38D0-DE9C-92C0-6E7FA635581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420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E6AC18-9988-46CF-AAEC-ABE1CEE0A6D9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MEET YOUR INSTRUCTOR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6D735A-7DB0-4CE6-8558-E4CA7DE227B6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909826-696B-45E4-B44C-B46C27F7AFD9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Meet Daniel Smith, PhD, MBA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29CE54-D942-485E-A629-28CC9B14EA93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Applied AI educator and analytics leader</a:t>
            </a:r>
            <a:endParaRPr sz="11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36E4375-2AE8-4924-8F3B-EBE80D57129F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50292" cy="4370832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64CBA1F-1A44-447C-AE66-94AAF5627220}"/>
              </a:ext>
            </a:extLst>
          </p:cNvPr>
          <p:cNvSpPr>
            <a:spLocks noGrp="1"/>
          </p:cNvSpPr>
          <p:nvPr/>
        </p:nvSpPr>
        <p:spPr>
          <a:xfrm>
            <a:off x="4617720" y="1664208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F8F39D-EF0B-4915-91CA-83DD634DA9CF}"/>
              </a:ext>
            </a:extLst>
          </p:cNvPr>
          <p:cNvSpPr>
            <a:spLocks noGrp="1"/>
          </p:cNvSpPr>
          <p:nvPr/>
        </p:nvSpPr>
        <p:spPr>
          <a:xfrm>
            <a:off x="4828032" y="1847088"/>
            <a:ext cx="246888" cy="2468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2566996-C7C9-48C8-9890-CF0D68EC2609}"/>
              </a:ext>
            </a:extLst>
          </p:cNvPr>
          <p:cNvSpPr>
            <a:spLocks noGrp="1"/>
          </p:cNvSpPr>
          <p:nvPr/>
        </p:nvSpPr>
        <p:spPr>
          <a:xfrm>
            <a:off x="5239512" y="1773936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USD AAI faculty</a:t>
            </a:r>
            <a:endParaRPr sz="122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BBCE405-9BE6-49DD-9C51-7DEC56B252AF}"/>
              </a:ext>
            </a:extLst>
          </p:cNvPr>
          <p:cNvSpPr>
            <a:spLocks noGrp="1"/>
          </p:cNvSpPr>
          <p:nvPr/>
        </p:nvSpPr>
        <p:spPr>
          <a:xfrm>
            <a:off x="6812280" y="1783080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MS in Applied Artificial Intelligence</a:t>
            </a:r>
            <a:endParaRPr sz="107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87C56BF-D0F0-4A78-93B1-1C5EB5977ECE}"/>
              </a:ext>
            </a:extLst>
          </p:cNvPr>
          <p:cNvSpPr>
            <a:spLocks noGrp="1"/>
          </p:cNvSpPr>
          <p:nvPr/>
        </p:nvSpPr>
        <p:spPr>
          <a:xfrm>
            <a:off x="4617720" y="2468880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57349D4-631B-4248-8ECD-24504751819C}"/>
              </a:ext>
            </a:extLst>
          </p:cNvPr>
          <p:cNvSpPr>
            <a:spLocks noGrp="1"/>
          </p:cNvSpPr>
          <p:nvPr/>
        </p:nvSpPr>
        <p:spPr>
          <a:xfrm>
            <a:off x="4828032" y="2651760"/>
            <a:ext cx="246888" cy="24688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16B314-B9D2-40B4-AD6A-14A9B91F2C4D}"/>
              </a:ext>
            </a:extLst>
          </p:cNvPr>
          <p:cNvSpPr>
            <a:spLocks noGrp="1"/>
          </p:cNvSpPr>
          <p:nvPr/>
        </p:nvSpPr>
        <p:spPr>
          <a:xfrm>
            <a:off x="5239512" y="2578608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Analytics leader</a:t>
            </a:r>
            <a:endParaRPr sz="122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9ED508B-F824-4904-AD0E-5900D832CC3A}"/>
              </a:ext>
            </a:extLst>
          </p:cNvPr>
          <p:cNvSpPr>
            <a:spLocks noGrp="1"/>
          </p:cNvSpPr>
          <p:nvPr/>
        </p:nvSpPr>
        <p:spPr>
          <a:xfrm>
            <a:off x="6812280" y="2587752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Director-level experience</a:t>
            </a:r>
            <a:endParaRPr sz="107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2D15F61-D998-4960-A11B-44CB5E21C3DB}"/>
              </a:ext>
            </a:extLst>
          </p:cNvPr>
          <p:cNvSpPr>
            <a:spLocks noGrp="1"/>
          </p:cNvSpPr>
          <p:nvPr/>
        </p:nvSpPr>
        <p:spPr>
          <a:xfrm>
            <a:off x="4617720" y="3273552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7D15B6E-A6F2-46FC-AE76-168381E54BEA}"/>
              </a:ext>
            </a:extLst>
          </p:cNvPr>
          <p:cNvSpPr>
            <a:spLocks noGrp="1"/>
          </p:cNvSpPr>
          <p:nvPr/>
        </p:nvSpPr>
        <p:spPr>
          <a:xfrm>
            <a:off x="4828032" y="3456432"/>
            <a:ext cx="246888" cy="246888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ABD17C5-F181-48C7-B302-7A7101C7A8EC}"/>
              </a:ext>
            </a:extLst>
          </p:cNvPr>
          <p:cNvSpPr>
            <a:spLocks noGrp="1"/>
          </p:cNvSpPr>
          <p:nvPr/>
        </p:nvSpPr>
        <p:spPr>
          <a:xfrm>
            <a:off x="5239512" y="338328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Teaching</a:t>
            </a:r>
            <a:endParaRPr sz="122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01BE728-367D-4324-9533-DD980E53F94E}"/>
              </a:ext>
            </a:extLst>
          </p:cNvPr>
          <p:cNvSpPr>
            <a:spLocks noGrp="1"/>
          </p:cNvSpPr>
          <p:nvPr/>
        </p:nvSpPr>
        <p:spPr>
          <a:xfrm>
            <a:off x="6812280" y="3392424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28 years of experience</a:t>
            </a:r>
            <a:endParaRPr sz="107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64AD6BD-B214-4B5E-8350-97B9124BB0E4}"/>
              </a:ext>
            </a:extLst>
          </p:cNvPr>
          <p:cNvSpPr>
            <a:spLocks noGrp="1"/>
          </p:cNvSpPr>
          <p:nvPr/>
        </p:nvSpPr>
        <p:spPr>
          <a:xfrm>
            <a:off x="4617720" y="4078224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6438F0E-29EA-43A4-8DBA-CEE1BC76656C}"/>
              </a:ext>
            </a:extLst>
          </p:cNvPr>
          <p:cNvSpPr>
            <a:spLocks noGrp="1"/>
          </p:cNvSpPr>
          <p:nvPr/>
        </p:nvSpPr>
        <p:spPr>
          <a:xfrm>
            <a:off x="4828032" y="4261104"/>
            <a:ext cx="246888" cy="246888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1D8A6D4-BE80-486E-A536-EBEE9F996929}"/>
              </a:ext>
            </a:extLst>
          </p:cNvPr>
          <p:cNvSpPr>
            <a:spLocks noGrp="1"/>
          </p:cNvSpPr>
          <p:nvPr/>
        </p:nvSpPr>
        <p:spPr>
          <a:xfrm>
            <a:off x="5239512" y="418795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Arizona State</a:t>
            </a:r>
            <a:endParaRPr sz="122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325916F-D100-47DB-AA75-300BE7BB63ED}"/>
              </a:ext>
            </a:extLst>
          </p:cNvPr>
          <p:cNvSpPr>
            <a:spLocks noGrp="1"/>
          </p:cNvSpPr>
          <p:nvPr/>
        </p:nvSpPr>
        <p:spPr>
          <a:xfrm>
            <a:off x="6812280" y="4197096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PhD and MBA</a:t>
            </a:r>
            <a:endParaRPr sz="107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16C2320-74AA-4A47-9CBB-92DC40CCDAB0}"/>
              </a:ext>
            </a:extLst>
          </p:cNvPr>
          <p:cNvSpPr>
            <a:spLocks noGrp="1"/>
          </p:cNvSpPr>
          <p:nvPr/>
        </p:nvSpPr>
        <p:spPr>
          <a:xfrm>
            <a:off x="4617720" y="4882896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D3D4AA3-3E4B-4556-B8A0-BC745E2A9B6C}"/>
              </a:ext>
            </a:extLst>
          </p:cNvPr>
          <p:cNvSpPr>
            <a:spLocks noGrp="1"/>
          </p:cNvSpPr>
          <p:nvPr/>
        </p:nvSpPr>
        <p:spPr>
          <a:xfrm>
            <a:off x="4828032" y="5065776"/>
            <a:ext cx="246888" cy="246888"/>
          </a:xfrm>
          <a:prstGeom prst="ellipse">
            <a:avLst/>
          </a:prstGeom>
          <a:solidFill>
            <a:srgbClr val="C7483C"/>
          </a:solidFill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BFE31D5-A301-47FA-9C1D-2A2C942D8604}"/>
              </a:ext>
            </a:extLst>
          </p:cNvPr>
          <p:cNvSpPr>
            <a:spLocks noGrp="1"/>
          </p:cNvSpPr>
          <p:nvPr/>
        </p:nvSpPr>
        <p:spPr>
          <a:xfrm>
            <a:off x="5239512" y="499262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Harvard + Stanford</a:t>
            </a:r>
            <a:endParaRPr sz="122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7E371B1-A4D6-4F94-B485-B6C9B4DFA794}"/>
              </a:ext>
            </a:extLst>
          </p:cNvPr>
          <p:cNvSpPr>
            <a:spLocks noGrp="1"/>
          </p:cNvSpPr>
          <p:nvPr/>
        </p:nvSpPr>
        <p:spPr>
          <a:xfrm>
            <a:off x="6812280" y="5001768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Recent AI executive development courses</a:t>
            </a:r>
            <a:endParaRPr sz="1070"/>
          </a:p>
        </p:txBody>
      </p:sp>
      <p:pic>
        <p:nvPicPr>
          <p:cNvPr id="6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37" name="Slide Number Placeholder 0">
            <a:extLst>
              <a:ext uri="{FF2B5EF4-FFF2-40B4-BE49-F238E27FC236}">
                <a16:creationId xmlns:a16="http://schemas.microsoft.com/office/drawing/2014/main" id="{D595C101-DCD4-4341-A96F-DA85931FF3A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rcRect l="7877" r="7877"/>
          <a:stretch>
            <a:fillRect/>
          </a:stretch>
        </p:blipFill>
        <p:spPr>
          <a:xfrm>
            <a:off x="658368" y="1600200"/>
            <a:ext cx="3520440" cy="4178808"/>
          </a:xfrm>
          <a:prstGeom prst="roundRect">
            <a:avLst>
              <a:gd name="adj" fmla="val 3247"/>
            </a:avLst>
          </a:prstGeom>
        </p:spPr>
      </p:pic>
    </p:spTree>
    <p:extLst>
      <p:ext uri="{BB962C8B-B14F-4D97-AF65-F5344CB8AC3E}">
        <p14:creationId xmlns:p14="http://schemas.microsoft.com/office/powerpoint/2010/main" val="184361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0F4592-B04C-4796-8E6D-BAE449A9FD88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OPENING POLL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EF80F3-C981-4B4C-80D9-B51556337CF6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89CB37-7F02-48DB-AEAC-3B114F824E62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 payment receives a risk score of 0.82. What should the AI do?</a:t>
            </a:r>
            <a:endParaRPr sz="2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985207-BCFF-400F-84FB-301C909370EC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Vote in Zoom or type A, B, C, or D in chat.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2ABD46C-E546-4519-B6F6-AC9F5A5FAD16}"/>
              </a:ext>
            </a:extLst>
          </p:cNvPr>
          <p:cNvSpPr>
            <a:spLocks noGrp="1"/>
          </p:cNvSpPr>
          <p:nvPr/>
        </p:nvSpPr>
        <p:spPr>
          <a:xfrm>
            <a:off x="566928" y="2148840"/>
            <a:ext cx="2523744" cy="2331720"/>
          </a:xfrm>
          <a:prstGeom prst="roundRect">
            <a:avLst>
              <a:gd name="adj" fmla="val 2353"/>
            </a:avLst>
          </a:prstGeom>
          <a:solidFill>
            <a:srgbClr val="FBE9E7"/>
          </a:solidFill>
          <a:ln w="1778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538090A-372D-4192-8FC3-6A5E39A12057}"/>
              </a:ext>
            </a:extLst>
          </p:cNvPr>
          <p:cNvSpPr>
            <a:spLocks noGrp="1"/>
          </p:cNvSpPr>
          <p:nvPr/>
        </p:nvSpPr>
        <p:spPr>
          <a:xfrm>
            <a:off x="1417320" y="1847088"/>
            <a:ext cx="822960" cy="822960"/>
          </a:xfrm>
          <a:prstGeom prst="ellipse">
            <a:avLst/>
          </a:prstGeom>
          <a:solidFill>
            <a:srgbClr val="C7483C"/>
          </a:solidFill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132A73-F148-4FBE-8FDC-D1BB705A02C0}"/>
              </a:ext>
            </a:extLst>
          </p:cNvPr>
          <p:cNvSpPr>
            <a:spLocks noGrp="1"/>
          </p:cNvSpPr>
          <p:nvPr/>
        </p:nvSpPr>
        <p:spPr>
          <a:xfrm>
            <a:off x="1591056" y="202996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endParaRPr sz="1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9BBA00B-6E2D-4BDC-8AE9-08E86E918B14}"/>
              </a:ext>
            </a:extLst>
          </p:cNvPr>
          <p:cNvSpPr>
            <a:spLocks noGrp="1"/>
          </p:cNvSpPr>
          <p:nvPr/>
        </p:nvSpPr>
        <p:spPr>
          <a:xfrm>
            <a:off x="795528" y="2880360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Block it now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7B91C7-CF89-4349-B691-C2885A1C4BD6}"/>
              </a:ext>
            </a:extLst>
          </p:cNvPr>
          <p:cNvSpPr>
            <a:spLocks noGrp="1"/>
          </p:cNvSpPr>
          <p:nvPr/>
        </p:nvSpPr>
        <p:spPr>
          <a:xfrm>
            <a:off x="841248" y="3493008"/>
            <a:ext cx="1975104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Treat the score as a decision.</a:t>
            </a:r>
            <a:endParaRPr sz="112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EDB3492-3C67-4FAE-AA56-FFB5CF88E0E6}"/>
              </a:ext>
            </a:extLst>
          </p:cNvPr>
          <p:cNvSpPr>
            <a:spLocks noGrp="1"/>
          </p:cNvSpPr>
          <p:nvPr/>
        </p:nvSpPr>
        <p:spPr>
          <a:xfrm>
            <a:off x="3429000" y="2148840"/>
            <a:ext cx="2523744" cy="2331720"/>
          </a:xfrm>
          <a:prstGeom prst="roundRect">
            <a:avLst>
              <a:gd name="adj" fmla="val 2353"/>
            </a:avLst>
          </a:prstGeom>
          <a:solidFill>
            <a:srgbClr val="FFF6D9"/>
          </a:solidFill>
          <a:ln w="1778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1FAC878-965E-44A3-AD86-773E064A6CB2}"/>
              </a:ext>
            </a:extLst>
          </p:cNvPr>
          <p:cNvSpPr>
            <a:spLocks noGrp="1"/>
          </p:cNvSpPr>
          <p:nvPr/>
        </p:nvSpPr>
        <p:spPr>
          <a:xfrm>
            <a:off x="4279392" y="1847088"/>
            <a:ext cx="822960" cy="822960"/>
          </a:xfrm>
          <a:prstGeom prst="ellipse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1BC6B31-A83F-410C-8904-4DC80C175C5F}"/>
              </a:ext>
            </a:extLst>
          </p:cNvPr>
          <p:cNvSpPr>
            <a:spLocks noGrp="1"/>
          </p:cNvSpPr>
          <p:nvPr/>
        </p:nvSpPr>
        <p:spPr>
          <a:xfrm>
            <a:off x="4453128" y="202996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endParaRPr sz="1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8085AC0-58FF-4A22-AC14-0A06E583F74D}"/>
              </a:ext>
            </a:extLst>
          </p:cNvPr>
          <p:cNvSpPr>
            <a:spLocks noGrp="1"/>
          </p:cNvSpPr>
          <p:nvPr/>
        </p:nvSpPr>
        <p:spPr>
          <a:xfrm>
            <a:off x="3657600" y="2880360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Hold and verify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34B0FBD-DCDB-4C1E-A737-928ADDBF393E}"/>
              </a:ext>
            </a:extLst>
          </p:cNvPr>
          <p:cNvSpPr>
            <a:spLocks noGrp="1"/>
          </p:cNvSpPr>
          <p:nvPr/>
        </p:nvSpPr>
        <p:spPr>
          <a:xfrm>
            <a:off x="3703320" y="3493008"/>
            <a:ext cx="1975104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Request another piece of evidence.</a:t>
            </a:r>
            <a:endParaRPr sz="112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F3E4D64-FBCF-468E-A213-C59FE5E30F06}"/>
              </a:ext>
            </a:extLst>
          </p:cNvPr>
          <p:cNvSpPr>
            <a:spLocks noGrp="1"/>
          </p:cNvSpPr>
          <p:nvPr/>
        </p:nvSpPr>
        <p:spPr>
          <a:xfrm>
            <a:off x="6291072" y="2148840"/>
            <a:ext cx="2523744" cy="2331720"/>
          </a:xfrm>
          <a:prstGeom prst="roundRect">
            <a:avLst>
              <a:gd name="adj" fmla="val 2353"/>
            </a:avLst>
          </a:prstGeom>
          <a:solidFill>
            <a:srgbClr val="E7F5EC"/>
          </a:solidFill>
          <a:ln w="1778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E9B6681-63BD-4585-BDF3-5D3FA3F01D26}"/>
              </a:ext>
            </a:extLst>
          </p:cNvPr>
          <p:cNvSpPr>
            <a:spLocks noGrp="1"/>
          </p:cNvSpPr>
          <p:nvPr/>
        </p:nvSpPr>
        <p:spPr>
          <a:xfrm>
            <a:off x="7141464" y="1847088"/>
            <a:ext cx="822960" cy="8229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30BF1E8-72F3-46C0-B935-A6CD9180B271}"/>
              </a:ext>
            </a:extLst>
          </p:cNvPr>
          <p:cNvSpPr>
            <a:spLocks noGrp="1"/>
          </p:cNvSpPr>
          <p:nvPr/>
        </p:nvSpPr>
        <p:spPr>
          <a:xfrm>
            <a:off x="7315200" y="202996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endParaRPr sz="1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415546-C907-4CAE-B4B4-8DC4D524C88C}"/>
              </a:ext>
            </a:extLst>
          </p:cNvPr>
          <p:cNvSpPr>
            <a:spLocks noGrp="1"/>
          </p:cNvSpPr>
          <p:nvPr/>
        </p:nvSpPr>
        <p:spPr>
          <a:xfrm>
            <a:off x="6519672" y="2880360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Approve it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65978F5-873E-4CB5-9D29-ADB5A2E57139}"/>
              </a:ext>
            </a:extLst>
          </p:cNvPr>
          <p:cNvSpPr>
            <a:spLocks noGrp="1"/>
          </p:cNvSpPr>
          <p:nvPr/>
        </p:nvSpPr>
        <p:spPr>
          <a:xfrm>
            <a:off x="6565392" y="3493008"/>
            <a:ext cx="1975104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Avoid disrupting a legitimate customer.</a:t>
            </a:r>
            <a:endParaRPr sz="112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02E2DD5-34A1-498A-BA5E-58C854E9066F}"/>
              </a:ext>
            </a:extLst>
          </p:cNvPr>
          <p:cNvSpPr>
            <a:spLocks noGrp="1"/>
          </p:cNvSpPr>
          <p:nvPr/>
        </p:nvSpPr>
        <p:spPr>
          <a:xfrm>
            <a:off x="9153144" y="2148840"/>
            <a:ext cx="2523744" cy="2331720"/>
          </a:xfrm>
          <a:prstGeom prst="roundRect">
            <a:avLst>
              <a:gd name="adj" fmla="val 2353"/>
            </a:avLst>
          </a:prstGeom>
          <a:solidFill>
            <a:srgbClr val="E7F3FB"/>
          </a:solidFill>
          <a:ln w="1778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D5AB198-01D7-4876-8A47-7395F9B71BC3}"/>
              </a:ext>
            </a:extLst>
          </p:cNvPr>
          <p:cNvSpPr>
            <a:spLocks noGrp="1"/>
          </p:cNvSpPr>
          <p:nvPr/>
        </p:nvSpPr>
        <p:spPr>
          <a:xfrm>
            <a:off x="10003536" y="1847088"/>
            <a:ext cx="822960" cy="822960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516970F-6491-4BFA-BEDF-69EFA89AD32F}"/>
              </a:ext>
            </a:extLst>
          </p:cNvPr>
          <p:cNvSpPr>
            <a:spLocks noGrp="1"/>
          </p:cNvSpPr>
          <p:nvPr/>
        </p:nvSpPr>
        <p:spPr>
          <a:xfrm>
            <a:off x="10177272" y="202996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  <a:endParaRPr sz="1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2833446-DD00-4136-A6F1-2DF759D908BD}"/>
              </a:ext>
            </a:extLst>
          </p:cNvPr>
          <p:cNvSpPr>
            <a:spLocks noGrp="1"/>
          </p:cNvSpPr>
          <p:nvPr/>
        </p:nvSpPr>
        <p:spPr>
          <a:xfrm>
            <a:off x="9381744" y="2880360"/>
            <a:ext cx="2066544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Need more context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153093A-9967-4AF2-9DE2-34AAEC908CD6}"/>
              </a:ext>
            </a:extLst>
          </p:cNvPr>
          <p:cNvSpPr>
            <a:spLocks noGrp="1"/>
          </p:cNvSpPr>
          <p:nvPr/>
        </p:nvSpPr>
        <p:spPr>
          <a:xfrm>
            <a:off x="9427464" y="3493008"/>
            <a:ext cx="1975104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A score alone is not interpretable.</a:t>
            </a:r>
            <a:endParaRPr sz="112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52E17FA-E416-42C3-92AF-3744F6D55720}"/>
              </a:ext>
            </a:extLst>
          </p:cNvPr>
          <p:cNvSpPr>
            <a:spLocks noGrp="1"/>
          </p:cNvSpPr>
          <p:nvPr/>
        </p:nvSpPr>
        <p:spPr>
          <a:xfrm>
            <a:off x="1143000" y="5138928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Do not change your answer yet. We will revisit the same payment after each layer of AAI 500.</a:t>
            </a:r>
            <a:endParaRPr sz="1400"/>
          </a:p>
        </p:txBody>
      </p:sp>
      <p:pic>
        <p:nvPicPr>
          <p:cNvPr id="5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0AFDB1FB-FD99-48C8-AE6F-CE885373ACA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73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E6AC18-9988-46CF-AAEC-ABE1CEE0A6D9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THE CASE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6D735A-7DB0-4CE6-8558-E4CA7DE227B6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909826-696B-45E4-B44C-B46C27F7AFD9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Meet Asha: a legitimate customer in an unusual moment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29CE54-D942-485E-A629-28CC9B14EA93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The transaction is fictional; the statistical problem is very real.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4B1E76-434E-462C-9025-D9D40F512860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3703320" cy="4370832"/>
          </a:xfrm>
          <a:prstGeom prst="roundRect">
            <a:avLst>
              <a:gd name="adj" fmla="val 1481"/>
            </a:avLst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36E4375-2AE8-4924-8F3B-EBE80D57129F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50292" cy="4370832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7A7A3F-C988-4690-BDA1-2CE87AE4ADCD}"/>
              </a:ext>
            </a:extLst>
          </p:cNvPr>
          <p:cNvSpPr>
            <a:spLocks noGrp="1"/>
          </p:cNvSpPr>
          <p:nvPr/>
        </p:nvSpPr>
        <p:spPr>
          <a:xfrm>
            <a:off x="768096" y="1691640"/>
            <a:ext cx="3310128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Asha’s payment</a:t>
            </a:r>
            <a:endParaRPr sz="1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D8DE2B-A514-4CE2-8B02-7D9FD270A933}"/>
              </a:ext>
            </a:extLst>
          </p:cNvPr>
          <p:cNvSpPr>
            <a:spLocks noGrp="1"/>
          </p:cNvSpPr>
          <p:nvPr/>
        </p:nvSpPr>
        <p:spPr>
          <a:xfrm>
            <a:off x="896112" y="201168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INR 50,000</a:t>
            </a:r>
            <a:endParaRPr sz="3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676894-2A95-4338-8DC9-20424F24808D}"/>
              </a:ext>
            </a:extLst>
          </p:cNvPr>
          <p:cNvSpPr>
            <a:spLocks noGrp="1"/>
          </p:cNvSpPr>
          <p:nvPr/>
        </p:nvSpPr>
        <p:spPr>
          <a:xfrm>
            <a:off x="932688" y="2697480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D6E4"/>
                </a:solidFill>
                <a:latin typeface="Arial"/>
                <a:ea typeface="Arial"/>
                <a:cs typeface="Arial"/>
              </a:rPr>
              <a:t>International travel booking</a:t>
            </a:r>
            <a:endParaRPr sz="13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0EEA5B9-DA29-4EA0-AE8E-19E17A0D0957}"/>
              </a:ext>
            </a:extLst>
          </p:cNvPr>
          <p:cNvSpPr>
            <a:spLocks noGrp="1"/>
          </p:cNvSpPr>
          <p:nvPr/>
        </p:nvSpPr>
        <p:spPr>
          <a:xfrm>
            <a:off x="960120" y="3182112"/>
            <a:ext cx="2880360" cy="0"/>
          </a:xfrm>
          <a:prstGeom prst="line">
            <a:avLst/>
          </a:prstGeom>
          <a:noFill/>
          <a:ln w="12700">
            <a:solidFill>
              <a:srgbClr val="2953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377B86-9F0A-48AB-920B-2BC73A7D6DAF}"/>
              </a:ext>
            </a:extLst>
          </p:cNvPr>
          <p:cNvSpPr>
            <a:spLocks noGrp="1"/>
          </p:cNvSpPr>
          <p:nvPr/>
        </p:nvSpPr>
        <p:spPr>
          <a:xfrm>
            <a:off x="1143000" y="3429000"/>
            <a:ext cx="2542032" cy="6583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9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0.82</a:t>
            </a:r>
            <a:endParaRPr sz="3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49C8259-77BA-4AD3-BFD4-CE9A26AF6552}"/>
              </a:ext>
            </a:extLst>
          </p:cNvPr>
          <p:cNvSpPr>
            <a:spLocks noGrp="1"/>
          </p:cNvSpPr>
          <p:nvPr/>
        </p:nvSpPr>
        <p:spPr>
          <a:xfrm>
            <a:off x="1143000" y="4133088"/>
            <a:ext cx="25420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B8D6E4"/>
                </a:solidFill>
                <a:latin typeface="Arial"/>
                <a:ea typeface="Arial"/>
                <a:cs typeface="Arial"/>
              </a:rPr>
              <a:t>model risk score</a:t>
            </a:r>
            <a:endParaRPr sz="10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940B2A1-E51F-45B7-96B0-A3E963EA588F}"/>
              </a:ext>
            </a:extLst>
          </p:cNvPr>
          <p:cNvSpPr>
            <a:spLocks noGrp="1"/>
          </p:cNvSpPr>
          <p:nvPr/>
        </p:nvSpPr>
        <p:spPr>
          <a:xfrm>
            <a:off x="978408" y="4864608"/>
            <a:ext cx="2834640" cy="5029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C6DFEA"/>
                </a:solidFill>
                <a:latin typeface="Arial"/>
                <a:ea typeface="Arial"/>
                <a:cs typeface="Arial"/>
              </a:rPr>
              <a:t>The score ranks risk. It does not yet tell us the best action.</a:t>
            </a:r>
            <a:endParaRPr sz="112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64CBA1F-1A44-447C-AE66-94AAF5627220}"/>
              </a:ext>
            </a:extLst>
          </p:cNvPr>
          <p:cNvSpPr>
            <a:spLocks noGrp="1"/>
          </p:cNvSpPr>
          <p:nvPr/>
        </p:nvSpPr>
        <p:spPr>
          <a:xfrm>
            <a:off x="4617720" y="1664208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F8F39D-EF0B-4915-91CA-83DD634DA9CF}"/>
              </a:ext>
            </a:extLst>
          </p:cNvPr>
          <p:cNvSpPr>
            <a:spLocks noGrp="1"/>
          </p:cNvSpPr>
          <p:nvPr/>
        </p:nvSpPr>
        <p:spPr>
          <a:xfrm>
            <a:off x="4828032" y="1847088"/>
            <a:ext cx="246888" cy="2468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2566996-C7C9-48C8-9890-CF0D68EC2609}"/>
              </a:ext>
            </a:extLst>
          </p:cNvPr>
          <p:cNvSpPr>
            <a:spLocks noGrp="1"/>
          </p:cNvSpPr>
          <p:nvPr/>
        </p:nvSpPr>
        <p:spPr>
          <a:xfrm>
            <a:off x="5239512" y="1773936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Known customer</a:t>
            </a:r>
            <a:endParaRPr sz="122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BBCE405-9BE6-49DD-9C51-7DEC56B252AF}"/>
              </a:ext>
            </a:extLst>
          </p:cNvPr>
          <p:cNvSpPr>
            <a:spLocks noGrp="1"/>
          </p:cNvSpPr>
          <p:nvPr/>
        </p:nvSpPr>
        <p:spPr>
          <a:xfrm>
            <a:off x="6812280" y="1783080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Five-year account history</a:t>
            </a:r>
            <a:endParaRPr sz="107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87C56BF-D0F0-4A78-93B1-1C5EB5977ECE}"/>
              </a:ext>
            </a:extLst>
          </p:cNvPr>
          <p:cNvSpPr>
            <a:spLocks noGrp="1"/>
          </p:cNvSpPr>
          <p:nvPr/>
        </p:nvSpPr>
        <p:spPr>
          <a:xfrm>
            <a:off x="4617720" y="2468880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57349D4-631B-4248-8ECD-24504751819C}"/>
              </a:ext>
            </a:extLst>
          </p:cNvPr>
          <p:cNvSpPr>
            <a:spLocks noGrp="1"/>
          </p:cNvSpPr>
          <p:nvPr/>
        </p:nvSpPr>
        <p:spPr>
          <a:xfrm>
            <a:off x="4828032" y="2651760"/>
            <a:ext cx="246888" cy="24688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16B314-B9D2-40B4-AD6A-14A9B91F2C4D}"/>
              </a:ext>
            </a:extLst>
          </p:cNvPr>
          <p:cNvSpPr>
            <a:spLocks noGrp="1"/>
          </p:cNvSpPr>
          <p:nvPr/>
        </p:nvSpPr>
        <p:spPr>
          <a:xfrm>
            <a:off x="5239512" y="2578608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New device</a:t>
            </a:r>
            <a:endParaRPr sz="122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9ED508B-F824-4904-AD0E-5900D832CC3A}"/>
              </a:ext>
            </a:extLst>
          </p:cNvPr>
          <p:cNvSpPr>
            <a:spLocks noGrp="1"/>
          </p:cNvSpPr>
          <p:nvPr/>
        </p:nvSpPr>
        <p:spPr>
          <a:xfrm>
            <a:off x="6812280" y="2587752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First purchase from this phone</a:t>
            </a:r>
            <a:endParaRPr sz="107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2D15F61-D998-4960-A11B-44CB5E21C3DB}"/>
              </a:ext>
            </a:extLst>
          </p:cNvPr>
          <p:cNvSpPr>
            <a:spLocks noGrp="1"/>
          </p:cNvSpPr>
          <p:nvPr/>
        </p:nvSpPr>
        <p:spPr>
          <a:xfrm>
            <a:off x="4617720" y="3273552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7D15B6E-A6F2-46FC-AE76-168381E54BEA}"/>
              </a:ext>
            </a:extLst>
          </p:cNvPr>
          <p:cNvSpPr>
            <a:spLocks noGrp="1"/>
          </p:cNvSpPr>
          <p:nvPr/>
        </p:nvSpPr>
        <p:spPr>
          <a:xfrm>
            <a:off x="4828032" y="3456432"/>
            <a:ext cx="246888" cy="246888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ABD17C5-F181-48C7-B302-7A7101C7A8EC}"/>
              </a:ext>
            </a:extLst>
          </p:cNvPr>
          <p:cNvSpPr>
            <a:spLocks noGrp="1"/>
          </p:cNvSpPr>
          <p:nvPr/>
        </p:nvSpPr>
        <p:spPr>
          <a:xfrm>
            <a:off x="5239512" y="338328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Travel context</a:t>
            </a:r>
            <a:endParaRPr sz="122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01BE728-367D-4324-9533-DD980E53F94E}"/>
              </a:ext>
            </a:extLst>
          </p:cNvPr>
          <p:cNvSpPr>
            <a:spLocks noGrp="1"/>
          </p:cNvSpPr>
          <p:nvPr/>
        </p:nvSpPr>
        <p:spPr>
          <a:xfrm>
            <a:off x="6812280" y="3392424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Location changed this morning</a:t>
            </a:r>
            <a:endParaRPr sz="107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64AD6BD-B214-4B5E-8350-97B9124BB0E4}"/>
              </a:ext>
            </a:extLst>
          </p:cNvPr>
          <p:cNvSpPr>
            <a:spLocks noGrp="1"/>
          </p:cNvSpPr>
          <p:nvPr/>
        </p:nvSpPr>
        <p:spPr>
          <a:xfrm>
            <a:off x="4617720" y="4078224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6438F0E-29EA-43A4-8DBA-CEE1BC76656C}"/>
              </a:ext>
            </a:extLst>
          </p:cNvPr>
          <p:cNvSpPr>
            <a:spLocks noGrp="1"/>
          </p:cNvSpPr>
          <p:nvPr/>
        </p:nvSpPr>
        <p:spPr>
          <a:xfrm>
            <a:off x="4828032" y="4261104"/>
            <a:ext cx="246888" cy="246888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1D8A6D4-BE80-486E-A536-EBEE9F996929}"/>
              </a:ext>
            </a:extLst>
          </p:cNvPr>
          <p:cNvSpPr>
            <a:spLocks noGrp="1"/>
          </p:cNvSpPr>
          <p:nvPr/>
        </p:nvSpPr>
        <p:spPr>
          <a:xfrm>
            <a:off x="5239512" y="418795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Known merchant</a:t>
            </a:r>
            <a:endParaRPr sz="122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325916F-D100-47DB-AA75-300BE7BB63ED}"/>
              </a:ext>
            </a:extLst>
          </p:cNvPr>
          <p:cNvSpPr>
            <a:spLocks noGrp="1"/>
          </p:cNvSpPr>
          <p:nvPr/>
        </p:nvSpPr>
        <p:spPr>
          <a:xfrm>
            <a:off x="6812280" y="4197096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Prior legitimate purchases</a:t>
            </a:r>
            <a:endParaRPr sz="107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16C2320-74AA-4A47-9CBB-92DC40CCDAB0}"/>
              </a:ext>
            </a:extLst>
          </p:cNvPr>
          <p:cNvSpPr>
            <a:spLocks noGrp="1"/>
          </p:cNvSpPr>
          <p:nvPr/>
        </p:nvSpPr>
        <p:spPr>
          <a:xfrm>
            <a:off x="4617720" y="4882896"/>
            <a:ext cx="6720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D3D4AA3-3E4B-4556-B8A0-BC745E2A9B6C}"/>
              </a:ext>
            </a:extLst>
          </p:cNvPr>
          <p:cNvSpPr>
            <a:spLocks noGrp="1"/>
          </p:cNvSpPr>
          <p:nvPr/>
        </p:nvSpPr>
        <p:spPr>
          <a:xfrm>
            <a:off x="4828032" y="5065776"/>
            <a:ext cx="246888" cy="246888"/>
          </a:xfrm>
          <a:prstGeom prst="ellipse">
            <a:avLst/>
          </a:prstGeom>
          <a:solidFill>
            <a:srgbClr val="C7483C"/>
          </a:solidFill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BFE31D5-A301-47FA-9C1D-2A2C942D8604}"/>
              </a:ext>
            </a:extLst>
          </p:cNvPr>
          <p:cNvSpPr>
            <a:spLocks noGrp="1"/>
          </p:cNvSpPr>
          <p:nvPr/>
        </p:nvSpPr>
        <p:spPr>
          <a:xfrm>
            <a:off x="5239512" y="4992624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High amount</a:t>
            </a:r>
            <a:endParaRPr sz="122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7E371B1-A4D6-4F94-B485-B6C9B4DFA794}"/>
              </a:ext>
            </a:extLst>
          </p:cNvPr>
          <p:cNvSpPr>
            <a:spLocks noGrp="1"/>
          </p:cNvSpPr>
          <p:nvPr/>
        </p:nvSpPr>
        <p:spPr>
          <a:xfrm>
            <a:off x="6812280" y="5001768"/>
            <a:ext cx="4142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70">
                <a:solidFill>
                  <a:srgbClr val="153246"/>
                </a:solidFill>
                <a:latin typeface="Arial"/>
                <a:ea typeface="Arial"/>
                <a:cs typeface="Arial"/>
              </a:rPr>
              <a:t>Larger than Asha’s typical payment</a:t>
            </a:r>
            <a:endParaRPr sz="107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2028358-BABD-488C-94AE-148842079617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Teaching case uses synthetic data and a fictional customer.</a:t>
            </a:r>
            <a:endParaRPr sz="670"/>
          </a:p>
        </p:txBody>
      </p:sp>
      <p:pic>
        <p:nvPicPr>
          <p:cNvPr id="7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37" name="Slide Number Placeholder 0">
            <a:extLst>
              <a:ext uri="{FF2B5EF4-FFF2-40B4-BE49-F238E27FC236}">
                <a16:creationId xmlns:a16="http://schemas.microsoft.com/office/drawing/2014/main" id="{D595C101-DCD4-4341-A96F-DA85931FF3A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EFD6AB9A-5F9E-5F59-51AB-3C8734130965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3611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5CC0E9-B399-408D-BBCE-A0D0946EA81F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THE SCORE TRAP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4C622E-BCFF-4067-9435-A8A3A55E282C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2E6951-38EC-4B08-95C3-7DE03398E1BC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does 0.82 actually mean?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8C9883-FF56-431C-BB2F-8F1D0374A52E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8D6E4"/>
                </a:solidFill>
                <a:latin typeface="Arial"/>
                <a:ea typeface="Arial"/>
                <a:cs typeface="Arial"/>
              </a:rPr>
              <a:t>Four plausible interpretations produce four very different decisions.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25F1536-EE67-434F-900C-301E15C31F8D}"/>
              </a:ext>
            </a:extLst>
          </p:cNvPr>
          <p:cNvSpPr>
            <a:spLocks noGrp="1"/>
          </p:cNvSpPr>
          <p:nvPr/>
        </p:nvSpPr>
        <p:spPr>
          <a:xfrm>
            <a:off x="621792" y="1847088"/>
            <a:ext cx="2487168" cy="2944368"/>
          </a:xfrm>
          <a:prstGeom prst="roundRect">
            <a:avLst>
              <a:gd name="adj" fmla="val 2206"/>
            </a:avLst>
          </a:prstGeom>
          <a:solidFill>
            <a:srgbClr val="0B304B"/>
          </a:solidFill>
          <a:ln w="13970">
            <a:solidFill>
              <a:srgbClr val="2852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0AE254D-80A5-4B2C-9A51-9B39488252D3}"/>
              </a:ext>
            </a:extLst>
          </p:cNvPr>
          <p:cNvSpPr>
            <a:spLocks noGrp="1"/>
          </p:cNvSpPr>
          <p:nvPr/>
        </p:nvSpPr>
        <p:spPr>
          <a:xfrm>
            <a:off x="832104" y="207568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01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F07B6B-5F6B-4B74-BA23-7F7899120CDE}"/>
              </a:ext>
            </a:extLst>
          </p:cNvPr>
          <p:cNvSpPr>
            <a:spLocks noGrp="1"/>
          </p:cNvSpPr>
          <p:nvPr/>
        </p:nvSpPr>
        <p:spPr>
          <a:xfrm>
            <a:off x="832104" y="2587752"/>
            <a:ext cx="2029968" cy="8778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82% chance of fraud</a:t>
            </a:r>
            <a:endParaRPr sz="19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77A053A-781E-4B56-A0DB-39578CE5769B}"/>
              </a:ext>
            </a:extLst>
          </p:cNvPr>
          <p:cNvSpPr>
            <a:spLocks noGrp="1"/>
          </p:cNvSpPr>
          <p:nvPr/>
        </p:nvSpPr>
        <p:spPr>
          <a:xfrm>
            <a:off x="832104" y="3703320"/>
            <a:ext cx="1993392" cy="0"/>
          </a:xfrm>
          <a:prstGeom prst="line">
            <a:avLst/>
          </a:prstGeom>
          <a:noFill/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2A32C5-B34C-4047-B348-BE8E83DDBC9A}"/>
              </a:ext>
            </a:extLst>
          </p:cNvPr>
          <p:cNvSpPr>
            <a:spLocks noGrp="1"/>
          </p:cNvSpPr>
          <p:nvPr/>
        </p:nvSpPr>
        <p:spPr>
          <a:xfrm>
            <a:off x="832104" y="3950208"/>
            <a:ext cx="1965960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B8D6E4"/>
                </a:solidFill>
                <a:latin typeface="Arial"/>
                <a:ea typeface="Arial"/>
                <a:cs typeface="Arial"/>
              </a:rPr>
              <a:t>A calibrated probability claim</a:t>
            </a:r>
            <a:endParaRPr sz="107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06907B8-B9E4-4C47-B973-BFEF22687EC8}"/>
              </a:ext>
            </a:extLst>
          </p:cNvPr>
          <p:cNvSpPr>
            <a:spLocks noGrp="1"/>
          </p:cNvSpPr>
          <p:nvPr/>
        </p:nvSpPr>
        <p:spPr>
          <a:xfrm>
            <a:off x="3456432" y="1847088"/>
            <a:ext cx="2487168" cy="2944368"/>
          </a:xfrm>
          <a:prstGeom prst="roundRect">
            <a:avLst>
              <a:gd name="adj" fmla="val 2206"/>
            </a:avLst>
          </a:prstGeom>
          <a:solidFill>
            <a:srgbClr val="0B304B"/>
          </a:solidFill>
          <a:ln w="13970">
            <a:solidFill>
              <a:srgbClr val="2852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7FEF43-9690-422A-9A66-3F446D39FAA7}"/>
              </a:ext>
            </a:extLst>
          </p:cNvPr>
          <p:cNvSpPr>
            <a:spLocks noGrp="1"/>
          </p:cNvSpPr>
          <p:nvPr/>
        </p:nvSpPr>
        <p:spPr>
          <a:xfrm>
            <a:off x="3666744" y="207568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074C8"/>
                </a:solidFill>
                <a:latin typeface="Arial"/>
                <a:ea typeface="Arial"/>
                <a:cs typeface="Arial"/>
              </a:rPr>
              <a:t>02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CB8CD77-4346-4A2C-A3DC-BC35B8054AC0}"/>
              </a:ext>
            </a:extLst>
          </p:cNvPr>
          <p:cNvSpPr>
            <a:spLocks noGrp="1"/>
          </p:cNvSpPr>
          <p:nvPr/>
        </p:nvSpPr>
        <p:spPr>
          <a:xfrm>
            <a:off x="3666744" y="2587752"/>
            <a:ext cx="2029968" cy="8778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82nd percentile</a:t>
            </a:r>
            <a:endParaRPr sz="19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B41BEB9-9BF6-4EEC-925F-B65361BC5730}"/>
              </a:ext>
            </a:extLst>
          </p:cNvPr>
          <p:cNvSpPr>
            <a:spLocks noGrp="1"/>
          </p:cNvSpPr>
          <p:nvPr/>
        </p:nvSpPr>
        <p:spPr>
          <a:xfrm>
            <a:off x="3666744" y="3703320"/>
            <a:ext cx="1993392" cy="0"/>
          </a:xfrm>
          <a:prstGeom prst="line">
            <a:avLst/>
          </a:prstGeom>
          <a:noFill/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5B7D4B-40F8-47EF-8157-9C4E99FEBA91}"/>
              </a:ext>
            </a:extLst>
          </p:cNvPr>
          <p:cNvSpPr>
            <a:spLocks noGrp="1"/>
          </p:cNvSpPr>
          <p:nvPr/>
        </p:nvSpPr>
        <p:spPr>
          <a:xfrm>
            <a:off x="3666744" y="3950208"/>
            <a:ext cx="1965960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B8D6E4"/>
                </a:solidFill>
                <a:latin typeface="Arial"/>
                <a:ea typeface="Arial"/>
                <a:cs typeface="Arial"/>
              </a:rPr>
              <a:t>A relative ranking claim</a:t>
            </a:r>
            <a:endParaRPr sz="107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BDD14CA-4E48-4B38-8634-EDEC3BDAE4E8}"/>
              </a:ext>
            </a:extLst>
          </p:cNvPr>
          <p:cNvSpPr>
            <a:spLocks noGrp="1"/>
          </p:cNvSpPr>
          <p:nvPr/>
        </p:nvSpPr>
        <p:spPr>
          <a:xfrm>
            <a:off x="6291072" y="1847088"/>
            <a:ext cx="2487168" cy="2944368"/>
          </a:xfrm>
          <a:prstGeom prst="roundRect">
            <a:avLst>
              <a:gd name="adj" fmla="val 2206"/>
            </a:avLst>
          </a:prstGeom>
          <a:solidFill>
            <a:srgbClr val="0B304B"/>
          </a:solidFill>
          <a:ln w="13970">
            <a:solidFill>
              <a:srgbClr val="2852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F0EFB90-89BA-4B6A-8F33-6C090DFEDD88}"/>
              </a:ext>
            </a:extLst>
          </p:cNvPr>
          <p:cNvSpPr>
            <a:spLocks noGrp="1"/>
          </p:cNvSpPr>
          <p:nvPr/>
        </p:nvSpPr>
        <p:spPr>
          <a:xfrm>
            <a:off x="6501384" y="207568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03</a:t>
            </a:r>
            <a:endParaRPr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474FF97-B60A-48E4-9B62-4C9B15DA2674}"/>
              </a:ext>
            </a:extLst>
          </p:cNvPr>
          <p:cNvSpPr>
            <a:spLocks noGrp="1"/>
          </p:cNvSpPr>
          <p:nvPr/>
        </p:nvSpPr>
        <p:spPr>
          <a:xfrm>
            <a:off x="6501384" y="2587752"/>
            <a:ext cx="2029968" cy="8778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82% precision</a:t>
            </a:r>
            <a:endParaRPr sz="19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C4CAB15-2908-477D-8E5F-851DF095DA24}"/>
              </a:ext>
            </a:extLst>
          </p:cNvPr>
          <p:cNvSpPr>
            <a:spLocks noGrp="1"/>
          </p:cNvSpPr>
          <p:nvPr/>
        </p:nvSpPr>
        <p:spPr>
          <a:xfrm>
            <a:off x="6501384" y="3703320"/>
            <a:ext cx="1993392" cy="0"/>
          </a:xfrm>
          <a:prstGeom prst="line">
            <a:avLst/>
          </a:prstGeom>
          <a:noFill/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BF91C48-853C-4F91-8017-FBA00EB28087}"/>
              </a:ext>
            </a:extLst>
          </p:cNvPr>
          <p:cNvSpPr>
            <a:spLocks noGrp="1"/>
          </p:cNvSpPr>
          <p:nvPr/>
        </p:nvSpPr>
        <p:spPr>
          <a:xfrm>
            <a:off x="6501384" y="3950208"/>
            <a:ext cx="1965960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B8D6E4"/>
                </a:solidFill>
                <a:latin typeface="Arial"/>
                <a:ea typeface="Arial"/>
                <a:cs typeface="Arial"/>
              </a:rPr>
              <a:t>A claim about flagged payments</a:t>
            </a:r>
            <a:endParaRPr sz="107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3C2FB56-D1D9-42E7-8820-9DE04342F7FC}"/>
              </a:ext>
            </a:extLst>
          </p:cNvPr>
          <p:cNvSpPr>
            <a:spLocks noGrp="1"/>
          </p:cNvSpPr>
          <p:nvPr/>
        </p:nvSpPr>
        <p:spPr>
          <a:xfrm>
            <a:off x="9125712" y="1847088"/>
            <a:ext cx="2487168" cy="2944368"/>
          </a:xfrm>
          <a:prstGeom prst="roundRect">
            <a:avLst>
              <a:gd name="adj" fmla="val 2206"/>
            </a:avLst>
          </a:prstGeom>
          <a:solidFill>
            <a:srgbClr val="0B304B"/>
          </a:solidFill>
          <a:ln w="13970">
            <a:solidFill>
              <a:srgbClr val="2852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B743871-7224-489D-AA3A-A79A26FA938E}"/>
              </a:ext>
            </a:extLst>
          </p:cNvPr>
          <p:cNvSpPr>
            <a:spLocks noGrp="1"/>
          </p:cNvSpPr>
          <p:nvPr/>
        </p:nvSpPr>
        <p:spPr>
          <a:xfrm>
            <a:off x="9336024" y="207568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04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820347E-BC1D-4BCB-9E78-FF91045590EC}"/>
              </a:ext>
            </a:extLst>
          </p:cNvPr>
          <p:cNvSpPr>
            <a:spLocks noGrp="1"/>
          </p:cNvSpPr>
          <p:nvPr/>
        </p:nvSpPr>
        <p:spPr>
          <a:xfrm>
            <a:off x="9336024" y="2587752"/>
            <a:ext cx="2029968" cy="8778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raw model score</a:t>
            </a:r>
            <a:endParaRPr sz="19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03DF876-4C6D-4515-9A77-10A13779067A}"/>
              </a:ext>
            </a:extLst>
          </p:cNvPr>
          <p:cNvSpPr>
            <a:spLocks noGrp="1"/>
          </p:cNvSpPr>
          <p:nvPr/>
        </p:nvSpPr>
        <p:spPr>
          <a:xfrm>
            <a:off x="9336024" y="3703320"/>
            <a:ext cx="1993392" cy="0"/>
          </a:xfrm>
          <a:prstGeom prst="line">
            <a:avLst/>
          </a:prstGeom>
          <a:noFill/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5132026-5C08-4792-8429-D0AF1E38F343}"/>
              </a:ext>
            </a:extLst>
          </p:cNvPr>
          <p:cNvSpPr>
            <a:spLocks noGrp="1"/>
          </p:cNvSpPr>
          <p:nvPr/>
        </p:nvSpPr>
        <p:spPr>
          <a:xfrm>
            <a:off x="9336024" y="3950208"/>
            <a:ext cx="1965960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070">
                <a:solidFill>
                  <a:srgbClr val="B8D6E4"/>
                </a:solidFill>
                <a:latin typeface="Arial"/>
                <a:ea typeface="Arial"/>
                <a:cs typeface="Arial"/>
              </a:rPr>
              <a:t>A number needing validation</a:t>
            </a:r>
            <a:endParaRPr sz="107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294096E-DF82-4A1A-990F-08EFFA76716B}"/>
              </a:ext>
            </a:extLst>
          </p:cNvPr>
          <p:cNvSpPr>
            <a:spLocks noGrp="1"/>
          </p:cNvSpPr>
          <p:nvPr/>
        </p:nvSpPr>
        <p:spPr>
          <a:xfrm>
            <a:off x="1078992" y="5230368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BEAF2"/>
                </a:solidFill>
                <a:latin typeface="Arial"/>
                <a:ea typeface="Arial"/>
                <a:cs typeface="Arial"/>
              </a:rPr>
              <a:t>AAI 500 teaches you to interrogate the number before trusting the action.</a:t>
            </a:r>
            <a:endParaRPr sz="1500"/>
          </a:p>
        </p:txBody>
      </p:sp>
      <p:pic>
        <p:nvPicPr>
          <p:cNvPr id="5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E15FB97C-7E59-448C-A3BB-880F5E87D06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EE5B3003-2C54-13C6-9832-7637201064DE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28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666FCE-1435-4175-AE4F-D11C3BD442AE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LEARNING PROMISE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A1F5F7-52F7-43B6-BB62-BC47B5BF1C0B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C9CDE1-346C-42D0-A3C7-B78C0EFE8CD5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Defend a decision—not merely quote a score</a:t>
            </a:r>
            <a:endParaRPr sz="25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D8820B-A23B-45B9-BF13-928483828093}"/>
              </a:ext>
            </a:extLst>
          </p:cNvPr>
          <p:cNvSpPr>
            <a:spLocks noGrp="1"/>
          </p:cNvSpPr>
          <p:nvPr/>
        </p:nvSpPr>
        <p:spPr>
          <a:xfrm>
            <a:off x="1298448" y="1600200"/>
            <a:ext cx="713232" cy="713232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64F558-3295-4141-B607-4E4451E43CC3}"/>
              </a:ext>
            </a:extLst>
          </p:cNvPr>
          <p:cNvSpPr>
            <a:spLocks noGrp="1"/>
          </p:cNvSpPr>
          <p:nvPr/>
        </p:nvSpPr>
        <p:spPr>
          <a:xfrm>
            <a:off x="1499616" y="1801368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534CCA-DCDA-4711-A131-EBCCCAD69612}"/>
              </a:ext>
            </a:extLst>
          </p:cNvPr>
          <p:cNvSpPr>
            <a:spLocks noGrp="1"/>
          </p:cNvSpPr>
          <p:nvPr/>
        </p:nvSpPr>
        <p:spPr>
          <a:xfrm>
            <a:off x="2167128" y="1783080"/>
            <a:ext cx="438912" cy="30175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3E47AF3-4C5A-46E4-A08F-E9978487CBA1}"/>
              </a:ext>
            </a:extLst>
          </p:cNvPr>
          <p:cNvSpPr>
            <a:spLocks noGrp="1"/>
          </p:cNvSpPr>
          <p:nvPr/>
        </p:nvSpPr>
        <p:spPr>
          <a:xfrm>
            <a:off x="566928" y="2542032"/>
            <a:ext cx="1993392" cy="201168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6B6F2E7-75DE-49E3-9E21-85E6CA214F62}"/>
              </a:ext>
            </a:extLst>
          </p:cNvPr>
          <p:cNvSpPr>
            <a:spLocks noGrp="1"/>
          </p:cNvSpPr>
          <p:nvPr/>
        </p:nvSpPr>
        <p:spPr>
          <a:xfrm>
            <a:off x="566928" y="2542032"/>
            <a:ext cx="50292" cy="2011680"/>
          </a:xfrm>
          <a:prstGeom prst="rect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D75302-4DAA-43B9-8881-AA4A1BE77954}"/>
              </a:ext>
            </a:extLst>
          </p:cNvPr>
          <p:cNvSpPr>
            <a:spLocks noGrp="1"/>
          </p:cNvSpPr>
          <p:nvPr/>
        </p:nvSpPr>
        <p:spPr>
          <a:xfrm>
            <a:off x="768096" y="2724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Audit the data</a:t>
            </a:r>
            <a:endParaRPr sz="13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BD4D04B-E143-4014-8781-2C77D4592134}"/>
              </a:ext>
            </a:extLst>
          </p:cNvPr>
          <p:cNvSpPr>
            <a:spLocks noGrp="1"/>
          </p:cNvSpPr>
          <p:nvPr/>
        </p:nvSpPr>
        <p:spPr>
          <a:xfrm>
            <a:off x="768096" y="3255264"/>
            <a:ext cx="1600200" cy="115214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What was measured, missing, or mislabeled?</a:t>
            </a:r>
            <a:endParaRPr sz="102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64F4F0A-82CC-4570-9FA7-C4A56E0D09A4}"/>
              </a:ext>
            </a:extLst>
          </p:cNvPr>
          <p:cNvSpPr>
            <a:spLocks noGrp="1"/>
          </p:cNvSpPr>
          <p:nvPr/>
        </p:nvSpPr>
        <p:spPr>
          <a:xfrm>
            <a:off x="3602736" y="1600200"/>
            <a:ext cx="713232" cy="713232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6347036-3A50-4C7D-A4E7-3A52D4EB4A70}"/>
              </a:ext>
            </a:extLst>
          </p:cNvPr>
          <p:cNvSpPr>
            <a:spLocks noGrp="1"/>
          </p:cNvSpPr>
          <p:nvPr/>
        </p:nvSpPr>
        <p:spPr>
          <a:xfrm>
            <a:off x="3803904" y="1801368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D32B1BD-A6EB-49A0-8B82-6041CB318D31}"/>
              </a:ext>
            </a:extLst>
          </p:cNvPr>
          <p:cNvSpPr>
            <a:spLocks noGrp="1"/>
          </p:cNvSpPr>
          <p:nvPr/>
        </p:nvSpPr>
        <p:spPr>
          <a:xfrm>
            <a:off x="4471416" y="1783080"/>
            <a:ext cx="438912" cy="30175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62CC946-CCC1-45D8-8AEC-94B214CFD9D7}"/>
              </a:ext>
            </a:extLst>
          </p:cNvPr>
          <p:cNvSpPr>
            <a:spLocks noGrp="1"/>
          </p:cNvSpPr>
          <p:nvPr/>
        </p:nvSpPr>
        <p:spPr>
          <a:xfrm>
            <a:off x="2871216" y="2542032"/>
            <a:ext cx="1993392" cy="201168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F14FF48-76F0-4D4E-AEB0-E50F15FE6D71}"/>
              </a:ext>
            </a:extLst>
          </p:cNvPr>
          <p:cNvSpPr>
            <a:spLocks noGrp="1"/>
          </p:cNvSpPr>
          <p:nvPr/>
        </p:nvSpPr>
        <p:spPr>
          <a:xfrm>
            <a:off x="2871216" y="2542032"/>
            <a:ext cx="50292" cy="201168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303E0A-69AB-4CAD-8DFB-C7CE1B1B2CCD}"/>
              </a:ext>
            </a:extLst>
          </p:cNvPr>
          <p:cNvSpPr>
            <a:spLocks noGrp="1"/>
          </p:cNvSpPr>
          <p:nvPr/>
        </p:nvSpPr>
        <p:spPr>
          <a:xfrm>
            <a:off x="3072384" y="2724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Reason with probability</a:t>
            </a:r>
            <a:endParaRPr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918DD6-D93A-4BDC-AC1E-9C73EF12301B}"/>
              </a:ext>
            </a:extLst>
          </p:cNvPr>
          <p:cNvSpPr>
            <a:spLocks noGrp="1"/>
          </p:cNvSpPr>
          <p:nvPr/>
        </p:nvSpPr>
        <p:spPr>
          <a:xfrm>
            <a:off x="3072384" y="3255264"/>
            <a:ext cx="1600200" cy="115214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do base rates change the answer?</a:t>
            </a:r>
            <a:endParaRPr sz="102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25828A3-4CBB-4E96-94F9-C9BE8F2D98AC}"/>
              </a:ext>
            </a:extLst>
          </p:cNvPr>
          <p:cNvSpPr>
            <a:spLocks noGrp="1"/>
          </p:cNvSpPr>
          <p:nvPr/>
        </p:nvSpPr>
        <p:spPr>
          <a:xfrm>
            <a:off x="5907024" y="1600200"/>
            <a:ext cx="713232" cy="713232"/>
          </a:xfrm>
          <a:prstGeom prst="ellipse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A935464-45C9-4AD1-88BE-23BB6783127A}"/>
              </a:ext>
            </a:extLst>
          </p:cNvPr>
          <p:cNvSpPr>
            <a:spLocks noGrp="1"/>
          </p:cNvSpPr>
          <p:nvPr/>
        </p:nvSpPr>
        <p:spPr>
          <a:xfrm>
            <a:off x="6108192" y="1801368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4B5AAEC-F487-4C20-87A7-136185FF6187}"/>
              </a:ext>
            </a:extLst>
          </p:cNvPr>
          <p:cNvSpPr>
            <a:spLocks noGrp="1"/>
          </p:cNvSpPr>
          <p:nvPr/>
        </p:nvSpPr>
        <p:spPr>
          <a:xfrm>
            <a:off x="6775704" y="1783080"/>
            <a:ext cx="438912" cy="30175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434977F-502A-414F-AAB0-23A6A4616095}"/>
              </a:ext>
            </a:extLst>
          </p:cNvPr>
          <p:cNvSpPr>
            <a:spLocks noGrp="1"/>
          </p:cNvSpPr>
          <p:nvPr/>
        </p:nvSpPr>
        <p:spPr>
          <a:xfrm>
            <a:off x="5175504" y="2542032"/>
            <a:ext cx="1993392" cy="201168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589785B-A977-42E3-9A8A-3B78AF2C4A26}"/>
              </a:ext>
            </a:extLst>
          </p:cNvPr>
          <p:cNvSpPr>
            <a:spLocks noGrp="1"/>
          </p:cNvSpPr>
          <p:nvPr/>
        </p:nvSpPr>
        <p:spPr>
          <a:xfrm>
            <a:off x="5175504" y="2542032"/>
            <a:ext cx="50292" cy="2011680"/>
          </a:xfrm>
          <a:prstGeom prst="rect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6C8654E-5271-421B-B8E1-F05E1AC63D7C}"/>
              </a:ext>
            </a:extLst>
          </p:cNvPr>
          <p:cNvSpPr>
            <a:spLocks noGrp="1"/>
          </p:cNvSpPr>
          <p:nvPr/>
        </p:nvSpPr>
        <p:spPr>
          <a:xfrm>
            <a:off x="5376672" y="2724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Quantify uncertainty</a:t>
            </a:r>
            <a:endParaRPr sz="13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51928D8-A4D1-43D0-8037-ABD3AB7C4933}"/>
              </a:ext>
            </a:extLst>
          </p:cNvPr>
          <p:cNvSpPr>
            <a:spLocks noGrp="1"/>
          </p:cNvSpPr>
          <p:nvPr/>
        </p:nvSpPr>
        <p:spPr>
          <a:xfrm>
            <a:off x="5376672" y="3255264"/>
            <a:ext cx="1600200" cy="115214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much could the estimate move?</a:t>
            </a:r>
            <a:endParaRPr sz="102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1BA86C5-83B3-4B4F-A1FA-CB26B2CFE3A2}"/>
              </a:ext>
            </a:extLst>
          </p:cNvPr>
          <p:cNvSpPr>
            <a:spLocks noGrp="1"/>
          </p:cNvSpPr>
          <p:nvPr/>
        </p:nvSpPr>
        <p:spPr>
          <a:xfrm>
            <a:off x="8211312" y="1600200"/>
            <a:ext cx="713232" cy="713232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FFEC0B0-90BB-45A5-B772-7839A4DD117C}"/>
              </a:ext>
            </a:extLst>
          </p:cNvPr>
          <p:cNvSpPr>
            <a:spLocks noGrp="1"/>
          </p:cNvSpPr>
          <p:nvPr/>
        </p:nvSpPr>
        <p:spPr>
          <a:xfrm>
            <a:off x="8412480" y="1801368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50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DF036C7-CC8C-4B52-93EA-8F43D8B1B76F}"/>
              </a:ext>
            </a:extLst>
          </p:cNvPr>
          <p:cNvSpPr>
            <a:spLocks noGrp="1"/>
          </p:cNvSpPr>
          <p:nvPr/>
        </p:nvSpPr>
        <p:spPr>
          <a:xfrm>
            <a:off x="9079992" y="1783080"/>
            <a:ext cx="438912" cy="301752"/>
          </a:xfrm>
          <a:prstGeom prst="chevron">
            <a:avLst/>
          </a:prstGeom>
          <a:solidFill>
            <a:srgbClr val="C9D7E1"/>
          </a:solidFill>
          <a:ln w="12700">
            <a:solidFill>
              <a:srgbClr val="C9D7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33C2D86-F14F-4029-9063-89197B1C10DC}"/>
              </a:ext>
            </a:extLst>
          </p:cNvPr>
          <p:cNvSpPr>
            <a:spLocks noGrp="1"/>
          </p:cNvSpPr>
          <p:nvPr/>
        </p:nvSpPr>
        <p:spPr>
          <a:xfrm>
            <a:off x="7479792" y="2542032"/>
            <a:ext cx="1993392" cy="201168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2121615-530A-4787-B113-CABD2B1D01F9}"/>
              </a:ext>
            </a:extLst>
          </p:cNvPr>
          <p:cNvSpPr>
            <a:spLocks noGrp="1"/>
          </p:cNvSpPr>
          <p:nvPr/>
        </p:nvSpPr>
        <p:spPr>
          <a:xfrm>
            <a:off x="7479792" y="2542032"/>
            <a:ext cx="50292" cy="20116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CB9DB0A-1D28-49EC-94E2-5F774FF59A9E}"/>
              </a:ext>
            </a:extLst>
          </p:cNvPr>
          <p:cNvSpPr>
            <a:spLocks noGrp="1"/>
          </p:cNvSpPr>
          <p:nvPr/>
        </p:nvSpPr>
        <p:spPr>
          <a:xfrm>
            <a:off x="7680960" y="2724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Choose a model</a:t>
            </a:r>
            <a:endParaRPr sz="13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5439D1D-B532-482D-9B60-3D8FF2250840}"/>
              </a:ext>
            </a:extLst>
          </p:cNvPr>
          <p:cNvSpPr>
            <a:spLocks noGrp="1"/>
          </p:cNvSpPr>
          <p:nvPr/>
        </p:nvSpPr>
        <p:spPr>
          <a:xfrm>
            <a:off x="7680960" y="3255264"/>
            <a:ext cx="1600200" cy="115214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What structure links evidence to risk?</a:t>
            </a:r>
            <a:endParaRPr sz="102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2E5118C-48FF-4739-8E13-7AE879401159}"/>
              </a:ext>
            </a:extLst>
          </p:cNvPr>
          <p:cNvSpPr>
            <a:spLocks noGrp="1"/>
          </p:cNvSpPr>
          <p:nvPr/>
        </p:nvSpPr>
        <p:spPr>
          <a:xfrm>
            <a:off x="10515600" y="1600200"/>
            <a:ext cx="713232" cy="71323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62D95B-611D-43C3-A5B0-1B09D76EF641}"/>
              </a:ext>
            </a:extLst>
          </p:cNvPr>
          <p:cNvSpPr>
            <a:spLocks noGrp="1"/>
          </p:cNvSpPr>
          <p:nvPr/>
        </p:nvSpPr>
        <p:spPr>
          <a:xfrm>
            <a:off x="10716768" y="1801368"/>
            <a:ext cx="31089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5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AA3CED4-72A9-4B3D-99AD-C1DDB3B46135}"/>
              </a:ext>
            </a:extLst>
          </p:cNvPr>
          <p:cNvSpPr>
            <a:spLocks noGrp="1"/>
          </p:cNvSpPr>
          <p:nvPr/>
        </p:nvSpPr>
        <p:spPr>
          <a:xfrm>
            <a:off x="9784080" y="2542032"/>
            <a:ext cx="1993392" cy="201168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39BC83C-BD4B-4082-BDDB-84DA6370BB97}"/>
              </a:ext>
            </a:extLst>
          </p:cNvPr>
          <p:cNvSpPr>
            <a:spLocks noGrp="1"/>
          </p:cNvSpPr>
          <p:nvPr/>
        </p:nvSpPr>
        <p:spPr>
          <a:xfrm>
            <a:off x="9784080" y="2542032"/>
            <a:ext cx="50292" cy="2011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6865D95-75E0-468F-B2B9-B0D2D538DF19}"/>
              </a:ext>
            </a:extLst>
          </p:cNvPr>
          <p:cNvSpPr>
            <a:spLocks noGrp="1"/>
          </p:cNvSpPr>
          <p:nvPr/>
        </p:nvSpPr>
        <p:spPr>
          <a:xfrm>
            <a:off x="9985248" y="272491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3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Set a policy</a:t>
            </a:r>
            <a:endParaRPr sz="135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299171B-A9AF-4993-889E-BABC4A779A7F}"/>
              </a:ext>
            </a:extLst>
          </p:cNvPr>
          <p:cNvSpPr>
            <a:spLocks noGrp="1"/>
          </p:cNvSpPr>
          <p:nvPr/>
        </p:nvSpPr>
        <p:spPr>
          <a:xfrm>
            <a:off x="9985248" y="3255264"/>
            <a:ext cx="1600200" cy="115214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Which errors are acceptable—and to whom?</a:t>
            </a:r>
            <a:endParaRPr sz="102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6E38273-37DF-4EBE-B6A4-89F12EADD6A7}"/>
              </a:ext>
            </a:extLst>
          </p:cNvPr>
          <p:cNvSpPr>
            <a:spLocks noGrp="1"/>
          </p:cNvSpPr>
          <p:nvPr/>
        </p:nvSpPr>
        <p:spPr>
          <a:xfrm>
            <a:off x="1143000" y="5010912"/>
            <a:ext cx="9893808" cy="612648"/>
          </a:xfrm>
          <a:prstGeom prst="roundRect">
            <a:avLst>
              <a:gd name="adj" fmla="val 7463"/>
            </a:avLst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39C0EA2-1588-4749-A538-2AD89DA9CDB7}"/>
              </a:ext>
            </a:extLst>
          </p:cNvPr>
          <p:cNvSpPr>
            <a:spLocks noGrp="1"/>
          </p:cNvSpPr>
          <p:nvPr/>
        </p:nvSpPr>
        <p:spPr>
          <a:xfrm>
            <a:off x="1417320" y="5212080"/>
            <a:ext cx="934516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technical skill is calculation.  The professional skill is judgment under uncertainty.</a:t>
            </a:r>
            <a:endParaRPr sz="1400"/>
          </a:p>
        </p:txBody>
      </p:sp>
      <p:pic>
        <p:nvPicPr>
          <p:cNvPr id="8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42" name="Slide Number Placeholder 0">
            <a:extLst>
              <a:ext uri="{FF2B5EF4-FFF2-40B4-BE49-F238E27FC236}">
                <a16:creationId xmlns:a16="http://schemas.microsoft.com/office/drawing/2014/main" id="{78644844-3BB9-4400-95AE-A27E470CA96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8C630A04-5A25-9E0C-9436-126091DB86B3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161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6822E9-AA5D-4AE4-9798-C228FF4B2AF0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THE AAI 500 JOURNEY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6527C4-E3BD-4DCE-9F65-BDA934F0CEDD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E48B22-5E0C-4719-AEDC-264E09DDFBAB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Seven weeks build one defensible statistical-learning workflow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6BED24-09AA-411B-ABE2-EA2DFACA95CE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Each week answers a different question raised by Asha’s payment.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E9C0D2-8A08-4912-B30C-6B963CFDC38E}"/>
              </a:ext>
            </a:extLst>
          </p:cNvPr>
          <p:cNvSpPr>
            <a:spLocks noGrp="1"/>
          </p:cNvSpPr>
          <p:nvPr/>
        </p:nvSpPr>
        <p:spPr>
          <a:xfrm>
            <a:off x="658368" y="1554480"/>
            <a:ext cx="52578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6FAE163-9344-42BD-BA80-02DD96BB92B7}"/>
              </a:ext>
            </a:extLst>
          </p:cNvPr>
          <p:cNvSpPr>
            <a:spLocks noGrp="1"/>
          </p:cNvSpPr>
          <p:nvPr/>
        </p:nvSpPr>
        <p:spPr>
          <a:xfrm>
            <a:off x="822960" y="1709928"/>
            <a:ext cx="438912" cy="438912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0CF53C-127E-4D5C-B932-9D41467A2AA2}"/>
              </a:ext>
            </a:extLst>
          </p:cNvPr>
          <p:cNvSpPr>
            <a:spLocks noGrp="1"/>
          </p:cNvSpPr>
          <p:nvPr/>
        </p:nvSpPr>
        <p:spPr>
          <a:xfrm>
            <a:off x="941832" y="1819656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807C764-6689-405B-8FEB-F248AB4E42D7}"/>
              </a:ext>
            </a:extLst>
          </p:cNvPr>
          <p:cNvSpPr>
            <a:spLocks noGrp="1"/>
          </p:cNvSpPr>
          <p:nvPr/>
        </p:nvSpPr>
        <p:spPr>
          <a:xfrm>
            <a:off x="1426464" y="1673352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Data &amp; statistical thinking</a:t>
            </a:r>
            <a:endParaRPr sz="123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FFB2EC-7032-481A-9B03-391FD8931075}"/>
              </a:ext>
            </a:extLst>
          </p:cNvPr>
          <p:cNvSpPr>
            <a:spLocks noGrp="1"/>
          </p:cNvSpPr>
          <p:nvPr/>
        </p:nvSpPr>
        <p:spPr>
          <a:xfrm>
            <a:off x="3785616" y="1691640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53246"/>
                </a:solidFill>
                <a:latin typeface="Arial"/>
                <a:ea typeface="Arial"/>
                <a:cs typeface="Arial"/>
              </a:rPr>
              <a:t>What exactly are we observing?</a:t>
            </a:r>
            <a:endParaRPr sz="9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C85A8C5-8722-4FDD-95B6-E82460D63622}"/>
              </a:ext>
            </a:extLst>
          </p:cNvPr>
          <p:cNvSpPr>
            <a:spLocks noGrp="1"/>
          </p:cNvSpPr>
          <p:nvPr/>
        </p:nvSpPr>
        <p:spPr>
          <a:xfrm>
            <a:off x="658368" y="2542032"/>
            <a:ext cx="52578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3FCA3BE-4F72-4D82-A60E-31EF4505E814}"/>
              </a:ext>
            </a:extLst>
          </p:cNvPr>
          <p:cNvSpPr>
            <a:spLocks noGrp="1"/>
          </p:cNvSpPr>
          <p:nvPr/>
        </p:nvSpPr>
        <p:spPr>
          <a:xfrm>
            <a:off x="822960" y="2697480"/>
            <a:ext cx="438912" cy="438912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440772-832F-4288-8379-01CD44A45F4F}"/>
              </a:ext>
            </a:extLst>
          </p:cNvPr>
          <p:cNvSpPr>
            <a:spLocks noGrp="1"/>
          </p:cNvSpPr>
          <p:nvPr/>
        </p:nvSpPr>
        <p:spPr>
          <a:xfrm>
            <a:off x="941832" y="2807208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37D8BA-EECB-4D40-8476-065FF5F2F878}"/>
              </a:ext>
            </a:extLst>
          </p:cNvPr>
          <p:cNvSpPr>
            <a:spLocks noGrp="1"/>
          </p:cNvSpPr>
          <p:nvPr/>
        </p:nvSpPr>
        <p:spPr>
          <a:xfrm>
            <a:off x="1426464" y="2660904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Probability &amp; base rates</a:t>
            </a:r>
            <a:endParaRPr sz="123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1017050-4F26-4FAF-AE4D-B61AEEB9142B}"/>
              </a:ext>
            </a:extLst>
          </p:cNvPr>
          <p:cNvSpPr>
            <a:spLocks noGrp="1"/>
          </p:cNvSpPr>
          <p:nvPr/>
        </p:nvSpPr>
        <p:spPr>
          <a:xfrm>
            <a:off x="3785616" y="2679192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likely is the evidence?</a:t>
            </a:r>
            <a:endParaRPr sz="9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BBBCCB7-BD25-4A63-A88B-E4217460F1E1}"/>
              </a:ext>
            </a:extLst>
          </p:cNvPr>
          <p:cNvSpPr>
            <a:spLocks noGrp="1"/>
          </p:cNvSpPr>
          <p:nvPr/>
        </p:nvSpPr>
        <p:spPr>
          <a:xfrm>
            <a:off x="658368" y="3529584"/>
            <a:ext cx="52578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947268C-BD9E-4BDD-BA74-C62A5F2DF243}"/>
              </a:ext>
            </a:extLst>
          </p:cNvPr>
          <p:cNvSpPr>
            <a:spLocks noGrp="1"/>
          </p:cNvSpPr>
          <p:nvPr/>
        </p:nvSpPr>
        <p:spPr>
          <a:xfrm>
            <a:off x="822960" y="3685032"/>
            <a:ext cx="438912" cy="438912"/>
          </a:xfrm>
          <a:prstGeom prst="ellipse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DB1B583-C87A-467D-9E57-365AF3261480}"/>
              </a:ext>
            </a:extLst>
          </p:cNvPr>
          <p:cNvSpPr>
            <a:spLocks noGrp="1"/>
          </p:cNvSpPr>
          <p:nvPr/>
        </p:nvSpPr>
        <p:spPr>
          <a:xfrm>
            <a:off x="941832" y="3794760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23260A-16EB-43C3-88D5-84CBB7092F9D}"/>
              </a:ext>
            </a:extLst>
          </p:cNvPr>
          <p:cNvSpPr>
            <a:spLocks noGrp="1"/>
          </p:cNvSpPr>
          <p:nvPr/>
        </p:nvSpPr>
        <p:spPr>
          <a:xfrm>
            <a:off x="1426464" y="3648456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Sampling &amp; simulation</a:t>
            </a:r>
            <a:endParaRPr sz="123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13C430D-B4E5-4F46-870A-F403072F6A1C}"/>
              </a:ext>
            </a:extLst>
          </p:cNvPr>
          <p:cNvSpPr>
            <a:spLocks noGrp="1"/>
          </p:cNvSpPr>
          <p:nvPr/>
        </p:nvSpPr>
        <p:spPr>
          <a:xfrm>
            <a:off x="3785616" y="366674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53246"/>
                </a:solidFill>
                <a:latin typeface="Arial"/>
                <a:ea typeface="Arial"/>
                <a:cs typeface="Arial"/>
              </a:rPr>
              <a:t>Would another sample agree?</a:t>
            </a:r>
            <a:endParaRPr sz="9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F50B0E3-ABE4-4207-A6A6-BCCCCD1496C7}"/>
              </a:ext>
            </a:extLst>
          </p:cNvPr>
          <p:cNvSpPr>
            <a:spLocks noGrp="1"/>
          </p:cNvSpPr>
          <p:nvPr/>
        </p:nvSpPr>
        <p:spPr>
          <a:xfrm>
            <a:off x="658368" y="4517136"/>
            <a:ext cx="52578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8E832BF-201D-459B-BA97-50D7DD18EF19}"/>
              </a:ext>
            </a:extLst>
          </p:cNvPr>
          <p:cNvSpPr>
            <a:spLocks noGrp="1"/>
          </p:cNvSpPr>
          <p:nvPr/>
        </p:nvSpPr>
        <p:spPr>
          <a:xfrm>
            <a:off x="822960" y="4672584"/>
            <a:ext cx="438912" cy="438912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A46B963-232A-4FF2-A1F2-582802A7B39D}"/>
              </a:ext>
            </a:extLst>
          </p:cNvPr>
          <p:cNvSpPr>
            <a:spLocks noGrp="1"/>
          </p:cNvSpPr>
          <p:nvPr/>
        </p:nvSpPr>
        <p:spPr>
          <a:xfrm>
            <a:off x="941832" y="4782312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DA4CFC6-3F23-42CF-898D-98B2314257FD}"/>
              </a:ext>
            </a:extLst>
          </p:cNvPr>
          <p:cNvSpPr>
            <a:spLocks noGrp="1"/>
          </p:cNvSpPr>
          <p:nvPr/>
        </p:nvSpPr>
        <p:spPr>
          <a:xfrm>
            <a:off x="1426464" y="4636008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Intervals &amp; inference</a:t>
            </a:r>
            <a:endParaRPr sz="123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6B677AD-E284-4565-866D-B7D450CC292C}"/>
              </a:ext>
            </a:extLst>
          </p:cNvPr>
          <p:cNvSpPr>
            <a:spLocks noGrp="1"/>
          </p:cNvSpPr>
          <p:nvPr/>
        </p:nvSpPr>
        <p:spPr>
          <a:xfrm>
            <a:off x="3785616" y="4654296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precise is the claim?</a:t>
            </a:r>
            <a:endParaRPr sz="9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0A345D8-DDD1-4972-8C40-BEAD8F0273CC}"/>
              </a:ext>
            </a:extLst>
          </p:cNvPr>
          <p:cNvSpPr>
            <a:spLocks noGrp="1"/>
          </p:cNvSpPr>
          <p:nvPr/>
        </p:nvSpPr>
        <p:spPr>
          <a:xfrm>
            <a:off x="6217920" y="1956816"/>
            <a:ext cx="52578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84E16E0-59C8-4AA4-BD8D-71A19B8257C4}"/>
              </a:ext>
            </a:extLst>
          </p:cNvPr>
          <p:cNvSpPr>
            <a:spLocks noGrp="1"/>
          </p:cNvSpPr>
          <p:nvPr/>
        </p:nvSpPr>
        <p:spPr>
          <a:xfrm>
            <a:off x="6382512" y="2112264"/>
            <a:ext cx="438912" cy="438912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54D3A7F-553C-46FB-8DFE-6EC34C722D96}"/>
              </a:ext>
            </a:extLst>
          </p:cNvPr>
          <p:cNvSpPr>
            <a:spLocks noGrp="1"/>
          </p:cNvSpPr>
          <p:nvPr/>
        </p:nvSpPr>
        <p:spPr>
          <a:xfrm>
            <a:off x="6501384" y="2221992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E59BAA8-FEA7-4EBD-85E9-F384B06CF196}"/>
              </a:ext>
            </a:extLst>
          </p:cNvPr>
          <p:cNvSpPr>
            <a:spLocks noGrp="1"/>
          </p:cNvSpPr>
          <p:nvPr/>
        </p:nvSpPr>
        <p:spPr>
          <a:xfrm>
            <a:off x="6986016" y="2075688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Bayesian networks</a:t>
            </a:r>
            <a:endParaRPr sz="123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783E8D6-B22F-4409-AB88-1C812C14AEF3}"/>
              </a:ext>
            </a:extLst>
          </p:cNvPr>
          <p:cNvSpPr>
            <a:spLocks noGrp="1"/>
          </p:cNvSpPr>
          <p:nvPr/>
        </p:nvSpPr>
        <p:spPr>
          <a:xfrm>
            <a:off x="9345168" y="2093976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does evidence propagate?</a:t>
            </a:r>
            <a:endParaRPr sz="9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3543507-B16B-443B-86C1-CBD290C0C7B5}"/>
              </a:ext>
            </a:extLst>
          </p:cNvPr>
          <p:cNvSpPr>
            <a:spLocks noGrp="1"/>
          </p:cNvSpPr>
          <p:nvPr/>
        </p:nvSpPr>
        <p:spPr>
          <a:xfrm>
            <a:off x="6217920" y="2944368"/>
            <a:ext cx="52578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A03BF0A-3450-43D4-AC31-A201E77D55EA}"/>
              </a:ext>
            </a:extLst>
          </p:cNvPr>
          <p:cNvSpPr>
            <a:spLocks noGrp="1"/>
          </p:cNvSpPr>
          <p:nvPr/>
        </p:nvSpPr>
        <p:spPr>
          <a:xfrm>
            <a:off x="6382512" y="3099816"/>
            <a:ext cx="438912" cy="438912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AF0AA7B-18E8-4B5F-8398-6B96CD4706D1}"/>
              </a:ext>
            </a:extLst>
          </p:cNvPr>
          <p:cNvSpPr>
            <a:spLocks noGrp="1"/>
          </p:cNvSpPr>
          <p:nvPr/>
        </p:nvSpPr>
        <p:spPr>
          <a:xfrm>
            <a:off x="6501384" y="3209544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0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263097E-BA50-4BE2-8720-A200D0357E19}"/>
              </a:ext>
            </a:extLst>
          </p:cNvPr>
          <p:cNvSpPr>
            <a:spLocks noGrp="1"/>
          </p:cNvSpPr>
          <p:nvPr/>
        </p:nvSpPr>
        <p:spPr>
          <a:xfrm>
            <a:off x="6986016" y="3063240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Regression &amp; GLMs</a:t>
            </a:r>
            <a:endParaRPr sz="123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F1AF832-A83D-4302-AC42-80CFD19EFB5C}"/>
              </a:ext>
            </a:extLst>
          </p:cNvPr>
          <p:cNvSpPr>
            <a:spLocks noGrp="1"/>
          </p:cNvSpPr>
          <p:nvPr/>
        </p:nvSpPr>
        <p:spPr>
          <a:xfrm>
            <a:off x="9345168" y="308152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is risk estimated?</a:t>
            </a:r>
            <a:endParaRPr sz="9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AB99BD6-2E4D-4FE9-B905-4FFB527C8690}"/>
              </a:ext>
            </a:extLst>
          </p:cNvPr>
          <p:cNvSpPr>
            <a:spLocks noGrp="1"/>
          </p:cNvSpPr>
          <p:nvPr/>
        </p:nvSpPr>
        <p:spPr>
          <a:xfrm>
            <a:off x="6217920" y="3931920"/>
            <a:ext cx="52578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0E38B51-6F3E-42FF-B46B-113692F7B6D2}"/>
              </a:ext>
            </a:extLst>
          </p:cNvPr>
          <p:cNvSpPr>
            <a:spLocks noGrp="1"/>
          </p:cNvSpPr>
          <p:nvPr/>
        </p:nvSpPr>
        <p:spPr>
          <a:xfrm>
            <a:off x="6382512" y="4087368"/>
            <a:ext cx="438912" cy="43891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B9459DB-22B8-44EF-BEC8-6B0A254185F3}"/>
              </a:ext>
            </a:extLst>
          </p:cNvPr>
          <p:cNvSpPr>
            <a:spLocks noGrp="1"/>
          </p:cNvSpPr>
          <p:nvPr/>
        </p:nvSpPr>
        <p:spPr>
          <a:xfrm>
            <a:off x="6501384" y="4197096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10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2AEC2FE-63E8-4C1F-A1B8-2BB2485AA573}"/>
              </a:ext>
            </a:extLst>
          </p:cNvPr>
          <p:cNvSpPr>
            <a:spLocks noGrp="1"/>
          </p:cNvSpPr>
          <p:nvPr/>
        </p:nvSpPr>
        <p:spPr>
          <a:xfrm>
            <a:off x="6986016" y="4050792"/>
            <a:ext cx="2395728" cy="2103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63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Classification &amp; clustering</a:t>
            </a:r>
            <a:endParaRPr sz="123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C8BD462-204F-4F4F-A92D-4C531F0D57D9}"/>
              </a:ext>
            </a:extLst>
          </p:cNvPr>
          <p:cNvSpPr>
            <a:spLocks noGrp="1"/>
          </p:cNvSpPr>
          <p:nvPr/>
        </p:nvSpPr>
        <p:spPr>
          <a:xfrm>
            <a:off x="9345168" y="4069080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does a score become action?</a:t>
            </a:r>
            <a:endParaRPr sz="95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469234F-CC42-44F8-A343-F7B6E274AA5C}"/>
              </a:ext>
            </a:extLst>
          </p:cNvPr>
          <p:cNvSpPr>
            <a:spLocks noGrp="1"/>
          </p:cNvSpPr>
          <p:nvPr/>
        </p:nvSpPr>
        <p:spPr>
          <a:xfrm>
            <a:off x="2240280" y="5623560"/>
            <a:ext cx="77266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Today’s masterclass compresses that journey into one case.</a:t>
            </a:r>
            <a:endParaRPr sz="145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82A8DF4-6750-42D3-B8AF-78DAFF02EAA6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Based on the AAI 500 Weeks 1–7 instructional decks and course syllabus.</a:t>
            </a:r>
            <a:endParaRPr sz="670"/>
          </a:p>
        </p:txBody>
      </p:sp>
      <p:pic>
        <p:nvPicPr>
          <p:cNvPr id="87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44" name="Slide Number Placeholder 0">
            <a:extLst>
              <a:ext uri="{FF2B5EF4-FFF2-40B4-BE49-F238E27FC236}">
                <a16:creationId xmlns:a16="http://schemas.microsoft.com/office/drawing/2014/main" id="{971C571F-5807-44F1-B3F9-B350D439103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D3D7D1C8-AE23-AA48-DF65-C742588DBE47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842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3A83B6-EC38-445E-B320-28FC77DB7124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SECTION 01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3DFF4E-D7F9-4BE0-A1D8-8A9643BA3749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A26F90-8FFE-42DD-99F9-D6D4D2FBAC43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12344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200" b="1">
                <a:solidFill>
                  <a:srgbClr val="0074C8"/>
                </a:solidFill>
                <a:latin typeface="Arial"/>
                <a:ea typeface="Arial"/>
                <a:cs typeface="Arial"/>
              </a:rPr>
              <a:t>01</a:t>
            </a:r>
            <a:endParaRPr sz="6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B5E25E-DFA5-40E6-9949-E2ABFA7E14B9}"/>
              </a:ext>
            </a:extLst>
          </p:cNvPr>
          <p:cNvSpPr>
            <a:spLocks noGrp="1"/>
          </p:cNvSpPr>
          <p:nvPr/>
        </p:nvSpPr>
        <p:spPr>
          <a:xfrm>
            <a:off x="1938528" y="1581912"/>
            <a:ext cx="0" cy="2304288"/>
          </a:xfrm>
          <a:prstGeom prst="line">
            <a:avLst/>
          </a:prstGeom>
          <a:noFill/>
          <a:ln w="3175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995457-DBAE-491D-B144-30246CA40E3D}"/>
              </a:ext>
            </a:extLst>
          </p:cNvPr>
          <p:cNvSpPr>
            <a:spLocks noGrp="1"/>
          </p:cNvSpPr>
          <p:nvPr/>
        </p:nvSpPr>
        <p:spPr>
          <a:xfrm>
            <a:off x="2304288" y="15544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before models</a:t>
            </a:r>
            <a:endParaRPr sz="3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676B86-607A-443A-AA57-900DD6EA9B01}"/>
              </a:ext>
            </a:extLst>
          </p:cNvPr>
          <p:cNvSpPr>
            <a:spLocks noGrp="1"/>
          </p:cNvSpPr>
          <p:nvPr/>
        </p:nvSpPr>
        <p:spPr>
          <a:xfrm>
            <a:off x="2331720" y="3127248"/>
            <a:ext cx="7680960" cy="77724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B8D6E4"/>
                </a:solidFill>
                <a:latin typeface="Arial"/>
                <a:ea typeface="Arial"/>
                <a:cs typeface="Arial"/>
              </a:rPr>
              <a:t>A risk score inherits every strength—and every weakness—of the data used to create it.</a:t>
            </a:r>
            <a:endParaRPr sz="1450"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EC19FAB-FDE8-4A13-9205-F5F59A25957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156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AE42FD-A292-42A7-8AA1-11DDD3C633FF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1  |  STATISTICAL THINKING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580B59-2B2B-42C4-9B21-52C03E323313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F3D2E5-4272-4116-AAF6-FEF79AB5F199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Before modeling fraud, define the cases, variables, and labels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20113E-B1F2-4B25-B323-DD6A47FCFD77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The first model decision is often a data-definition decision.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08D0F9-427A-4664-BEB8-7ACF60F49D5A}"/>
              </a:ext>
            </a:extLst>
          </p:cNvPr>
          <p:cNvSpPr>
            <a:spLocks noGrp="1"/>
          </p:cNvSpPr>
          <p:nvPr/>
        </p:nvSpPr>
        <p:spPr>
          <a:xfrm>
            <a:off x="594360" y="1554480"/>
            <a:ext cx="34930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B0FDA1E-2428-4ABE-AED5-0E360D98A141}"/>
              </a:ext>
            </a:extLst>
          </p:cNvPr>
          <p:cNvSpPr>
            <a:spLocks noGrp="1"/>
          </p:cNvSpPr>
          <p:nvPr/>
        </p:nvSpPr>
        <p:spPr>
          <a:xfrm>
            <a:off x="594360" y="1554480"/>
            <a:ext cx="50292" cy="1508760"/>
          </a:xfrm>
          <a:prstGeom prst="rect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F613515-82CE-404A-8A9D-53A84FA5194B}"/>
              </a:ext>
            </a:extLst>
          </p:cNvPr>
          <p:cNvSpPr>
            <a:spLocks noGrp="1"/>
          </p:cNvSpPr>
          <p:nvPr/>
        </p:nvSpPr>
        <p:spPr>
          <a:xfrm>
            <a:off x="758952" y="1700784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EEF7FB"/>
          </a:solidFill>
          <a:ln w="12700">
            <a:solidFill>
              <a:srgbClr val="EEF7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542BF14-D92B-442A-8D44-C3CC9DF84B19}"/>
              </a:ext>
            </a:extLst>
          </p:cNvPr>
          <p:cNvSpPr>
            <a:spLocks noGrp="1"/>
          </p:cNvSpPr>
          <p:nvPr/>
        </p:nvSpPr>
        <p:spPr>
          <a:xfrm>
            <a:off x="832104" y="175107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0074C8"/>
                </a:solidFill>
                <a:latin typeface="Arial"/>
                <a:ea typeface="Arial"/>
                <a:cs typeface="Arial"/>
              </a:rPr>
              <a:t>DATA 1</a:t>
            </a:r>
            <a:endParaRPr sz="82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9ECD3F-BBD6-4A7E-86C6-422408165B58}"/>
              </a:ext>
            </a:extLst>
          </p:cNvPr>
          <p:cNvSpPr>
            <a:spLocks noGrp="1"/>
          </p:cNvSpPr>
          <p:nvPr/>
        </p:nvSpPr>
        <p:spPr>
          <a:xfrm>
            <a:off x="795528" y="21031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CASES</a:t>
            </a:r>
            <a:endParaRPr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3F78165-A4DE-412D-8648-D28ECF3530CB}"/>
              </a:ext>
            </a:extLst>
          </p:cNvPr>
          <p:cNvSpPr>
            <a:spLocks noGrp="1"/>
          </p:cNvSpPr>
          <p:nvPr/>
        </p:nvSpPr>
        <p:spPr>
          <a:xfrm>
            <a:off x="795528" y="2450592"/>
            <a:ext cx="3099816" cy="466344"/>
          </a:xfrm>
          <a:prstGeom prst="rect">
            <a:avLst/>
          </a:prstGeom>
          <a:noFill/>
        </p:spPr>
        <p:txBody>
          <a:bodyPr wrap="square" lIns="127" tIns="127" rIns="127" bIns="127" anchor="t">
            <a:normAutofit/>
          </a:bodyPr>
          <a:lstStyle/>
          <a:p>
            <a:pPr marL="0" indent="0">
              <a:buNone/>
            </a:pPr>
            <a:r>
              <a:rPr sz="1110">
                <a:solidFill>
                  <a:srgbClr val="153246"/>
                </a:solidFill>
                <a:latin typeface="Arial"/>
                <a:ea typeface="Arial"/>
                <a:cs typeface="Arial"/>
              </a:rPr>
              <a:t>One row per payment—not per customer or alert.</a:t>
            </a:r>
            <a:endParaRPr sz="111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A7A5BDD-D641-497C-B487-80CEBBE78EB9}"/>
              </a:ext>
            </a:extLst>
          </p:cNvPr>
          <p:cNvSpPr>
            <a:spLocks noGrp="1"/>
          </p:cNvSpPr>
          <p:nvPr/>
        </p:nvSpPr>
        <p:spPr>
          <a:xfrm>
            <a:off x="4416552" y="1554480"/>
            <a:ext cx="34930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E6D08FD-B6BC-4D67-8E0E-4FCFC426A16D}"/>
              </a:ext>
            </a:extLst>
          </p:cNvPr>
          <p:cNvSpPr>
            <a:spLocks noGrp="1"/>
          </p:cNvSpPr>
          <p:nvPr/>
        </p:nvSpPr>
        <p:spPr>
          <a:xfrm>
            <a:off x="4416552" y="1554480"/>
            <a:ext cx="50292" cy="150876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5518B9B-66F8-4DFD-836D-E07D818E340A}"/>
              </a:ext>
            </a:extLst>
          </p:cNvPr>
          <p:cNvSpPr>
            <a:spLocks noGrp="1"/>
          </p:cNvSpPr>
          <p:nvPr/>
        </p:nvSpPr>
        <p:spPr>
          <a:xfrm>
            <a:off x="4581144" y="1700784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EEF7FB"/>
          </a:solidFill>
          <a:ln w="12700">
            <a:solidFill>
              <a:srgbClr val="EEF7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4BD3307-890A-4F29-B87C-820E10B0BC5A}"/>
              </a:ext>
            </a:extLst>
          </p:cNvPr>
          <p:cNvSpPr>
            <a:spLocks noGrp="1"/>
          </p:cNvSpPr>
          <p:nvPr/>
        </p:nvSpPr>
        <p:spPr>
          <a:xfrm>
            <a:off x="4654296" y="175107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DATA 2</a:t>
            </a:r>
            <a:endParaRPr sz="8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966BC9-E8F3-4FE8-A20B-A713C1977FB4}"/>
              </a:ext>
            </a:extLst>
          </p:cNvPr>
          <p:cNvSpPr>
            <a:spLocks noGrp="1"/>
          </p:cNvSpPr>
          <p:nvPr/>
        </p:nvSpPr>
        <p:spPr>
          <a:xfrm>
            <a:off x="4617720" y="21031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VARIABLES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AFD2BC-33C8-4691-910D-DA2A52FEA7E1}"/>
              </a:ext>
            </a:extLst>
          </p:cNvPr>
          <p:cNvSpPr>
            <a:spLocks noGrp="1"/>
          </p:cNvSpPr>
          <p:nvPr/>
        </p:nvSpPr>
        <p:spPr>
          <a:xfrm>
            <a:off x="4617720" y="2450592"/>
            <a:ext cx="3099816" cy="466344"/>
          </a:xfrm>
          <a:prstGeom prst="rect">
            <a:avLst/>
          </a:prstGeom>
          <a:noFill/>
        </p:spPr>
        <p:txBody>
          <a:bodyPr wrap="square" lIns="127" tIns="127" rIns="127" bIns="127" anchor="t">
            <a:normAutofit/>
          </a:bodyPr>
          <a:lstStyle/>
          <a:p>
            <a:pPr marL="0" indent="0">
              <a:buNone/>
            </a:pPr>
            <a:r>
              <a:rPr sz="1110">
                <a:solidFill>
                  <a:srgbClr val="153246"/>
                </a:solidFill>
                <a:latin typeface="Arial"/>
                <a:ea typeface="Arial"/>
                <a:cs typeface="Arial"/>
              </a:rPr>
              <a:t>Amount, device, merchant, location, history, time.</a:t>
            </a:r>
            <a:endParaRPr sz="111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4146BFF-493D-4D3C-BDBE-3329E0EFD8BD}"/>
              </a:ext>
            </a:extLst>
          </p:cNvPr>
          <p:cNvSpPr>
            <a:spLocks noGrp="1"/>
          </p:cNvSpPr>
          <p:nvPr/>
        </p:nvSpPr>
        <p:spPr>
          <a:xfrm>
            <a:off x="8238744" y="1554480"/>
            <a:ext cx="349300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A3B47A7-05CA-4E59-AC69-893985160B7C}"/>
              </a:ext>
            </a:extLst>
          </p:cNvPr>
          <p:cNvSpPr>
            <a:spLocks noGrp="1"/>
          </p:cNvSpPr>
          <p:nvPr/>
        </p:nvSpPr>
        <p:spPr>
          <a:xfrm>
            <a:off x="8238744" y="1554480"/>
            <a:ext cx="50292" cy="150876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CE10B9D-1F35-4360-8EDE-12AB0A3DDD0D}"/>
              </a:ext>
            </a:extLst>
          </p:cNvPr>
          <p:cNvSpPr>
            <a:spLocks noGrp="1"/>
          </p:cNvSpPr>
          <p:nvPr/>
        </p:nvSpPr>
        <p:spPr>
          <a:xfrm>
            <a:off x="8403336" y="1700784"/>
            <a:ext cx="749808" cy="292608"/>
          </a:xfrm>
          <a:prstGeom prst="roundRect">
            <a:avLst>
              <a:gd name="adj" fmla="val 18750"/>
            </a:avLst>
          </a:prstGeom>
          <a:solidFill>
            <a:srgbClr val="EEF7FB"/>
          </a:solidFill>
          <a:ln w="12700">
            <a:solidFill>
              <a:srgbClr val="EEF7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8F5A337-1DC9-46B1-881C-5B871870BC66}"/>
              </a:ext>
            </a:extLst>
          </p:cNvPr>
          <p:cNvSpPr>
            <a:spLocks noGrp="1"/>
          </p:cNvSpPr>
          <p:nvPr/>
        </p:nvSpPr>
        <p:spPr>
          <a:xfrm>
            <a:off x="8476488" y="175107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DATA 3</a:t>
            </a:r>
            <a:endParaRPr sz="82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0739B22-F149-4840-BBB7-4CE36D7607B5}"/>
              </a:ext>
            </a:extLst>
          </p:cNvPr>
          <p:cNvSpPr>
            <a:spLocks noGrp="1"/>
          </p:cNvSpPr>
          <p:nvPr/>
        </p:nvSpPr>
        <p:spPr>
          <a:xfrm>
            <a:off x="8439912" y="21031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OUTCOME</a:t>
            </a:r>
            <a:endParaRPr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65B4462-DC56-4E32-8025-C1612FCAB442}"/>
              </a:ext>
            </a:extLst>
          </p:cNvPr>
          <p:cNvSpPr>
            <a:spLocks noGrp="1"/>
          </p:cNvSpPr>
          <p:nvPr/>
        </p:nvSpPr>
        <p:spPr>
          <a:xfrm>
            <a:off x="8439912" y="2450592"/>
            <a:ext cx="3099816" cy="466344"/>
          </a:xfrm>
          <a:prstGeom prst="rect">
            <a:avLst/>
          </a:prstGeom>
          <a:noFill/>
        </p:spPr>
        <p:txBody>
          <a:bodyPr wrap="square" lIns="127" tIns="127" rIns="127" bIns="127" anchor="t">
            <a:normAutofit/>
          </a:bodyPr>
          <a:lstStyle/>
          <a:p>
            <a:pPr marL="0" indent="0">
              <a:buNone/>
            </a:pPr>
            <a:r>
              <a:rPr sz="1110">
                <a:solidFill>
                  <a:srgbClr val="153246"/>
                </a:solidFill>
                <a:latin typeface="Arial"/>
                <a:ea typeface="Arial"/>
                <a:cs typeface="Arial"/>
              </a:rPr>
              <a:t>Confirmed fraud, chargeback, or investigator judgment?</a:t>
            </a:r>
            <a:endParaRPr sz="111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49DA94A-F1BC-4137-94E1-C6451C1231D1}"/>
              </a:ext>
            </a:extLst>
          </p:cNvPr>
          <p:cNvSpPr>
            <a:spLocks noGrp="1"/>
          </p:cNvSpPr>
          <p:nvPr/>
        </p:nvSpPr>
        <p:spPr>
          <a:xfrm>
            <a:off x="658368" y="341071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Four ways a clean-looking table can mislead</a:t>
            </a:r>
            <a:endParaRPr sz="152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6411ABA-70D8-498F-B250-A731A3773664}"/>
              </a:ext>
            </a:extLst>
          </p:cNvPr>
          <p:cNvSpPr>
            <a:spLocks noGrp="1"/>
          </p:cNvSpPr>
          <p:nvPr/>
        </p:nvSpPr>
        <p:spPr>
          <a:xfrm>
            <a:off x="658368" y="3886200"/>
            <a:ext cx="5230368" cy="640080"/>
          </a:xfrm>
          <a:prstGeom prst="roundRect">
            <a:avLst>
              <a:gd name="adj" fmla="val 5714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E2040D6-2382-4190-AE66-8654B8C169BC}"/>
              </a:ext>
            </a:extLst>
          </p:cNvPr>
          <p:cNvSpPr>
            <a:spLocks noGrp="1"/>
          </p:cNvSpPr>
          <p:nvPr/>
        </p:nvSpPr>
        <p:spPr>
          <a:xfrm>
            <a:off x="822960" y="3995928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Missingness</a:t>
            </a:r>
            <a:endParaRPr sz="11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E77F058-5C23-4409-AAE7-C8BFD54C86C3}"/>
              </a:ext>
            </a:extLst>
          </p:cNvPr>
          <p:cNvSpPr>
            <a:spLocks noGrp="1"/>
          </p:cNvSpPr>
          <p:nvPr/>
        </p:nvSpPr>
        <p:spPr>
          <a:xfrm>
            <a:off x="2048256" y="3995928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10">
                <a:solidFill>
                  <a:srgbClr val="153246"/>
                </a:solidFill>
                <a:latin typeface="Arial"/>
                <a:ea typeface="Arial"/>
                <a:cs typeface="Arial"/>
              </a:rPr>
              <a:t>Is travel context absent—or genuinely “no travel”?</a:t>
            </a:r>
            <a:endParaRPr sz="101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8492F07-51C4-4F89-9E20-9A12CC383EF3}"/>
              </a:ext>
            </a:extLst>
          </p:cNvPr>
          <p:cNvSpPr>
            <a:spLocks noGrp="1"/>
          </p:cNvSpPr>
          <p:nvPr/>
        </p:nvSpPr>
        <p:spPr>
          <a:xfrm>
            <a:off x="6144768" y="3886200"/>
            <a:ext cx="5230368" cy="640080"/>
          </a:xfrm>
          <a:prstGeom prst="roundRect">
            <a:avLst>
              <a:gd name="adj" fmla="val 5714"/>
            </a:avLst>
          </a:prstGeom>
          <a:solidFill>
            <a:srgbClr val="FFF0E5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4016E73-5FDD-40AB-A9EB-CB2902CB0CD6}"/>
              </a:ext>
            </a:extLst>
          </p:cNvPr>
          <p:cNvSpPr>
            <a:spLocks noGrp="1"/>
          </p:cNvSpPr>
          <p:nvPr/>
        </p:nvSpPr>
        <p:spPr>
          <a:xfrm>
            <a:off x="6309360" y="3995928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Leakage</a:t>
            </a:r>
            <a:endParaRPr sz="11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51A0420-AAF9-4274-898A-E553FFC4A9F7}"/>
              </a:ext>
            </a:extLst>
          </p:cNvPr>
          <p:cNvSpPr>
            <a:spLocks noGrp="1"/>
          </p:cNvSpPr>
          <p:nvPr/>
        </p:nvSpPr>
        <p:spPr>
          <a:xfrm>
            <a:off x="7534656" y="3995928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10">
                <a:solidFill>
                  <a:srgbClr val="153246"/>
                </a:solidFill>
                <a:latin typeface="Arial"/>
                <a:ea typeface="Arial"/>
                <a:cs typeface="Arial"/>
              </a:rPr>
              <a:t>Does a feature reveal the outcome after the decision?</a:t>
            </a:r>
            <a:endParaRPr sz="101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5B32718-497A-4F51-835E-382175FF7810}"/>
              </a:ext>
            </a:extLst>
          </p:cNvPr>
          <p:cNvSpPr>
            <a:spLocks noGrp="1"/>
          </p:cNvSpPr>
          <p:nvPr/>
        </p:nvSpPr>
        <p:spPr>
          <a:xfrm>
            <a:off x="658368" y="4727448"/>
            <a:ext cx="5230368" cy="640080"/>
          </a:xfrm>
          <a:prstGeom prst="roundRect">
            <a:avLst>
              <a:gd name="adj" fmla="val 5714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BA47CFE-8648-4C58-8E96-0AC2F77CE2C6}"/>
              </a:ext>
            </a:extLst>
          </p:cNvPr>
          <p:cNvSpPr>
            <a:spLocks noGrp="1"/>
          </p:cNvSpPr>
          <p:nvPr/>
        </p:nvSpPr>
        <p:spPr>
          <a:xfrm>
            <a:off x="822960" y="4837176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Label delay</a:t>
            </a:r>
            <a:endParaRPr sz="115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6AD57AC-B0F2-415B-AEA8-B9F40FAB3A2B}"/>
              </a:ext>
            </a:extLst>
          </p:cNvPr>
          <p:cNvSpPr>
            <a:spLocks noGrp="1"/>
          </p:cNvSpPr>
          <p:nvPr/>
        </p:nvSpPr>
        <p:spPr>
          <a:xfrm>
            <a:off x="2048256" y="4837176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1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long before fraud is confirmed?</a:t>
            </a:r>
            <a:endParaRPr sz="101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5705A9F6-97EC-48A8-8A99-9A7DF9B2DA12}"/>
              </a:ext>
            </a:extLst>
          </p:cNvPr>
          <p:cNvSpPr>
            <a:spLocks noGrp="1"/>
          </p:cNvSpPr>
          <p:nvPr/>
        </p:nvSpPr>
        <p:spPr>
          <a:xfrm>
            <a:off x="6144768" y="4727448"/>
            <a:ext cx="5230368" cy="640080"/>
          </a:xfrm>
          <a:prstGeom prst="roundRect">
            <a:avLst>
              <a:gd name="adj" fmla="val 5714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73599EF-769F-4024-BEB8-976768EE33F3}"/>
              </a:ext>
            </a:extLst>
          </p:cNvPr>
          <p:cNvSpPr>
            <a:spLocks noGrp="1"/>
          </p:cNvSpPr>
          <p:nvPr/>
        </p:nvSpPr>
        <p:spPr>
          <a:xfrm>
            <a:off x="6309360" y="4837176"/>
            <a:ext cx="1133856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Representation</a:t>
            </a:r>
            <a:endParaRPr sz="115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522719C-4EB6-456B-9BEC-7E502D2B4667}"/>
              </a:ext>
            </a:extLst>
          </p:cNvPr>
          <p:cNvSpPr>
            <a:spLocks noGrp="1"/>
          </p:cNvSpPr>
          <p:nvPr/>
        </p:nvSpPr>
        <p:spPr>
          <a:xfrm>
            <a:off x="7534656" y="4837176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010">
                <a:solidFill>
                  <a:srgbClr val="153246"/>
                </a:solidFill>
                <a:latin typeface="Arial"/>
                <a:ea typeface="Arial"/>
                <a:cs typeface="Arial"/>
              </a:rPr>
              <a:t>Which customers or merchants are under-sampled?</a:t>
            </a:r>
            <a:endParaRPr sz="1010"/>
          </a:p>
        </p:txBody>
      </p:sp>
      <p:pic>
        <p:nvPicPr>
          <p:cNvPr id="7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38" name="Slide Number Placeholder 0">
            <a:extLst>
              <a:ext uri="{FF2B5EF4-FFF2-40B4-BE49-F238E27FC236}">
                <a16:creationId xmlns:a16="http://schemas.microsoft.com/office/drawing/2014/main" id="{1C1A167A-05B9-43A5-9CEC-E8030698481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5359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51480D-E896-486E-830F-1D41F3DF555D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WEEK 1  |  THE ACCURACY PARADOX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364CAE-A4DC-423C-91FA-A1BE55A7D162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2F4ACD-44DE-4B5F-A95E-7D0F6DEA5CFF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model can be 99% accurate—and completely useless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C6B33C-4456-435A-80D3-1790F0C820F1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8D6E4"/>
                </a:solidFill>
                <a:latin typeface="Arial"/>
                <a:ea typeface="Arial"/>
                <a:cs typeface="Arial"/>
              </a:rPr>
              <a:t>Suppose only 1% of 10,000 payments are fraudulent.</a:t>
            </a:r>
            <a:endParaRPr sz="11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2C3AEA-F2B4-40B0-8DDB-80CF46CA1F8B}"/>
              </a:ext>
            </a:extLst>
          </p:cNvPr>
          <p:cNvSpPr>
            <a:spLocks noGrp="1"/>
          </p:cNvSpPr>
          <p:nvPr/>
        </p:nvSpPr>
        <p:spPr>
          <a:xfrm>
            <a:off x="713232" y="1600200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90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9,900</a:t>
            </a:r>
            <a:endParaRPr sz="3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0DF8CF-1BD8-4580-A176-E1B2FA48A312}"/>
              </a:ext>
            </a:extLst>
          </p:cNvPr>
          <p:cNvSpPr>
            <a:spLocks noGrp="1"/>
          </p:cNvSpPr>
          <p:nvPr/>
        </p:nvSpPr>
        <p:spPr>
          <a:xfrm>
            <a:off x="713232" y="2304288"/>
            <a:ext cx="29718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B8D6E4"/>
                </a:solidFill>
                <a:latin typeface="Arial"/>
                <a:ea typeface="Arial"/>
                <a:cs typeface="Arial"/>
              </a:rPr>
              <a:t>legitimate payments</a:t>
            </a:r>
            <a:endParaRPr sz="10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D3A958-AC4E-4AB2-8C26-BDF250BF366B}"/>
              </a:ext>
            </a:extLst>
          </p:cNvPr>
          <p:cNvSpPr>
            <a:spLocks noGrp="1"/>
          </p:cNvSpPr>
          <p:nvPr/>
        </p:nvSpPr>
        <p:spPr>
          <a:xfrm>
            <a:off x="4315968" y="1600200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9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100</a:t>
            </a:r>
            <a:endParaRPr sz="3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E51B2CE-5922-4C89-B592-DD97F314BE9B}"/>
              </a:ext>
            </a:extLst>
          </p:cNvPr>
          <p:cNvSpPr>
            <a:spLocks noGrp="1"/>
          </p:cNvSpPr>
          <p:nvPr/>
        </p:nvSpPr>
        <p:spPr>
          <a:xfrm>
            <a:off x="4315968" y="2304288"/>
            <a:ext cx="29718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B8D6E4"/>
                </a:solidFill>
                <a:latin typeface="Arial"/>
                <a:ea typeface="Arial"/>
                <a:cs typeface="Arial"/>
              </a:rPr>
              <a:t>fraudulent payments</a:t>
            </a:r>
            <a:endParaRPr sz="10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AD0E9E-B72B-413C-A845-26392E1A42FD}"/>
              </a:ext>
            </a:extLst>
          </p:cNvPr>
          <p:cNvSpPr>
            <a:spLocks noGrp="1"/>
          </p:cNvSpPr>
          <p:nvPr/>
        </p:nvSpPr>
        <p:spPr>
          <a:xfrm>
            <a:off x="7918704" y="1600200"/>
            <a:ext cx="3182112" cy="6583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90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99%</a:t>
            </a:r>
            <a:endParaRPr sz="3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1C7194C-2604-4A20-8CBF-C1A9A9562864}"/>
              </a:ext>
            </a:extLst>
          </p:cNvPr>
          <p:cNvSpPr>
            <a:spLocks noGrp="1"/>
          </p:cNvSpPr>
          <p:nvPr/>
        </p:nvSpPr>
        <p:spPr>
          <a:xfrm>
            <a:off x="7918704" y="2304288"/>
            <a:ext cx="3182112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B8D6E4"/>
                </a:solidFill>
                <a:latin typeface="Arial"/>
                <a:ea typeface="Arial"/>
                <a:cs typeface="Arial"/>
              </a:rPr>
              <a:t>accuracy by approving everything</a:t>
            </a:r>
            <a:endParaRPr sz="10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3732461-EA12-4A8F-9139-D9B0B6711282}"/>
              </a:ext>
            </a:extLst>
          </p:cNvPr>
          <p:cNvSpPr>
            <a:spLocks noGrp="1"/>
          </p:cNvSpPr>
          <p:nvPr/>
        </p:nvSpPr>
        <p:spPr>
          <a:xfrm>
            <a:off x="1033272" y="3246120"/>
            <a:ext cx="10104120" cy="1417320"/>
          </a:xfrm>
          <a:prstGeom prst="roundRect">
            <a:avLst>
              <a:gd name="adj" fmla="val 3871"/>
            </a:avLst>
          </a:prstGeom>
          <a:solidFill>
            <a:srgbClr val="0B304B"/>
          </a:solidFill>
          <a:ln w="15240">
            <a:solidFill>
              <a:srgbClr val="2C5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97F941-2738-4826-8BC3-94F005701A85}"/>
              </a:ext>
            </a:extLst>
          </p:cNvPr>
          <p:cNvSpPr>
            <a:spLocks noGrp="1"/>
          </p:cNvSpPr>
          <p:nvPr/>
        </p:nvSpPr>
        <p:spPr>
          <a:xfrm>
            <a:off x="1417320" y="358444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“APPROVE EVERY PAYMENT”</a:t>
            </a:r>
            <a:endParaRPr sz="2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4698CFB-F118-44C3-AECC-93EA8F866B56}"/>
              </a:ext>
            </a:extLst>
          </p:cNvPr>
          <p:cNvSpPr>
            <a:spLocks noGrp="1"/>
          </p:cNvSpPr>
          <p:nvPr/>
        </p:nvSpPr>
        <p:spPr>
          <a:xfrm>
            <a:off x="5440680" y="3575304"/>
            <a:ext cx="685800" cy="438912"/>
          </a:xfrm>
          <a:prstGeom prst="chevron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B46FC7-2EB4-48DE-A5E3-4CB07019D9F9}"/>
              </a:ext>
            </a:extLst>
          </p:cNvPr>
          <p:cNvSpPr>
            <a:spLocks noGrp="1"/>
          </p:cNvSpPr>
          <p:nvPr/>
        </p:nvSpPr>
        <p:spPr>
          <a:xfrm>
            <a:off x="6419088" y="3511296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0 fraud caught</a:t>
            </a:r>
            <a:endParaRPr sz="19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E4D8CA3-AC6C-4C4A-BEC3-FD382D6D705D}"/>
              </a:ext>
            </a:extLst>
          </p:cNvPr>
          <p:cNvSpPr>
            <a:spLocks noGrp="1"/>
          </p:cNvSpPr>
          <p:nvPr/>
        </p:nvSpPr>
        <p:spPr>
          <a:xfrm>
            <a:off x="8549640" y="3511296"/>
            <a:ext cx="1938528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C7483C"/>
                </a:solidFill>
                <a:latin typeface="Arial"/>
                <a:ea typeface="Arial"/>
                <a:cs typeface="Arial"/>
              </a:rPr>
              <a:t>100 fraud missed</a:t>
            </a:r>
            <a:endParaRPr sz="1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BA812CE-BCE8-423F-B3CD-A4396C488F99}"/>
              </a:ext>
            </a:extLst>
          </p:cNvPr>
          <p:cNvSpPr>
            <a:spLocks noGrp="1"/>
          </p:cNvSpPr>
          <p:nvPr/>
        </p:nvSpPr>
        <p:spPr>
          <a:xfrm>
            <a:off x="1600200" y="5230368"/>
            <a:ext cx="9052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C8E2EE"/>
                </a:solidFill>
                <a:latin typeface="Arial"/>
                <a:ea typeface="Arial"/>
                <a:cs typeface="Arial"/>
              </a:rPr>
              <a:t>Accuracy ignores which class matters and what each error costs.</a:t>
            </a:r>
            <a:endParaRPr sz="1500"/>
          </a:p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CD49286-BF3C-47B4-A424-22B6348BB4F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DB7BEEEC-A170-5376-2B6E-CB54687B0CB1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374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47E6C4-4C53-401C-A251-3921442AC66D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SECTION 02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0B1E61-7502-42F6-89C0-6C262C6B146D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77DC01-4E51-4964-BFF8-497DE5D76214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12344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20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02</a:t>
            </a:r>
            <a:endParaRPr sz="6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8AB53EC-55E1-48AF-89D7-1D8FDAC6933D}"/>
              </a:ext>
            </a:extLst>
          </p:cNvPr>
          <p:cNvSpPr>
            <a:spLocks noGrp="1"/>
          </p:cNvSpPr>
          <p:nvPr/>
        </p:nvSpPr>
        <p:spPr>
          <a:xfrm>
            <a:off x="1938528" y="1581912"/>
            <a:ext cx="0" cy="2304288"/>
          </a:xfrm>
          <a:prstGeom prst="line">
            <a:avLst/>
          </a:prstGeom>
          <a:noFill/>
          <a:ln w="3175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41D6F9-21CF-4F42-9664-29BB9C5C9FFC}"/>
              </a:ext>
            </a:extLst>
          </p:cNvPr>
          <p:cNvSpPr>
            <a:spLocks noGrp="1"/>
          </p:cNvSpPr>
          <p:nvPr/>
        </p:nvSpPr>
        <p:spPr>
          <a:xfrm>
            <a:off x="2304288" y="15544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Probability changes the denominator</a:t>
            </a:r>
            <a:endParaRPr sz="3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8BA9B8-6B14-4FBB-B5F7-F248D0E77AA7}"/>
              </a:ext>
            </a:extLst>
          </p:cNvPr>
          <p:cNvSpPr>
            <a:spLocks noGrp="1"/>
          </p:cNvSpPr>
          <p:nvPr/>
        </p:nvSpPr>
        <p:spPr>
          <a:xfrm>
            <a:off x="2331720" y="3127248"/>
            <a:ext cx="7680960" cy="77724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B8D6E4"/>
                </a:solidFill>
                <a:latin typeface="Arial"/>
                <a:ea typeface="Arial"/>
                <a:cs typeface="Arial"/>
              </a:rPr>
              <a:t>The question “How often does the alert catch fraud?” is not the same as “How often is an alert actually fraud?”</a:t>
            </a:r>
            <a:endParaRPr sz="1450"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B6ED180-124D-4E91-995E-3CB73A5E8A2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30394428-F1DC-E5F6-DB0C-7DE31F3D8A23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256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595DF7-0A9F-47BB-B966-888F9184AE2B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2  |  CONDITIONAL PROBABILITY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3D23AC-4BBF-41C7-99C3-CE1E564B24B4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4CAD42-8FF5-49DE-84D0-60754F6D44EE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Two probabilities sound similar—but reverse the conditioning</a:t>
            </a:r>
            <a:endParaRPr sz="25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C6FD190-D9B6-48F2-8703-F18228CCE9DF}"/>
              </a:ext>
            </a:extLst>
          </p:cNvPr>
          <p:cNvSpPr>
            <a:spLocks noGrp="1"/>
          </p:cNvSpPr>
          <p:nvPr/>
        </p:nvSpPr>
        <p:spPr>
          <a:xfrm>
            <a:off x="685800" y="1554480"/>
            <a:ext cx="5257800" cy="3154680"/>
          </a:xfrm>
          <a:prstGeom prst="roundRect">
            <a:avLst>
              <a:gd name="adj" fmla="val 1739"/>
            </a:avLst>
          </a:prstGeom>
          <a:solidFill>
            <a:srgbClr val="DDF7F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D8A9C19-9F3A-4DBC-A983-857F994BCF74}"/>
              </a:ext>
            </a:extLst>
          </p:cNvPr>
          <p:cNvSpPr>
            <a:spLocks noGrp="1"/>
          </p:cNvSpPr>
          <p:nvPr/>
        </p:nvSpPr>
        <p:spPr>
          <a:xfrm>
            <a:off x="685800" y="1554480"/>
            <a:ext cx="50292" cy="315468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B4AAD3-8782-4F80-A8B3-D3F97E49266E}"/>
              </a:ext>
            </a:extLst>
          </p:cNvPr>
          <p:cNvSpPr>
            <a:spLocks noGrp="1"/>
          </p:cNvSpPr>
          <p:nvPr/>
        </p:nvSpPr>
        <p:spPr>
          <a:xfrm>
            <a:off x="850392" y="1700784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EEF7FB"/>
          </a:solidFill>
          <a:ln w="12700">
            <a:solidFill>
              <a:srgbClr val="EEF7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45A974-52D1-4C22-8B61-FA804E502046}"/>
              </a:ext>
            </a:extLst>
          </p:cNvPr>
          <p:cNvSpPr>
            <a:spLocks noGrp="1"/>
          </p:cNvSpPr>
          <p:nvPr/>
        </p:nvSpPr>
        <p:spPr>
          <a:xfrm>
            <a:off x="923544" y="175107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SENSITIVITY</a:t>
            </a:r>
            <a:endParaRPr sz="82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7D5297-E873-4873-9B73-B6A5EDCB6653}"/>
              </a:ext>
            </a:extLst>
          </p:cNvPr>
          <p:cNvSpPr>
            <a:spLocks noGrp="1"/>
          </p:cNvSpPr>
          <p:nvPr/>
        </p:nvSpPr>
        <p:spPr>
          <a:xfrm>
            <a:off x="886968" y="2103120"/>
            <a:ext cx="4864608" cy="5852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P(Alert | Fraud)</a:t>
            </a:r>
            <a:endParaRPr sz="2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043540-1903-4B23-9163-344BAFD31F5E}"/>
              </a:ext>
            </a:extLst>
          </p:cNvPr>
          <p:cNvSpPr>
            <a:spLocks noGrp="1"/>
          </p:cNvSpPr>
          <p:nvPr/>
        </p:nvSpPr>
        <p:spPr>
          <a:xfrm>
            <a:off x="886968" y="2761488"/>
            <a:ext cx="4864608" cy="180136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153246"/>
                </a:solidFill>
                <a:latin typeface="Arial"/>
                <a:ea typeface="Arial"/>
                <a:cs typeface="Arial"/>
              </a:rPr>
              <a:t>Among payments that truly are fraud, how many receive an alert?</a:t>
            </a:r>
            <a:endParaRPr sz="14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57A663-4711-4E9A-8B7F-338200C86898}"/>
              </a:ext>
            </a:extLst>
          </p:cNvPr>
          <p:cNvSpPr>
            <a:spLocks noGrp="1"/>
          </p:cNvSpPr>
          <p:nvPr/>
        </p:nvSpPr>
        <p:spPr>
          <a:xfrm>
            <a:off x="6245352" y="1554480"/>
            <a:ext cx="5257800" cy="3154680"/>
          </a:xfrm>
          <a:prstGeom prst="roundRect">
            <a:avLst>
              <a:gd name="adj" fmla="val 1739"/>
            </a:avLst>
          </a:prstGeom>
          <a:solidFill>
            <a:srgbClr val="FFF0E5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38D25D7-F3DF-4B94-8C2D-BAB51C3349B6}"/>
              </a:ext>
            </a:extLst>
          </p:cNvPr>
          <p:cNvSpPr>
            <a:spLocks noGrp="1"/>
          </p:cNvSpPr>
          <p:nvPr/>
        </p:nvSpPr>
        <p:spPr>
          <a:xfrm>
            <a:off x="6245352" y="1554480"/>
            <a:ext cx="50292" cy="31546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2826D50-4AEC-4164-A27C-69027998816B}"/>
              </a:ext>
            </a:extLst>
          </p:cNvPr>
          <p:cNvSpPr>
            <a:spLocks noGrp="1"/>
          </p:cNvSpPr>
          <p:nvPr/>
        </p:nvSpPr>
        <p:spPr>
          <a:xfrm>
            <a:off x="6409944" y="1700784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EF7FB"/>
          </a:solidFill>
          <a:ln w="12700">
            <a:solidFill>
              <a:srgbClr val="EEF7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BFF154-73F0-490B-B769-D2BA3FCE492F}"/>
              </a:ext>
            </a:extLst>
          </p:cNvPr>
          <p:cNvSpPr>
            <a:spLocks noGrp="1"/>
          </p:cNvSpPr>
          <p:nvPr/>
        </p:nvSpPr>
        <p:spPr>
          <a:xfrm>
            <a:off x="6483096" y="1751076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PRECISION</a:t>
            </a:r>
            <a:endParaRPr sz="8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E89E23-03FC-4A7B-91F5-8A800BAB9B04}"/>
              </a:ext>
            </a:extLst>
          </p:cNvPr>
          <p:cNvSpPr>
            <a:spLocks noGrp="1"/>
          </p:cNvSpPr>
          <p:nvPr/>
        </p:nvSpPr>
        <p:spPr>
          <a:xfrm>
            <a:off x="6446520" y="2103120"/>
            <a:ext cx="4864608" cy="5852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2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P(Fraud | Alert)</a:t>
            </a:r>
            <a:endParaRPr sz="2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D3E1E37-9B9E-4738-A2E7-4D87C29A9756}"/>
              </a:ext>
            </a:extLst>
          </p:cNvPr>
          <p:cNvSpPr>
            <a:spLocks noGrp="1"/>
          </p:cNvSpPr>
          <p:nvPr/>
        </p:nvSpPr>
        <p:spPr>
          <a:xfrm>
            <a:off x="6446520" y="2761488"/>
            <a:ext cx="4864608" cy="180136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153246"/>
                </a:solidFill>
                <a:latin typeface="Arial"/>
                <a:ea typeface="Arial"/>
                <a:cs typeface="Arial"/>
              </a:rPr>
              <a:t>Among payments receiving an alert, how many truly are fraud?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986AB7D-B658-455F-86F7-CC09CDEE2F61}"/>
              </a:ext>
            </a:extLst>
          </p:cNvPr>
          <p:cNvSpPr>
            <a:spLocks noGrp="1"/>
          </p:cNvSpPr>
          <p:nvPr/>
        </p:nvSpPr>
        <p:spPr>
          <a:xfrm>
            <a:off x="1234440" y="5166360"/>
            <a:ext cx="9738360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The conditioning bar “|” tells us which group becomes the denominator.</a:t>
            </a:r>
            <a:endParaRPr sz="1450"/>
          </a:p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65FE91C-83D1-4414-B01D-C73B3341CA2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4DB16885-0D3F-A391-B669-3211DB3B26E8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300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2D60A6-22E2-4A2B-AAA8-D37AFBF5096F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2  |  BAYES BY COUNTS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FFB9CC-FF42-442B-B6BE-8A96540DAD31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8B8C90-3497-4B43-9BD3-6F2E99042F80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Start with 10,000 payments and let the base rate do its work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32A793-38D5-40CA-A77C-697B9C265594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Assume 1% fraud, 90% sensitivity, and a 5% false-positive rate.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5D1836-F7CD-4CB6-B67A-74D3109B66E2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1755648" cy="932688"/>
          </a:xfrm>
          <a:prstGeom prst="roundRect">
            <a:avLst>
              <a:gd name="adj" fmla="val 4902"/>
            </a:avLst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2BFC33-BCC5-42C2-8916-511185FF1264}"/>
              </a:ext>
            </a:extLst>
          </p:cNvPr>
          <p:cNvSpPr>
            <a:spLocks noGrp="1"/>
          </p:cNvSpPr>
          <p:nvPr/>
        </p:nvSpPr>
        <p:spPr>
          <a:xfrm>
            <a:off x="768096" y="3008376"/>
            <a:ext cx="1353312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10,000</a:t>
            </a:r>
            <a:endParaRPr sz="1750"/>
          </a:p>
          <a:p>
            <a:pPr marL="0" indent="0" algn="ctr">
              <a:buNone/>
            </a:pPr>
            <a:r>
              <a:rPr sz="1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  <a:endParaRPr sz="17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F5EFE90-DF60-4E3E-B199-7322B7D7B1BE}"/>
              </a:ext>
            </a:extLst>
          </p:cNvPr>
          <p:cNvSpPr>
            <a:spLocks noGrp="1"/>
          </p:cNvSpPr>
          <p:nvPr/>
        </p:nvSpPr>
        <p:spPr>
          <a:xfrm>
            <a:off x="2761488" y="1737360"/>
            <a:ext cx="2029968" cy="1078992"/>
          </a:xfrm>
          <a:prstGeom prst="roundRect">
            <a:avLst>
              <a:gd name="adj" fmla="val 5085"/>
            </a:avLst>
          </a:prstGeom>
          <a:solidFill>
            <a:srgbClr val="FFF0E5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F07D7D-8B4E-42D8-993E-ADC8720EF075}"/>
              </a:ext>
            </a:extLst>
          </p:cNvPr>
          <p:cNvSpPr>
            <a:spLocks noGrp="1"/>
          </p:cNvSpPr>
          <p:nvPr/>
        </p:nvSpPr>
        <p:spPr>
          <a:xfrm>
            <a:off x="2761488" y="1737360"/>
            <a:ext cx="50292" cy="107899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D296DA-D410-4CC9-B8C3-421EE25AC380}"/>
              </a:ext>
            </a:extLst>
          </p:cNvPr>
          <p:cNvSpPr>
            <a:spLocks noGrp="1"/>
          </p:cNvSpPr>
          <p:nvPr/>
        </p:nvSpPr>
        <p:spPr>
          <a:xfrm>
            <a:off x="2962656" y="1920240"/>
            <a:ext cx="1636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100 fraud</a:t>
            </a:r>
            <a:endParaRPr sz="16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D9B316F-5B25-4354-9C3B-6B56E7C88283}"/>
              </a:ext>
            </a:extLst>
          </p:cNvPr>
          <p:cNvSpPr>
            <a:spLocks noGrp="1"/>
          </p:cNvSpPr>
          <p:nvPr/>
        </p:nvSpPr>
        <p:spPr>
          <a:xfrm>
            <a:off x="2962656" y="2304288"/>
            <a:ext cx="1636776" cy="3657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1% of all payments</a:t>
            </a:r>
            <a:endParaRPr sz="102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9967C62-F734-476A-BFE8-CD78E99FB8BD}"/>
              </a:ext>
            </a:extLst>
          </p:cNvPr>
          <p:cNvSpPr>
            <a:spLocks noGrp="1"/>
          </p:cNvSpPr>
          <p:nvPr/>
        </p:nvSpPr>
        <p:spPr>
          <a:xfrm>
            <a:off x="2761488" y="3968496"/>
            <a:ext cx="2029968" cy="1078992"/>
          </a:xfrm>
          <a:prstGeom prst="roundRect">
            <a:avLst>
              <a:gd name="adj" fmla="val 5085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4ABBEF-2F72-4442-8DD7-B260B0F57C9E}"/>
              </a:ext>
            </a:extLst>
          </p:cNvPr>
          <p:cNvSpPr>
            <a:spLocks noGrp="1"/>
          </p:cNvSpPr>
          <p:nvPr/>
        </p:nvSpPr>
        <p:spPr>
          <a:xfrm>
            <a:off x="2761488" y="3968496"/>
            <a:ext cx="50292" cy="1078992"/>
          </a:xfrm>
          <a:prstGeom prst="rect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744E0AB-EDA5-4BC3-A1CB-D02F39DE555E}"/>
              </a:ext>
            </a:extLst>
          </p:cNvPr>
          <p:cNvSpPr>
            <a:spLocks noGrp="1"/>
          </p:cNvSpPr>
          <p:nvPr/>
        </p:nvSpPr>
        <p:spPr>
          <a:xfrm>
            <a:off x="2962656" y="4151376"/>
            <a:ext cx="163677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9,900 legitimate</a:t>
            </a:r>
            <a:endParaRPr sz="15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87F99DE-E9C8-4E0C-A21B-8542E93C9555}"/>
              </a:ext>
            </a:extLst>
          </p:cNvPr>
          <p:cNvSpPr>
            <a:spLocks noGrp="1"/>
          </p:cNvSpPr>
          <p:nvPr/>
        </p:nvSpPr>
        <p:spPr>
          <a:xfrm>
            <a:off x="2962656" y="4535424"/>
            <a:ext cx="1636776" cy="3657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99% of all payments</a:t>
            </a:r>
            <a:endParaRPr sz="102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244CCBE-3CFB-4511-A784-BF5EF264F5B2}"/>
              </a:ext>
            </a:extLst>
          </p:cNvPr>
          <p:cNvSpPr>
            <a:spLocks noGrp="1"/>
          </p:cNvSpPr>
          <p:nvPr/>
        </p:nvSpPr>
        <p:spPr>
          <a:xfrm>
            <a:off x="5513832" y="1554480"/>
            <a:ext cx="1993392" cy="987552"/>
          </a:xfrm>
          <a:prstGeom prst="roundRect">
            <a:avLst>
              <a:gd name="adj" fmla="val 5556"/>
            </a:avLst>
          </a:prstGeom>
          <a:solidFill>
            <a:srgbClr val="E7F5EC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F8301BB-C2C4-441E-BCEC-A618ACAF1C69}"/>
              </a:ext>
            </a:extLst>
          </p:cNvPr>
          <p:cNvSpPr>
            <a:spLocks noGrp="1"/>
          </p:cNvSpPr>
          <p:nvPr/>
        </p:nvSpPr>
        <p:spPr>
          <a:xfrm>
            <a:off x="5513832" y="1554480"/>
            <a:ext cx="50292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9DD526A-DFB4-49DE-96B3-6A19A02648BA}"/>
              </a:ext>
            </a:extLst>
          </p:cNvPr>
          <p:cNvSpPr>
            <a:spLocks noGrp="1"/>
          </p:cNvSpPr>
          <p:nvPr/>
        </p:nvSpPr>
        <p:spPr>
          <a:xfrm>
            <a:off x="5715000" y="1737360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90 alerted</a:t>
            </a:r>
            <a:endParaRPr sz="153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A8A4A95-4196-482C-B108-F6D1A1CED536}"/>
              </a:ext>
            </a:extLst>
          </p:cNvPr>
          <p:cNvSpPr>
            <a:spLocks noGrp="1"/>
          </p:cNvSpPr>
          <p:nvPr/>
        </p:nvSpPr>
        <p:spPr>
          <a:xfrm>
            <a:off x="5715000" y="2103120"/>
            <a:ext cx="1600200" cy="29260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990">
                <a:solidFill>
                  <a:srgbClr val="153246"/>
                </a:solidFill>
                <a:latin typeface="Arial"/>
                <a:ea typeface="Arial"/>
                <a:cs typeface="Arial"/>
              </a:rPr>
              <a:t>true positives</a:t>
            </a:r>
            <a:endParaRPr sz="99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DD42A14-1416-450B-8310-572FA8CC04AC}"/>
              </a:ext>
            </a:extLst>
          </p:cNvPr>
          <p:cNvSpPr>
            <a:spLocks noGrp="1"/>
          </p:cNvSpPr>
          <p:nvPr/>
        </p:nvSpPr>
        <p:spPr>
          <a:xfrm>
            <a:off x="5513832" y="2670048"/>
            <a:ext cx="1993392" cy="987552"/>
          </a:xfrm>
          <a:prstGeom prst="roundRect">
            <a:avLst>
              <a:gd name="adj" fmla="val 5556"/>
            </a:avLst>
          </a:prstGeom>
          <a:solidFill>
            <a:srgbClr val="FBE9E7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0CFB063-764A-494C-BBB5-698D430F3DF5}"/>
              </a:ext>
            </a:extLst>
          </p:cNvPr>
          <p:cNvSpPr>
            <a:spLocks noGrp="1"/>
          </p:cNvSpPr>
          <p:nvPr/>
        </p:nvSpPr>
        <p:spPr>
          <a:xfrm>
            <a:off x="5513832" y="2670048"/>
            <a:ext cx="50292" cy="987552"/>
          </a:xfrm>
          <a:prstGeom prst="rect">
            <a:avLst/>
          </a:prstGeom>
          <a:solidFill>
            <a:srgbClr val="C7483C"/>
          </a:solidFill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C41A8CB-2994-4343-8A5F-587B9B06869D}"/>
              </a:ext>
            </a:extLst>
          </p:cNvPr>
          <p:cNvSpPr>
            <a:spLocks noGrp="1"/>
          </p:cNvSpPr>
          <p:nvPr/>
        </p:nvSpPr>
        <p:spPr>
          <a:xfrm>
            <a:off x="5715000" y="2852928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10 not alerted</a:t>
            </a:r>
            <a:endParaRPr sz="15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2ECD593-6C8C-4E65-82CD-911AAC93AED3}"/>
              </a:ext>
            </a:extLst>
          </p:cNvPr>
          <p:cNvSpPr>
            <a:spLocks noGrp="1"/>
          </p:cNvSpPr>
          <p:nvPr/>
        </p:nvSpPr>
        <p:spPr>
          <a:xfrm>
            <a:off x="5715000" y="3218688"/>
            <a:ext cx="1600200" cy="29260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990">
                <a:solidFill>
                  <a:srgbClr val="153246"/>
                </a:solidFill>
                <a:latin typeface="Arial"/>
                <a:ea typeface="Arial"/>
                <a:cs typeface="Arial"/>
              </a:rPr>
              <a:t>false negatives</a:t>
            </a:r>
            <a:endParaRPr sz="99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323B14C-2A82-4A96-A187-B9AF117AD772}"/>
              </a:ext>
            </a:extLst>
          </p:cNvPr>
          <p:cNvSpPr>
            <a:spLocks noGrp="1"/>
          </p:cNvSpPr>
          <p:nvPr/>
        </p:nvSpPr>
        <p:spPr>
          <a:xfrm>
            <a:off x="5513832" y="3785616"/>
            <a:ext cx="1993392" cy="987552"/>
          </a:xfrm>
          <a:prstGeom prst="roundRect">
            <a:avLst>
              <a:gd name="adj" fmla="val 5556"/>
            </a:avLst>
          </a:prstGeom>
          <a:solidFill>
            <a:srgbClr val="FFF0E5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AD6CCBD-583E-4664-AB98-50C64093C257}"/>
              </a:ext>
            </a:extLst>
          </p:cNvPr>
          <p:cNvSpPr>
            <a:spLocks noGrp="1"/>
          </p:cNvSpPr>
          <p:nvPr/>
        </p:nvSpPr>
        <p:spPr>
          <a:xfrm>
            <a:off x="5513832" y="3785616"/>
            <a:ext cx="50292" cy="98755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E4343AC-808B-46AE-AA68-044399E652AE}"/>
              </a:ext>
            </a:extLst>
          </p:cNvPr>
          <p:cNvSpPr>
            <a:spLocks noGrp="1"/>
          </p:cNvSpPr>
          <p:nvPr/>
        </p:nvSpPr>
        <p:spPr>
          <a:xfrm>
            <a:off x="5715000" y="396849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3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495 alerted</a:t>
            </a:r>
            <a:endParaRPr sz="153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27EF1B5-CA29-4D39-BB9B-BC8D303C081F}"/>
              </a:ext>
            </a:extLst>
          </p:cNvPr>
          <p:cNvSpPr>
            <a:spLocks noGrp="1"/>
          </p:cNvSpPr>
          <p:nvPr/>
        </p:nvSpPr>
        <p:spPr>
          <a:xfrm>
            <a:off x="5715000" y="4334256"/>
            <a:ext cx="1600200" cy="29260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990">
                <a:solidFill>
                  <a:srgbClr val="153246"/>
                </a:solidFill>
                <a:latin typeface="Arial"/>
                <a:ea typeface="Arial"/>
                <a:cs typeface="Arial"/>
              </a:rPr>
              <a:t>false positives</a:t>
            </a:r>
            <a:endParaRPr sz="99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1AC1CE5-0406-4E14-96E5-CD46A12E3099}"/>
              </a:ext>
            </a:extLst>
          </p:cNvPr>
          <p:cNvSpPr>
            <a:spLocks noGrp="1"/>
          </p:cNvSpPr>
          <p:nvPr/>
        </p:nvSpPr>
        <p:spPr>
          <a:xfrm>
            <a:off x="5513832" y="4901184"/>
            <a:ext cx="1993392" cy="987552"/>
          </a:xfrm>
          <a:prstGeom prst="roundRect">
            <a:avLst>
              <a:gd name="adj" fmla="val 5556"/>
            </a:avLst>
          </a:prstGeom>
          <a:solidFill>
            <a:srgbClr val="E7F5EC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1F71835-6581-43B2-8144-38D3E61F58BC}"/>
              </a:ext>
            </a:extLst>
          </p:cNvPr>
          <p:cNvSpPr>
            <a:spLocks noGrp="1"/>
          </p:cNvSpPr>
          <p:nvPr/>
        </p:nvSpPr>
        <p:spPr>
          <a:xfrm>
            <a:off x="5513832" y="4901184"/>
            <a:ext cx="50292" cy="9875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4EAC2A8-8641-4F38-9F8C-2FA4D130940E}"/>
              </a:ext>
            </a:extLst>
          </p:cNvPr>
          <p:cNvSpPr>
            <a:spLocks noGrp="1"/>
          </p:cNvSpPr>
          <p:nvPr/>
        </p:nvSpPr>
        <p:spPr>
          <a:xfrm>
            <a:off x="5715000" y="5084064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9,405 not alerted</a:t>
            </a:r>
            <a:endParaRPr sz="142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1CAE40F-EAB8-42AF-911B-B58F27AEA055}"/>
              </a:ext>
            </a:extLst>
          </p:cNvPr>
          <p:cNvSpPr>
            <a:spLocks noGrp="1"/>
          </p:cNvSpPr>
          <p:nvPr/>
        </p:nvSpPr>
        <p:spPr>
          <a:xfrm>
            <a:off x="5715000" y="5449824"/>
            <a:ext cx="1600200" cy="29260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990">
                <a:solidFill>
                  <a:srgbClr val="153246"/>
                </a:solidFill>
                <a:latin typeface="Arial"/>
                <a:ea typeface="Arial"/>
                <a:cs typeface="Arial"/>
              </a:rPr>
              <a:t>true negatives</a:t>
            </a:r>
            <a:endParaRPr sz="99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CAF803E-B154-4C43-B808-5F03F17A467F}"/>
              </a:ext>
            </a:extLst>
          </p:cNvPr>
          <p:cNvSpPr>
            <a:spLocks noGrp="1"/>
          </p:cNvSpPr>
          <p:nvPr/>
        </p:nvSpPr>
        <p:spPr>
          <a:xfrm flipV="1">
            <a:off x="2322576" y="2276856"/>
            <a:ext cx="438912" cy="969264"/>
          </a:xfrm>
          <a:prstGeom prst="line">
            <a:avLst/>
          </a:prstGeom>
          <a:noFill/>
          <a:ln w="22860">
            <a:solidFill>
              <a:srgbClr val="B9CBD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D713379-934C-4D46-B013-613EC044BC5D}"/>
              </a:ext>
            </a:extLst>
          </p:cNvPr>
          <p:cNvSpPr>
            <a:spLocks noGrp="1"/>
          </p:cNvSpPr>
          <p:nvPr/>
        </p:nvSpPr>
        <p:spPr>
          <a:xfrm>
            <a:off x="2322576" y="3246120"/>
            <a:ext cx="438912" cy="1261872"/>
          </a:xfrm>
          <a:prstGeom prst="line">
            <a:avLst/>
          </a:prstGeom>
          <a:noFill/>
          <a:ln w="22860">
            <a:solidFill>
              <a:srgbClr val="B9CBD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9487828-EC74-42F7-82D7-2E900348CA34}"/>
              </a:ext>
            </a:extLst>
          </p:cNvPr>
          <p:cNvSpPr>
            <a:spLocks noGrp="1"/>
          </p:cNvSpPr>
          <p:nvPr/>
        </p:nvSpPr>
        <p:spPr>
          <a:xfrm flipV="1">
            <a:off x="4791456" y="2048256"/>
            <a:ext cx="722376" cy="228600"/>
          </a:xfrm>
          <a:prstGeom prst="line">
            <a:avLst/>
          </a:prstGeom>
          <a:noFill/>
          <a:ln w="22860">
            <a:solidFill>
              <a:srgbClr val="F47A1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40FFDE7-C83B-46B7-BE0B-99818948EE6B}"/>
              </a:ext>
            </a:extLst>
          </p:cNvPr>
          <p:cNvSpPr>
            <a:spLocks noGrp="1"/>
          </p:cNvSpPr>
          <p:nvPr/>
        </p:nvSpPr>
        <p:spPr>
          <a:xfrm>
            <a:off x="4791456" y="2276856"/>
            <a:ext cx="722376" cy="886968"/>
          </a:xfrm>
          <a:prstGeom prst="line">
            <a:avLst/>
          </a:prstGeom>
          <a:noFill/>
          <a:ln w="22860">
            <a:solidFill>
              <a:srgbClr val="F47A1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998CD85-C1E3-49A7-979C-B088F938E7FD}"/>
              </a:ext>
            </a:extLst>
          </p:cNvPr>
          <p:cNvSpPr>
            <a:spLocks noGrp="1"/>
          </p:cNvSpPr>
          <p:nvPr/>
        </p:nvSpPr>
        <p:spPr>
          <a:xfrm flipV="1">
            <a:off x="4791456" y="4279392"/>
            <a:ext cx="722376" cy="228600"/>
          </a:xfrm>
          <a:prstGeom prst="line">
            <a:avLst/>
          </a:prstGeom>
          <a:noFill/>
          <a:ln w="22860">
            <a:solidFill>
              <a:srgbClr val="0074C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F3C728B-C430-40DB-B405-364E4A18E147}"/>
              </a:ext>
            </a:extLst>
          </p:cNvPr>
          <p:cNvSpPr>
            <a:spLocks noGrp="1"/>
          </p:cNvSpPr>
          <p:nvPr/>
        </p:nvSpPr>
        <p:spPr>
          <a:xfrm>
            <a:off x="4791456" y="4507992"/>
            <a:ext cx="722376" cy="886968"/>
          </a:xfrm>
          <a:prstGeom prst="line">
            <a:avLst/>
          </a:prstGeom>
          <a:noFill/>
          <a:ln w="22860">
            <a:solidFill>
              <a:srgbClr val="0074C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3BAA9B4-DD53-479C-AD7E-C424B6067CB4}"/>
              </a:ext>
            </a:extLst>
          </p:cNvPr>
          <p:cNvSpPr>
            <a:spLocks noGrp="1"/>
          </p:cNvSpPr>
          <p:nvPr/>
        </p:nvSpPr>
        <p:spPr>
          <a:xfrm>
            <a:off x="7982712" y="1572768"/>
            <a:ext cx="3493008" cy="431596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905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AFAAABD-17AF-4AEA-B592-242E9DBA662F}"/>
              </a:ext>
            </a:extLst>
          </p:cNvPr>
          <p:cNvSpPr>
            <a:spLocks noGrp="1"/>
          </p:cNvSpPr>
          <p:nvPr/>
        </p:nvSpPr>
        <p:spPr>
          <a:xfrm>
            <a:off x="8503920" y="1938528"/>
            <a:ext cx="2450592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 spc="80">
                <a:solidFill>
                  <a:srgbClr val="F47A1F"/>
                </a:solidFill>
                <a:latin typeface="Arial"/>
                <a:ea typeface="Arial"/>
                <a:cs typeface="Arial"/>
              </a:rPr>
              <a:t>YOUR PREDICTION</a:t>
            </a:r>
            <a:endParaRPr sz="9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588BB5D-889B-4C02-98B8-911733219C61}"/>
              </a:ext>
            </a:extLst>
          </p:cNvPr>
          <p:cNvSpPr>
            <a:spLocks noGrp="1"/>
          </p:cNvSpPr>
          <p:nvPr/>
        </p:nvSpPr>
        <p:spPr>
          <a:xfrm>
            <a:off x="8366760" y="2523744"/>
            <a:ext cx="2724912" cy="8412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Of the 585 alerts,</a:t>
            </a:r>
            <a:endParaRPr sz="1800"/>
          </a:p>
          <a:p>
            <a:pPr marL="0" indent="0" algn="ctr">
              <a:buNone/>
            </a:pPr>
            <a:r>
              <a:rPr sz="18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how many are fraud?</a:t>
            </a:r>
            <a:endParaRPr sz="18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A7C4C33-FE4F-458F-8102-04D891A1D514}"/>
              </a:ext>
            </a:extLst>
          </p:cNvPr>
          <p:cNvSpPr>
            <a:spLocks noGrp="1"/>
          </p:cNvSpPr>
          <p:nvPr/>
        </p:nvSpPr>
        <p:spPr>
          <a:xfrm>
            <a:off x="8842248" y="3794760"/>
            <a:ext cx="1783080" cy="1060704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153246"/>
                </a:solidFill>
                <a:latin typeface="Arial"/>
                <a:ea typeface="Arial"/>
                <a:cs typeface="Arial"/>
              </a:rPr>
              <a:t>A  &gt; 50%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153246"/>
                </a:solidFill>
                <a:latin typeface="Arial"/>
                <a:ea typeface="Arial"/>
                <a:cs typeface="Arial"/>
              </a:rPr>
              <a:t>B  25–50%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153246"/>
                </a:solidFill>
                <a:latin typeface="Arial"/>
                <a:ea typeface="Arial"/>
                <a:cs typeface="Arial"/>
              </a:rPr>
              <a:t>C  10–25%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153246"/>
                </a:solidFill>
                <a:latin typeface="Arial"/>
                <a:ea typeface="Arial"/>
                <a:cs typeface="Arial"/>
              </a:rPr>
              <a:t>D  &lt; 10%</a:t>
            </a:r>
            <a:endParaRPr sz="1250"/>
          </a:p>
        </p:txBody>
      </p:sp>
      <p:pic>
        <p:nvPicPr>
          <p:cNvPr id="8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43" name="Slide Number Placeholder 0">
            <a:extLst>
              <a:ext uri="{FF2B5EF4-FFF2-40B4-BE49-F238E27FC236}">
                <a16:creationId xmlns:a16="http://schemas.microsoft.com/office/drawing/2014/main" id="{4EE0024A-D01D-4DC7-9DDE-95A10D07AA5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2DD23107-4986-8758-3A93-3D74F35908C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656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06C7AC-26AD-460F-A1BB-218413A54DC2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WEEK 2  |  THE REVEAL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ADC33C-739D-444B-B174-62B09F9C274A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C0E24D-EFC1-4D20-9C4B-701FBD576206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 detector can still produce mostly false alarms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057155-3C5D-4342-9EA0-B2A75BEB99DC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8D6E4"/>
                </a:solidFill>
                <a:latin typeface="Arial"/>
                <a:ea typeface="Arial"/>
                <a:cs typeface="Arial"/>
              </a:rPr>
              <a:t>The base rate—not just model quality—determines what an alert means.</a:t>
            </a:r>
            <a:endParaRPr sz="11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C0AD163-55C6-46A9-9665-3546DED0C8FE}"/>
              </a:ext>
            </a:extLst>
          </p:cNvPr>
          <p:cNvSpPr>
            <a:spLocks noGrp="1"/>
          </p:cNvSpPr>
          <p:nvPr/>
        </p:nvSpPr>
        <p:spPr>
          <a:xfrm>
            <a:off x="914400" y="1847088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80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90</a:t>
            </a:r>
            <a:endParaRPr sz="4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5DC527-664B-4188-848C-6EC9D5663AD6}"/>
              </a:ext>
            </a:extLst>
          </p:cNvPr>
          <p:cNvSpPr>
            <a:spLocks noGrp="1"/>
          </p:cNvSpPr>
          <p:nvPr/>
        </p:nvSpPr>
        <p:spPr>
          <a:xfrm>
            <a:off x="914400" y="27066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B8D6E4"/>
                </a:solidFill>
                <a:latin typeface="Arial"/>
                <a:ea typeface="Arial"/>
                <a:cs typeface="Arial"/>
              </a:rPr>
              <a:t>true positives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898047-8A5F-416A-BE29-CFC920C4AD10}"/>
              </a:ext>
            </a:extLst>
          </p:cNvPr>
          <p:cNvSpPr>
            <a:spLocks noGrp="1"/>
          </p:cNvSpPr>
          <p:nvPr/>
        </p:nvSpPr>
        <p:spPr>
          <a:xfrm>
            <a:off x="3008376" y="2066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 b="1">
                <a:solidFill>
                  <a:srgbClr val="7393A5"/>
                </a:solidFill>
                <a:latin typeface="Arial"/>
                <a:ea typeface="Arial"/>
                <a:cs typeface="Arial"/>
              </a:rPr>
              <a:t>+</a:t>
            </a:r>
            <a:endParaRPr sz="3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93FA48-9399-4AE5-80C3-156B5B0F662F}"/>
              </a:ext>
            </a:extLst>
          </p:cNvPr>
          <p:cNvSpPr>
            <a:spLocks noGrp="1"/>
          </p:cNvSpPr>
          <p:nvPr/>
        </p:nvSpPr>
        <p:spPr>
          <a:xfrm>
            <a:off x="3566160" y="1847088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8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495</a:t>
            </a:r>
            <a:endParaRPr sz="48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8C2AD80-5FA2-48CA-8EEC-A91F6047749B}"/>
              </a:ext>
            </a:extLst>
          </p:cNvPr>
          <p:cNvSpPr>
            <a:spLocks noGrp="1"/>
          </p:cNvSpPr>
          <p:nvPr/>
        </p:nvSpPr>
        <p:spPr>
          <a:xfrm>
            <a:off x="3566160" y="27066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B8D6E4"/>
                </a:solidFill>
                <a:latin typeface="Arial"/>
                <a:ea typeface="Arial"/>
                <a:cs typeface="Arial"/>
              </a:rPr>
              <a:t>false positives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F07EB07-EDEF-4607-92E3-34D2F67AEBD4}"/>
              </a:ext>
            </a:extLst>
          </p:cNvPr>
          <p:cNvSpPr>
            <a:spLocks noGrp="1"/>
          </p:cNvSpPr>
          <p:nvPr/>
        </p:nvSpPr>
        <p:spPr>
          <a:xfrm>
            <a:off x="5614416" y="2066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200" b="1">
                <a:solidFill>
                  <a:srgbClr val="7393A5"/>
                </a:solidFill>
                <a:latin typeface="Arial"/>
                <a:ea typeface="Arial"/>
                <a:cs typeface="Arial"/>
              </a:rPr>
              <a:t>=</a:t>
            </a:r>
            <a:endParaRPr sz="3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93CBFE-7F91-44E0-ACFC-3FA01C0BB89E}"/>
              </a:ext>
            </a:extLst>
          </p:cNvPr>
          <p:cNvSpPr>
            <a:spLocks noGrp="1"/>
          </p:cNvSpPr>
          <p:nvPr/>
        </p:nvSpPr>
        <p:spPr>
          <a:xfrm>
            <a:off x="6163056" y="1847088"/>
            <a:ext cx="2011680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585</a:t>
            </a:r>
            <a:endParaRPr sz="4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8B0B31-781A-41DA-BEEC-8F9CA7EF472B}"/>
              </a:ext>
            </a:extLst>
          </p:cNvPr>
          <p:cNvSpPr>
            <a:spLocks noGrp="1"/>
          </p:cNvSpPr>
          <p:nvPr/>
        </p:nvSpPr>
        <p:spPr>
          <a:xfrm>
            <a:off x="6163056" y="270662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B8D6E4"/>
                </a:solidFill>
                <a:latin typeface="Arial"/>
                <a:ea typeface="Arial"/>
                <a:cs typeface="Arial"/>
              </a:rPr>
              <a:t>total alerts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6147437-C07F-4E19-8268-1EF8DC4D83EE}"/>
              </a:ext>
            </a:extLst>
          </p:cNvPr>
          <p:cNvSpPr>
            <a:spLocks noGrp="1"/>
          </p:cNvSpPr>
          <p:nvPr/>
        </p:nvSpPr>
        <p:spPr>
          <a:xfrm>
            <a:off x="8458200" y="1508760"/>
            <a:ext cx="0" cy="1975104"/>
          </a:xfrm>
          <a:prstGeom prst="line">
            <a:avLst/>
          </a:prstGeom>
          <a:noFill/>
          <a:ln w="19050">
            <a:solidFill>
              <a:srgbClr val="2A5B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052415-6005-4158-BA24-AA45224CC6D3}"/>
              </a:ext>
            </a:extLst>
          </p:cNvPr>
          <p:cNvSpPr>
            <a:spLocks noGrp="1"/>
          </p:cNvSpPr>
          <p:nvPr/>
        </p:nvSpPr>
        <p:spPr>
          <a:xfrm>
            <a:off x="8887968" y="170992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 spc="100">
                <a:solidFill>
                  <a:srgbClr val="8FD6E4"/>
                </a:solidFill>
                <a:latin typeface="Arial"/>
                <a:ea typeface="Arial"/>
                <a:cs typeface="Arial"/>
              </a:rPr>
              <a:t>PRECISION</a:t>
            </a:r>
            <a:endParaRPr sz="1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D653BD6-C4E0-45CA-8745-DEA9CA2DD838}"/>
              </a:ext>
            </a:extLst>
          </p:cNvPr>
          <p:cNvSpPr>
            <a:spLocks noGrp="1"/>
          </p:cNvSpPr>
          <p:nvPr/>
        </p:nvSpPr>
        <p:spPr>
          <a:xfrm>
            <a:off x="8778240" y="214884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 / 585</a:t>
            </a:r>
            <a:endParaRPr sz="2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95A0F4-AFEF-437F-8F97-D8A30F64598B}"/>
              </a:ext>
            </a:extLst>
          </p:cNvPr>
          <p:cNvSpPr>
            <a:spLocks noGrp="1"/>
          </p:cNvSpPr>
          <p:nvPr/>
        </p:nvSpPr>
        <p:spPr>
          <a:xfrm>
            <a:off x="8622792" y="2834640"/>
            <a:ext cx="242316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70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15.4%</a:t>
            </a:r>
            <a:endParaRPr sz="47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8005FC0-0142-40CC-BB2A-8609BCE017B2}"/>
              </a:ext>
            </a:extLst>
          </p:cNvPr>
          <p:cNvSpPr>
            <a:spLocks noGrp="1"/>
          </p:cNvSpPr>
          <p:nvPr/>
        </p:nvSpPr>
        <p:spPr>
          <a:xfrm>
            <a:off x="1024128" y="4251960"/>
            <a:ext cx="10076688" cy="932688"/>
          </a:xfrm>
          <a:prstGeom prst="roundRect">
            <a:avLst>
              <a:gd name="adj" fmla="val 4902"/>
            </a:avLst>
          </a:prstGeom>
          <a:solidFill>
            <a:srgbClr val="0B304B"/>
          </a:solidFill>
          <a:ln w="12700">
            <a:solidFill>
              <a:srgbClr val="2A5B7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CDA6EFA-F349-436D-8D4E-4F40105E8ED6}"/>
              </a:ext>
            </a:extLst>
          </p:cNvPr>
          <p:cNvSpPr>
            <a:spLocks noGrp="1"/>
          </p:cNvSpPr>
          <p:nvPr/>
        </p:nvSpPr>
        <p:spPr>
          <a:xfrm>
            <a:off x="1417320" y="4562856"/>
            <a:ext cx="92811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700" b="1">
                <a:solidFill>
                  <a:srgbClr val="D5EAF3"/>
                </a:solidFill>
                <a:latin typeface="Arial"/>
                <a:ea typeface="Arial"/>
                <a:cs typeface="Arial"/>
              </a:rPr>
              <a:t>About 5 in every 6 alerts would interrupt a legitimate payment.</a:t>
            </a:r>
            <a:endParaRPr sz="1700"/>
          </a:p>
        </p:txBody>
      </p:sp>
      <p:pic>
        <p:nvPicPr>
          <p:cNvPr id="4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B053B40-7CFD-41F7-9B3E-789AFC8209B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327921A4-25C4-3DB4-06B1-32693CEE2241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8016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825BB7-637C-493C-8870-EBF0028B2CAA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2  |  BAYESIAN UPDATING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75B2C4-6C72-4E0F-A3CE-583E0DD5F4B8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6158D3-DCC7-4732-8CEC-CF07E91742E5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Bayes combines prior prevalence with the likelihood of the evidence</a:t>
            </a:r>
            <a:endParaRPr sz="25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88BF1C7-5FC0-4E20-8BFD-C592DAA6AD6D}"/>
              </a:ext>
            </a:extLst>
          </p:cNvPr>
          <p:cNvSpPr>
            <a:spLocks noGrp="1"/>
          </p:cNvSpPr>
          <p:nvPr/>
        </p:nvSpPr>
        <p:spPr>
          <a:xfrm>
            <a:off x="777240" y="1463040"/>
            <a:ext cx="10652760" cy="1097280"/>
          </a:xfrm>
          <a:prstGeom prst="roundRect">
            <a:avLst>
              <a:gd name="adj" fmla="val 4167"/>
            </a:avLst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2852E4-3443-43E3-A410-FC6CAD4344ED}"/>
              </a:ext>
            </a:extLst>
          </p:cNvPr>
          <p:cNvSpPr>
            <a:spLocks noGrp="1"/>
          </p:cNvSpPr>
          <p:nvPr/>
        </p:nvSpPr>
        <p:spPr>
          <a:xfrm>
            <a:off x="1170432" y="1819656"/>
            <a:ext cx="9893808" cy="3474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Posterior odds  =  Prior odds  ×  Likelihood ratio</a:t>
            </a:r>
            <a:endParaRPr sz="2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5FEC6B-55AB-493D-A5B6-1DE635B8C465}"/>
              </a:ext>
            </a:extLst>
          </p:cNvPr>
          <p:cNvSpPr>
            <a:spLocks noGrp="1"/>
          </p:cNvSpPr>
          <p:nvPr/>
        </p:nvSpPr>
        <p:spPr>
          <a:xfrm>
            <a:off x="749808" y="3063240"/>
            <a:ext cx="345643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E561A9F-B306-43FE-80BD-9C33132087A0}"/>
              </a:ext>
            </a:extLst>
          </p:cNvPr>
          <p:cNvSpPr>
            <a:spLocks noGrp="1"/>
          </p:cNvSpPr>
          <p:nvPr/>
        </p:nvSpPr>
        <p:spPr>
          <a:xfrm>
            <a:off x="749808" y="3063240"/>
            <a:ext cx="50292" cy="1901952"/>
          </a:xfrm>
          <a:prstGeom prst="rect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A598406-5C52-450D-838F-18D8C471955D}"/>
              </a:ext>
            </a:extLst>
          </p:cNvPr>
          <p:cNvSpPr>
            <a:spLocks noGrp="1"/>
          </p:cNvSpPr>
          <p:nvPr/>
        </p:nvSpPr>
        <p:spPr>
          <a:xfrm>
            <a:off x="914400" y="3209544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E7F3FB"/>
          </a:solidFill>
          <a:ln w="12700">
            <a:solidFill>
              <a:srgbClr val="E7F3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D43AC08-5FA2-4686-BEC3-AD43231DD7A9}"/>
              </a:ext>
            </a:extLst>
          </p:cNvPr>
          <p:cNvSpPr>
            <a:spLocks noGrp="1"/>
          </p:cNvSpPr>
          <p:nvPr/>
        </p:nvSpPr>
        <p:spPr>
          <a:xfrm>
            <a:off x="987552" y="3259836"/>
            <a:ext cx="13624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0074C8"/>
                </a:solidFill>
                <a:latin typeface="Arial"/>
                <a:ea typeface="Arial"/>
                <a:cs typeface="Arial"/>
              </a:rPr>
              <a:t>1% base rate</a:t>
            </a:r>
            <a:endParaRPr sz="82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CD231F8-A550-4260-A58B-F2F88C83204D}"/>
              </a:ext>
            </a:extLst>
          </p:cNvPr>
          <p:cNvSpPr>
            <a:spLocks noGrp="1"/>
          </p:cNvSpPr>
          <p:nvPr/>
        </p:nvSpPr>
        <p:spPr>
          <a:xfrm>
            <a:off x="950976" y="361188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PRIOR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D74D76C-2AAE-49F5-BA6C-86FE7782827F}"/>
              </a:ext>
            </a:extLst>
          </p:cNvPr>
          <p:cNvSpPr>
            <a:spLocks noGrp="1"/>
          </p:cNvSpPr>
          <p:nvPr/>
        </p:nvSpPr>
        <p:spPr>
          <a:xfrm>
            <a:off x="950976" y="3995928"/>
            <a:ext cx="3063240" cy="8229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140">
                <a:solidFill>
                  <a:srgbClr val="153246"/>
                </a:solidFill>
                <a:latin typeface="Arial"/>
                <a:ea typeface="Arial"/>
                <a:cs typeface="Arial"/>
              </a:rPr>
              <a:t>Fraud is rare before we see the alert.</a:t>
            </a:r>
            <a:endParaRPr sz="114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EA01A96-E5B4-418E-8683-44575FA89BA4}"/>
              </a:ext>
            </a:extLst>
          </p:cNvPr>
          <p:cNvSpPr>
            <a:spLocks noGrp="1"/>
          </p:cNvSpPr>
          <p:nvPr/>
        </p:nvSpPr>
        <p:spPr>
          <a:xfrm>
            <a:off x="4279392" y="3767328"/>
            <a:ext cx="384048" cy="384048"/>
          </a:xfrm>
          <a:prstGeom prst="chevron">
            <a:avLst/>
          </a:prstGeom>
          <a:solidFill>
            <a:srgbClr val="B5C8D4"/>
          </a:solidFill>
          <a:ln w="12700">
            <a:solidFill>
              <a:srgbClr val="B5C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2F0B137-3470-4F3D-8A8F-6BAFAC423EE9}"/>
              </a:ext>
            </a:extLst>
          </p:cNvPr>
          <p:cNvSpPr>
            <a:spLocks noGrp="1"/>
          </p:cNvSpPr>
          <p:nvPr/>
        </p:nvSpPr>
        <p:spPr>
          <a:xfrm>
            <a:off x="4562856" y="3063240"/>
            <a:ext cx="345643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561578D-87DB-453A-B0C0-BD71EC2D54A9}"/>
              </a:ext>
            </a:extLst>
          </p:cNvPr>
          <p:cNvSpPr>
            <a:spLocks noGrp="1"/>
          </p:cNvSpPr>
          <p:nvPr/>
        </p:nvSpPr>
        <p:spPr>
          <a:xfrm>
            <a:off x="4562856" y="3063240"/>
            <a:ext cx="50292" cy="1901952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3006F1F-202B-4F1B-9873-5EC075649401}"/>
              </a:ext>
            </a:extLst>
          </p:cNvPr>
          <p:cNvSpPr>
            <a:spLocks noGrp="1"/>
          </p:cNvSpPr>
          <p:nvPr/>
        </p:nvSpPr>
        <p:spPr>
          <a:xfrm>
            <a:off x="4727448" y="3209544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E7F3FB"/>
          </a:solidFill>
          <a:ln w="12700">
            <a:solidFill>
              <a:srgbClr val="E7F3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B6523B-AEBA-4BD8-B561-5EFBF5FBF17B}"/>
              </a:ext>
            </a:extLst>
          </p:cNvPr>
          <p:cNvSpPr>
            <a:spLocks noGrp="1"/>
          </p:cNvSpPr>
          <p:nvPr/>
        </p:nvSpPr>
        <p:spPr>
          <a:xfrm>
            <a:off x="4800600" y="3259836"/>
            <a:ext cx="13624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90% vs 5%</a:t>
            </a:r>
            <a:endParaRPr sz="82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15A3EEE-5155-4E31-A190-B75E8791EA08}"/>
              </a:ext>
            </a:extLst>
          </p:cNvPr>
          <p:cNvSpPr>
            <a:spLocks noGrp="1"/>
          </p:cNvSpPr>
          <p:nvPr/>
        </p:nvSpPr>
        <p:spPr>
          <a:xfrm>
            <a:off x="4764024" y="361188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EVIDENCE</a:t>
            </a:r>
            <a:endParaRPr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F1DCF4B-7E0E-4140-8176-2F9C26327CDF}"/>
              </a:ext>
            </a:extLst>
          </p:cNvPr>
          <p:cNvSpPr>
            <a:spLocks noGrp="1"/>
          </p:cNvSpPr>
          <p:nvPr/>
        </p:nvSpPr>
        <p:spPr>
          <a:xfrm>
            <a:off x="4764024" y="3995928"/>
            <a:ext cx="3063240" cy="8229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140">
                <a:solidFill>
                  <a:srgbClr val="153246"/>
                </a:solidFill>
                <a:latin typeface="Arial"/>
                <a:ea typeface="Arial"/>
                <a:cs typeface="Arial"/>
              </a:rPr>
              <a:t>The alert is more likely under fraud.</a:t>
            </a:r>
            <a:endParaRPr sz="114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64E7A11-3479-4FCE-A8E6-A3BD906ADB16}"/>
              </a:ext>
            </a:extLst>
          </p:cNvPr>
          <p:cNvSpPr>
            <a:spLocks noGrp="1"/>
          </p:cNvSpPr>
          <p:nvPr/>
        </p:nvSpPr>
        <p:spPr>
          <a:xfrm>
            <a:off x="8092440" y="3767328"/>
            <a:ext cx="384048" cy="384048"/>
          </a:xfrm>
          <a:prstGeom prst="chevron">
            <a:avLst/>
          </a:prstGeom>
          <a:solidFill>
            <a:srgbClr val="B5C8D4"/>
          </a:solidFill>
          <a:ln w="12700">
            <a:solidFill>
              <a:srgbClr val="B5C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957A6B2-E4E8-4A18-8D77-31F7D9FC32D6}"/>
              </a:ext>
            </a:extLst>
          </p:cNvPr>
          <p:cNvSpPr>
            <a:spLocks noGrp="1"/>
          </p:cNvSpPr>
          <p:nvPr/>
        </p:nvSpPr>
        <p:spPr>
          <a:xfrm>
            <a:off x="8375904" y="3063240"/>
            <a:ext cx="3456432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985AC75-156B-4F30-974B-EE29E09AED37}"/>
              </a:ext>
            </a:extLst>
          </p:cNvPr>
          <p:cNvSpPr>
            <a:spLocks noGrp="1"/>
          </p:cNvSpPr>
          <p:nvPr/>
        </p:nvSpPr>
        <p:spPr>
          <a:xfrm>
            <a:off x="8375904" y="3063240"/>
            <a:ext cx="50292" cy="190195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A4BB019-396E-4294-BB61-7A7342B561FC}"/>
              </a:ext>
            </a:extLst>
          </p:cNvPr>
          <p:cNvSpPr>
            <a:spLocks noGrp="1"/>
          </p:cNvSpPr>
          <p:nvPr/>
        </p:nvSpPr>
        <p:spPr>
          <a:xfrm>
            <a:off x="8540496" y="3209544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FF0E5"/>
          </a:solidFill>
          <a:ln w="12700">
            <a:solidFill>
              <a:srgbClr val="FFF0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DD9BE3A-CB98-4FD1-A82A-37F30A473209}"/>
              </a:ext>
            </a:extLst>
          </p:cNvPr>
          <p:cNvSpPr>
            <a:spLocks noGrp="1"/>
          </p:cNvSpPr>
          <p:nvPr/>
        </p:nvSpPr>
        <p:spPr>
          <a:xfrm>
            <a:off x="8613648" y="3259836"/>
            <a:ext cx="1362456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15.4% among alerts</a:t>
            </a:r>
            <a:endParaRPr sz="82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993ACB7-88BC-4F54-BC91-884163EBDF2C}"/>
              </a:ext>
            </a:extLst>
          </p:cNvPr>
          <p:cNvSpPr>
            <a:spLocks noGrp="1"/>
          </p:cNvSpPr>
          <p:nvPr/>
        </p:nvSpPr>
        <p:spPr>
          <a:xfrm>
            <a:off x="8577072" y="361188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POSTERIOR</a:t>
            </a:r>
            <a:endParaRPr sz="1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2D884F2-524C-4568-B537-68F81C0ABE8A}"/>
              </a:ext>
            </a:extLst>
          </p:cNvPr>
          <p:cNvSpPr>
            <a:spLocks noGrp="1"/>
          </p:cNvSpPr>
          <p:nvPr/>
        </p:nvSpPr>
        <p:spPr>
          <a:xfrm>
            <a:off x="8577072" y="3995928"/>
            <a:ext cx="3063240" cy="8229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140">
                <a:solidFill>
                  <a:srgbClr val="153246"/>
                </a:solidFill>
                <a:latin typeface="Arial"/>
                <a:ea typeface="Arial"/>
                <a:cs typeface="Arial"/>
              </a:rPr>
              <a:t>Risk rises—but not to certainty.</a:t>
            </a:r>
            <a:endParaRPr sz="114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34E9311-1FCF-481D-964B-4E0DC4F05347}"/>
              </a:ext>
            </a:extLst>
          </p:cNvPr>
          <p:cNvSpPr>
            <a:spLocks noGrp="1"/>
          </p:cNvSpPr>
          <p:nvPr/>
        </p:nvSpPr>
        <p:spPr>
          <a:xfrm>
            <a:off x="1828800" y="5440680"/>
            <a:ext cx="8549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Bayes is not a trick formula. It is disciplined evidence updating.</a:t>
            </a:r>
            <a:endParaRPr sz="1450"/>
          </a:p>
        </p:txBody>
      </p:sp>
      <p:pic>
        <p:nvPicPr>
          <p:cNvPr id="57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10C601DC-D342-4B76-B549-1A2269DB5ED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EA83FA91-883A-0168-8075-96CEB9DCA3C2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8231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9F9D45-DAA6-420F-ABA5-4A1C6F8922D6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SECTION 03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D1B755-9260-45E5-A4C0-A302D12EC4D2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4F4079-C55C-4903-8E83-DA74EA7B6D2B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12344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20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03</a:t>
            </a:r>
            <a:endParaRPr sz="6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4367F7-0EA0-49E0-9EE5-24BDF055254F}"/>
              </a:ext>
            </a:extLst>
          </p:cNvPr>
          <p:cNvSpPr>
            <a:spLocks noGrp="1"/>
          </p:cNvSpPr>
          <p:nvPr/>
        </p:nvSpPr>
        <p:spPr>
          <a:xfrm>
            <a:off x="1938528" y="1581912"/>
            <a:ext cx="0" cy="2304288"/>
          </a:xfrm>
          <a:prstGeom prst="line">
            <a:avLst/>
          </a:prstGeom>
          <a:noFill/>
          <a:ln w="3175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87EB80-52BC-4BCC-9D83-DB3EF8B181EA}"/>
              </a:ext>
            </a:extLst>
          </p:cNvPr>
          <p:cNvSpPr>
            <a:spLocks noGrp="1"/>
          </p:cNvSpPr>
          <p:nvPr/>
        </p:nvSpPr>
        <p:spPr>
          <a:xfrm>
            <a:off x="2304288" y="15544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certain are we?</a:t>
            </a:r>
            <a:endParaRPr sz="3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E3CEB1-AAC0-4EAA-87E3-3F79BD7EBB04}"/>
              </a:ext>
            </a:extLst>
          </p:cNvPr>
          <p:cNvSpPr>
            <a:spLocks noGrp="1"/>
          </p:cNvSpPr>
          <p:nvPr/>
        </p:nvSpPr>
        <p:spPr>
          <a:xfrm>
            <a:off x="2331720" y="3127248"/>
            <a:ext cx="7680960" cy="77724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B8D6E4"/>
                </a:solidFill>
                <a:latin typeface="Arial"/>
                <a:ea typeface="Arial"/>
                <a:cs typeface="Arial"/>
              </a:rPr>
              <a:t>One validation result is a sample. A defensible claim shows how much that result could change under repetition.</a:t>
            </a:r>
            <a:endParaRPr sz="1450"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436A2AB-C5F9-4BB4-9081-6616E9D195C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DC9C7607-4BA3-B4DC-A00F-2E67A9FCFF7E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922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52266C-E7D0-4531-A759-E9BCE2D62696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3  |  SAMPLING DISTRIBUTIONS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38BE4A-D7F4-443C-B999-C857781772A9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126A9C-2195-4980-9E2A-C17E63776009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The same model can look very different in another validation sample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451861-9EE5-470F-9ACB-A663251CBDAC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Sampling variability is not a software bug—it is part of the evidence.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A543986-EF31-4CA0-A7FA-536AE25D5F22}"/>
              </a:ext>
            </a:extLst>
          </p:cNvPr>
          <p:cNvSpPr>
            <a:spLocks noGrp="1"/>
          </p:cNvSpPr>
          <p:nvPr/>
        </p:nvSpPr>
        <p:spPr>
          <a:xfrm>
            <a:off x="658368" y="1554480"/>
            <a:ext cx="7571232" cy="4361688"/>
          </a:xfrm>
          <a:prstGeom prst="roundRect">
            <a:avLst>
              <a:gd name="adj" fmla="val 839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147934"/>
            <a:ext cx="7296912" cy="2900461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ACA3B2C8-7576-4D7C-9E7B-EEEA01AE3DA2}"/>
              </a:ext>
            </a:extLst>
          </p:cNvPr>
          <p:cNvSpPr>
            <a:spLocks noGrp="1"/>
          </p:cNvSpPr>
          <p:nvPr/>
        </p:nvSpPr>
        <p:spPr>
          <a:xfrm>
            <a:off x="822960" y="5614416"/>
            <a:ext cx="7242048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40">
                <a:solidFill>
                  <a:srgbClr val="60798A"/>
                </a:solidFill>
                <a:latin typeface="Arial"/>
                <a:ea typeface="Arial"/>
                <a:cs typeface="Arial"/>
              </a:rPr>
              <a:t>Synthetic illustration: 20 independent validation samples</a:t>
            </a:r>
            <a:endParaRPr sz="84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FFC48EA-A1D1-45DB-87E3-5BF63F32D300}"/>
              </a:ext>
            </a:extLst>
          </p:cNvPr>
          <p:cNvSpPr>
            <a:spLocks noGrp="1"/>
          </p:cNvSpPr>
          <p:nvPr/>
        </p:nvSpPr>
        <p:spPr>
          <a:xfrm>
            <a:off x="8540496" y="1554480"/>
            <a:ext cx="3017520" cy="1874520"/>
          </a:xfrm>
          <a:prstGeom prst="roundRect">
            <a:avLst>
              <a:gd name="adj" fmla="val 2927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B179E86-1F2C-4140-A20E-4A764C7E9CEF}"/>
              </a:ext>
            </a:extLst>
          </p:cNvPr>
          <p:cNvSpPr>
            <a:spLocks noGrp="1"/>
          </p:cNvSpPr>
          <p:nvPr/>
        </p:nvSpPr>
        <p:spPr>
          <a:xfrm>
            <a:off x="8540496" y="1554480"/>
            <a:ext cx="50292" cy="1874520"/>
          </a:xfrm>
          <a:prstGeom prst="rect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6E6FCAF-D4EC-4566-8B9B-6FBABD0D4E01}"/>
              </a:ext>
            </a:extLst>
          </p:cNvPr>
          <p:cNvSpPr>
            <a:spLocks noGrp="1"/>
          </p:cNvSpPr>
          <p:nvPr/>
        </p:nvSpPr>
        <p:spPr>
          <a:xfrm>
            <a:off x="8741664" y="1737360"/>
            <a:ext cx="26243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What changed?</a:t>
            </a:r>
            <a:endParaRPr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1AE2F4A-13EE-42A7-86CC-4A4700FFCB40}"/>
              </a:ext>
            </a:extLst>
          </p:cNvPr>
          <p:cNvSpPr>
            <a:spLocks noGrp="1"/>
          </p:cNvSpPr>
          <p:nvPr/>
        </p:nvSpPr>
        <p:spPr>
          <a:xfrm>
            <a:off x="8741664" y="2194560"/>
            <a:ext cx="2624328" cy="108813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The model stayed fixed. The customers and payments in the sample changed.</a:t>
            </a:r>
            <a:endParaRPr sz="112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43C9A17-A80D-4D1A-9C74-303DE6828D92}"/>
              </a:ext>
            </a:extLst>
          </p:cNvPr>
          <p:cNvSpPr>
            <a:spLocks noGrp="1"/>
          </p:cNvSpPr>
          <p:nvPr/>
        </p:nvSpPr>
        <p:spPr>
          <a:xfrm>
            <a:off x="8540496" y="3675888"/>
            <a:ext cx="3017520" cy="1874520"/>
          </a:xfrm>
          <a:prstGeom prst="roundRect">
            <a:avLst>
              <a:gd name="adj" fmla="val 2927"/>
            </a:avLst>
          </a:prstGeom>
          <a:solidFill>
            <a:srgbClr val="FFF6D9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FC888E-6B9A-4E2F-B608-9F5CE7FB93CA}"/>
              </a:ext>
            </a:extLst>
          </p:cNvPr>
          <p:cNvSpPr>
            <a:spLocks noGrp="1"/>
          </p:cNvSpPr>
          <p:nvPr/>
        </p:nvSpPr>
        <p:spPr>
          <a:xfrm>
            <a:off x="8540496" y="3675888"/>
            <a:ext cx="50292" cy="1874520"/>
          </a:xfrm>
          <a:prstGeom prst="rect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D977CCB-58C6-406F-825A-4D910EE19DB2}"/>
              </a:ext>
            </a:extLst>
          </p:cNvPr>
          <p:cNvSpPr>
            <a:spLocks noGrp="1"/>
          </p:cNvSpPr>
          <p:nvPr/>
        </p:nvSpPr>
        <p:spPr>
          <a:xfrm>
            <a:off x="8741664" y="3858768"/>
            <a:ext cx="26243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What should we report?</a:t>
            </a:r>
            <a:endParaRPr sz="15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715769C-71C9-4015-9298-CC078F5B715F}"/>
              </a:ext>
            </a:extLst>
          </p:cNvPr>
          <p:cNvSpPr>
            <a:spLocks noGrp="1"/>
          </p:cNvSpPr>
          <p:nvPr/>
        </p:nvSpPr>
        <p:spPr>
          <a:xfrm>
            <a:off x="8741664" y="4315968"/>
            <a:ext cx="2624328" cy="108813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A point estimate plus standard error, interval, and sample context.</a:t>
            </a:r>
            <a:endParaRPr sz="112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1F7F1A1-4C7F-4F1D-B5F6-E2B846A00B57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Synthetic illustration for teaching; long-run precision fixed at 15.4%.</a:t>
            </a:r>
            <a:endParaRPr sz="670"/>
          </a:p>
        </p:txBody>
      </p:sp>
      <p:pic>
        <p:nvPicPr>
          <p:cNvPr id="44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7A80DA7-BE9F-4851-BE3B-20C8957DEEB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90F7333B-44AC-F7E9-D49D-FE92F45E0477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883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5D12AE-9459-4076-B065-575058F1EEF2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3  |  BOOTSTRAP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AC0C79-3781-4A55-8DC3-44D61DAA8D96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56B829-BFFA-43A1-8899-000AD9E16DB8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When the formula is awkward, resample the observed data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13E0BF-EFF6-46FE-BF52-63AF05F0CF99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The bootstrap repeats the analysis to estimate how much the statistic can move.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F86FF51-28CB-4B9B-9F9B-7C572F9FBB21}"/>
              </a:ext>
            </a:extLst>
          </p:cNvPr>
          <p:cNvSpPr>
            <a:spLocks noGrp="1"/>
          </p:cNvSpPr>
          <p:nvPr/>
        </p:nvSpPr>
        <p:spPr>
          <a:xfrm>
            <a:off x="658368" y="1554480"/>
            <a:ext cx="7818120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59380"/>
            <a:ext cx="7543800" cy="2705001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AEEBF6A-D769-43D9-B31B-20263B271024}"/>
              </a:ext>
            </a:extLst>
          </p:cNvPr>
          <p:cNvSpPr>
            <a:spLocks noGrp="1"/>
          </p:cNvSpPr>
          <p:nvPr/>
        </p:nvSpPr>
        <p:spPr>
          <a:xfrm>
            <a:off x="822960" y="5641848"/>
            <a:ext cx="748893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40">
                <a:solidFill>
                  <a:srgbClr val="60798A"/>
                </a:solidFill>
                <a:latin typeface="Arial"/>
                <a:ea typeface="Arial"/>
                <a:cs typeface="Arial"/>
              </a:rPr>
              <a:t>10,000 bootstrap resamples of precision</a:t>
            </a:r>
            <a:endParaRPr sz="84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B796CB8-423D-4686-877B-72951EF4A9D3}"/>
              </a:ext>
            </a:extLst>
          </p:cNvPr>
          <p:cNvSpPr>
            <a:spLocks noGrp="1"/>
          </p:cNvSpPr>
          <p:nvPr/>
        </p:nvSpPr>
        <p:spPr>
          <a:xfrm>
            <a:off x="8887968" y="1682496"/>
            <a:ext cx="420624" cy="420624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A1315CC-EE69-4FF1-BF17-95BAA10D1155}"/>
              </a:ext>
            </a:extLst>
          </p:cNvPr>
          <p:cNvSpPr>
            <a:spLocks noGrp="1"/>
          </p:cNvSpPr>
          <p:nvPr/>
        </p:nvSpPr>
        <p:spPr>
          <a:xfrm>
            <a:off x="9006840" y="1792224"/>
            <a:ext cx="18288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7819DCD-ECA3-41A4-B2F5-0F985CB4CF41}"/>
              </a:ext>
            </a:extLst>
          </p:cNvPr>
          <p:cNvSpPr>
            <a:spLocks noGrp="1"/>
          </p:cNvSpPr>
          <p:nvPr/>
        </p:nvSpPr>
        <p:spPr>
          <a:xfrm>
            <a:off x="9491472" y="1627632"/>
            <a:ext cx="1993392" cy="53035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Sample rows with replacement</a:t>
            </a:r>
            <a:endParaRPr sz="112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F8F17CB-2479-48B4-A888-76D7E65DA3BD}"/>
              </a:ext>
            </a:extLst>
          </p:cNvPr>
          <p:cNvSpPr>
            <a:spLocks noGrp="1"/>
          </p:cNvSpPr>
          <p:nvPr/>
        </p:nvSpPr>
        <p:spPr>
          <a:xfrm>
            <a:off x="9098280" y="2103120"/>
            <a:ext cx="0" cy="502920"/>
          </a:xfrm>
          <a:prstGeom prst="line">
            <a:avLst/>
          </a:prstGeom>
          <a:noFill/>
          <a:ln w="15240">
            <a:solidFill>
              <a:srgbClr val="AFC3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51DCFBD-B1F6-4ED8-AA2D-E832467A6D85}"/>
              </a:ext>
            </a:extLst>
          </p:cNvPr>
          <p:cNvSpPr>
            <a:spLocks noGrp="1"/>
          </p:cNvSpPr>
          <p:nvPr/>
        </p:nvSpPr>
        <p:spPr>
          <a:xfrm>
            <a:off x="8887968" y="2670048"/>
            <a:ext cx="420624" cy="420624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23B6BDD-B0E6-43F7-BA6B-54DDA139475B}"/>
              </a:ext>
            </a:extLst>
          </p:cNvPr>
          <p:cNvSpPr>
            <a:spLocks noGrp="1"/>
          </p:cNvSpPr>
          <p:nvPr/>
        </p:nvSpPr>
        <p:spPr>
          <a:xfrm>
            <a:off x="9006840" y="2779776"/>
            <a:ext cx="18288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5BD0031-4E78-43E7-82EB-A619D94B98C8}"/>
              </a:ext>
            </a:extLst>
          </p:cNvPr>
          <p:cNvSpPr>
            <a:spLocks noGrp="1"/>
          </p:cNvSpPr>
          <p:nvPr/>
        </p:nvSpPr>
        <p:spPr>
          <a:xfrm>
            <a:off x="9491472" y="2615184"/>
            <a:ext cx="1993392" cy="53035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Recalculate precision</a:t>
            </a:r>
            <a:endParaRPr sz="112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FC92A49-DA09-4418-B673-7FD839C04C93}"/>
              </a:ext>
            </a:extLst>
          </p:cNvPr>
          <p:cNvSpPr>
            <a:spLocks noGrp="1"/>
          </p:cNvSpPr>
          <p:nvPr/>
        </p:nvSpPr>
        <p:spPr>
          <a:xfrm>
            <a:off x="9098280" y="3090672"/>
            <a:ext cx="0" cy="502920"/>
          </a:xfrm>
          <a:prstGeom prst="line">
            <a:avLst/>
          </a:prstGeom>
          <a:noFill/>
          <a:ln w="15240">
            <a:solidFill>
              <a:srgbClr val="AFC3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83DADA4-DE4D-44C8-BBBF-746EC67CADB1}"/>
              </a:ext>
            </a:extLst>
          </p:cNvPr>
          <p:cNvSpPr>
            <a:spLocks noGrp="1"/>
          </p:cNvSpPr>
          <p:nvPr/>
        </p:nvSpPr>
        <p:spPr>
          <a:xfrm>
            <a:off x="8887968" y="3657600"/>
            <a:ext cx="420624" cy="420624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2EA3BBF-FD0D-4824-9782-33160E8AA99C}"/>
              </a:ext>
            </a:extLst>
          </p:cNvPr>
          <p:cNvSpPr>
            <a:spLocks noGrp="1"/>
          </p:cNvSpPr>
          <p:nvPr/>
        </p:nvSpPr>
        <p:spPr>
          <a:xfrm>
            <a:off x="9006840" y="3767328"/>
            <a:ext cx="18288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6F36943-0BE7-40DE-82CC-246CA8E482A5}"/>
              </a:ext>
            </a:extLst>
          </p:cNvPr>
          <p:cNvSpPr>
            <a:spLocks noGrp="1"/>
          </p:cNvSpPr>
          <p:nvPr/>
        </p:nvSpPr>
        <p:spPr>
          <a:xfrm>
            <a:off x="9491472" y="3602736"/>
            <a:ext cx="1993392" cy="53035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153246"/>
                </a:solidFill>
                <a:latin typeface="Arial"/>
                <a:ea typeface="Arial"/>
                <a:cs typeface="Arial"/>
              </a:rPr>
              <a:t>Repeat thousands of times</a:t>
            </a:r>
            <a:endParaRPr sz="112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8B4A2A3-E64E-4B12-A326-CB0DD94A2531}"/>
              </a:ext>
            </a:extLst>
          </p:cNvPr>
          <p:cNvSpPr>
            <a:spLocks noGrp="1"/>
          </p:cNvSpPr>
          <p:nvPr/>
        </p:nvSpPr>
        <p:spPr>
          <a:xfrm>
            <a:off x="9098280" y="4078224"/>
            <a:ext cx="0" cy="502920"/>
          </a:xfrm>
          <a:prstGeom prst="line">
            <a:avLst/>
          </a:prstGeom>
          <a:noFill/>
          <a:ln w="15240">
            <a:solidFill>
              <a:srgbClr val="AFC3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4BC341EF-7FF0-4AD2-A218-D731650658CE}"/>
              </a:ext>
            </a:extLst>
          </p:cNvPr>
          <p:cNvSpPr>
            <a:spLocks noGrp="1"/>
          </p:cNvSpPr>
          <p:nvPr/>
        </p:nvSpPr>
        <p:spPr>
          <a:xfrm>
            <a:off x="8887968" y="4645152"/>
            <a:ext cx="420624" cy="420624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1B6D960-9508-4374-901F-B1979CD3D28D}"/>
              </a:ext>
            </a:extLst>
          </p:cNvPr>
          <p:cNvSpPr>
            <a:spLocks noGrp="1"/>
          </p:cNvSpPr>
          <p:nvPr/>
        </p:nvSpPr>
        <p:spPr>
          <a:xfrm>
            <a:off x="9006840" y="4754880"/>
            <a:ext cx="18288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C5C60A1-E624-464C-9EFE-CF41463F5B3D}"/>
              </a:ext>
            </a:extLst>
          </p:cNvPr>
          <p:cNvSpPr>
            <a:spLocks noGrp="1"/>
          </p:cNvSpPr>
          <p:nvPr/>
        </p:nvSpPr>
        <p:spPr>
          <a:xfrm>
            <a:off x="9491472" y="4590288"/>
            <a:ext cx="1993392" cy="53035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2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Use the empirical distribution</a:t>
            </a:r>
            <a:endParaRPr sz="112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8DFB52D-395F-4CA9-9F77-107341005A8C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Synthetic resampling illustration; values rounded for presentation.</a:t>
            </a:r>
            <a:endParaRPr sz="670"/>
          </a:p>
        </p:txBody>
      </p:sp>
      <p:pic>
        <p:nvPicPr>
          <p:cNvPr id="51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137D7CF-F4AC-4042-9117-26160DF34A0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B1C6C81E-38B9-7560-621D-5A151A79DF9B}" type="slidenum">
              <a:rPr b="0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1355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B35007-A1E7-4F67-A4C0-FF75FE9B7A1A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WEEK 4  |  INTERVAL ESTIMATION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7BCD29-B1E3-411C-9951-FB46987BC1D3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8136B6-DDE9-4BEB-BDFF-069B6D0FCD28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point estimate sounds certain. An interval shows the decision risk.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3DB070-BF25-46E5-8940-79C573D06A67}"/>
              </a:ext>
            </a:extLst>
          </p:cNvPr>
          <p:cNvSpPr>
            <a:spLocks noGrp="1"/>
          </p:cNvSpPr>
          <p:nvPr/>
        </p:nvSpPr>
        <p:spPr>
          <a:xfrm>
            <a:off x="777240" y="1508760"/>
            <a:ext cx="3017520" cy="6583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90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15.4%</a:t>
            </a:r>
            <a:endParaRPr sz="3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4686B3-B462-4185-B9DA-218535C3FBA6}"/>
              </a:ext>
            </a:extLst>
          </p:cNvPr>
          <p:cNvSpPr>
            <a:spLocks noGrp="1"/>
          </p:cNvSpPr>
          <p:nvPr/>
        </p:nvSpPr>
        <p:spPr>
          <a:xfrm>
            <a:off x="777240" y="2212848"/>
            <a:ext cx="30175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B8D6E4"/>
                </a:solidFill>
                <a:latin typeface="Arial"/>
                <a:ea typeface="Arial"/>
                <a:cs typeface="Arial"/>
              </a:rPr>
              <a:t>observed precision</a:t>
            </a:r>
            <a:endParaRPr sz="10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5B9AE7-F05E-4A6D-9CAE-5AA802344CCB}"/>
              </a:ext>
            </a:extLst>
          </p:cNvPr>
          <p:cNvSpPr>
            <a:spLocks noGrp="1"/>
          </p:cNvSpPr>
          <p:nvPr/>
        </p:nvSpPr>
        <p:spPr>
          <a:xfrm>
            <a:off x="4187952" y="169164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A7D7E8"/>
                </a:solidFill>
                <a:latin typeface="Arial"/>
                <a:ea typeface="Arial"/>
                <a:cs typeface="Arial"/>
              </a:rPr>
              <a:t>95% bootstrap interval</a:t>
            </a:r>
            <a:endParaRPr sz="13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F9C5AA-9D13-4FFE-9A88-10DE9E6248C9}"/>
              </a:ext>
            </a:extLst>
          </p:cNvPr>
          <p:cNvSpPr>
            <a:spLocks noGrp="1"/>
          </p:cNvSpPr>
          <p:nvPr/>
        </p:nvSpPr>
        <p:spPr>
          <a:xfrm>
            <a:off x="4434840" y="2834640"/>
            <a:ext cx="2852928" cy="0"/>
          </a:xfrm>
          <a:prstGeom prst="line">
            <a:avLst/>
          </a:prstGeom>
          <a:noFill/>
          <a:ln w="88900">
            <a:solidFill>
              <a:srgbClr val="6C8E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785682-BF4C-4C4F-9427-B02AEDE29602}"/>
              </a:ext>
            </a:extLst>
          </p:cNvPr>
          <p:cNvSpPr>
            <a:spLocks noGrp="1"/>
          </p:cNvSpPr>
          <p:nvPr/>
        </p:nvSpPr>
        <p:spPr>
          <a:xfrm>
            <a:off x="4361688" y="2688336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369187E-7891-49AF-A59A-A3F23C06CACF}"/>
              </a:ext>
            </a:extLst>
          </p:cNvPr>
          <p:cNvSpPr>
            <a:spLocks noGrp="1"/>
          </p:cNvSpPr>
          <p:nvPr/>
        </p:nvSpPr>
        <p:spPr>
          <a:xfrm>
            <a:off x="7150608" y="2688336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BAC255-8326-406A-8073-389B9E5AA781}"/>
              </a:ext>
            </a:extLst>
          </p:cNvPr>
          <p:cNvSpPr>
            <a:spLocks noGrp="1"/>
          </p:cNvSpPr>
          <p:nvPr/>
        </p:nvSpPr>
        <p:spPr>
          <a:xfrm>
            <a:off x="3886200" y="3172968"/>
            <a:ext cx="12618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12.5%</a:t>
            </a:r>
            <a:endParaRPr sz="1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483E63-74C0-4AF8-BB16-FA6411E27B7D}"/>
              </a:ext>
            </a:extLst>
          </p:cNvPr>
          <p:cNvSpPr>
            <a:spLocks noGrp="1"/>
          </p:cNvSpPr>
          <p:nvPr/>
        </p:nvSpPr>
        <p:spPr>
          <a:xfrm>
            <a:off x="6675120" y="3172968"/>
            <a:ext cx="126187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18.5%</a:t>
            </a:r>
            <a:endParaRPr sz="18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B06B289-B2E8-4623-94A1-25F357C6F070}"/>
              </a:ext>
            </a:extLst>
          </p:cNvPr>
          <p:cNvSpPr>
            <a:spLocks noGrp="1"/>
          </p:cNvSpPr>
          <p:nvPr/>
        </p:nvSpPr>
        <p:spPr>
          <a:xfrm>
            <a:off x="8339328" y="1408176"/>
            <a:ext cx="2926080" cy="2953512"/>
          </a:xfrm>
          <a:prstGeom prst="roundRect">
            <a:avLst>
              <a:gd name="adj" fmla="val 1875"/>
            </a:avLst>
          </a:prstGeom>
          <a:solidFill>
            <a:srgbClr val="102E43"/>
          </a:solidFill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D1CC7A4-44C3-4C71-A6C1-D74C3C4614D1}"/>
              </a:ext>
            </a:extLst>
          </p:cNvPr>
          <p:cNvSpPr>
            <a:spLocks noGrp="1"/>
          </p:cNvSpPr>
          <p:nvPr/>
        </p:nvSpPr>
        <p:spPr>
          <a:xfrm>
            <a:off x="8339328" y="1408176"/>
            <a:ext cx="50292" cy="2953512"/>
          </a:xfrm>
          <a:prstGeom prst="rect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D640D4E-24F3-475F-B4DA-19CC024047F5}"/>
              </a:ext>
            </a:extLst>
          </p:cNvPr>
          <p:cNvSpPr>
            <a:spLocks noGrp="1"/>
          </p:cNvSpPr>
          <p:nvPr/>
        </p:nvSpPr>
        <p:spPr>
          <a:xfrm>
            <a:off x="8540496" y="1591056"/>
            <a:ext cx="25328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Planning interpretation</a:t>
            </a:r>
            <a:endParaRPr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8A12D5-CDC1-4E5B-B747-87BFAEE4F99E}"/>
              </a:ext>
            </a:extLst>
          </p:cNvPr>
          <p:cNvSpPr>
            <a:spLocks noGrp="1"/>
          </p:cNvSpPr>
          <p:nvPr/>
        </p:nvSpPr>
        <p:spPr>
          <a:xfrm>
            <a:off x="8540496" y="2139696"/>
            <a:ext cx="2532888" cy="20756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C7DFEA"/>
                </a:solidFill>
                <a:latin typeface="Arial"/>
                <a:ea typeface="Arial"/>
                <a:cs typeface="Arial"/>
              </a:rPr>
              <a:t>Using this bootstrap procedure, values from 12.5% to 18.5% are plausible for the underlying precision.</a:t>
            </a:r>
            <a:endParaRPr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FA10662-591C-4EA6-BF36-6932F50FFE2C}"/>
              </a:ext>
            </a:extLst>
          </p:cNvPr>
          <p:cNvSpPr>
            <a:spLocks noGrp="1"/>
          </p:cNvSpPr>
          <p:nvPr/>
        </p:nvSpPr>
        <p:spPr>
          <a:xfrm>
            <a:off x="1143000" y="4800600"/>
            <a:ext cx="9875520" cy="749808"/>
          </a:xfrm>
          <a:prstGeom prst="roundRect">
            <a:avLst>
              <a:gd name="adj" fmla="val 6098"/>
            </a:avLst>
          </a:prstGeom>
          <a:solidFill>
            <a:srgbClr val="0B304B"/>
          </a:solidFill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D8C325-336F-491B-A5C0-7616D93AE774}"/>
              </a:ext>
            </a:extLst>
          </p:cNvPr>
          <p:cNvSpPr>
            <a:spLocks noGrp="1"/>
          </p:cNvSpPr>
          <p:nvPr/>
        </p:nvSpPr>
        <p:spPr>
          <a:xfrm>
            <a:off x="1508760" y="5056632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50" b="1">
                <a:solidFill>
                  <a:srgbClr val="D5EAF3"/>
                </a:solidFill>
                <a:latin typeface="Arial"/>
                <a:ea typeface="Arial"/>
                <a:cs typeface="Arial"/>
              </a:rPr>
              <a:t>The interval does not eliminate uncertainty. It makes uncertainty visible enough to manage.</a:t>
            </a:r>
            <a:endParaRPr sz="1450"/>
          </a:p>
        </p:txBody>
      </p:sp>
      <p:pic>
        <p:nvPicPr>
          <p:cNvPr id="44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AC75A7B-07AE-4566-912A-A9BD649994D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CCF91274-D221-1BB4-3BF9-836E3AD31EBE}" type="slidenum">
              <a:rPr b="0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89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73B680-EADF-47A4-A61A-0B3DEE34962B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4  |  PRACTICAL EVIDENCE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53DFB7-7725-4BC7-ADA7-A5B0EFBBA7FE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98E2E0-5145-4BA1-BC76-5D3B8F2EFF21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 model improvement must still earn its operational cost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3C9206-ADBD-4157-A5AB-AACE6DD68EE9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More precision can coexist with almost the same number of false alerts.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9A310D0-1D52-4B72-A930-0BAE7BD00739}"/>
              </a:ext>
            </a:extLst>
          </p:cNvPr>
          <p:cNvSpPr>
            <a:spLocks noGrp="1"/>
          </p:cNvSpPr>
          <p:nvPr/>
        </p:nvSpPr>
        <p:spPr>
          <a:xfrm>
            <a:off x="658368" y="1554480"/>
            <a:ext cx="7772400" cy="441655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83081"/>
            <a:ext cx="7498080" cy="333705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28C71C7-83EB-4CD5-817E-307E674B9D3A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744321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40">
                <a:solidFill>
                  <a:srgbClr val="60798A"/>
                </a:solidFill>
                <a:latin typeface="Arial"/>
                <a:ea typeface="Arial"/>
                <a:cs typeface="Arial"/>
              </a:rPr>
              <a:t>Synthetic model comparison</a:t>
            </a:r>
            <a:endParaRPr sz="84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88C028E-DCA4-4E7C-8061-A384C6E08A5C}"/>
              </a:ext>
            </a:extLst>
          </p:cNvPr>
          <p:cNvSpPr>
            <a:spLocks noGrp="1"/>
          </p:cNvSpPr>
          <p:nvPr/>
        </p:nvSpPr>
        <p:spPr>
          <a:xfrm>
            <a:off x="8732520" y="1600200"/>
            <a:ext cx="2670048" cy="1554480"/>
          </a:xfrm>
          <a:prstGeom prst="roundRect">
            <a:avLst>
              <a:gd name="adj" fmla="val 3529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ACE82AE-AE6A-429C-BEC8-3937B9275851}"/>
              </a:ext>
            </a:extLst>
          </p:cNvPr>
          <p:cNvSpPr>
            <a:spLocks noGrp="1"/>
          </p:cNvSpPr>
          <p:nvPr/>
        </p:nvSpPr>
        <p:spPr>
          <a:xfrm>
            <a:off x="8732520" y="1600200"/>
            <a:ext cx="50292" cy="1554480"/>
          </a:xfrm>
          <a:prstGeom prst="rect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596F451-A858-43DB-9481-88C068EF5FE3}"/>
              </a:ext>
            </a:extLst>
          </p:cNvPr>
          <p:cNvSpPr>
            <a:spLocks noGrp="1"/>
          </p:cNvSpPr>
          <p:nvPr/>
        </p:nvSpPr>
        <p:spPr>
          <a:xfrm>
            <a:off x="8933688" y="178308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Statistical question</a:t>
            </a:r>
            <a:endParaRPr sz="142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F9A29DA-7A33-432F-8CD4-CC1B764789F1}"/>
              </a:ext>
            </a:extLst>
          </p:cNvPr>
          <p:cNvSpPr>
            <a:spLocks noGrp="1"/>
          </p:cNvSpPr>
          <p:nvPr/>
        </p:nvSpPr>
        <p:spPr>
          <a:xfrm>
            <a:off x="8933688" y="2240280"/>
            <a:ext cx="2276856" cy="76809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Is the difference larger than expected sampling noise?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EA834A8-5EC0-4186-8D28-E719DD7C9229}"/>
              </a:ext>
            </a:extLst>
          </p:cNvPr>
          <p:cNvSpPr>
            <a:spLocks noGrp="1"/>
          </p:cNvSpPr>
          <p:nvPr/>
        </p:nvSpPr>
        <p:spPr>
          <a:xfrm>
            <a:off x="8732520" y="3383280"/>
            <a:ext cx="2670048" cy="1554480"/>
          </a:xfrm>
          <a:prstGeom prst="roundRect">
            <a:avLst>
              <a:gd name="adj" fmla="val 3529"/>
            </a:avLst>
          </a:prstGeom>
          <a:solidFill>
            <a:srgbClr val="FFF0E5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4308080-823B-4416-A31D-BB791DB52103}"/>
              </a:ext>
            </a:extLst>
          </p:cNvPr>
          <p:cNvSpPr>
            <a:spLocks noGrp="1"/>
          </p:cNvSpPr>
          <p:nvPr/>
        </p:nvSpPr>
        <p:spPr>
          <a:xfrm>
            <a:off x="8732520" y="3383280"/>
            <a:ext cx="50292" cy="15544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3CF279A-65D2-44D7-89A3-F1D1D49855C2}"/>
              </a:ext>
            </a:extLst>
          </p:cNvPr>
          <p:cNvSpPr>
            <a:spLocks noGrp="1"/>
          </p:cNvSpPr>
          <p:nvPr/>
        </p:nvSpPr>
        <p:spPr>
          <a:xfrm>
            <a:off x="8933688" y="356616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Decision question</a:t>
            </a:r>
            <a:endParaRPr sz="142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F0AD955-262A-4E08-A590-A886495EDCC7}"/>
              </a:ext>
            </a:extLst>
          </p:cNvPr>
          <p:cNvSpPr>
            <a:spLocks noGrp="1"/>
          </p:cNvSpPr>
          <p:nvPr/>
        </p:nvSpPr>
        <p:spPr>
          <a:xfrm>
            <a:off x="8933688" y="4023360"/>
            <a:ext cx="2276856" cy="76809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Does the gain justify retraining, review capacity, and customer friction?</a:t>
            </a:r>
            <a:endParaRPr sz="10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36140C8-642C-4AC8-8678-75AC67E652E7}"/>
              </a:ext>
            </a:extLst>
          </p:cNvPr>
          <p:cNvSpPr>
            <a:spLocks noGrp="1"/>
          </p:cNvSpPr>
          <p:nvPr/>
        </p:nvSpPr>
        <p:spPr>
          <a:xfrm>
            <a:off x="8686800" y="5321808"/>
            <a:ext cx="27614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 p-value cannot decide what the improvement is worth.</a:t>
            </a:r>
            <a:endParaRPr sz="122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8EB7E34-B2C3-4325-B959-09C0FCADBDE7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Synthetic values for teaching; not a claim about any payment platform.</a:t>
            </a:r>
            <a:endParaRPr sz="670"/>
          </a:p>
        </p:txBody>
      </p:sp>
      <p:pic>
        <p:nvPicPr>
          <p:cNvPr id="45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F8CD21B-617A-4F1E-91F5-8C0AC9FBE3E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844E025A-983C-6D44-79C6-4612AACD43FC}" type="slidenum">
              <a:rPr b="0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19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101DB7-946D-421C-9033-276B28B39DE0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SECTION 04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1190CD-1B0A-49E5-A285-906BE8BC1153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47BBF1-7694-493F-9C21-EA48A995B926}"/>
              </a:ext>
            </a:extLst>
          </p:cNvPr>
          <p:cNvSpPr>
            <a:spLocks noGrp="1"/>
          </p:cNvSpPr>
          <p:nvPr/>
        </p:nvSpPr>
        <p:spPr>
          <a:xfrm>
            <a:off x="566928" y="1508760"/>
            <a:ext cx="12344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2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04</a:t>
            </a:r>
            <a:endParaRPr sz="6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B3F899-737F-4C28-88DC-E064024F3289}"/>
              </a:ext>
            </a:extLst>
          </p:cNvPr>
          <p:cNvSpPr>
            <a:spLocks noGrp="1"/>
          </p:cNvSpPr>
          <p:nvPr/>
        </p:nvSpPr>
        <p:spPr>
          <a:xfrm>
            <a:off x="1938528" y="1581912"/>
            <a:ext cx="0" cy="2304288"/>
          </a:xfrm>
          <a:prstGeom prst="line">
            <a:avLst/>
          </a:prstGeom>
          <a:noFill/>
          <a:ln w="3175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D0E993-9CE5-4192-A149-939529FE0732}"/>
              </a:ext>
            </a:extLst>
          </p:cNvPr>
          <p:cNvSpPr>
            <a:spLocks noGrp="1"/>
          </p:cNvSpPr>
          <p:nvPr/>
        </p:nvSpPr>
        <p:spPr>
          <a:xfrm>
            <a:off x="2304288" y="15544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model score to policy</a:t>
            </a:r>
            <a:endParaRPr sz="3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B560CE-D7CE-4426-8AB4-D5588E46CD84}"/>
              </a:ext>
            </a:extLst>
          </p:cNvPr>
          <p:cNvSpPr>
            <a:spLocks noGrp="1"/>
          </p:cNvSpPr>
          <p:nvPr/>
        </p:nvSpPr>
        <p:spPr>
          <a:xfrm>
            <a:off x="2331720" y="3127248"/>
            <a:ext cx="7680960" cy="77724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450">
                <a:solidFill>
                  <a:srgbClr val="B8D6E4"/>
                </a:solidFill>
                <a:latin typeface="Arial"/>
                <a:ea typeface="Arial"/>
                <a:cs typeface="Arial"/>
              </a:rPr>
              <a:t>Models estimate. Metrics diagnose. Thresholds encode consequences. People remain accountable for the policy.</a:t>
            </a:r>
            <a:endParaRPr sz="1450"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B26DEF1-A29D-45CA-BFC3-22C81335C9E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F6DF2BE2-2DFA-1C03-677D-BDC2260D6D92}" type="slidenum">
              <a:rPr b="0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970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1F25E7-F53D-4B6B-AE4E-586DC6987DD7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5  |  BAYESIAN NETWORKS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D63BA6-2017-47AF-9A83-76F65E9070FE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6312E0-DC4A-436F-842B-CA37A2B1C2F5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 Bayesian network makes evidence paths visible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F0A507-A4D8-4B2C-B3A1-D8C7E1EC65C7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Instead of one opaque score, the model shows how evidence changes the fraud probability.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715B498-F013-4F03-96C3-6D71380945B1}"/>
              </a:ext>
            </a:extLst>
          </p:cNvPr>
          <p:cNvSpPr>
            <a:spLocks noGrp="1"/>
          </p:cNvSpPr>
          <p:nvPr/>
        </p:nvSpPr>
        <p:spPr>
          <a:xfrm>
            <a:off x="2651760" y="1874520"/>
            <a:ext cx="841248" cy="612648"/>
          </a:xfrm>
          <a:prstGeom prst="line">
            <a:avLst/>
          </a:prstGeom>
          <a:noFill/>
          <a:ln w="20320">
            <a:solidFill>
              <a:srgbClr val="97AEB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F6B3949-59EA-4832-9BCA-146EA1A613F0}"/>
              </a:ext>
            </a:extLst>
          </p:cNvPr>
          <p:cNvSpPr>
            <a:spLocks noGrp="1"/>
          </p:cNvSpPr>
          <p:nvPr/>
        </p:nvSpPr>
        <p:spPr>
          <a:xfrm flipV="1">
            <a:off x="2651760" y="2670048"/>
            <a:ext cx="841248" cy="530352"/>
          </a:xfrm>
          <a:prstGeom prst="line">
            <a:avLst/>
          </a:prstGeom>
          <a:noFill/>
          <a:ln w="20320">
            <a:solidFill>
              <a:srgbClr val="97AEB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EFB486-A926-4C20-A2C1-7863C63B2F22}"/>
              </a:ext>
            </a:extLst>
          </p:cNvPr>
          <p:cNvSpPr>
            <a:spLocks noGrp="1"/>
          </p:cNvSpPr>
          <p:nvPr/>
        </p:nvSpPr>
        <p:spPr>
          <a:xfrm flipV="1">
            <a:off x="2651760" y="3977640"/>
            <a:ext cx="841248" cy="557784"/>
          </a:xfrm>
          <a:prstGeom prst="line">
            <a:avLst/>
          </a:prstGeom>
          <a:noFill/>
          <a:ln w="20320">
            <a:solidFill>
              <a:srgbClr val="97AEB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D3F7478-2B77-4416-AD55-40CBCD6C457E}"/>
              </a:ext>
            </a:extLst>
          </p:cNvPr>
          <p:cNvSpPr>
            <a:spLocks noGrp="1"/>
          </p:cNvSpPr>
          <p:nvPr/>
        </p:nvSpPr>
        <p:spPr>
          <a:xfrm>
            <a:off x="5641848" y="2578608"/>
            <a:ext cx="804672" cy="621792"/>
          </a:xfrm>
          <a:prstGeom prst="line">
            <a:avLst/>
          </a:prstGeom>
          <a:noFill/>
          <a:ln w="20320">
            <a:solidFill>
              <a:srgbClr val="97AEB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94D2230-1375-46B8-A6F3-65FBA1A928B3}"/>
              </a:ext>
            </a:extLst>
          </p:cNvPr>
          <p:cNvSpPr>
            <a:spLocks noGrp="1"/>
          </p:cNvSpPr>
          <p:nvPr/>
        </p:nvSpPr>
        <p:spPr>
          <a:xfrm flipV="1">
            <a:off x="5641848" y="3383280"/>
            <a:ext cx="804672" cy="621792"/>
          </a:xfrm>
          <a:prstGeom prst="line">
            <a:avLst/>
          </a:prstGeom>
          <a:noFill/>
          <a:ln w="20320">
            <a:solidFill>
              <a:srgbClr val="97AEB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EEDE37-6D05-40B5-B6CA-2E97BCA6F280}"/>
              </a:ext>
            </a:extLst>
          </p:cNvPr>
          <p:cNvSpPr>
            <a:spLocks noGrp="1"/>
          </p:cNvSpPr>
          <p:nvPr/>
        </p:nvSpPr>
        <p:spPr>
          <a:xfrm flipV="1">
            <a:off x="8549640" y="2432304"/>
            <a:ext cx="640080" cy="768096"/>
          </a:xfrm>
          <a:prstGeom prst="line">
            <a:avLst/>
          </a:prstGeom>
          <a:noFill/>
          <a:ln w="20320">
            <a:solidFill>
              <a:srgbClr val="97AEB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22D2EB-3C5C-45CC-96FF-A44BC5053F77}"/>
              </a:ext>
            </a:extLst>
          </p:cNvPr>
          <p:cNvSpPr>
            <a:spLocks noGrp="1"/>
          </p:cNvSpPr>
          <p:nvPr/>
        </p:nvSpPr>
        <p:spPr>
          <a:xfrm>
            <a:off x="8549640" y="3328416"/>
            <a:ext cx="640080" cy="813816"/>
          </a:xfrm>
          <a:prstGeom prst="line">
            <a:avLst/>
          </a:prstGeom>
          <a:noFill/>
          <a:ln w="20320">
            <a:solidFill>
              <a:srgbClr val="97AEB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1A247E1-275B-4BC0-80F2-22F82ECB2BD8}"/>
              </a:ext>
            </a:extLst>
          </p:cNvPr>
          <p:cNvSpPr>
            <a:spLocks noGrp="1"/>
          </p:cNvSpPr>
          <p:nvPr/>
        </p:nvSpPr>
        <p:spPr>
          <a:xfrm>
            <a:off x="777240" y="155448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C991293-770A-4320-8514-8BD68F578F0B}"/>
              </a:ext>
            </a:extLst>
          </p:cNvPr>
          <p:cNvSpPr>
            <a:spLocks noGrp="1"/>
          </p:cNvSpPr>
          <p:nvPr/>
        </p:nvSpPr>
        <p:spPr>
          <a:xfrm>
            <a:off x="914400" y="1764792"/>
            <a:ext cx="228600" cy="228600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60466E4-488B-4D9A-B2EF-9CAFED4859A7}"/>
              </a:ext>
            </a:extLst>
          </p:cNvPr>
          <p:cNvSpPr>
            <a:spLocks noGrp="1"/>
          </p:cNvSpPr>
          <p:nvPr/>
        </p:nvSpPr>
        <p:spPr>
          <a:xfrm>
            <a:off x="1216152" y="1719072"/>
            <a:ext cx="1307592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New device</a:t>
            </a:r>
            <a:endParaRPr sz="112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440A28-A97D-4D98-B9D2-9F8AEAA6A254}"/>
              </a:ext>
            </a:extLst>
          </p:cNvPr>
          <p:cNvSpPr>
            <a:spLocks noGrp="1"/>
          </p:cNvSpPr>
          <p:nvPr/>
        </p:nvSpPr>
        <p:spPr>
          <a:xfrm>
            <a:off x="777240" y="2889504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4FA1F79-62A0-45E9-B9DD-9A9FED7D0467}"/>
              </a:ext>
            </a:extLst>
          </p:cNvPr>
          <p:cNvSpPr>
            <a:spLocks noGrp="1"/>
          </p:cNvSpPr>
          <p:nvPr/>
        </p:nvSpPr>
        <p:spPr>
          <a:xfrm>
            <a:off x="914400" y="3099816"/>
            <a:ext cx="228600" cy="228600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FBF2657-18BF-4967-BFF9-0CC1F55FEF01}"/>
              </a:ext>
            </a:extLst>
          </p:cNvPr>
          <p:cNvSpPr>
            <a:spLocks noGrp="1"/>
          </p:cNvSpPr>
          <p:nvPr/>
        </p:nvSpPr>
        <p:spPr>
          <a:xfrm>
            <a:off x="1216152" y="3054096"/>
            <a:ext cx="1307592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Travel context</a:t>
            </a:r>
            <a:endParaRPr sz="112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083CBCE-B26F-4B3A-987A-B7E0A2233502}"/>
              </a:ext>
            </a:extLst>
          </p:cNvPr>
          <p:cNvSpPr>
            <a:spLocks noGrp="1"/>
          </p:cNvSpPr>
          <p:nvPr/>
        </p:nvSpPr>
        <p:spPr>
          <a:xfrm>
            <a:off x="777240" y="4224528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0C75D1B-81EB-4512-84B2-01A14ABF366E}"/>
              </a:ext>
            </a:extLst>
          </p:cNvPr>
          <p:cNvSpPr>
            <a:spLocks noGrp="1"/>
          </p:cNvSpPr>
          <p:nvPr/>
        </p:nvSpPr>
        <p:spPr>
          <a:xfrm>
            <a:off x="914400" y="4434840"/>
            <a:ext cx="228600" cy="228600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8C560D-21CC-4E2C-AC7D-18269858D211}"/>
              </a:ext>
            </a:extLst>
          </p:cNvPr>
          <p:cNvSpPr>
            <a:spLocks noGrp="1"/>
          </p:cNvSpPr>
          <p:nvPr/>
        </p:nvSpPr>
        <p:spPr>
          <a:xfrm>
            <a:off x="1216152" y="4389120"/>
            <a:ext cx="1307592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High amount</a:t>
            </a:r>
            <a:endParaRPr sz="112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4D30099-DE27-4F55-B67A-A1ED5E0C5536}"/>
              </a:ext>
            </a:extLst>
          </p:cNvPr>
          <p:cNvSpPr>
            <a:spLocks noGrp="1"/>
          </p:cNvSpPr>
          <p:nvPr/>
        </p:nvSpPr>
        <p:spPr>
          <a:xfrm>
            <a:off x="3493008" y="2121408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B777E6D-F990-4110-81DC-B1B260E5C0E3}"/>
              </a:ext>
            </a:extLst>
          </p:cNvPr>
          <p:cNvSpPr>
            <a:spLocks noGrp="1"/>
          </p:cNvSpPr>
          <p:nvPr/>
        </p:nvSpPr>
        <p:spPr>
          <a:xfrm>
            <a:off x="3630168" y="2331720"/>
            <a:ext cx="228600" cy="228600"/>
          </a:xfrm>
          <a:prstGeom prst="ellipse">
            <a:avLst/>
          </a:prstGeom>
          <a:solidFill>
            <a:srgbClr val="C7483C"/>
          </a:solidFill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556CEB9-C5C3-4347-8196-24B414ACAE55}"/>
              </a:ext>
            </a:extLst>
          </p:cNvPr>
          <p:cNvSpPr>
            <a:spLocks noGrp="1"/>
          </p:cNvSpPr>
          <p:nvPr/>
        </p:nvSpPr>
        <p:spPr>
          <a:xfrm>
            <a:off x="3931920" y="2286000"/>
            <a:ext cx="1581912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Account takeover</a:t>
            </a:r>
            <a:endParaRPr sz="112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0BCC530-9F21-4A07-998A-A2C68A6EAE47}"/>
              </a:ext>
            </a:extLst>
          </p:cNvPr>
          <p:cNvSpPr>
            <a:spLocks noGrp="1"/>
          </p:cNvSpPr>
          <p:nvPr/>
        </p:nvSpPr>
        <p:spPr>
          <a:xfrm>
            <a:off x="3493008" y="3675888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CE7DA7E-3B61-4681-964E-F93DF9B5BE22}"/>
              </a:ext>
            </a:extLst>
          </p:cNvPr>
          <p:cNvSpPr>
            <a:spLocks noGrp="1"/>
          </p:cNvSpPr>
          <p:nvPr/>
        </p:nvSpPr>
        <p:spPr>
          <a:xfrm>
            <a:off x="3630168" y="3886200"/>
            <a:ext cx="228600" cy="228600"/>
          </a:xfrm>
          <a:prstGeom prst="ellipse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325ED43-FD64-440E-875E-8618DBE1A0E5}"/>
              </a:ext>
            </a:extLst>
          </p:cNvPr>
          <p:cNvSpPr>
            <a:spLocks noGrp="1"/>
          </p:cNvSpPr>
          <p:nvPr/>
        </p:nvSpPr>
        <p:spPr>
          <a:xfrm>
            <a:off x="3931920" y="3840480"/>
            <a:ext cx="1581912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Unusual behavior</a:t>
            </a:r>
            <a:endParaRPr sz="112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2E5E2E5-6074-480E-9F28-8346D31B61AE}"/>
              </a:ext>
            </a:extLst>
          </p:cNvPr>
          <p:cNvSpPr>
            <a:spLocks noGrp="1"/>
          </p:cNvSpPr>
          <p:nvPr/>
        </p:nvSpPr>
        <p:spPr>
          <a:xfrm>
            <a:off x="6446520" y="2889504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CC729CC-57F9-4DAB-AB4F-DEDF4AD8878F}"/>
              </a:ext>
            </a:extLst>
          </p:cNvPr>
          <p:cNvSpPr>
            <a:spLocks noGrp="1"/>
          </p:cNvSpPr>
          <p:nvPr/>
        </p:nvSpPr>
        <p:spPr>
          <a:xfrm>
            <a:off x="6583680" y="3099816"/>
            <a:ext cx="228600" cy="228600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C4E6A87-8408-4637-A8A0-285895C261DF}"/>
              </a:ext>
            </a:extLst>
          </p:cNvPr>
          <p:cNvSpPr>
            <a:spLocks noGrp="1"/>
          </p:cNvSpPr>
          <p:nvPr/>
        </p:nvSpPr>
        <p:spPr>
          <a:xfrm>
            <a:off x="6885432" y="3054096"/>
            <a:ext cx="1536192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Fraud risk</a:t>
            </a:r>
            <a:endParaRPr sz="112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2CC8C7F-F7A5-4105-9203-D91C8DC0851D}"/>
              </a:ext>
            </a:extLst>
          </p:cNvPr>
          <p:cNvSpPr>
            <a:spLocks noGrp="1"/>
          </p:cNvSpPr>
          <p:nvPr/>
        </p:nvSpPr>
        <p:spPr>
          <a:xfrm>
            <a:off x="9189720" y="1993392"/>
            <a:ext cx="208483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CAB04A0-ACBA-4ABD-A6D8-0185B98A255F}"/>
              </a:ext>
            </a:extLst>
          </p:cNvPr>
          <p:cNvSpPr>
            <a:spLocks noGrp="1"/>
          </p:cNvSpPr>
          <p:nvPr/>
        </p:nvSpPr>
        <p:spPr>
          <a:xfrm>
            <a:off x="9326880" y="2203704"/>
            <a:ext cx="228600" cy="228600"/>
          </a:xfrm>
          <a:prstGeom prst="ellipse">
            <a:avLst/>
          </a:prstGeom>
          <a:solidFill>
            <a:srgbClr val="C7483C"/>
          </a:solidFill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47FEE5B-0338-4229-9738-07ED4D98B11A}"/>
              </a:ext>
            </a:extLst>
          </p:cNvPr>
          <p:cNvSpPr>
            <a:spLocks noGrp="1"/>
          </p:cNvSpPr>
          <p:nvPr/>
        </p:nvSpPr>
        <p:spPr>
          <a:xfrm>
            <a:off x="9628632" y="2157984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Alert</a:t>
            </a:r>
            <a:endParaRPr sz="112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5DB00E3-518F-40AE-A44E-55BD46606BBC}"/>
              </a:ext>
            </a:extLst>
          </p:cNvPr>
          <p:cNvSpPr>
            <a:spLocks noGrp="1"/>
          </p:cNvSpPr>
          <p:nvPr/>
        </p:nvSpPr>
        <p:spPr>
          <a:xfrm>
            <a:off x="9189720" y="3840480"/>
            <a:ext cx="208483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2E4DE29-49C3-474B-9F17-EEA506148B02}"/>
              </a:ext>
            </a:extLst>
          </p:cNvPr>
          <p:cNvSpPr>
            <a:spLocks noGrp="1"/>
          </p:cNvSpPr>
          <p:nvPr/>
        </p:nvSpPr>
        <p:spPr>
          <a:xfrm>
            <a:off x="9326880" y="4050792"/>
            <a:ext cx="228600" cy="228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E4DE139-FCCB-4F69-B40E-C89DD611C342}"/>
              </a:ext>
            </a:extLst>
          </p:cNvPr>
          <p:cNvSpPr>
            <a:spLocks noGrp="1"/>
          </p:cNvSpPr>
          <p:nvPr/>
        </p:nvSpPr>
        <p:spPr>
          <a:xfrm>
            <a:off x="9628632" y="4005072"/>
            <a:ext cx="1517904" cy="28346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Step-up verification</a:t>
            </a:r>
            <a:endParaRPr sz="112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DAA1A0B2-BDEF-4A15-A942-9587781DCC8A}"/>
              </a:ext>
            </a:extLst>
          </p:cNvPr>
          <p:cNvSpPr>
            <a:spLocks noGrp="1"/>
          </p:cNvSpPr>
          <p:nvPr/>
        </p:nvSpPr>
        <p:spPr>
          <a:xfrm>
            <a:off x="2011680" y="5349240"/>
            <a:ext cx="8138160" cy="411480"/>
          </a:xfrm>
          <a:prstGeom prst="roundRect">
            <a:avLst>
              <a:gd name="adj" fmla="val 8889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661C2A6-3319-44A6-A877-A8ADE7D18036}"/>
              </a:ext>
            </a:extLst>
          </p:cNvPr>
          <p:cNvSpPr>
            <a:spLocks noGrp="1"/>
          </p:cNvSpPr>
          <p:nvPr/>
        </p:nvSpPr>
        <p:spPr>
          <a:xfrm>
            <a:off x="2240280" y="5477256"/>
            <a:ext cx="7680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Evidence updates connected beliefs; conditional independence keeps the model compact and explainable.</a:t>
            </a:r>
            <a:endParaRPr sz="108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3B75943-ED96-4B14-92E9-DDAEBD843762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Conceptual network for teaching; arrows are not claims of causality.</a:t>
            </a:r>
            <a:endParaRPr sz="670"/>
          </a:p>
        </p:txBody>
      </p:sp>
      <p:pic>
        <p:nvPicPr>
          <p:cNvPr id="81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41" name="Slide Number Placeholder 0">
            <a:extLst>
              <a:ext uri="{FF2B5EF4-FFF2-40B4-BE49-F238E27FC236}">
                <a16:creationId xmlns:a16="http://schemas.microsoft.com/office/drawing/2014/main" id="{CC8279D8-03B0-4524-A118-EF8AB7A6662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0BB18BA8-60F4-C50D-CD9B-1BB87D3E8506}" type="slidenum">
              <a:rPr b="0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8941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CEB745-1372-4019-BAB5-4490248444E1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6  |  LOGISTIC REGRESSION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D50693-80FE-4DB1-81DD-AB3523DBB780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825C65-B4CF-4391-992C-943963EDB70C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Logistic regression maps evidence into a 0–1 probability range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458024-5BF7-406C-8B1F-DB5BCBCD34E4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Synthetic-case assumption: after calibration, 0.82 is treated as an estimated probability.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F5357C-30FA-444A-86DD-4A9202E84ABB}"/>
              </a:ext>
            </a:extLst>
          </p:cNvPr>
          <p:cNvSpPr>
            <a:spLocks noGrp="1"/>
          </p:cNvSpPr>
          <p:nvPr/>
        </p:nvSpPr>
        <p:spPr>
          <a:xfrm>
            <a:off x="658368" y="1554480"/>
            <a:ext cx="7909560" cy="4416552"/>
          </a:xfrm>
          <a:prstGeom prst="roundRect">
            <a:avLst>
              <a:gd name="adj" fmla="val 82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90560"/>
            <a:ext cx="7635240" cy="3270073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69EAE62-AD64-4FC1-925B-7F75235EB533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758037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40">
                <a:solidFill>
                  <a:srgbClr val="60798A"/>
                </a:solidFill>
                <a:latin typeface="Arial"/>
                <a:ea typeface="Arial"/>
                <a:cs typeface="Arial"/>
              </a:rPr>
              <a:t>Asha’s synthetic score shown at 0.82</a:t>
            </a:r>
            <a:endParaRPr sz="84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14DE33D-2A00-4226-A0BA-F3F1A087336D}"/>
              </a:ext>
            </a:extLst>
          </p:cNvPr>
          <p:cNvSpPr>
            <a:spLocks noGrp="1"/>
          </p:cNvSpPr>
          <p:nvPr/>
        </p:nvSpPr>
        <p:spPr>
          <a:xfrm>
            <a:off x="8823960" y="1572768"/>
            <a:ext cx="2560320" cy="1298448"/>
          </a:xfrm>
          <a:prstGeom prst="roundRect">
            <a:avLst>
              <a:gd name="adj" fmla="val 4225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4587CF2-BF92-42CB-849D-D472EA6AF0BF}"/>
              </a:ext>
            </a:extLst>
          </p:cNvPr>
          <p:cNvSpPr>
            <a:spLocks noGrp="1"/>
          </p:cNvSpPr>
          <p:nvPr/>
        </p:nvSpPr>
        <p:spPr>
          <a:xfrm>
            <a:off x="8823960" y="1572768"/>
            <a:ext cx="50292" cy="1298448"/>
          </a:xfrm>
          <a:prstGeom prst="rect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7A92DCD-C8E6-40FC-99FB-B393B15C438F}"/>
              </a:ext>
            </a:extLst>
          </p:cNvPr>
          <p:cNvSpPr>
            <a:spLocks noGrp="1"/>
          </p:cNvSpPr>
          <p:nvPr/>
        </p:nvSpPr>
        <p:spPr>
          <a:xfrm>
            <a:off x="9025128" y="175564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Linear predictor</a:t>
            </a:r>
            <a:endParaRPr sz="14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6BD46B3-65CD-4F77-97BB-8628385D17E7}"/>
              </a:ext>
            </a:extLst>
          </p:cNvPr>
          <p:cNvSpPr>
            <a:spLocks noGrp="1"/>
          </p:cNvSpPr>
          <p:nvPr/>
        </p:nvSpPr>
        <p:spPr>
          <a:xfrm>
            <a:off x="9025128" y="2148840"/>
            <a:ext cx="2167128" cy="5760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153246"/>
                </a:solidFill>
                <a:latin typeface="Arial"/>
                <a:ea typeface="Arial"/>
                <a:cs typeface="Arial"/>
              </a:rPr>
              <a:t>β₀ + β₁x₁ + ··· + βₚxₚ</a:t>
            </a:r>
            <a:endParaRPr sz="13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EC30395-6DDC-409A-958E-F47B6B1EC948}"/>
              </a:ext>
            </a:extLst>
          </p:cNvPr>
          <p:cNvSpPr>
            <a:spLocks noGrp="1"/>
          </p:cNvSpPr>
          <p:nvPr/>
        </p:nvSpPr>
        <p:spPr>
          <a:xfrm>
            <a:off x="8823960" y="3035808"/>
            <a:ext cx="2560320" cy="1298448"/>
          </a:xfrm>
          <a:prstGeom prst="roundRect">
            <a:avLst>
              <a:gd name="adj" fmla="val 4225"/>
            </a:avLst>
          </a:prstGeom>
          <a:solidFill>
            <a:srgbClr val="DDF7F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435CE9B-02FE-4A88-BA8A-7C330317E05C}"/>
              </a:ext>
            </a:extLst>
          </p:cNvPr>
          <p:cNvSpPr>
            <a:spLocks noGrp="1"/>
          </p:cNvSpPr>
          <p:nvPr/>
        </p:nvSpPr>
        <p:spPr>
          <a:xfrm>
            <a:off x="8823960" y="3035808"/>
            <a:ext cx="50292" cy="1298448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DC56DA4-9507-4CD9-89B0-5C7A83F5178F}"/>
              </a:ext>
            </a:extLst>
          </p:cNvPr>
          <p:cNvSpPr>
            <a:spLocks noGrp="1"/>
          </p:cNvSpPr>
          <p:nvPr/>
        </p:nvSpPr>
        <p:spPr>
          <a:xfrm>
            <a:off x="9025128" y="321868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Inverse-logit</a:t>
            </a:r>
            <a:endParaRPr sz="14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742E687-2EF8-45B9-9B7A-E5BBD9D5B552}"/>
              </a:ext>
            </a:extLst>
          </p:cNvPr>
          <p:cNvSpPr>
            <a:spLocks noGrp="1"/>
          </p:cNvSpPr>
          <p:nvPr/>
        </p:nvSpPr>
        <p:spPr>
          <a:xfrm>
            <a:off x="9025128" y="3611880"/>
            <a:ext cx="2167128" cy="5760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153246"/>
                </a:solidFill>
                <a:latin typeface="Arial"/>
                <a:ea typeface="Arial"/>
                <a:cs typeface="Arial"/>
              </a:rPr>
              <a:t>Maps the linear predictor into a 0–1 probability.</a:t>
            </a:r>
            <a:endParaRPr sz="106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971BE1C-26F9-450D-83E2-8DFD3F2010B1}"/>
              </a:ext>
            </a:extLst>
          </p:cNvPr>
          <p:cNvSpPr>
            <a:spLocks noGrp="1"/>
          </p:cNvSpPr>
          <p:nvPr/>
        </p:nvSpPr>
        <p:spPr>
          <a:xfrm>
            <a:off x="8823960" y="4498848"/>
            <a:ext cx="2560320" cy="1298448"/>
          </a:xfrm>
          <a:prstGeom prst="roundRect">
            <a:avLst>
              <a:gd name="adj" fmla="val 4225"/>
            </a:avLst>
          </a:prstGeom>
          <a:solidFill>
            <a:srgbClr val="FFF0E5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DC9BEBAD-0D1C-46F0-82A7-691D0B84C297}"/>
              </a:ext>
            </a:extLst>
          </p:cNvPr>
          <p:cNvSpPr>
            <a:spLocks noGrp="1"/>
          </p:cNvSpPr>
          <p:nvPr/>
        </p:nvSpPr>
        <p:spPr>
          <a:xfrm>
            <a:off x="8823960" y="4498848"/>
            <a:ext cx="50292" cy="1298448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DE31EA7-06EE-4ADD-B81A-0CD151D72856}"/>
              </a:ext>
            </a:extLst>
          </p:cNvPr>
          <p:cNvSpPr>
            <a:spLocks noGrp="1"/>
          </p:cNvSpPr>
          <p:nvPr/>
        </p:nvSpPr>
        <p:spPr>
          <a:xfrm>
            <a:off x="9025128" y="468172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Still required</a:t>
            </a:r>
            <a:endParaRPr sz="14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433AEA0-AFD9-4312-A327-2EC993C7C3BA}"/>
              </a:ext>
            </a:extLst>
          </p:cNvPr>
          <p:cNvSpPr>
            <a:spLocks noGrp="1"/>
          </p:cNvSpPr>
          <p:nvPr/>
        </p:nvSpPr>
        <p:spPr>
          <a:xfrm>
            <a:off x="9025128" y="5074920"/>
            <a:ext cx="2167128" cy="5760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60">
                <a:solidFill>
                  <a:srgbClr val="153246"/>
                </a:solidFill>
                <a:latin typeface="Arial"/>
                <a:ea typeface="Arial"/>
                <a:cs typeface="Arial"/>
              </a:rPr>
              <a:t>Diagnostics, validation, calibration, and context.</a:t>
            </a:r>
            <a:endParaRPr sz="106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3B5C95D-6AB0-44C9-A6E4-2F82E4F1C52F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Synthetic logistic curve for teaching.</a:t>
            </a:r>
            <a:endParaRPr sz="670"/>
          </a:p>
        </p:txBody>
      </p:sp>
      <p:pic>
        <p:nvPicPr>
          <p:cNvPr id="48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77D20AD-C803-4645-8B9A-370747E31C4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A4E99CEF-AF55-BA3C-ADF8-4E52E186DD8F}" type="slidenum">
              <a:rPr b="0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238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1909CA-E76D-4BE3-A9DC-C64E3E7ACA23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7  |  CLASSIFICATION SCORES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6F2B53-54F2-463B-A94C-24BF49E5DB46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24EAAE-EC4B-4663-A696-42385D3E8335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 score ranks risk—but the groups still overlap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00A048-89C5-4DC9-9058-E50D7368967E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No threshold perfectly separates legitimate and fraudulent payments.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47D3A37-F626-4DAB-AF8D-58CCCC9EA4BC}"/>
              </a:ext>
            </a:extLst>
          </p:cNvPr>
          <p:cNvSpPr>
            <a:spLocks noGrp="1"/>
          </p:cNvSpPr>
          <p:nvPr/>
        </p:nvSpPr>
        <p:spPr>
          <a:xfrm>
            <a:off x="640080" y="1536192"/>
            <a:ext cx="8321040" cy="4462272"/>
          </a:xfrm>
          <a:prstGeom prst="roundRect">
            <a:avLst>
              <a:gd name="adj" fmla="val 82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38" y="1627632"/>
            <a:ext cx="7966325" cy="4005072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341571B3-B70C-43F7-8646-794ECACC22C5}"/>
              </a:ext>
            </a:extLst>
          </p:cNvPr>
          <p:cNvSpPr>
            <a:spLocks noGrp="1"/>
          </p:cNvSpPr>
          <p:nvPr/>
        </p:nvSpPr>
        <p:spPr>
          <a:xfrm>
            <a:off x="804672" y="5696712"/>
            <a:ext cx="799185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40">
                <a:solidFill>
                  <a:srgbClr val="60798A"/>
                </a:solidFill>
                <a:latin typeface="Arial"/>
                <a:ea typeface="Arial"/>
                <a:cs typeface="Arial"/>
              </a:rPr>
              <a:t>Synthetic score distributions; Asha’s score marked at 0.82</a:t>
            </a:r>
            <a:endParaRPr sz="84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C955650-E7C6-4700-BB1A-40AAD73BE5FF}"/>
              </a:ext>
            </a:extLst>
          </p:cNvPr>
          <p:cNvSpPr>
            <a:spLocks noGrp="1"/>
          </p:cNvSpPr>
          <p:nvPr/>
        </p:nvSpPr>
        <p:spPr>
          <a:xfrm>
            <a:off x="9235440" y="1600200"/>
            <a:ext cx="2148840" cy="1481328"/>
          </a:xfrm>
          <a:prstGeom prst="roundRect">
            <a:avLst>
              <a:gd name="adj" fmla="val 3704"/>
            </a:avLst>
          </a:prstGeom>
          <a:solidFill>
            <a:srgbClr val="E7F5EC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8B52FF6-2983-4B3D-A916-8855AE6EB4FD}"/>
              </a:ext>
            </a:extLst>
          </p:cNvPr>
          <p:cNvSpPr>
            <a:spLocks noGrp="1"/>
          </p:cNvSpPr>
          <p:nvPr/>
        </p:nvSpPr>
        <p:spPr>
          <a:xfrm>
            <a:off x="9235440" y="1600200"/>
            <a:ext cx="50292" cy="14813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1281094-E3BC-476C-933A-70F81892AF3D}"/>
              </a:ext>
            </a:extLst>
          </p:cNvPr>
          <p:cNvSpPr>
            <a:spLocks noGrp="1"/>
          </p:cNvSpPr>
          <p:nvPr/>
        </p:nvSpPr>
        <p:spPr>
          <a:xfrm>
            <a:off x="9436608" y="1783080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Good news</a:t>
            </a:r>
            <a:endParaRPr sz="1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8C524CB-32DF-4C84-9A48-3EA4913D6154}"/>
              </a:ext>
            </a:extLst>
          </p:cNvPr>
          <p:cNvSpPr>
            <a:spLocks noGrp="1"/>
          </p:cNvSpPr>
          <p:nvPr/>
        </p:nvSpPr>
        <p:spPr>
          <a:xfrm>
            <a:off x="9436608" y="2185416"/>
            <a:ext cx="1755648" cy="74980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40">
                <a:solidFill>
                  <a:srgbClr val="153246"/>
                </a:solidFill>
                <a:latin typeface="Arial"/>
                <a:ea typeface="Arial"/>
                <a:cs typeface="Arial"/>
              </a:rPr>
              <a:t>Higher scores contain more fraudulent payments.</a:t>
            </a:r>
            <a:endParaRPr sz="104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A094CCD-7BF7-4ECE-B2D6-6C1A0CB87E03}"/>
              </a:ext>
            </a:extLst>
          </p:cNvPr>
          <p:cNvSpPr>
            <a:spLocks noGrp="1"/>
          </p:cNvSpPr>
          <p:nvPr/>
        </p:nvSpPr>
        <p:spPr>
          <a:xfrm>
            <a:off x="9235440" y="3246120"/>
            <a:ext cx="2148840" cy="1481328"/>
          </a:xfrm>
          <a:prstGeom prst="roundRect">
            <a:avLst>
              <a:gd name="adj" fmla="val 3704"/>
            </a:avLst>
          </a:prstGeom>
          <a:solidFill>
            <a:srgbClr val="FFF0E5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164CDF0-E7F4-41BC-AC77-C26032537E0C}"/>
              </a:ext>
            </a:extLst>
          </p:cNvPr>
          <p:cNvSpPr>
            <a:spLocks noGrp="1"/>
          </p:cNvSpPr>
          <p:nvPr/>
        </p:nvSpPr>
        <p:spPr>
          <a:xfrm>
            <a:off x="9235440" y="3246120"/>
            <a:ext cx="50292" cy="1481328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3602368-757D-463F-91F2-56957F9DE669}"/>
              </a:ext>
            </a:extLst>
          </p:cNvPr>
          <p:cNvSpPr>
            <a:spLocks noGrp="1"/>
          </p:cNvSpPr>
          <p:nvPr/>
        </p:nvSpPr>
        <p:spPr>
          <a:xfrm>
            <a:off x="9436608" y="3429000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Hard truth</a:t>
            </a:r>
            <a:endParaRPr sz="1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1D35B1E-F802-42E7-84CA-2D29A2F7E9D7}"/>
              </a:ext>
            </a:extLst>
          </p:cNvPr>
          <p:cNvSpPr>
            <a:spLocks noGrp="1"/>
          </p:cNvSpPr>
          <p:nvPr/>
        </p:nvSpPr>
        <p:spPr>
          <a:xfrm>
            <a:off x="9436608" y="3831336"/>
            <a:ext cx="1755648" cy="74980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40">
                <a:solidFill>
                  <a:srgbClr val="153246"/>
                </a:solidFill>
                <a:latin typeface="Arial"/>
                <a:ea typeface="Arial"/>
                <a:cs typeface="Arial"/>
              </a:rPr>
              <a:t>Some legitimate payments also receive high scores.</a:t>
            </a:r>
            <a:endParaRPr sz="104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E1672C3-E4E7-4A83-9816-F0736A522822}"/>
              </a:ext>
            </a:extLst>
          </p:cNvPr>
          <p:cNvSpPr>
            <a:spLocks noGrp="1"/>
          </p:cNvSpPr>
          <p:nvPr/>
        </p:nvSpPr>
        <p:spPr>
          <a:xfrm>
            <a:off x="9098280" y="5266944"/>
            <a:ext cx="24231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1298"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The threshold changes the tradeoff between missed fraud and customer interruption.</a:t>
            </a:r>
            <a:endParaRPr sz="112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3870DB1-DBF6-46E3-8BB3-050CEDA60FFA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Synthetic score distributions for teaching.</a:t>
            </a:r>
            <a:endParaRPr sz="670"/>
          </a:p>
        </p:txBody>
      </p:sp>
      <p:pic>
        <p:nvPicPr>
          <p:cNvPr id="45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D9294FA-F77F-4A32-B090-FA24E3A66F6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4A59AF09-D197-0193-A7DE-FAAF0B691058}" type="slidenum">
              <a:rPr b="0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43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99BC92-7EC0-4F97-9A11-0F4A5A399F30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WEEK 7  |  THRESHOLD CHOICE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89DD21-514E-4C82-86D7-BD85B09C7F42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92F984-3BD9-4E36-AEA9-12CAA1011C91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threshold changes the policy—even when the model is unchanged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88EDF6-B587-4094-9F46-243D945C979B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8D6E4"/>
                </a:solidFill>
                <a:latin typeface="Arial"/>
                <a:ea typeface="Arial"/>
                <a:cs typeface="Arial"/>
              </a:rPr>
              <a:t>Which operating point would you choose for a high-value payment?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FC1C93E-A141-4159-873F-F8264A54E683}"/>
              </a:ext>
            </a:extLst>
          </p:cNvPr>
          <p:cNvSpPr>
            <a:spLocks noGrp="1"/>
          </p:cNvSpPr>
          <p:nvPr/>
        </p:nvSpPr>
        <p:spPr>
          <a:xfrm>
            <a:off x="621792" y="1572768"/>
            <a:ext cx="7479792" cy="4050792"/>
          </a:xfrm>
          <a:prstGeom prst="roundRect">
            <a:avLst>
              <a:gd name="adj" fmla="val 1129"/>
            </a:avLst>
          </a:prstGeom>
          <a:solidFill>
            <a:srgbClr val="FFFFFF"/>
          </a:solidFill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06779"/>
            <a:ext cx="7205472" cy="2937049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0F42F57A-5A6E-47FE-BC88-5B8B9C1866A3}"/>
              </a:ext>
            </a:extLst>
          </p:cNvPr>
          <p:cNvSpPr>
            <a:spLocks noGrp="1"/>
          </p:cNvSpPr>
          <p:nvPr/>
        </p:nvSpPr>
        <p:spPr>
          <a:xfrm>
            <a:off x="8458200" y="1591056"/>
            <a:ext cx="2926080" cy="1188720"/>
          </a:xfrm>
          <a:prstGeom prst="roundRect">
            <a:avLst>
              <a:gd name="adj" fmla="val 3846"/>
            </a:avLst>
          </a:prstGeom>
          <a:solidFill>
            <a:srgbClr val="0B304B"/>
          </a:solidFill>
          <a:ln w="1524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961EDE4-0A69-41FA-8418-48A3512DC674}"/>
              </a:ext>
            </a:extLst>
          </p:cNvPr>
          <p:cNvSpPr>
            <a:spLocks noGrp="1"/>
          </p:cNvSpPr>
          <p:nvPr/>
        </p:nvSpPr>
        <p:spPr>
          <a:xfrm>
            <a:off x="8641080" y="1755648"/>
            <a:ext cx="6583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0.20</a:t>
            </a:r>
            <a:endParaRPr sz="20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E52B04E-39FD-4C59-A0AB-C272D9022640}"/>
              </a:ext>
            </a:extLst>
          </p:cNvPr>
          <p:cNvSpPr>
            <a:spLocks noGrp="1"/>
          </p:cNvSpPr>
          <p:nvPr/>
        </p:nvSpPr>
        <p:spPr>
          <a:xfrm>
            <a:off x="9326880" y="1755648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96% recall  •  7.5% precision</a:t>
            </a:r>
            <a:endParaRPr sz="10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9DDE99D-792D-4149-8796-104F7B87CAC4}"/>
              </a:ext>
            </a:extLst>
          </p:cNvPr>
          <p:cNvSpPr>
            <a:spLocks noGrp="1"/>
          </p:cNvSpPr>
          <p:nvPr/>
        </p:nvSpPr>
        <p:spPr>
          <a:xfrm>
            <a:off x="8732520" y="2221992"/>
            <a:ext cx="2377440" cy="31089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60">
                <a:solidFill>
                  <a:srgbClr val="B8D6E4"/>
                </a:solidFill>
                <a:latin typeface="Arial"/>
                <a:ea typeface="Arial"/>
                <a:cs typeface="Arial"/>
              </a:rPr>
              <a:t>Catch nearly everything; interrupt many</a:t>
            </a:r>
            <a:endParaRPr sz="96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5CE6608-9D7E-404A-890B-B1D33BBC13E9}"/>
              </a:ext>
            </a:extLst>
          </p:cNvPr>
          <p:cNvSpPr>
            <a:spLocks noGrp="1"/>
          </p:cNvSpPr>
          <p:nvPr/>
        </p:nvSpPr>
        <p:spPr>
          <a:xfrm>
            <a:off x="8458200" y="3008376"/>
            <a:ext cx="2926080" cy="1188720"/>
          </a:xfrm>
          <a:prstGeom prst="roundRect">
            <a:avLst>
              <a:gd name="adj" fmla="val 3846"/>
            </a:avLst>
          </a:prstGeom>
          <a:solidFill>
            <a:srgbClr val="0B304B"/>
          </a:solidFill>
          <a:ln w="1524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B425627-ED77-4F36-B47E-6BAABA719075}"/>
              </a:ext>
            </a:extLst>
          </p:cNvPr>
          <p:cNvSpPr>
            <a:spLocks noGrp="1"/>
          </p:cNvSpPr>
          <p:nvPr/>
        </p:nvSpPr>
        <p:spPr>
          <a:xfrm>
            <a:off x="8641080" y="3172968"/>
            <a:ext cx="6583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0.50</a:t>
            </a:r>
            <a:endParaRPr sz="20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156DA17-FED0-4B6B-A8DC-4564077FF7FA}"/>
              </a:ext>
            </a:extLst>
          </p:cNvPr>
          <p:cNvSpPr>
            <a:spLocks noGrp="1"/>
          </p:cNvSpPr>
          <p:nvPr/>
        </p:nvSpPr>
        <p:spPr>
          <a:xfrm>
            <a:off x="9326880" y="3172968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90% recall  •  15.4% precision</a:t>
            </a:r>
            <a:endParaRPr sz="10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9CD7277-9725-4EF4-8C1A-FE2212CB5B95}"/>
              </a:ext>
            </a:extLst>
          </p:cNvPr>
          <p:cNvSpPr>
            <a:spLocks noGrp="1"/>
          </p:cNvSpPr>
          <p:nvPr/>
        </p:nvSpPr>
        <p:spPr>
          <a:xfrm>
            <a:off x="8732520" y="3639312"/>
            <a:ext cx="2377440" cy="31089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60">
                <a:solidFill>
                  <a:srgbClr val="B8D6E4"/>
                </a:solidFill>
                <a:latin typeface="Arial"/>
                <a:ea typeface="Arial"/>
                <a:cs typeface="Arial"/>
              </a:rPr>
              <a:t>Balanced screening point</a:t>
            </a:r>
            <a:endParaRPr sz="96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081AF34-569C-4CC2-ADEF-D8DBC34A1E6B}"/>
              </a:ext>
            </a:extLst>
          </p:cNvPr>
          <p:cNvSpPr>
            <a:spLocks noGrp="1"/>
          </p:cNvSpPr>
          <p:nvPr/>
        </p:nvSpPr>
        <p:spPr>
          <a:xfrm>
            <a:off x="8458200" y="4425696"/>
            <a:ext cx="2926080" cy="1188720"/>
          </a:xfrm>
          <a:prstGeom prst="roundRect">
            <a:avLst>
              <a:gd name="adj" fmla="val 3846"/>
            </a:avLst>
          </a:prstGeom>
          <a:solidFill>
            <a:srgbClr val="0B304B"/>
          </a:solidFill>
          <a:ln w="1524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B9F8869-6895-4361-BD26-09431D802078}"/>
              </a:ext>
            </a:extLst>
          </p:cNvPr>
          <p:cNvSpPr>
            <a:spLocks noGrp="1"/>
          </p:cNvSpPr>
          <p:nvPr/>
        </p:nvSpPr>
        <p:spPr>
          <a:xfrm>
            <a:off x="8641080" y="4590288"/>
            <a:ext cx="658368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0.80</a:t>
            </a:r>
            <a:endParaRPr sz="20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7A44576-FC6C-4CB8-9BE0-859EDF974F34}"/>
              </a:ext>
            </a:extLst>
          </p:cNvPr>
          <p:cNvSpPr>
            <a:spLocks noGrp="1"/>
          </p:cNvSpPr>
          <p:nvPr/>
        </p:nvSpPr>
        <p:spPr>
          <a:xfrm>
            <a:off x="9326880" y="4590288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65% recall  •  39.6% precision</a:t>
            </a:r>
            <a:endParaRPr sz="10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8FB2057-D96E-4125-A7DD-CC610447C376}"/>
              </a:ext>
            </a:extLst>
          </p:cNvPr>
          <p:cNvSpPr>
            <a:spLocks noGrp="1"/>
          </p:cNvSpPr>
          <p:nvPr/>
        </p:nvSpPr>
        <p:spPr>
          <a:xfrm>
            <a:off x="8732520" y="5056632"/>
            <a:ext cx="2377440" cy="31089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60">
                <a:solidFill>
                  <a:srgbClr val="B8D6E4"/>
                </a:solidFill>
                <a:latin typeface="Arial"/>
                <a:ea typeface="Arial"/>
                <a:cs typeface="Arial"/>
              </a:rPr>
              <a:t>Fewer interruptions; more missed fraud</a:t>
            </a:r>
            <a:endParaRPr sz="96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367BE78-39FB-4E20-A17F-C5E41C2ED921}"/>
              </a:ext>
            </a:extLst>
          </p:cNvPr>
          <p:cNvSpPr>
            <a:spLocks noGrp="1"/>
          </p:cNvSpPr>
          <p:nvPr/>
        </p:nvSpPr>
        <p:spPr>
          <a:xfrm>
            <a:off x="1115568" y="5742432"/>
            <a:ext cx="9985248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350" b="1">
                <a:solidFill>
                  <a:srgbClr val="D6EBF4"/>
                </a:solidFill>
                <a:latin typeface="Arial"/>
                <a:ea typeface="Arial"/>
                <a:cs typeface="Arial"/>
              </a:rPr>
              <a:t>Vote: low, medium, or high threshold—and explain whose cost you prioritized.</a:t>
            </a:r>
            <a:endParaRPr sz="135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1594AE9-07BC-423F-81D8-FB633BFB80BC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90B4C7"/>
                </a:solidFill>
                <a:latin typeface="Arial"/>
                <a:ea typeface="Arial"/>
                <a:cs typeface="Arial"/>
              </a:rPr>
              <a:t>Synthetic operating points for classroom discussion.</a:t>
            </a:r>
            <a:endParaRPr sz="670"/>
          </a:p>
        </p:txBody>
      </p:sp>
      <p:pic>
        <p:nvPicPr>
          <p:cNvPr id="48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80C8A1E-A842-4A0B-8A32-4DC15D00ED4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F3AE1AE4-D79E-94D6-E825-3FC6C21A77D2}" type="slidenum">
              <a:rPr b="0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2082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D7AF4C-8097-4475-9030-3B5146E7F872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7  |  METRICS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F0F8DF-B72D-4F71-8E77-A675D452EB20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EEED84-063A-4B4D-B7BB-11123160F741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Each metric protects a different stakeholder question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1B9335-A558-46DF-8592-B3F41C27EDBF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A single dashboard number can conceal the consequences that matter.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5DC41BD-5E9F-449C-942C-BEA6802A45DC}"/>
              </a:ext>
            </a:extLst>
          </p:cNvPr>
          <p:cNvSpPr>
            <a:spLocks noGrp="1"/>
          </p:cNvSpPr>
          <p:nvPr/>
        </p:nvSpPr>
        <p:spPr>
          <a:xfrm>
            <a:off x="502920" y="1572768"/>
            <a:ext cx="20574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DA7261D-478F-4D4A-8C72-8314F24FC9DA}"/>
              </a:ext>
            </a:extLst>
          </p:cNvPr>
          <p:cNvSpPr>
            <a:spLocks noGrp="1"/>
          </p:cNvSpPr>
          <p:nvPr/>
        </p:nvSpPr>
        <p:spPr>
          <a:xfrm>
            <a:off x="1188720" y="1865376"/>
            <a:ext cx="694944" cy="694944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60AE8-5728-4115-8515-11FD7FED3DF9}"/>
              </a:ext>
            </a:extLst>
          </p:cNvPr>
          <p:cNvSpPr>
            <a:spLocks noGrp="1"/>
          </p:cNvSpPr>
          <p:nvPr/>
        </p:nvSpPr>
        <p:spPr>
          <a:xfrm>
            <a:off x="1408176" y="206654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6C3B81-1B6E-46DE-8A69-5C1F76987665}"/>
              </a:ext>
            </a:extLst>
          </p:cNvPr>
          <p:cNvSpPr>
            <a:spLocks noGrp="1"/>
          </p:cNvSpPr>
          <p:nvPr/>
        </p:nvSpPr>
        <p:spPr>
          <a:xfrm>
            <a:off x="704088" y="2834640"/>
            <a:ext cx="16642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Accuracy</a:t>
            </a:r>
            <a:endParaRPr sz="16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36E32B7-98D6-477D-9067-148613266564}"/>
              </a:ext>
            </a:extLst>
          </p:cNvPr>
          <p:cNvSpPr>
            <a:spLocks noGrp="1"/>
          </p:cNvSpPr>
          <p:nvPr/>
        </p:nvSpPr>
        <p:spPr>
          <a:xfrm>
            <a:off x="731520" y="3493008"/>
            <a:ext cx="1600200" cy="73152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often is any prediction correct?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093CCDC-3664-418E-AF3B-E94A70274EFA}"/>
              </a:ext>
            </a:extLst>
          </p:cNvPr>
          <p:cNvSpPr>
            <a:spLocks noGrp="1"/>
          </p:cNvSpPr>
          <p:nvPr/>
        </p:nvSpPr>
        <p:spPr>
          <a:xfrm>
            <a:off x="758952" y="4361688"/>
            <a:ext cx="1536192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7977FA9-65FE-438E-A276-286EED24C6D8}"/>
              </a:ext>
            </a:extLst>
          </p:cNvPr>
          <p:cNvSpPr>
            <a:spLocks noGrp="1"/>
          </p:cNvSpPr>
          <p:nvPr/>
        </p:nvSpPr>
        <p:spPr>
          <a:xfrm>
            <a:off x="722376" y="4590288"/>
            <a:ext cx="1627632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30" b="1">
                <a:solidFill>
                  <a:srgbClr val="0074C8"/>
                </a:solidFill>
                <a:latin typeface="Arial"/>
                <a:ea typeface="Arial"/>
                <a:cs typeface="Arial"/>
              </a:rPr>
              <a:t>Can mislead with rare fraud.</a:t>
            </a:r>
            <a:endParaRPr sz="93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7F1B95A-B4B8-48BB-A2F9-EB41C61595E4}"/>
              </a:ext>
            </a:extLst>
          </p:cNvPr>
          <p:cNvSpPr>
            <a:spLocks noGrp="1"/>
          </p:cNvSpPr>
          <p:nvPr/>
        </p:nvSpPr>
        <p:spPr>
          <a:xfrm>
            <a:off x="2834640" y="1572768"/>
            <a:ext cx="20574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8B945AC-0C80-4DC0-BE4B-4AFE67C0B144}"/>
              </a:ext>
            </a:extLst>
          </p:cNvPr>
          <p:cNvSpPr>
            <a:spLocks noGrp="1"/>
          </p:cNvSpPr>
          <p:nvPr/>
        </p:nvSpPr>
        <p:spPr>
          <a:xfrm>
            <a:off x="3520440" y="1865376"/>
            <a:ext cx="694944" cy="694944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BCB7143-1821-45BE-ACE2-4B55645616A3}"/>
              </a:ext>
            </a:extLst>
          </p:cNvPr>
          <p:cNvSpPr>
            <a:spLocks noGrp="1"/>
          </p:cNvSpPr>
          <p:nvPr/>
        </p:nvSpPr>
        <p:spPr>
          <a:xfrm>
            <a:off x="3739896" y="206654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9BF1D2-E1FF-46D9-9569-F2EE5F2B78CE}"/>
              </a:ext>
            </a:extLst>
          </p:cNvPr>
          <p:cNvSpPr>
            <a:spLocks noGrp="1"/>
          </p:cNvSpPr>
          <p:nvPr/>
        </p:nvSpPr>
        <p:spPr>
          <a:xfrm>
            <a:off x="3035808" y="2834640"/>
            <a:ext cx="16642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Recall</a:t>
            </a:r>
            <a:endParaRPr sz="165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1006E89-48E2-471F-9971-B28196E75978}"/>
              </a:ext>
            </a:extLst>
          </p:cNvPr>
          <p:cNvSpPr>
            <a:spLocks noGrp="1"/>
          </p:cNvSpPr>
          <p:nvPr/>
        </p:nvSpPr>
        <p:spPr>
          <a:xfrm>
            <a:off x="3063240" y="3493008"/>
            <a:ext cx="1600200" cy="73152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Of all fraud, how much did we catch?</a:t>
            </a:r>
            <a:endParaRPr sz="10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7D686AE-F685-4B59-B598-9930D35D00DA}"/>
              </a:ext>
            </a:extLst>
          </p:cNvPr>
          <p:cNvSpPr>
            <a:spLocks noGrp="1"/>
          </p:cNvSpPr>
          <p:nvPr/>
        </p:nvSpPr>
        <p:spPr>
          <a:xfrm>
            <a:off x="3090672" y="4361688"/>
            <a:ext cx="1536192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AB766C4-BB64-484B-8388-06393DF001E3}"/>
              </a:ext>
            </a:extLst>
          </p:cNvPr>
          <p:cNvSpPr>
            <a:spLocks noGrp="1"/>
          </p:cNvSpPr>
          <p:nvPr/>
        </p:nvSpPr>
        <p:spPr>
          <a:xfrm>
            <a:off x="3054096" y="4590288"/>
            <a:ext cx="1627632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3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Protects against missed fraud.</a:t>
            </a:r>
            <a:endParaRPr sz="93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A38ABC3-39C8-4BA0-B90F-797DCAC02DD4}"/>
              </a:ext>
            </a:extLst>
          </p:cNvPr>
          <p:cNvSpPr>
            <a:spLocks noGrp="1"/>
          </p:cNvSpPr>
          <p:nvPr/>
        </p:nvSpPr>
        <p:spPr>
          <a:xfrm>
            <a:off x="5166360" y="1572768"/>
            <a:ext cx="20574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519E731-E955-40A1-A55F-73573250D851}"/>
              </a:ext>
            </a:extLst>
          </p:cNvPr>
          <p:cNvSpPr>
            <a:spLocks noGrp="1"/>
          </p:cNvSpPr>
          <p:nvPr/>
        </p:nvSpPr>
        <p:spPr>
          <a:xfrm>
            <a:off x="5852160" y="1865376"/>
            <a:ext cx="694944" cy="694944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DB45B8E-B30E-4625-A144-60784EE6B6BD}"/>
              </a:ext>
            </a:extLst>
          </p:cNvPr>
          <p:cNvSpPr>
            <a:spLocks noGrp="1"/>
          </p:cNvSpPr>
          <p:nvPr/>
        </p:nvSpPr>
        <p:spPr>
          <a:xfrm>
            <a:off x="6071616" y="206654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121873A-9D17-42D7-BF35-273E87A207D8}"/>
              </a:ext>
            </a:extLst>
          </p:cNvPr>
          <p:cNvSpPr>
            <a:spLocks noGrp="1"/>
          </p:cNvSpPr>
          <p:nvPr/>
        </p:nvSpPr>
        <p:spPr>
          <a:xfrm>
            <a:off x="5367528" y="2834640"/>
            <a:ext cx="16642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Precision</a:t>
            </a:r>
            <a:endParaRPr sz="16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7A174AB-BE18-446F-9D52-C99CAB7FEA5E}"/>
              </a:ext>
            </a:extLst>
          </p:cNvPr>
          <p:cNvSpPr>
            <a:spLocks noGrp="1"/>
          </p:cNvSpPr>
          <p:nvPr/>
        </p:nvSpPr>
        <p:spPr>
          <a:xfrm>
            <a:off x="5394960" y="3493008"/>
            <a:ext cx="1600200" cy="73152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Of all alerts, how much was fraud?</a:t>
            </a:r>
            <a:endParaRPr sz="10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ABF94AA-14B5-4EBE-86CB-229D631F8401}"/>
              </a:ext>
            </a:extLst>
          </p:cNvPr>
          <p:cNvSpPr>
            <a:spLocks noGrp="1"/>
          </p:cNvSpPr>
          <p:nvPr/>
        </p:nvSpPr>
        <p:spPr>
          <a:xfrm>
            <a:off x="5422392" y="4361688"/>
            <a:ext cx="1536192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931C63B-4825-460B-9E48-50FE4FD03DC7}"/>
              </a:ext>
            </a:extLst>
          </p:cNvPr>
          <p:cNvSpPr>
            <a:spLocks noGrp="1"/>
          </p:cNvSpPr>
          <p:nvPr/>
        </p:nvSpPr>
        <p:spPr>
          <a:xfrm>
            <a:off x="5385816" y="4590288"/>
            <a:ext cx="1627632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3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Protects customers and reviewers.</a:t>
            </a:r>
            <a:endParaRPr sz="93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2D343BB-2861-4951-834E-E002A209D8E5}"/>
              </a:ext>
            </a:extLst>
          </p:cNvPr>
          <p:cNvSpPr>
            <a:spLocks noGrp="1"/>
          </p:cNvSpPr>
          <p:nvPr/>
        </p:nvSpPr>
        <p:spPr>
          <a:xfrm>
            <a:off x="7498080" y="1572768"/>
            <a:ext cx="20574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8689EB9-FB61-40BD-A96C-3A2B66B940DE}"/>
              </a:ext>
            </a:extLst>
          </p:cNvPr>
          <p:cNvSpPr>
            <a:spLocks noGrp="1"/>
          </p:cNvSpPr>
          <p:nvPr/>
        </p:nvSpPr>
        <p:spPr>
          <a:xfrm>
            <a:off x="8183880" y="1865376"/>
            <a:ext cx="694944" cy="69494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D825420-A04E-46E0-9D8F-060E6DA0FC0E}"/>
              </a:ext>
            </a:extLst>
          </p:cNvPr>
          <p:cNvSpPr>
            <a:spLocks noGrp="1"/>
          </p:cNvSpPr>
          <p:nvPr/>
        </p:nvSpPr>
        <p:spPr>
          <a:xfrm>
            <a:off x="8403336" y="206654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2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64E68AE-5EF6-42E7-91DE-739461D9911E}"/>
              </a:ext>
            </a:extLst>
          </p:cNvPr>
          <p:cNvSpPr>
            <a:spLocks noGrp="1"/>
          </p:cNvSpPr>
          <p:nvPr/>
        </p:nvSpPr>
        <p:spPr>
          <a:xfrm>
            <a:off x="7699248" y="2834640"/>
            <a:ext cx="16642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Specificity</a:t>
            </a:r>
            <a:endParaRPr sz="16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D0B7B1B-D5A0-442B-9F21-ED91519C41DE}"/>
              </a:ext>
            </a:extLst>
          </p:cNvPr>
          <p:cNvSpPr>
            <a:spLocks noGrp="1"/>
          </p:cNvSpPr>
          <p:nvPr/>
        </p:nvSpPr>
        <p:spPr>
          <a:xfrm>
            <a:off x="7726680" y="3493008"/>
            <a:ext cx="1600200" cy="73152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Of legitimate payments, how much passed?</a:t>
            </a:r>
            <a:endParaRPr sz="10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5D3549B-91D7-4388-96F6-0641CE1F8F22}"/>
              </a:ext>
            </a:extLst>
          </p:cNvPr>
          <p:cNvSpPr>
            <a:spLocks noGrp="1"/>
          </p:cNvSpPr>
          <p:nvPr/>
        </p:nvSpPr>
        <p:spPr>
          <a:xfrm>
            <a:off x="7754112" y="4361688"/>
            <a:ext cx="1536192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35CCF16-4B6E-42A2-A1F7-A7F8FB43BFA9}"/>
              </a:ext>
            </a:extLst>
          </p:cNvPr>
          <p:cNvSpPr>
            <a:spLocks noGrp="1"/>
          </p:cNvSpPr>
          <p:nvPr/>
        </p:nvSpPr>
        <p:spPr>
          <a:xfrm>
            <a:off x="7717536" y="4590288"/>
            <a:ext cx="1627632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3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Protects the negative class.</a:t>
            </a:r>
            <a:endParaRPr sz="93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F51AB8A-D845-4F8B-9745-D6F60AE75387}"/>
              </a:ext>
            </a:extLst>
          </p:cNvPr>
          <p:cNvSpPr>
            <a:spLocks noGrp="1"/>
          </p:cNvSpPr>
          <p:nvPr/>
        </p:nvSpPr>
        <p:spPr>
          <a:xfrm>
            <a:off x="9829800" y="1572768"/>
            <a:ext cx="20574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4B05C7B-2CB8-4BA6-B886-95414F8C86A5}"/>
              </a:ext>
            </a:extLst>
          </p:cNvPr>
          <p:cNvSpPr>
            <a:spLocks noGrp="1"/>
          </p:cNvSpPr>
          <p:nvPr/>
        </p:nvSpPr>
        <p:spPr>
          <a:xfrm>
            <a:off x="10515600" y="1865376"/>
            <a:ext cx="694944" cy="694944"/>
          </a:xfrm>
          <a:prstGeom prst="ellipse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B276C64-DCE0-4084-9808-77FFBFD74A18}"/>
              </a:ext>
            </a:extLst>
          </p:cNvPr>
          <p:cNvSpPr>
            <a:spLocks noGrp="1"/>
          </p:cNvSpPr>
          <p:nvPr/>
        </p:nvSpPr>
        <p:spPr>
          <a:xfrm>
            <a:off x="10735056" y="206654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2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50510C9-C69A-4AF4-A661-09100098C959}"/>
              </a:ext>
            </a:extLst>
          </p:cNvPr>
          <p:cNvSpPr>
            <a:spLocks noGrp="1"/>
          </p:cNvSpPr>
          <p:nvPr/>
        </p:nvSpPr>
        <p:spPr>
          <a:xfrm>
            <a:off x="10030968" y="2834640"/>
            <a:ext cx="1664208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AUROC</a:t>
            </a:r>
            <a:endParaRPr sz="165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4DF90E2-36EB-40E5-974C-2E4F7C107612}"/>
              </a:ext>
            </a:extLst>
          </p:cNvPr>
          <p:cNvSpPr>
            <a:spLocks noGrp="1"/>
          </p:cNvSpPr>
          <p:nvPr/>
        </p:nvSpPr>
        <p:spPr>
          <a:xfrm>
            <a:off x="10058400" y="3493008"/>
            <a:ext cx="1600200" cy="73152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How well does the score rank across thresholds?</a:t>
            </a:r>
            <a:endParaRPr sz="105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B40E1BD-E371-468A-9921-C21F324E981B}"/>
              </a:ext>
            </a:extLst>
          </p:cNvPr>
          <p:cNvSpPr>
            <a:spLocks noGrp="1"/>
          </p:cNvSpPr>
          <p:nvPr/>
        </p:nvSpPr>
        <p:spPr>
          <a:xfrm>
            <a:off x="10085832" y="4361688"/>
            <a:ext cx="1536192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78B9642-CEDC-4FA5-828E-1829CF29F937}"/>
              </a:ext>
            </a:extLst>
          </p:cNvPr>
          <p:cNvSpPr>
            <a:spLocks noGrp="1"/>
          </p:cNvSpPr>
          <p:nvPr/>
        </p:nvSpPr>
        <p:spPr>
          <a:xfrm>
            <a:off x="10049256" y="4590288"/>
            <a:ext cx="1627632" cy="34747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93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Does not choose the policy.</a:t>
            </a:r>
            <a:endParaRPr sz="93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EE58029-C52F-4DAA-AA18-B2306A9BBDF6}"/>
              </a:ext>
            </a:extLst>
          </p:cNvPr>
          <p:cNvSpPr>
            <a:spLocks noGrp="1"/>
          </p:cNvSpPr>
          <p:nvPr/>
        </p:nvSpPr>
        <p:spPr>
          <a:xfrm>
            <a:off x="1024128" y="5650992"/>
            <a:ext cx="10168128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Metrics describe performance. The decision still requires values, costs, and governance.</a:t>
            </a:r>
            <a:endParaRPr sz="1350"/>
          </a:p>
        </p:txBody>
      </p:sp>
      <p:pic>
        <p:nvPicPr>
          <p:cNvPr id="8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43" name="Slide Number Placeholder 0">
            <a:extLst>
              <a:ext uri="{FF2B5EF4-FFF2-40B4-BE49-F238E27FC236}">
                <a16:creationId xmlns:a16="http://schemas.microsoft.com/office/drawing/2014/main" id="{46EE0DAA-99AD-46AC-92CE-6EC66E7F7B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5AB55966-FA28-BC73-EA9E-53DF014DF033}" type="slidenum">
              <a:rPr b="0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7993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484B03-A425-4C82-9FFA-DDADA30DC750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7  |  DECISION POLICY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F3343DD-B23F-4965-B390-D09BBA8817AA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A44160-B3D0-425C-B9DF-C51DE5C70AE9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 three-band policy can be safer than a single hard threshold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D3DC52-EFF9-4AD0-89F5-51113C131EED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The highest-value action is often to gather one more piece of evidence.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7BF37BE-9D38-415B-BFB8-F2FADFA86973}"/>
              </a:ext>
            </a:extLst>
          </p:cNvPr>
          <p:cNvSpPr>
            <a:spLocks noGrp="1"/>
          </p:cNvSpPr>
          <p:nvPr/>
        </p:nvSpPr>
        <p:spPr>
          <a:xfrm>
            <a:off x="731520" y="1508760"/>
            <a:ext cx="3447288" cy="3584448"/>
          </a:xfrm>
          <a:prstGeom prst="roundRect">
            <a:avLst>
              <a:gd name="adj" fmla="val 1592"/>
            </a:avLst>
          </a:prstGeom>
          <a:solidFill>
            <a:srgbClr val="E7F5EC"/>
          </a:solidFill>
          <a:ln w="1778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87505A-7E5B-41B3-903C-BFDEB97A3DBB}"/>
              </a:ext>
            </a:extLst>
          </p:cNvPr>
          <p:cNvSpPr>
            <a:spLocks noGrp="1"/>
          </p:cNvSpPr>
          <p:nvPr/>
        </p:nvSpPr>
        <p:spPr>
          <a:xfrm>
            <a:off x="1463040" y="1810512"/>
            <a:ext cx="198424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8EB45C-9911-4450-BF42-DBFAAFAE4DD3}"/>
              </a:ext>
            </a:extLst>
          </p:cNvPr>
          <p:cNvSpPr>
            <a:spLocks noGrp="1"/>
          </p:cNvSpPr>
          <p:nvPr/>
        </p:nvSpPr>
        <p:spPr>
          <a:xfrm>
            <a:off x="1536192" y="1860804"/>
            <a:ext cx="1837944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LOW RISK</a:t>
            </a:r>
            <a:endParaRPr sz="82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CC1D61-EEAC-41DD-8DD9-99E48C352D13}"/>
              </a:ext>
            </a:extLst>
          </p:cNvPr>
          <p:cNvSpPr>
            <a:spLocks noGrp="1"/>
          </p:cNvSpPr>
          <p:nvPr/>
        </p:nvSpPr>
        <p:spPr>
          <a:xfrm>
            <a:off x="1280160" y="2395728"/>
            <a:ext cx="235000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0.00–0.39</a:t>
            </a:r>
            <a:endParaRPr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2D0519-8E47-4CD1-9B29-AFE358C5AF0B}"/>
              </a:ext>
            </a:extLst>
          </p:cNvPr>
          <p:cNvSpPr>
            <a:spLocks noGrp="1"/>
          </p:cNvSpPr>
          <p:nvPr/>
        </p:nvSpPr>
        <p:spPr>
          <a:xfrm>
            <a:off x="1078992" y="3182112"/>
            <a:ext cx="27523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Approve</a:t>
            </a:r>
            <a:endParaRPr sz="18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C1F73FE-E323-41CF-90B4-6C391F7C593E}"/>
              </a:ext>
            </a:extLst>
          </p:cNvPr>
          <p:cNvSpPr>
            <a:spLocks noGrp="1"/>
          </p:cNvSpPr>
          <p:nvPr/>
        </p:nvSpPr>
        <p:spPr>
          <a:xfrm>
            <a:off x="1234440" y="3931920"/>
            <a:ext cx="2441448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A485D0C-791B-4125-A782-B280A67810B0}"/>
              </a:ext>
            </a:extLst>
          </p:cNvPr>
          <p:cNvSpPr>
            <a:spLocks noGrp="1"/>
          </p:cNvSpPr>
          <p:nvPr/>
        </p:nvSpPr>
        <p:spPr>
          <a:xfrm>
            <a:off x="1115568" y="4178808"/>
            <a:ext cx="2679192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Monitor after the fact.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ABEC16E-5512-46E9-9CD0-AB2A50AAE4BD}"/>
              </a:ext>
            </a:extLst>
          </p:cNvPr>
          <p:cNvSpPr>
            <a:spLocks noGrp="1"/>
          </p:cNvSpPr>
          <p:nvPr/>
        </p:nvSpPr>
        <p:spPr>
          <a:xfrm>
            <a:off x="4370832" y="1508760"/>
            <a:ext cx="3447288" cy="3584448"/>
          </a:xfrm>
          <a:prstGeom prst="roundRect">
            <a:avLst>
              <a:gd name="adj" fmla="val 1592"/>
            </a:avLst>
          </a:prstGeom>
          <a:solidFill>
            <a:srgbClr val="FFF6D9"/>
          </a:solidFill>
          <a:ln w="1778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CB3E53-A05A-4DEB-9C5B-EAA093383F59}"/>
              </a:ext>
            </a:extLst>
          </p:cNvPr>
          <p:cNvSpPr>
            <a:spLocks noGrp="1"/>
          </p:cNvSpPr>
          <p:nvPr/>
        </p:nvSpPr>
        <p:spPr>
          <a:xfrm>
            <a:off x="5102352" y="1810512"/>
            <a:ext cx="198424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2D53DB-0125-4EF0-AAC6-F2BBA33EDECE}"/>
              </a:ext>
            </a:extLst>
          </p:cNvPr>
          <p:cNvSpPr>
            <a:spLocks noGrp="1"/>
          </p:cNvSpPr>
          <p:nvPr/>
        </p:nvSpPr>
        <p:spPr>
          <a:xfrm>
            <a:off x="5175504" y="1860804"/>
            <a:ext cx="1837944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UNCERTAIN</a:t>
            </a:r>
            <a:endParaRPr sz="8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ED86FEA-1A01-4052-9CDA-74D6D2CE20B3}"/>
              </a:ext>
            </a:extLst>
          </p:cNvPr>
          <p:cNvSpPr>
            <a:spLocks noGrp="1"/>
          </p:cNvSpPr>
          <p:nvPr/>
        </p:nvSpPr>
        <p:spPr>
          <a:xfrm>
            <a:off x="4919472" y="2395728"/>
            <a:ext cx="235000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0.40–0.84</a:t>
            </a:r>
            <a:endParaRPr sz="2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D712ED-235A-47CD-BD09-57CE854BD0C0}"/>
              </a:ext>
            </a:extLst>
          </p:cNvPr>
          <p:cNvSpPr>
            <a:spLocks noGrp="1"/>
          </p:cNvSpPr>
          <p:nvPr/>
        </p:nvSpPr>
        <p:spPr>
          <a:xfrm>
            <a:off x="4718304" y="3182112"/>
            <a:ext cx="27523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Step-up verification</a:t>
            </a:r>
            <a:endParaRPr sz="18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0D7C2E0-6FD6-41F2-9DD5-A600DE72FFA1}"/>
              </a:ext>
            </a:extLst>
          </p:cNvPr>
          <p:cNvSpPr>
            <a:spLocks noGrp="1"/>
          </p:cNvSpPr>
          <p:nvPr/>
        </p:nvSpPr>
        <p:spPr>
          <a:xfrm>
            <a:off x="4873752" y="3931920"/>
            <a:ext cx="2441448" cy="0"/>
          </a:xfrm>
          <a:prstGeom prst="line">
            <a:avLst/>
          </a:prstGeom>
          <a:noFill/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4B06676-5A1A-492E-8F48-A35442F8652A}"/>
              </a:ext>
            </a:extLst>
          </p:cNvPr>
          <p:cNvSpPr>
            <a:spLocks noGrp="1"/>
          </p:cNvSpPr>
          <p:nvPr/>
        </p:nvSpPr>
        <p:spPr>
          <a:xfrm>
            <a:off x="4754880" y="4178808"/>
            <a:ext cx="2679192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Ask for device, biometric, or travel confirmation.</a:t>
            </a:r>
            <a:endParaRPr sz="10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6F10153-EC8A-4040-9E36-A34C342C753C}"/>
              </a:ext>
            </a:extLst>
          </p:cNvPr>
          <p:cNvSpPr>
            <a:spLocks noGrp="1"/>
          </p:cNvSpPr>
          <p:nvPr/>
        </p:nvSpPr>
        <p:spPr>
          <a:xfrm>
            <a:off x="8010144" y="1508760"/>
            <a:ext cx="3447288" cy="3584448"/>
          </a:xfrm>
          <a:prstGeom prst="roundRect">
            <a:avLst>
              <a:gd name="adj" fmla="val 1592"/>
            </a:avLst>
          </a:prstGeom>
          <a:solidFill>
            <a:srgbClr val="FBE9E7"/>
          </a:solidFill>
          <a:ln w="1778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60B02D4-76A0-425E-8D90-28847F065EB7}"/>
              </a:ext>
            </a:extLst>
          </p:cNvPr>
          <p:cNvSpPr>
            <a:spLocks noGrp="1"/>
          </p:cNvSpPr>
          <p:nvPr/>
        </p:nvSpPr>
        <p:spPr>
          <a:xfrm>
            <a:off x="8741664" y="1810512"/>
            <a:ext cx="198424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180971E-D21E-41B0-A919-68F0CBCD4C20}"/>
              </a:ext>
            </a:extLst>
          </p:cNvPr>
          <p:cNvSpPr>
            <a:spLocks noGrp="1"/>
          </p:cNvSpPr>
          <p:nvPr/>
        </p:nvSpPr>
        <p:spPr>
          <a:xfrm>
            <a:off x="8814816" y="1860804"/>
            <a:ext cx="1837944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20" b="1">
                <a:solidFill>
                  <a:srgbClr val="C7483C"/>
                </a:solidFill>
                <a:latin typeface="Arial"/>
                <a:ea typeface="Arial"/>
                <a:cs typeface="Arial"/>
              </a:rPr>
              <a:t>VERY HIGH RISK</a:t>
            </a:r>
            <a:endParaRPr sz="82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843C834-FD81-475B-B275-7B92F1018E0D}"/>
              </a:ext>
            </a:extLst>
          </p:cNvPr>
          <p:cNvSpPr>
            <a:spLocks noGrp="1"/>
          </p:cNvSpPr>
          <p:nvPr/>
        </p:nvSpPr>
        <p:spPr>
          <a:xfrm>
            <a:off x="8558784" y="2395728"/>
            <a:ext cx="2350008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C7483C"/>
                </a:solidFill>
                <a:latin typeface="Arial"/>
                <a:ea typeface="Arial"/>
                <a:cs typeface="Arial"/>
              </a:rPr>
              <a:t>0.85–1.00</a:t>
            </a:r>
            <a:endParaRPr sz="2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742B0E-878B-458A-BE14-DA0F9472441B}"/>
              </a:ext>
            </a:extLst>
          </p:cNvPr>
          <p:cNvSpPr>
            <a:spLocks noGrp="1"/>
          </p:cNvSpPr>
          <p:nvPr/>
        </p:nvSpPr>
        <p:spPr>
          <a:xfrm>
            <a:off x="8357616" y="3182112"/>
            <a:ext cx="27523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Hold + human review</a:t>
            </a:r>
            <a:endParaRPr sz="18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AE8FF40-E4D0-42D1-AF9D-E4E5B7480934}"/>
              </a:ext>
            </a:extLst>
          </p:cNvPr>
          <p:cNvSpPr>
            <a:spLocks noGrp="1"/>
          </p:cNvSpPr>
          <p:nvPr/>
        </p:nvSpPr>
        <p:spPr>
          <a:xfrm>
            <a:off x="8513064" y="3931920"/>
            <a:ext cx="2441448" cy="0"/>
          </a:xfrm>
          <a:prstGeom prst="line">
            <a:avLst/>
          </a:prstGeom>
          <a:noFill/>
          <a:ln w="1270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05F21DD-23F4-4C8A-94AA-04E723EA1DBF}"/>
              </a:ext>
            </a:extLst>
          </p:cNvPr>
          <p:cNvSpPr>
            <a:spLocks noGrp="1"/>
          </p:cNvSpPr>
          <p:nvPr/>
        </p:nvSpPr>
        <p:spPr>
          <a:xfrm>
            <a:off x="8394192" y="4178808"/>
            <a:ext cx="2679192" cy="47548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153246"/>
                </a:solidFill>
                <a:latin typeface="Arial"/>
                <a:ea typeface="Arial"/>
                <a:cs typeface="Arial"/>
              </a:rPr>
              <a:t>Do not make an irreversible decision blindly.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17D9AF-54C5-4676-92AA-352E98C903C4}"/>
              </a:ext>
            </a:extLst>
          </p:cNvPr>
          <p:cNvSpPr>
            <a:spLocks noGrp="1"/>
          </p:cNvSpPr>
          <p:nvPr/>
        </p:nvSpPr>
        <p:spPr>
          <a:xfrm>
            <a:off x="7434072" y="1207008"/>
            <a:ext cx="0" cy="4069080"/>
          </a:xfrm>
          <a:prstGeom prst="line">
            <a:avLst/>
          </a:prstGeom>
          <a:noFill/>
          <a:ln w="3175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A8D93BA-1B9B-4B96-AFC1-79F406F50C8C}"/>
              </a:ext>
            </a:extLst>
          </p:cNvPr>
          <p:cNvSpPr>
            <a:spLocks noGrp="1"/>
          </p:cNvSpPr>
          <p:nvPr/>
        </p:nvSpPr>
        <p:spPr>
          <a:xfrm>
            <a:off x="6327648" y="5266944"/>
            <a:ext cx="2240280" cy="402336"/>
          </a:xfrm>
          <a:prstGeom prst="roundRect">
            <a:avLst>
              <a:gd name="adj" fmla="val 9091"/>
            </a:avLst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B707B3C-4C40-465B-BEA6-2470EFB150DC}"/>
              </a:ext>
            </a:extLst>
          </p:cNvPr>
          <p:cNvSpPr>
            <a:spLocks noGrp="1"/>
          </p:cNvSpPr>
          <p:nvPr/>
        </p:nvSpPr>
        <p:spPr>
          <a:xfrm>
            <a:off x="6611112" y="5394960"/>
            <a:ext cx="1673352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ASHA  •  0.82</a:t>
            </a:r>
            <a:endParaRPr sz="105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C41C2F1-A598-43D3-9F42-8BFC38AFE47E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Illustrative policy bands; real deployment thresholds require validation and governance.</a:t>
            </a:r>
            <a:endParaRPr sz="670"/>
          </a:p>
        </p:txBody>
      </p:sp>
      <p:pic>
        <p:nvPicPr>
          <p:cNvPr id="6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EC073886-1BE1-4F5D-8E29-501BD18D602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02F15020-66A7-620A-7B7A-C05C4312DEAE}" type="slidenum">
              <a:rPr b="0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5209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95E2B1-4D16-4B6C-99FC-10E6D5561CC5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WEEK 7  |  CLUSTERING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3DD3C8-360B-4A2C-AF0A-C64AF1D73E44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C98C55-680B-4788-8316-92929618D159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Clustering discovers structure—but analysts supply meaning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DA43CD-D00D-4D7C-B9CC-463459F4067B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Unsupervised patterns can reveal customer behavior, merchant segments, or novel anomalies.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6D4C2A-3EED-4705-AE20-D742464AFA30}"/>
              </a:ext>
            </a:extLst>
          </p:cNvPr>
          <p:cNvSpPr>
            <a:spLocks noGrp="1"/>
          </p:cNvSpPr>
          <p:nvPr/>
        </p:nvSpPr>
        <p:spPr>
          <a:xfrm>
            <a:off x="640080" y="1508760"/>
            <a:ext cx="813816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22953"/>
            <a:ext cx="7863840" cy="4023573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6A16C1D9-3E43-4FC0-B96B-2023C5C07916}"/>
              </a:ext>
            </a:extLst>
          </p:cNvPr>
          <p:cNvSpPr>
            <a:spLocks noGrp="1"/>
          </p:cNvSpPr>
          <p:nvPr/>
        </p:nvSpPr>
        <p:spPr>
          <a:xfrm>
            <a:off x="804672" y="5733288"/>
            <a:ext cx="7808976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840">
                <a:solidFill>
                  <a:srgbClr val="60798A"/>
                </a:solidFill>
                <a:latin typeface="Arial"/>
                <a:ea typeface="Arial"/>
                <a:cs typeface="Arial"/>
              </a:rPr>
              <a:t>Synthetic behavioral clusters</a:t>
            </a:r>
            <a:endParaRPr sz="84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574C91C-A5AB-428C-BBBD-41022C2E6470}"/>
              </a:ext>
            </a:extLst>
          </p:cNvPr>
          <p:cNvSpPr>
            <a:spLocks noGrp="1"/>
          </p:cNvSpPr>
          <p:nvPr/>
        </p:nvSpPr>
        <p:spPr>
          <a:xfrm>
            <a:off x="9052560" y="1600200"/>
            <a:ext cx="2286000" cy="1325880"/>
          </a:xfrm>
          <a:prstGeom prst="roundRect">
            <a:avLst>
              <a:gd name="adj" fmla="val 4138"/>
            </a:avLst>
          </a:prstGeom>
          <a:solidFill>
            <a:srgbClr val="DDF7F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FDA3AAA-BBE3-49DC-A012-04A060A196F0}"/>
              </a:ext>
            </a:extLst>
          </p:cNvPr>
          <p:cNvSpPr>
            <a:spLocks noGrp="1"/>
          </p:cNvSpPr>
          <p:nvPr/>
        </p:nvSpPr>
        <p:spPr>
          <a:xfrm>
            <a:off x="9052560" y="1600200"/>
            <a:ext cx="50292" cy="132588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CE66BB0-591F-4CBB-A6FB-04202D339D54}"/>
              </a:ext>
            </a:extLst>
          </p:cNvPr>
          <p:cNvSpPr>
            <a:spLocks noGrp="1"/>
          </p:cNvSpPr>
          <p:nvPr/>
        </p:nvSpPr>
        <p:spPr>
          <a:xfrm>
            <a:off x="9253728" y="1783080"/>
            <a:ext cx="18928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Useful for</a:t>
            </a:r>
            <a:endParaRPr sz="1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D52FF15-9B59-414D-91D3-D57D1F8B80DC}"/>
              </a:ext>
            </a:extLst>
          </p:cNvPr>
          <p:cNvSpPr>
            <a:spLocks noGrp="1"/>
          </p:cNvSpPr>
          <p:nvPr/>
        </p:nvSpPr>
        <p:spPr>
          <a:xfrm>
            <a:off x="9253728" y="2167128"/>
            <a:ext cx="1892808" cy="61264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Segmentation, anomaly discovery, and feature engineering.</a:t>
            </a:r>
            <a:endParaRPr sz="102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0D8982A-5F81-4597-9DA4-B815AF53A218}"/>
              </a:ext>
            </a:extLst>
          </p:cNvPr>
          <p:cNvSpPr>
            <a:spLocks noGrp="1"/>
          </p:cNvSpPr>
          <p:nvPr/>
        </p:nvSpPr>
        <p:spPr>
          <a:xfrm>
            <a:off x="9052560" y="3108960"/>
            <a:ext cx="2286000" cy="1325880"/>
          </a:xfrm>
          <a:prstGeom prst="roundRect">
            <a:avLst>
              <a:gd name="adj" fmla="val 4138"/>
            </a:avLst>
          </a:prstGeom>
          <a:solidFill>
            <a:srgbClr val="FFF0E5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0699F22-5DCD-4319-BE3F-92137363A0DD}"/>
              </a:ext>
            </a:extLst>
          </p:cNvPr>
          <p:cNvSpPr>
            <a:spLocks noGrp="1"/>
          </p:cNvSpPr>
          <p:nvPr/>
        </p:nvSpPr>
        <p:spPr>
          <a:xfrm>
            <a:off x="9052560" y="3108960"/>
            <a:ext cx="50292" cy="1325880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4436541-EB2F-4CC4-9373-B732B9D283B2}"/>
              </a:ext>
            </a:extLst>
          </p:cNvPr>
          <p:cNvSpPr>
            <a:spLocks noGrp="1"/>
          </p:cNvSpPr>
          <p:nvPr/>
        </p:nvSpPr>
        <p:spPr>
          <a:xfrm>
            <a:off x="9253728" y="3291840"/>
            <a:ext cx="18928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Not proof of</a:t>
            </a:r>
            <a:endParaRPr sz="1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09F9070-199F-4319-98F5-B6FA5D3ABDFC}"/>
              </a:ext>
            </a:extLst>
          </p:cNvPr>
          <p:cNvSpPr>
            <a:spLocks noGrp="1"/>
          </p:cNvSpPr>
          <p:nvPr/>
        </p:nvSpPr>
        <p:spPr>
          <a:xfrm>
            <a:off x="9253728" y="3675888"/>
            <a:ext cx="1892808" cy="61264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Fraud, causality, or naturally “true” groups.</a:t>
            </a:r>
            <a:endParaRPr sz="102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6BD2375-12DE-4525-9281-973E22F604B5}"/>
              </a:ext>
            </a:extLst>
          </p:cNvPr>
          <p:cNvSpPr>
            <a:spLocks noGrp="1"/>
          </p:cNvSpPr>
          <p:nvPr/>
        </p:nvSpPr>
        <p:spPr>
          <a:xfrm>
            <a:off x="9052560" y="4617720"/>
            <a:ext cx="2286000" cy="1115568"/>
          </a:xfrm>
          <a:prstGeom prst="roundRect">
            <a:avLst>
              <a:gd name="adj" fmla="val 4918"/>
            </a:avLst>
          </a:prstGeom>
          <a:solidFill>
            <a:srgbClr val="E7F5EC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E5FCCF0-567A-4930-BCA3-D0EC9E95AA59}"/>
              </a:ext>
            </a:extLst>
          </p:cNvPr>
          <p:cNvSpPr>
            <a:spLocks noGrp="1"/>
          </p:cNvSpPr>
          <p:nvPr/>
        </p:nvSpPr>
        <p:spPr>
          <a:xfrm>
            <a:off x="9052560" y="4617720"/>
            <a:ext cx="50292" cy="11155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B5C7036-AFD9-402F-8C34-083D27855F33}"/>
              </a:ext>
            </a:extLst>
          </p:cNvPr>
          <p:cNvSpPr>
            <a:spLocks noGrp="1"/>
          </p:cNvSpPr>
          <p:nvPr/>
        </p:nvSpPr>
        <p:spPr>
          <a:xfrm>
            <a:off x="9253728" y="4800600"/>
            <a:ext cx="18928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Human task</a:t>
            </a:r>
            <a:endParaRPr sz="14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7A0B78E-24A8-432E-8DAD-AB660089D590}"/>
              </a:ext>
            </a:extLst>
          </p:cNvPr>
          <p:cNvSpPr>
            <a:spLocks noGrp="1"/>
          </p:cNvSpPr>
          <p:nvPr/>
        </p:nvSpPr>
        <p:spPr>
          <a:xfrm>
            <a:off x="9253728" y="5184648"/>
            <a:ext cx="1892808" cy="40233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Validate and interpret the pattern.</a:t>
            </a:r>
            <a:endParaRPr sz="102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5397123-5C49-4D3F-981D-5862EB79C5E9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Synthetic clusters for teaching.</a:t>
            </a:r>
            <a:endParaRPr sz="670"/>
          </a:p>
        </p:txBody>
      </p:sp>
      <p:pic>
        <p:nvPicPr>
          <p:cNvPr id="48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60A7F1A-E6C7-4A36-BBC5-FA21C8CA7A2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68AD4375-9F50-F53A-6F9F-DD8473067C05}" type="slidenum">
              <a:rPr b="0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6484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774710-9F41-4334-B7DC-07B13B39E105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PYTHON IN AAI 500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FBE21-AD33-4006-9FDE-7201BD64F69F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4982D6-91F9-4AD9-8707-4B2758E7E05D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makes every statistical decision inspectable and reproducible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E215E8-BBC2-4853-924B-6333890B5DEE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8D6E4"/>
                </a:solidFill>
                <a:latin typeface="Arial"/>
                <a:ea typeface="Arial"/>
                <a:cs typeface="Arial"/>
              </a:rPr>
              <a:t>Students move from question to code to evidence—not from library call to blind output.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55907B4-454A-4957-9AE0-976C748E35EB}"/>
              </a:ext>
            </a:extLst>
          </p:cNvPr>
          <p:cNvSpPr>
            <a:spLocks noGrp="1"/>
          </p:cNvSpPr>
          <p:nvPr/>
        </p:nvSpPr>
        <p:spPr>
          <a:xfrm>
            <a:off x="658368" y="1536192"/>
            <a:ext cx="6629400" cy="4526280"/>
          </a:xfrm>
          <a:prstGeom prst="roundRect">
            <a:avLst>
              <a:gd name="adj" fmla="val 1010"/>
            </a:avLst>
          </a:prstGeom>
          <a:solidFill>
            <a:srgbClr val="061722"/>
          </a:solidFill>
          <a:ln w="12700">
            <a:solidFill>
              <a:srgbClr val="315B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898FA0D-F672-40EB-B744-5CBE697647EA}"/>
              </a:ext>
            </a:extLst>
          </p:cNvPr>
          <p:cNvSpPr>
            <a:spLocks noGrp="1"/>
          </p:cNvSpPr>
          <p:nvPr/>
        </p:nvSpPr>
        <p:spPr>
          <a:xfrm>
            <a:off x="932688" y="1810512"/>
            <a:ext cx="6080760" cy="3950208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# 1. Define the target and split the data</a:t>
            </a: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X_train, X_test, y_train, y_test = train_test_split(...)</a:t>
            </a:r>
            <a:endParaRPr sz="1120"/>
          </a:p>
          <a:p>
            <a:pPr marL="0" indent="0">
              <a:buNone/>
            </a:pP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# 2. Estimate risk</a:t>
            </a: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</a:rPr>
              <a:t>model = LogisticRegression().fit(X_train, y_train)</a:t>
            </a: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risk = model.predict_proba(X_test)[:, 1]</a:t>
            </a:r>
            <a:endParaRPr sz="1120"/>
          </a:p>
          <a:p>
            <a:pPr marL="0" indent="0">
              <a:buNone/>
            </a:pP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# 3. Convert score into policy</a:t>
            </a: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alert = risk &gt;= 0.50</a:t>
            </a:r>
            <a:endParaRPr sz="1120"/>
          </a:p>
          <a:p>
            <a:pPr marL="0" indent="0">
              <a:buNone/>
            </a:pP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# 4. Evaluate consequences</a:t>
            </a:r>
            <a:endParaRPr sz="1120"/>
          </a:p>
          <a:p>
            <a:pPr marL="0" indent="0">
              <a:buNone/>
            </a:pPr>
            <a:r>
              <a:rPr sz="1350">
                <a:solidFill>
                  <a:srgbClr val="D5E5F0"/>
                </a:solidFill>
                <a:latin typeface="Courier New"/>
                <a:ea typeface="Courier New"/>
                <a:cs typeface="Courier New"/>
              </a:rPr>
              <a:t>classification_report(y_test, alert)</a:t>
            </a:r>
            <a:endParaRPr sz="112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7D5F504-F463-4B3E-ADB5-6D68DD2A159C}"/>
              </a:ext>
            </a:extLst>
          </p:cNvPr>
          <p:cNvSpPr>
            <a:spLocks noGrp="1"/>
          </p:cNvSpPr>
          <p:nvPr/>
        </p:nvSpPr>
        <p:spPr>
          <a:xfrm>
            <a:off x="7699248" y="1554480"/>
            <a:ext cx="3584448" cy="850392"/>
          </a:xfrm>
          <a:prstGeom prst="roundRect">
            <a:avLst>
              <a:gd name="adj" fmla="val 5376"/>
            </a:avLst>
          </a:prstGeom>
          <a:solidFill>
            <a:srgbClr val="0B304B"/>
          </a:solidFill>
          <a:ln w="1397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801C58-0A57-4D8D-8665-A941EDFDCA59}"/>
              </a:ext>
            </a:extLst>
          </p:cNvPr>
          <p:cNvSpPr>
            <a:spLocks noGrp="1"/>
          </p:cNvSpPr>
          <p:nvPr/>
        </p:nvSpPr>
        <p:spPr>
          <a:xfrm>
            <a:off x="7955280" y="170078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QUESTION</a:t>
            </a:r>
            <a:endParaRPr sz="9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535949-A70B-4270-A5B3-1E1BD3CA0E64}"/>
              </a:ext>
            </a:extLst>
          </p:cNvPr>
          <p:cNvSpPr>
            <a:spLocks noGrp="1"/>
          </p:cNvSpPr>
          <p:nvPr/>
        </p:nvSpPr>
        <p:spPr>
          <a:xfrm>
            <a:off x="8759952" y="1682496"/>
            <a:ext cx="2176272" cy="42062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4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decision must the model support?</a:t>
            </a:r>
            <a:endParaRPr sz="104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8F755DF-BA36-4DE7-ADE2-F62CBEEBBCE4}"/>
              </a:ext>
            </a:extLst>
          </p:cNvPr>
          <p:cNvSpPr>
            <a:spLocks noGrp="1"/>
          </p:cNvSpPr>
          <p:nvPr/>
        </p:nvSpPr>
        <p:spPr>
          <a:xfrm>
            <a:off x="9454896" y="2404872"/>
            <a:ext cx="0" cy="256032"/>
          </a:xfrm>
          <a:prstGeom prst="line">
            <a:avLst/>
          </a:prstGeom>
          <a:noFill/>
          <a:ln w="15240">
            <a:solidFill>
              <a:srgbClr val="4E718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BB2CD25-51A5-4C6D-91F1-7FB3BF3440A5}"/>
              </a:ext>
            </a:extLst>
          </p:cNvPr>
          <p:cNvSpPr>
            <a:spLocks noGrp="1"/>
          </p:cNvSpPr>
          <p:nvPr/>
        </p:nvSpPr>
        <p:spPr>
          <a:xfrm>
            <a:off x="7699248" y="2624328"/>
            <a:ext cx="3584448" cy="850392"/>
          </a:xfrm>
          <a:prstGeom prst="roundRect">
            <a:avLst>
              <a:gd name="adj" fmla="val 5376"/>
            </a:avLst>
          </a:prstGeom>
          <a:solidFill>
            <a:srgbClr val="0B304B"/>
          </a:solidFill>
          <a:ln w="1397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DE7180-5AA2-46DF-97AD-A27DC3CE24D9}"/>
              </a:ext>
            </a:extLst>
          </p:cNvPr>
          <p:cNvSpPr>
            <a:spLocks noGrp="1"/>
          </p:cNvSpPr>
          <p:nvPr/>
        </p:nvSpPr>
        <p:spPr>
          <a:xfrm>
            <a:off x="7955280" y="277063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0074C8"/>
                </a:solidFill>
                <a:latin typeface="Arial"/>
                <a:ea typeface="Arial"/>
                <a:cs typeface="Arial"/>
              </a:rPr>
              <a:t>CODE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18813E-6985-4227-B4E0-186680173DF4}"/>
              </a:ext>
            </a:extLst>
          </p:cNvPr>
          <p:cNvSpPr>
            <a:spLocks noGrp="1"/>
          </p:cNvSpPr>
          <p:nvPr/>
        </p:nvSpPr>
        <p:spPr>
          <a:xfrm>
            <a:off x="8759952" y="2752344"/>
            <a:ext cx="2176272" cy="42062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4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assumptions and transformations visible.</a:t>
            </a:r>
            <a:endParaRPr sz="104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050C538-B5EB-4A11-BE35-AB961D22E1F5}"/>
              </a:ext>
            </a:extLst>
          </p:cNvPr>
          <p:cNvSpPr>
            <a:spLocks noGrp="1"/>
          </p:cNvSpPr>
          <p:nvPr/>
        </p:nvSpPr>
        <p:spPr>
          <a:xfrm>
            <a:off x="9454896" y="3474720"/>
            <a:ext cx="0" cy="256032"/>
          </a:xfrm>
          <a:prstGeom prst="line">
            <a:avLst/>
          </a:prstGeom>
          <a:noFill/>
          <a:ln w="15240">
            <a:solidFill>
              <a:srgbClr val="4E718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76E8B11-662C-45A4-9329-9E6FE95E5943}"/>
              </a:ext>
            </a:extLst>
          </p:cNvPr>
          <p:cNvSpPr>
            <a:spLocks noGrp="1"/>
          </p:cNvSpPr>
          <p:nvPr/>
        </p:nvSpPr>
        <p:spPr>
          <a:xfrm>
            <a:off x="7699248" y="3694176"/>
            <a:ext cx="3584448" cy="850392"/>
          </a:xfrm>
          <a:prstGeom prst="roundRect">
            <a:avLst>
              <a:gd name="adj" fmla="val 5376"/>
            </a:avLst>
          </a:prstGeom>
          <a:solidFill>
            <a:srgbClr val="0B304B"/>
          </a:solidFill>
          <a:ln w="1397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01A20F8-4BCE-4C11-87E6-17367F99DA7C}"/>
              </a:ext>
            </a:extLst>
          </p:cNvPr>
          <p:cNvSpPr>
            <a:spLocks noGrp="1"/>
          </p:cNvSpPr>
          <p:nvPr/>
        </p:nvSpPr>
        <p:spPr>
          <a:xfrm>
            <a:off x="7955280" y="384048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6B221"/>
                </a:solidFill>
                <a:latin typeface="Arial"/>
                <a:ea typeface="Arial"/>
                <a:cs typeface="Arial"/>
              </a:rPr>
              <a:t>EVIDENCE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E1A8A06-B165-4013-B1CE-5BC5F681634A}"/>
              </a:ext>
            </a:extLst>
          </p:cNvPr>
          <p:cNvSpPr>
            <a:spLocks noGrp="1"/>
          </p:cNvSpPr>
          <p:nvPr/>
        </p:nvSpPr>
        <p:spPr>
          <a:xfrm>
            <a:off x="8759952" y="3822192"/>
            <a:ext cx="2176272" cy="42062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4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uncertainty and multiple metrics.</a:t>
            </a:r>
            <a:endParaRPr sz="104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442FCF7-7D8C-4E1B-A033-D87E75327754}"/>
              </a:ext>
            </a:extLst>
          </p:cNvPr>
          <p:cNvSpPr>
            <a:spLocks noGrp="1"/>
          </p:cNvSpPr>
          <p:nvPr/>
        </p:nvSpPr>
        <p:spPr>
          <a:xfrm>
            <a:off x="9454896" y="4544568"/>
            <a:ext cx="0" cy="256032"/>
          </a:xfrm>
          <a:prstGeom prst="line">
            <a:avLst/>
          </a:prstGeom>
          <a:noFill/>
          <a:ln w="15240">
            <a:solidFill>
              <a:srgbClr val="4E718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F38695D-55BE-4395-8E66-ED971866C2EF}"/>
              </a:ext>
            </a:extLst>
          </p:cNvPr>
          <p:cNvSpPr>
            <a:spLocks noGrp="1"/>
          </p:cNvSpPr>
          <p:nvPr/>
        </p:nvSpPr>
        <p:spPr>
          <a:xfrm>
            <a:off x="7699248" y="4764024"/>
            <a:ext cx="3584448" cy="850392"/>
          </a:xfrm>
          <a:prstGeom prst="roundRect">
            <a:avLst>
              <a:gd name="adj" fmla="val 5376"/>
            </a:avLst>
          </a:prstGeom>
          <a:solidFill>
            <a:srgbClr val="0B304B"/>
          </a:solidFill>
          <a:ln w="1397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7543119-77C2-4774-8739-43C365E62CB7}"/>
              </a:ext>
            </a:extLst>
          </p:cNvPr>
          <p:cNvSpPr>
            <a:spLocks noGrp="1"/>
          </p:cNvSpPr>
          <p:nvPr/>
        </p:nvSpPr>
        <p:spPr>
          <a:xfrm>
            <a:off x="7955280" y="491032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POLICY</a:t>
            </a:r>
            <a:endParaRPr sz="9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616362E-70AA-4C40-A730-C58F2820DB1D}"/>
              </a:ext>
            </a:extLst>
          </p:cNvPr>
          <p:cNvSpPr>
            <a:spLocks noGrp="1"/>
          </p:cNvSpPr>
          <p:nvPr/>
        </p:nvSpPr>
        <p:spPr>
          <a:xfrm>
            <a:off x="8759952" y="4892040"/>
            <a:ext cx="2176272" cy="420624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04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 the threshold to consequences.</a:t>
            </a:r>
            <a:endParaRPr sz="104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F241480-6472-40E3-8A53-794BD8C08B32}"/>
              </a:ext>
            </a:extLst>
          </p:cNvPr>
          <p:cNvSpPr>
            <a:spLocks noGrp="1"/>
          </p:cNvSpPr>
          <p:nvPr/>
        </p:nvSpPr>
        <p:spPr>
          <a:xfrm>
            <a:off x="7818120" y="575157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CBE3ED"/>
                </a:solidFill>
                <a:latin typeface="Arial"/>
                <a:ea typeface="Arial"/>
                <a:cs typeface="Arial"/>
              </a:rPr>
              <a:t>The notebook becomes a transparent record of how the decision was produced.</a:t>
            </a:r>
            <a:endParaRPr sz="108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2E0358B-B7DD-45D2-BCE6-C47B798894E2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90B4C7"/>
                </a:solidFill>
                <a:latin typeface="Arial"/>
                <a:ea typeface="Arial"/>
                <a:cs typeface="Arial"/>
              </a:rPr>
              <a:t>Illustrative Python workflow; exact implementation depends on the data and policy.</a:t>
            </a:r>
            <a:endParaRPr sz="67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E33AD37-95FD-47C3-87EC-523452DCDF7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41680313-6E64-04FF-399A-57B7CADE95A9}" type="slidenum">
              <a:rPr b="0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116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897351-BC27-49F7-A3CD-93D33C1F4A9B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RETURN TO ASHA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1DDBC0-12FE-460A-BDE1-E8D6AA646589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E742CD-951D-45E3-8C0E-B5361F087A13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Now decide: what should the system do with Asha’s payment?</a:t>
            </a:r>
            <a:endParaRPr sz="25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2D73B1-A32F-4AB3-8180-F2A82EDBC975}"/>
              </a:ext>
            </a:extLst>
          </p:cNvPr>
          <p:cNvSpPr>
            <a:spLocks noGrp="1"/>
          </p:cNvSpPr>
          <p:nvPr/>
        </p:nvSpPr>
        <p:spPr>
          <a:xfrm>
            <a:off x="548640" y="1152144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0798A"/>
                </a:solidFill>
                <a:latin typeface="Arial"/>
                <a:ea typeface="Arial"/>
                <a:cs typeface="Arial"/>
              </a:rPr>
              <a:t>Use the evidence accumulated across all seven weeks.</a:t>
            </a:r>
            <a:endParaRPr sz="115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7CA1B60-9534-46F3-9099-2E258F8FC2D8}"/>
              </a:ext>
            </a:extLst>
          </p:cNvPr>
          <p:cNvSpPr>
            <a:spLocks noGrp="1"/>
          </p:cNvSpPr>
          <p:nvPr/>
        </p:nvSpPr>
        <p:spPr>
          <a:xfrm>
            <a:off x="685800" y="1463040"/>
            <a:ext cx="3090672" cy="4279392"/>
          </a:xfrm>
          <a:prstGeom prst="roundRect">
            <a:avLst>
              <a:gd name="adj" fmla="val 2071"/>
            </a:avLst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8E360E-B082-402E-B3E7-6F214F4FA661}"/>
              </a:ext>
            </a:extLst>
          </p:cNvPr>
          <p:cNvSpPr>
            <a:spLocks noGrp="1"/>
          </p:cNvSpPr>
          <p:nvPr/>
        </p:nvSpPr>
        <p:spPr>
          <a:xfrm>
            <a:off x="1005840" y="1810512"/>
            <a:ext cx="2441448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 spc="100">
                <a:solidFill>
                  <a:srgbClr val="8FD6E4"/>
                </a:solidFill>
                <a:latin typeface="Arial"/>
                <a:ea typeface="Arial"/>
                <a:cs typeface="Arial"/>
              </a:rPr>
              <a:t>ASHA’S PAYMENT</a:t>
            </a:r>
            <a:endParaRPr sz="1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5AD61F-88CD-4EE4-B469-542C5375CB9E}"/>
              </a:ext>
            </a:extLst>
          </p:cNvPr>
          <p:cNvSpPr>
            <a:spLocks noGrp="1"/>
          </p:cNvSpPr>
          <p:nvPr/>
        </p:nvSpPr>
        <p:spPr>
          <a:xfrm>
            <a:off x="1005840" y="2304288"/>
            <a:ext cx="244144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INR 50,000</a:t>
            </a:r>
            <a:endParaRPr sz="27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F424D2-F556-4935-AAD9-BDE50A9348FE}"/>
              </a:ext>
            </a:extLst>
          </p:cNvPr>
          <p:cNvSpPr>
            <a:spLocks noGrp="1"/>
          </p:cNvSpPr>
          <p:nvPr/>
        </p:nvSpPr>
        <p:spPr>
          <a:xfrm>
            <a:off x="960120" y="3063240"/>
            <a:ext cx="2523744" cy="6583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39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0.82</a:t>
            </a:r>
            <a:endParaRPr sz="39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F2B493-AEF6-4DA9-9C72-BAC9C9487F2C}"/>
              </a:ext>
            </a:extLst>
          </p:cNvPr>
          <p:cNvSpPr>
            <a:spLocks noGrp="1"/>
          </p:cNvSpPr>
          <p:nvPr/>
        </p:nvSpPr>
        <p:spPr>
          <a:xfrm>
            <a:off x="960120" y="3767328"/>
            <a:ext cx="252374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B8D6E4"/>
                </a:solidFill>
                <a:latin typeface="Arial"/>
                <a:ea typeface="Arial"/>
                <a:cs typeface="Arial"/>
              </a:rPr>
              <a:t>model risk score</a:t>
            </a:r>
            <a:endParaRPr sz="10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99C3D20-06DC-453E-ABBF-DF3B9C0CF173}"/>
              </a:ext>
            </a:extLst>
          </p:cNvPr>
          <p:cNvSpPr>
            <a:spLocks noGrp="1"/>
          </p:cNvSpPr>
          <p:nvPr/>
        </p:nvSpPr>
        <p:spPr>
          <a:xfrm>
            <a:off x="1188720" y="4407408"/>
            <a:ext cx="2048256" cy="8686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C7DFEA"/>
                </a:solidFill>
                <a:latin typeface="Arial"/>
                <a:ea typeface="Arial"/>
                <a:cs typeface="Arial"/>
              </a:rPr>
              <a:t>Known customer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C7DFEA"/>
                </a:solidFill>
                <a:latin typeface="Arial"/>
                <a:ea typeface="Arial"/>
                <a:cs typeface="Arial"/>
              </a:rPr>
              <a:t>New device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C7DFEA"/>
                </a:solidFill>
                <a:latin typeface="Arial"/>
                <a:ea typeface="Arial"/>
                <a:cs typeface="Arial"/>
              </a:rPr>
              <a:t>Travel context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C7DFEA"/>
                </a:solidFill>
                <a:latin typeface="Arial"/>
                <a:ea typeface="Arial"/>
                <a:cs typeface="Arial"/>
              </a:rPr>
              <a:t>Known merchant</a:t>
            </a:r>
            <a:endParaRPr sz="112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323D86F-F700-4109-87C4-60661BD628B7}"/>
              </a:ext>
            </a:extLst>
          </p:cNvPr>
          <p:cNvSpPr>
            <a:spLocks noGrp="1"/>
          </p:cNvSpPr>
          <p:nvPr/>
        </p:nvSpPr>
        <p:spPr>
          <a:xfrm>
            <a:off x="4160520" y="1874520"/>
            <a:ext cx="2194560" cy="2706624"/>
          </a:xfrm>
          <a:prstGeom prst="roundRect">
            <a:avLst>
              <a:gd name="adj" fmla="val 2500"/>
            </a:avLst>
          </a:prstGeom>
          <a:solidFill>
            <a:srgbClr val="FBE9E7"/>
          </a:solidFill>
          <a:ln w="15240">
            <a:solidFill>
              <a:srgbClr val="C748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4E9A88-264A-4963-98CA-39E38161A0E7}"/>
              </a:ext>
            </a:extLst>
          </p:cNvPr>
          <p:cNvSpPr>
            <a:spLocks noGrp="1"/>
          </p:cNvSpPr>
          <p:nvPr/>
        </p:nvSpPr>
        <p:spPr>
          <a:xfrm>
            <a:off x="4572000" y="2139696"/>
            <a:ext cx="13716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70">
                <a:solidFill>
                  <a:srgbClr val="C7483C"/>
                </a:solidFill>
                <a:latin typeface="Arial"/>
                <a:ea typeface="Arial"/>
                <a:cs typeface="Arial"/>
              </a:rPr>
              <a:t>OPTION</a:t>
            </a:r>
            <a:endParaRPr sz="8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7A91C40-61FE-4E23-BA9C-293B49BE82D3}"/>
              </a:ext>
            </a:extLst>
          </p:cNvPr>
          <p:cNvSpPr>
            <a:spLocks noGrp="1"/>
          </p:cNvSpPr>
          <p:nvPr/>
        </p:nvSpPr>
        <p:spPr>
          <a:xfrm>
            <a:off x="4389120" y="2706624"/>
            <a:ext cx="17373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AUTO-BLOCK</a:t>
            </a:r>
            <a:endParaRPr sz="16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6BB87A5-926E-4044-9AAE-83674E9D8481}"/>
              </a:ext>
            </a:extLst>
          </p:cNvPr>
          <p:cNvSpPr>
            <a:spLocks noGrp="1"/>
          </p:cNvSpPr>
          <p:nvPr/>
        </p:nvSpPr>
        <p:spPr>
          <a:xfrm>
            <a:off x="4416552" y="3547872"/>
            <a:ext cx="1682496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Too much certainty from one score.</a:t>
            </a:r>
            <a:endParaRPr sz="102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5DDD091-C5CB-4EE4-9C38-9CC38CE37348}"/>
              </a:ext>
            </a:extLst>
          </p:cNvPr>
          <p:cNvSpPr>
            <a:spLocks noGrp="1"/>
          </p:cNvSpPr>
          <p:nvPr/>
        </p:nvSpPr>
        <p:spPr>
          <a:xfrm>
            <a:off x="6647688" y="1874520"/>
            <a:ext cx="2194560" cy="2706624"/>
          </a:xfrm>
          <a:prstGeom prst="roundRect">
            <a:avLst>
              <a:gd name="adj" fmla="val 2500"/>
            </a:avLst>
          </a:prstGeom>
          <a:solidFill>
            <a:srgbClr val="FFF6D9"/>
          </a:solidFill>
          <a:ln w="3302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D77B113-EA07-4266-9450-8ECD415278F0}"/>
              </a:ext>
            </a:extLst>
          </p:cNvPr>
          <p:cNvSpPr>
            <a:spLocks noGrp="1"/>
          </p:cNvSpPr>
          <p:nvPr/>
        </p:nvSpPr>
        <p:spPr>
          <a:xfrm>
            <a:off x="7059168" y="2139696"/>
            <a:ext cx="13716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70">
                <a:solidFill>
                  <a:srgbClr val="F6B221"/>
                </a:solidFill>
                <a:latin typeface="Arial"/>
                <a:ea typeface="Arial"/>
                <a:cs typeface="Arial"/>
              </a:rPr>
              <a:t>RECOMMENDED</a:t>
            </a:r>
            <a:endParaRPr sz="8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AC57376-91E6-4963-9D5D-06EC940CDD2A}"/>
              </a:ext>
            </a:extLst>
          </p:cNvPr>
          <p:cNvSpPr>
            <a:spLocks noGrp="1"/>
          </p:cNvSpPr>
          <p:nvPr/>
        </p:nvSpPr>
        <p:spPr>
          <a:xfrm>
            <a:off x="6876288" y="2706624"/>
            <a:ext cx="17373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STEP-UP VERIFY</a:t>
            </a:r>
            <a:endParaRPr sz="16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CE68E61-825B-4F18-B99B-1CC1CDAA74DB}"/>
              </a:ext>
            </a:extLst>
          </p:cNvPr>
          <p:cNvSpPr>
            <a:spLocks noGrp="1"/>
          </p:cNvSpPr>
          <p:nvPr/>
        </p:nvSpPr>
        <p:spPr>
          <a:xfrm>
            <a:off x="6903720" y="3547872"/>
            <a:ext cx="1682496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Gather evidence before an irreversible action.</a:t>
            </a:r>
            <a:endParaRPr sz="102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825B650-3F4C-4B27-8565-0608BC392600}"/>
              </a:ext>
            </a:extLst>
          </p:cNvPr>
          <p:cNvSpPr>
            <a:spLocks noGrp="1"/>
          </p:cNvSpPr>
          <p:nvPr/>
        </p:nvSpPr>
        <p:spPr>
          <a:xfrm>
            <a:off x="9134856" y="1874520"/>
            <a:ext cx="2194560" cy="2706624"/>
          </a:xfrm>
          <a:prstGeom prst="roundRect">
            <a:avLst>
              <a:gd name="adj" fmla="val 2500"/>
            </a:avLst>
          </a:prstGeom>
          <a:solidFill>
            <a:srgbClr val="E7F5EC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8821B0F-F54A-4B7D-85C1-9ED20C7F48E5}"/>
              </a:ext>
            </a:extLst>
          </p:cNvPr>
          <p:cNvSpPr>
            <a:spLocks noGrp="1"/>
          </p:cNvSpPr>
          <p:nvPr/>
        </p:nvSpPr>
        <p:spPr>
          <a:xfrm>
            <a:off x="9546336" y="2139696"/>
            <a:ext cx="13716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 spc="70">
                <a:solidFill>
                  <a:srgbClr val="2E8B57"/>
                </a:solidFill>
                <a:latin typeface="Arial"/>
                <a:ea typeface="Arial"/>
                <a:cs typeface="Arial"/>
              </a:rPr>
              <a:t>OPTION</a:t>
            </a:r>
            <a:endParaRPr sz="8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BFEF6BC-205D-4C18-B147-3B63DB433DA4}"/>
              </a:ext>
            </a:extLst>
          </p:cNvPr>
          <p:cNvSpPr>
            <a:spLocks noGrp="1"/>
          </p:cNvSpPr>
          <p:nvPr/>
        </p:nvSpPr>
        <p:spPr>
          <a:xfrm>
            <a:off x="9363456" y="2706624"/>
            <a:ext cx="17373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6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AUTO-APPROVE</a:t>
            </a:r>
            <a:endParaRPr sz="16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A8A3CE6-86C9-40DF-9C28-197E0CC92F66}"/>
              </a:ext>
            </a:extLst>
          </p:cNvPr>
          <p:cNvSpPr>
            <a:spLocks noGrp="1"/>
          </p:cNvSpPr>
          <p:nvPr/>
        </p:nvSpPr>
        <p:spPr>
          <a:xfrm>
            <a:off x="9390888" y="3547872"/>
            <a:ext cx="1682496" cy="59436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153246"/>
                </a:solidFill>
                <a:latin typeface="Arial"/>
                <a:ea typeface="Arial"/>
                <a:cs typeface="Arial"/>
              </a:rPr>
              <a:t>Ignores the elevated risk signal.</a:t>
            </a:r>
            <a:endParaRPr sz="102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4F73C4A-36E2-45DD-A402-8E4A0CB60D12}"/>
              </a:ext>
            </a:extLst>
          </p:cNvPr>
          <p:cNvSpPr>
            <a:spLocks noGrp="1"/>
          </p:cNvSpPr>
          <p:nvPr/>
        </p:nvSpPr>
        <p:spPr>
          <a:xfrm>
            <a:off x="4407408" y="5074920"/>
            <a:ext cx="6629400" cy="594360"/>
          </a:xfrm>
          <a:prstGeom prst="roundRect">
            <a:avLst>
              <a:gd name="adj" fmla="val 7692"/>
            </a:avLst>
          </a:prstGeom>
          <a:solidFill>
            <a:srgbClr val="E7F3FB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819FFA5-A956-41E1-BF4F-8D190BF4FAA7}"/>
              </a:ext>
            </a:extLst>
          </p:cNvPr>
          <p:cNvSpPr>
            <a:spLocks noGrp="1"/>
          </p:cNvSpPr>
          <p:nvPr/>
        </p:nvSpPr>
        <p:spPr>
          <a:xfrm>
            <a:off x="4681728" y="5285232"/>
            <a:ext cx="60807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Verify device or travel; approve if confirmed, otherwise review.</a:t>
            </a:r>
            <a:endParaRPr sz="125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668AEE8-C5CF-4225-8B78-1AECD5CEA419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670">
                <a:solidFill>
                  <a:srgbClr val="7790A0"/>
                </a:solidFill>
                <a:latin typeface="Arial"/>
                <a:ea typeface="Arial"/>
                <a:cs typeface="Arial"/>
              </a:rPr>
              <a:t>Illustrative teaching recommendation—not a universal payment policy.</a:t>
            </a:r>
            <a:endParaRPr sz="670"/>
          </a:p>
        </p:txBody>
      </p:sp>
      <p:pic>
        <p:nvPicPr>
          <p:cNvPr id="5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4C0BE52E-9324-436C-A211-1FF9006CAD4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5FEBBBCE-9E16-527A-0EE3-E5839422D847}" type="slidenum">
              <a:rPr b="0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881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348C2B-29ED-43B6-9335-38C3DF8BE36F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A7D7E8"/>
                </a:solidFill>
                <a:latin typeface="Arial"/>
                <a:ea typeface="Arial"/>
                <a:cs typeface="Arial"/>
              </a:rPr>
              <a:t>AAI 500  |  THE SEVEN-WEEK TAKEAWAY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2A1AE2-5CBD-45E4-B4E0-2B2E6A8440B4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235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81235E-8C13-47C7-95AF-5CCCD0BEFAD2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8412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AAI 500 teaches you to turn uncertainty into a decision you can defend.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4008AD7-D4EA-4564-AD9F-B302B7D67650}"/>
              </a:ext>
            </a:extLst>
          </p:cNvPr>
          <p:cNvSpPr>
            <a:spLocks noGrp="1"/>
          </p:cNvSpPr>
          <p:nvPr/>
        </p:nvSpPr>
        <p:spPr>
          <a:xfrm>
            <a:off x="777240" y="1764792"/>
            <a:ext cx="5138928" cy="676656"/>
          </a:xfrm>
          <a:prstGeom prst="roundRect">
            <a:avLst>
              <a:gd name="adj" fmla="val 5405"/>
            </a:avLst>
          </a:prstGeom>
          <a:solidFill>
            <a:srgbClr val="0B304B"/>
          </a:solidFill>
          <a:ln w="12700">
            <a:solidFill>
              <a:srgbClr val="2A5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F56639C-4BFF-4A5B-8A4A-C909EFF56064}"/>
              </a:ext>
            </a:extLst>
          </p:cNvPr>
          <p:cNvSpPr>
            <a:spLocks noGrp="1"/>
          </p:cNvSpPr>
          <p:nvPr/>
        </p:nvSpPr>
        <p:spPr>
          <a:xfrm>
            <a:off x="941832" y="1892808"/>
            <a:ext cx="411480" cy="411480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10F6AC0-6F36-4699-AE8D-FEE7A7CE105C}"/>
              </a:ext>
            </a:extLst>
          </p:cNvPr>
          <p:cNvSpPr>
            <a:spLocks noGrp="1"/>
          </p:cNvSpPr>
          <p:nvPr/>
        </p:nvSpPr>
        <p:spPr>
          <a:xfrm>
            <a:off x="1060704" y="2011680"/>
            <a:ext cx="164592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AF9388-389D-4722-A939-61B06C905F5C}"/>
              </a:ext>
            </a:extLst>
          </p:cNvPr>
          <p:cNvSpPr>
            <a:spLocks noGrp="1"/>
          </p:cNvSpPr>
          <p:nvPr/>
        </p:nvSpPr>
        <p:spPr>
          <a:xfrm>
            <a:off x="1527048" y="193852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 the data</a:t>
            </a:r>
            <a:endParaRPr sz="123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68180F-8A8B-4BAD-84CE-7793E1897984}"/>
              </a:ext>
            </a:extLst>
          </p:cNvPr>
          <p:cNvSpPr>
            <a:spLocks noGrp="1"/>
          </p:cNvSpPr>
          <p:nvPr/>
        </p:nvSpPr>
        <p:spPr>
          <a:xfrm>
            <a:off x="777240" y="2706624"/>
            <a:ext cx="5138928" cy="676656"/>
          </a:xfrm>
          <a:prstGeom prst="roundRect">
            <a:avLst>
              <a:gd name="adj" fmla="val 5405"/>
            </a:avLst>
          </a:prstGeom>
          <a:solidFill>
            <a:srgbClr val="0B304B"/>
          </a:solidFill>
          <a:ln w="12700">
            <a:solidFill>
              <a:srgbClr val="2A5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4B81740-C439-4A84-B6F4-DE14C55786E0}"/>
              </a:ext>
            </a:extLst>
          </p:cNvPr>
          <p:cNvSpPr>
            <a:spLocks noGrp="1"/>
          </p:cNvSpPr>
          <p:nvPr/>
        </p:nvSpPr>
        <p:spPr>
          <a:xfrm>
            <a:off x="941832" y="2834640"/>
            <a:ext cx="411480" cy="411480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33E8ECC-C69A-4C9B-9A4B-A405692FA48F}"/>
              </a:ext>
            </a:extLst>
          </p:cNvPr>
          <p:cNvSpPr>
            <a:spLocks noGrp="1"/>
          </p:cNvSpPr>
          <p:nvPr/>
        </p:nvSpPr>
        <p:spPr>
          <a:xfrm>
            <a:off x="1060704" y="2953512"/>
            <a:ext cx="164592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06C91C-D715-4A10-9C00-7C51C36C875C}"/>
              </a:ext>
            </a:extLst>
          </p:cNvPr>
          <p:cNvSpPr>
            <a:spLocks noGrp="1"/>
          </p:cNvSpPr>
          <p:nvPr/>
        </p:nvSpPr>
        <p:spPr>
          <a:xfrm>
            <a:off x="1527048" y="288036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Respect base rates</a:t>
            </a:r>
            <a:endParaRPr sz="123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B21027-1EC7-4849-B205-078B601FC4E2}"/>
              </a:ext>
            </a:extLst>
          </p:cNvPr>
          <p:cNvSpPr>
            <a:spLocks noGrp="1"/>
          </p:cNvSpPr>
          <p:nvPr/>
        </p:nvSpPr>
        <p:spPr>
          <a:xfrm>
            <a:off x="777240" y="3648456"/>
            <a:ext cx="5138928" cy="676656"/>
          </a:xfrm>
          <a:prstGeom prst="roundRect">
            <a:avLst>
              <a:gd name="adj" fmla="val 5405"/>
            </a:avLst>
          </a:prstGeom>
          <a:solidFill>
            <a:srgbClr val="0B304B"/>
          </a:solidFill>
          <a:ln w="12700">
            <a:solidFill>
              <a:srgbClr val="2A5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B2E4592-2000-494B-A3D1-25A1A693D91E}"/>
              </a:ext>
            </a:extLst>
          </p:cNvPr>
          <p:cNvSpPr>
            <a:spLocks noGrp="1"/>
          </p:cNvSpPr>
          <p:nvPr/>
        </p:nvSpPr>
        <p:spPr>
          <a:xfrm>
            <a:off x="941832" y="3776472"/>
            <a:ext cx="411480" cy="411480"/>
          </a:xfrm>
          <a:prstGeom prst="ellipse">
            <a:avLst/>
          </a:prstGeom>
          <a:solidFill>
            <a:srgbClr val="F6B221"/>
          </a:solidFill>
          <a:ln w="12700">
            <a:solidFill>
              <a:srgbClr val="F6B22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FE1E50A-0121-46D2-B12D-A3E5E97A755C}"/>
              </a:ext>
            </a:extLst>
          </p:cNvPr>
          <p:cNvSpPr>
            <a:spLocks noGrp="1"/>
          </p:cNvSpPr>
          <p:nvPr/>
        </p:nvSpPr>
        <p:spPr>
          <a:xfrm>
            <a:off x="1060704" y="3895344"/>
            <a:ext cx="164592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9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0178CBF-1AD0-488E-9C4A-30E294E0E7F2}"/>
              </a:ext>
            </a:extLst>
          </p:cNvPr>
          <p:cNvSpPr>
            <a:spLocks noGrp="1"/>
          </p:cNvSpPr>
          <p:nvPr/>
        </p:nvSpPr>
        <p:spPr>
          <a:xfrm>
            <a:off x="1527048" y="38221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 sampling variation</a:t>
            </a:r>
            <a:endParaRPr sz="123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A04419B-D79D-4E17-B837-8BFA07E60DA0}"/>
              </a:ext>
            </a:extLst>
          </p:cNvPr>
          <p:cNvSpPr>
            <a:spLocks noGrp="1"/>
          </p:cNvSpPr>
          <p:nvPr/>
        </p:nvSpPr>
        <p:spPr>
          <a:xfrm>
            <a:off x="777240" y="4590288"/>
            <a:ext cx="5138928" cy="676656"/>
          </a:xfrm>
          <a:prstGeom prst="roundRect">
            <a:avLst>
              <a:gd name="adj" fmla="val 5405"/>
            </a:avLst>
          </a:prstGeom>
          <a:solidFill>
            <a:srgbClr val="0B304B"/>
          </a:solidFill>
          <a:ln w="12700">
            <a:solidFill>
              <a:srgbClr val="2A5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A8837D2-5644-49D2-8533-2649532AC574}"/>
              </a:ext>
            </a:extLst>
          </p:cNvPr>
          <p:cNvSpPr>
            <a:spLocks noGrp="1"/>
          </p:cNvSpPr>
          <p:nvPr/>
        </p:nvSpPr>
        <p:spPr>
          <a:xfrm>
            <a:off x="941832" y="4718304"/>
            <a:ext cx="411480" cy="411480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C1AC916-BAAA-4081-99D7-A3D3686C48DD}"/>
              </a:ext>
            </a:extLst>
          </p:cNvPr>
          <p:cNvSpPr>
            <a:spLocks noGrp="1"/>
          </p:cNvSpPr>
          <p:nvPr/>
        </p:nvSpPr>
        <p:spPr>
          <a:xfrm>
            <a:off x="1060704" y="4837176"/>
            <a:ext cx="164592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E392426-693C-44AC-AD49-30828BCD6ADC}"/>
              </a:ext>
            </a:extLst>
          </p:cNvPr>
          <p:cNvSpPr>
            <a:spLocks noGrp="1"/>
          </p:cNvSpPr>
          <p:nvPr/>
        </p:nvSpPr>
        <p:spPr>
          <a:xfrm>
            <a:off x="1527048" y="4764024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intervals and evidence</a:t>
            </a:r>
            <a:endParaRPr sz="123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554710D-48C2-4C1A-ADEF-44776F8ADAD2}"/>
              </a:ext>
            </a:extLst>
          </p:cNvPr>
          <p:cNvSpPr>
            <a:spLocks noGrp="1"/>
          </p:cNvSpPr>
          <p:nvPr/>
        </p:nvSpPr>
        <p:spPr>
          <a:xfrm>
            <a:off x="6263640" y="1764792"/>
            <a:ext cx="5138928" cy="676656"/>
          </a:xfrm>
          <a:prstGeom prst="roundRect">
            <a:avLst>
              <a:gd name="adj" fmla="val 5405"/>
            </a:avLst>
          </a:prstGeom>
          <a:solidFill>
            <a:srgbClr val="0B304B"/>
          </a:solidFill>
          <a:ln w="12700">
            <a:solidFill>
              <a:srgbClr val="2A5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0734C97-E8CF-4092-B9C2-D804DF162718}"/>
              </a:ext>
            </a:extLst>
          </p:cNvPr>
          <p:cNvSpPr>
            <a:spLocks noGrp="1"/>
          </p:cNvSpPr>
          <p:nvPr/>
        </p:nvSpPr>
        <p:spPr>
          <a:xfrm>
            <a:off x="6428232" y="1892808"/>
            <a:ext cx="411480" cy="411480"/>
          </a:xfrm>
          <a:prstGeom prst="ellipse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12EA9F8-BCEE-4268-A02A-3B5386899FE0}"/>
              </a:ext>
            </a:extLst>
          </p:cNvPr>
          <p:cNvSpPr>
            <a:spLocks noGrp="1"/>
          </p:cNvSpPr>
          <p:nvPr/>
        </p:nvSpPr>
        <p:spPr>
          <a:xfrm>
            <a:off x="6547104" y="2011680"/>
            <a:ext cx="164592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8A87CD5-6BE1-4764-9FEA-68A0E37498E2}"/>
              </a:ext>
            </a:extLst>
          </p:cNvPr>
          <p:cNvSpPr>
            <a:spLocks noGrp="1"/>
          </p:cNvSpPr>
          <p:nvPr/>
        </p:nvSpPr>
        <p:spPr>
          <a:xfrm>
            <a:off x="7013448" y="193852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 beliefs transparently</a:t>
            </a:r>
            <a:endParaRPr sz="123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24BD634-AB1E-4EC0-8A16-09BBCC5C1A2E}"/>
              </a:ext>
            </a:extLst>
          </p:cNvPr>
          <p:cNvSpPr>
            <a:spLocks noGrp="1"/>
          </p:cNvSpPr>
          <p:nvPr/>
        </p:nvSpPr>
        <p:spPr>
          <a:xfrm>
            <a:off x="6263640" y="2706624"/>
            <a:ext cx="5138928" cy="676656"/>
          </a:xfrm>
          <a:prstGeom prst="roundRect">
            <a:avLst>
              <a:gd name="adj" fmla="val 5405"/>
            </a:avLst>
          </a:prstGeom>
          <a:solidFill>
            <a:srgbClr val="0B304B"/>
          </a:solidFill>
          <a:ln w="12700">
            <a:solidFill>
              <a:srgbClr val="2A5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C0FA079-E111-4FBC-82AF-2C8BC9E555AD}"/>
              </a:ext>
            </a:extLst>
          </p:cNvPr>
          <p:cNvSpPr>
            <a:spLocks noGrp="1"/>
          </p:cNvSpPr>
          <p:nvPr/>
        </p:nvSpPr>
        <p:spPr>
          <a:xfrm>
            <a:off x="6428232" y="2834640"/>
            <a:ext cx="411480" cy="411480"/>
          </a:xfrm>
          <a:prstGeom prst="ellipse">
            <a:avLst/>
          </a:prstGeom>
          <a:solidFill>
            <a:srgbClr val="0074C8"/>
          </a:solidFill>
          <a:ln w="12700">
            <a:solidFill>
              <a:srgbClr val="0074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DFCE60C-FEAA-481C-8B89-4592224EFC57}"/>
              </a:ext>
            </a:extLst>
          </p:cNvPr>
          <p:cNvSpPr>
            <a:spLocks noGrp="1"/>
          </p:cNvSpPr>
          <p:nvPr/>
        </p:nvSpPr>
        <p:spPr>
          <a:xfrm>
            <a:off x="6547104" y="2953512"/>
            <a:ext cx="164592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9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31CABE4-F974-4EC1-AD4B-8F4961F42F09}"/>
              </a:ext>
            </a:extLst>
          </p:cNvPr>
          <p:cNvSpPr>
            <a:spLocks noGrp="1"/>
          </p:cNvSpPr>
          <p:nvPr/>
        </p:nvSpPr>
        <p:spPr>
          <a:xfrm>
            <a:off x="7013448" y="288036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and diagnose the model</a:t>
            </a:r>
            <a:endParaRPr sz="123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6BDF1DA-6BF3-4799-8821-58991088E76F}"/>
              </a:ext>
            </a:extLst>
          </p:cNvPr>
          <p:cNvSpPr>
            <a:spLocks noGrp="1"/>
          </p:cNvSpPr>
          <p:nvPr/>
        </p:nvSpPr>
        <p:spPr>
          <a:xfrm>
            <a:off x="6263640" y="3648456"/>
            <a:ext cx="5138928" cy="676656"/>
          </a:xfrm>
          <a:prstGeom prst="roundRect">
            <a:avLst>
              <a:gd name="adj" fmla="val 5405"/>
            </a:avLst>
          </a:prstGeom>
          <a:solidFill>
            <a:srgbClr val="0B304B"/>
          </a:solidFill>
          <a:ln w="12700">
            <a:solidFill>
              <a:srgbClr val="2A56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07EC888-46E4-44F9-A6C1-E65B6AF7DF11}"/>
              </a:ext>
            </a:extLst>
          </p:cNvPr>
          <p:cNvSpPr>
            <a:spLocks noGrp="1"/>
          </p:cNvSpPr>
          <p:nvPr/>
        </p:nvSpPr>
        <p:spPr>
          <a:xfrm>
            <a:off x="6428232" y="3776472"/>
            <a:ext cx="411480" cy="4114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B438A23-BC39-4B47-AF0B-821FB314C4E5}"/>
              </a:ext>
            </a:extLst>
          </p:cNvPr>
          <p:cNvSpPr>
            <a:spLocks noGrp="1"/>
          </p:cNvSpPr>
          <p:nvPr/>
        </p:nvSpPr>
        <p:spPr>
          <a:xfrm>
            <a:off x="6547104" y="3895344"/>
            <a:ext cx="164592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9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089D4C7-34E7-46D8-8021-91258A451E4E}"/>
              </a:ext>
            </a:extLst>
          </p:cNvPr>
          <p:cNvSpPr>
            <a:spLocks noGrp="1"/>
          </p:cNvSpPr>
          <p:nvPr/>
        </p:nvSpPr>
        <p:spPr>
          <a:xfrm>
            <a:off x="7013448" y="38221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3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metrics and policy</a:t>
            </a:r>
            <a:endParaRPr sz="123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820812C-93F0-4EC2-B71F-5AB4BAFA49D0}"/>
              </a:ext>
            </a:extLst>
          </p:cNvPr>
          <p:cNvSpPr>
            <a:spLocks noGrp="1"/>
          </p:cNvSpPr>
          <p:nvPr/>
        </p:nvSpPr>
        <p:spPr>
          <a:xfrm>
            <a:off x="1298448" y="5504688"/>
            <a:ext cx="9573768" cy="475488"/>
          </a:xfrm>
          <a:prstGeom prst="roundRect">
            <a:avLst>
              <a:gd name="adj" fmla="val 7692"/>
            </a:avLst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61E324A-65D0-4A4A-ACF8-A68B17711CC7}"/>
              </a:ext>
            </a:extLst>
          </p:cNvPr>
          <p:cNvSpPr>
            <a:spLocks noGrp="1"/>
          </p:cNvSpPr>
          <p:nvPr/>
        </p:nvSpPr>
        <p:spPr>
          <a:xfrm>
            <a:off x="1673352" y="5650992"/>
            <a:ext cx="88239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50" b="1" spc="50">
                <a:solidFill>
                  <a:srgbClr val="071F33"/>
                </a:solidFill>
                <a:latin typeface="Arial"/>
                <a:ea typeface="Arial"/>
                <a:cs typeface="Arial"/>
              </a:rPr>
              <a:t>DATA  →  PROBABILITY  →  UNCERTAINTY  →  MODEL  →  POLICY</a:t>
            </a:r>
            <a:endParaRPr sz="1250"/>
          </a:p>
        </p:txBody>
      </p:sp>
      <p:pic>
        <p:nvPicPr>
          <p:cNvPr id="71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A2F66B78-679C-455E-AF24-477F8FE7349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9CC8D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D172A7C5-A0CC-7B36-F236-345181E6AD72}" type="slidenum">
              <a:rPr b="0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7124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D5CE15-22D0-44A0-88D4-944D8C5CA438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BACKUP  |  CASE ASSUMPTIONS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92FEAA-A278-4E08-B390-17C862D37BA1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CAF392-C922-4A18-976C-E06313BB9E1C}"/>
              </a:ext>
            </a:extLst>
          </p:cNvPr>
          <p:cNvSpPr>
            <a:spLocks noGrp="1"/>
          </p:cNvSpPr>
          <p:nvPr/>
        </p:nvSpPr>
        <p:spPr>
          <a:xfrm>
            <a:off x="530352" y="6217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5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The arithmetic behind the 15.4% precision result</a:t>
            </a:r>
            <a:endParaRPr sz="255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C573A36-E86C-405D-BDB9-109B25582AB7}"/>
              </a:ext>
            </a:extLst>
          </p:cNvPr>
          <p:cNvSpPr>
            <a:spLocks noGrp="1"/>
          </p:cNvSpPr>
          <p:nvPr/>
        </p:nvSpPr>
        <p:spPr>
          <a:xfrm>
            <a:off x="960120" y="1371600"/>
            <a:ext cx="1024128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8C8D72-D13B-4AEB-8ED6-CB7797904581}"/>
              </a:ext>
            </a:extLst>
          </p:cNvPr>
          <p:cNvSpPr>
            <a:spLocks noGrp="1"/>
          </p:cNvSpPr>
          <p:nvPr/>
        </p:nvSpPr>
        <p:spPr>
          <a:xfrm>
            <a:off x="1143000" y="1664208"/>
            <a:ext cx="3703320" cy="475488"/>
          </a:xfrm>
          <a:prstGeom prst="rect">
            <a:avLst/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9607D6-1EF9-4537-8A88-AF43B9479023}"/>
              </a:ext>
            </a:extLst>
          </p:cNvPr>
          <p:cNvSpPr>
            <a:spLocks noGrp="1"/>
          </p:cNvSpPr>
          <p:nvPr/>
        </p:nvSpPr>
        <p:spPr>
          <a:xfrm>
            <a:off x="1234440" y="1819656"/>
            <a:ext cx="3520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</a:t>
            </a:r>
            <a:endParaRPr sz="9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B11D1E8-A8EA-401E-A810-C7CD34F91D2B}"/>
              </a:ext>
            </a:extLst>
          </p:cNvPr>
          <p:cNvSpPr>
            <a:spLocks noGrp="1"/>
          </p:cNvSpPr>
          <p:nvPr/>
        </p:nvSpPr>
        <p:spPr>
          <a:xfrm>
            <a:off x="4983480" y="1664208"/>
            <a:ext cx="2103120" cy="475488"/>
          </a:xfrm>
          <a:prstGeom prst="rect">
            <a:avLst/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ADD15E-E5EB-41B8-BD7E-5D6C74AD0D9F}"/>
              </a:ext>
            </a:extLst>
          </p:cNvPr>
          <p:cNvSpPr>
            <a:spLocks noGrp="1"/>
          </p:cNvSpPr>
          <p:nvPr/>
        </p:nvSpPr>
        <p:spPr>
          <a:xfrm>
            <a:off x="5074920" y="18196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  <a:endParaRPr sz="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8BC260F-1037-45DF-A895-CE1DD590C948}"/>
              </a:ext>
            </a:extLst>
          </p:cNvPr>
          <p:cNvSpPr>
            <a:spLocks noGrp="1"/>
          </p:cNvSpPr>
          <p:nvPr/>
        </p:nvSpPr>
        <p:spPr>
          <a:xfrm>
            <a:off x="7269480" y="1664208"/>
            <a:ext cx="3657600" cy="475488"/>
          </a:xfrm>
          <a:prstGeom prst="rect">
            <a:avLst/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FE85C12-7EE6-4EDF-BCB5-1F038E726668}"/>
              </a:ext>
            </a:extLst>
          </p:cNvPr>
          <p:cNvSpPr>
            <a:spLocks noGrp="1"/>
          </p:cNvSpPr>
          <p:nvPr/>
        </p:nvSpPr>
        <p:spPr>
          <a:xfrm>
            <a:off x="7360920" y="1819656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 INTERPRETATION</a:t>
            </a:r>
            <a:endParaRPr sz="9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B3D1B7-D09F-4825-8467-E61291E9301D}"/>
              </a:ext>
            </a:extLst>
          </p:cNvPr>
          <p:cNvSpPr>
            <a:spLocks noGrp="1"/>
          </p:cNvSpPr>
          <p:nvPr/>
        </p:nvSpPr>
        <p:spPr>
          <a:xfrm>
            <a:off x="1143000" y="2212848"/>
            <a:ext cx="9875520" cy="530352"/>
          </a:xfrm>
          <a:prstGeom prst="rect">
            <a:avLst/>
          </a:prstGeom>
          <a:solidFill>
            <a:srgbClr val="F5F9FC"/>
          </a:solidFill>
          <a:ln w="762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BCE9DD-FFBD-4161-9E24-1057A9A4640B}"/>
              </a:ext>
            </a:extLst>
          </p:cNvPr>
          <p:cNvSpPr>
            <a:spLocks noGrp="1"/>
          </p:cNvSpPr>
          <p:nvPr/>
        </p:nvSpPr>
        <p:spPr>
          <a:xfrm>
            <a:off x="1234440" y="2359152"/>
            <a:ext cx="35204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Fraud prevalence</a:t>
            </a:r>
            <a:endParaRPr sz="108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D6D51E1-2D6E-4FA8-9B84-A0188F3484F6}"/>
              </a:ext>
            </a:extLst>
          </p:cNvPr>
          <p:cNvSpPr>
            <a:spLocks noGrp="1"/>
          </p:cNvSpPr>
          <p:nvPr/>
        </p:nvSpPr>
        <p:spPr>
          <a:xfrm>
            <a:off x="5074920" y="235915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1.0%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D2470AB-5D9E-44B9-8248-043FB513C553}"/>
              </a:ext>
            </a:extLst>
          </p:cNvPr>
          <p:cNvSpPr>
            <a:spLocks noGrp="1"/>
          </p:cNvSpPr>
          <p:nvPr/>
        </p:nvSpPr>
        <p:spPr>
          <a:xfrm>
            <a:off x="7360920" y="235915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100 of 10,000</a:t>
            </a:r>
            <a:endParaRPr sz="108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A8B648F-3681-439D-B529-CF4029D01886}"/>
              </a:ext>
            </a:extLst>
          </p:cNvPr>
          <p:cNvSpPr>
            <a:spLocks noGrp="1"/>
          </p:cNvSpPr>
          <p:nvPr/>
        </p:nvSpPr>
        <p:spPr>
          <a:xfrm>
            <a:off x="1143000" y="2807208"/>
            <a:ext cx="9875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9E65E3-4870-4E4C-8F19-81CFB3919DE1}"/>
              </a:ext>
            </a:extLst>
          </p:cNvPr>
          <p:cNvSpPr>
            <a:spLocks noGrp="1"/>
          </p:cNvSpPr>
          <p:nvPr/>
        </p:nvSpPr>
        <p:spPr>
          <a:xfrm>
            <a:off x="1234440" y="2953512"/>
            <a:ext cx="35204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Sensitivity / recall</a:t>
            </a:r>
            <a:endParaRPr sz="108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3F8A403-23FE-419E-8DF1-B37821C35BEA}"/>
              </a:ext>
            </a:extLst>
          </p:cNvPr>
          <p:cNvSpPr>
            <a:spLocks noGrp="1"/>
          </p:cNvSpPr>
          <p:nvPr/>
        </p:nvSpPr>
        <p:spPr>
          <a:xfrm>
            <a:off x="5074920" y="295351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90.0%</a:t>
            </a:r>
            <a:endParaRPr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822DB2C-D85B-4757-9E54-5EF4F5D83439}"/>
              </a:ext>
            </a:extLst>
          </p:cNvPr>
          <p:cNvSpPr>
            <a:spLocks noGrp="1"/>
          </p:cNvSpPr>
          <p:nvPr/>
        </p:nvSpPr>
        <p:spPr>
          <a:xfrm>
            <a:off x="7360920" y="29535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90 of 100 fraud alerted</a:t>
            </a:r>
            <a:endParaRPr sz="108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941FF9E-0EB1-436E-AD6B-65F65D74C283}"/>
              </a:ext>
            </a:extLst>
          </p:cNvPr>
          <p:cNvSpPr>
            <a:spLocks noGrp="1"/>
          </p:cNvSpPr>
          <p:nvPr/>
        </p:nvSpPr>
        <p:spPr>
          <a:xfrm>
            <a:off x="1143000" y="3401568"/>
            <a:ext cx="9875520" cy="530352"/>
          </a:xfrm>
          <a:prstGeom prst="rect">
            <a:avLst/>
          </a:prstGeom>
          <a:solidFill>
            <a:srgbClr val="F5F9FC"/>
          </a:solidFill>
          <a:ln w="762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B94283F-A6E1-499C-91B9-B530D9EDEB59}"/>
              </a:ext>
            </a:extLst>
          </p:cNvPr>
          <p:cNvSpPr>
            <a:spLocks noGrp="1"/>
          </p:cNvSpPr>
          <p:nvPr/>
        </p:nvSpPr>
        <p:spPr>
          <a:xfrm>
            <a:off x="1234440" y="3547872"/>
            <a:ext cx="35204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False-positive rate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FF3A0F8-EA98-4CCC-BD81-486865EA7363}"/>
              </a:ext>
            </a:extLst>
          </p:cNvPr>
          <p:cNvSpPr>
            <a:spLocks noGrp="1"/>
          </p:cNvSpPr>
          <p:nvPr/>
        </p:nvSpPr>
        <p:spPr>
          <a:xfrm>
            <a:off x="5074920" y="354787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5.0%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C537EB2-94D4-41AB-A8FE-5C582E65254F}"/>
              </a:ext>
            </a:extLst>
          </p:cNvPr>
          <p:cNvSpPr>
            <a:spLocks noGrp="1"/>
          </p:cNvSpPr>
          <p:nvPr/>
        </p:nvSpPr>
        <p:spPr>
          <a:xfrm>
            <a:off x="7360920" y="354787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495 of 9,900 legitimate alerted</a:t>
            </a:r>
            <a:endParaRPr sz="108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6DBEA3E-50E7-4685-9EBC-6BAC78A52E0D}"/>
              </a:ext>
            </a:extLst>
          </p:cNvPr>
          <p:cNvSpPr>
            <a:spLocks noGrp="1"/>
          </p:cNvSpPr>
          <p:nvPr/>
        </p:nvSpPr>
        <p:spPr>
          <a:xfrm>
            <a:off x="1143000" y="3995928"/>
            <a:ext cx="9875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83D4A2C-56C8-471E-9C34-4D1ADF879A14}"/>
              </a:ext>
            </a:extLst>
          </p:cNvPr>
          <p:cNvSpPr>
            <a:spLocks noGrp="1"/>
          </p:cNvSpPr>
          <p:nvPr/>
        </p:nvSpPr>
        <p:spPr>
          <a:xfrm>
            <a:off x="1234440" y="4142232"/>
            <a:ext cx="35204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Total alerts</a:t>
            </a:r>
            <a:endParaRPr sz="108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170D3E6-A40D-4EEE-BDBF-D8BBDCFA7E1E}"/>
              </a:ext>
            </a:extLst>
          </p:cNvPr>
          <p:cNvSpPr>
            <a:spLocks noGrp="1"/>
          </p:cNvSpPr>
          <p:nvPr/>
        </p:nvSpPr>
        <p:spPr>
          <a:xfrm>
            <a:off x="5074920" y="414223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585</a:t>
            </a:r>
            <a:endParaRPr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CBC4577-8111-4F93-90FC-CCE306EEE2F1}"/>
              </a:ext>
            </a:extLst>
          </p:cNvPr>
          <p:cNvSpPr>
            <a:spLocks noGrp="1"/>
          </p:cNvSpPr>
          <p:nvPr/>
        </p:nvSpPr>
        <p:spPr>
          <a:xfrm>
            <a:off x="7360920" y="414223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90 true + 495 false</a:t>
            </a:r>
            <a:endParaRPr sz="108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C69A1CA-B3E6-4AD2-8D9D-A9F077645A57}"/>
              </a:ext>
            </a:extLst>
          </p:cNvPr>
          <p:cNvSpPr>
            <a:spLocks noGrp="1"/>
          </p:cNvSpPr>
          <p:nvPr/>
        </p:nvSpPr>
        <p:spPr>
          <a:xfrm>
            <a:off x="1143000" y="4590288"/>
            <a:ext cx="9875520" cy="530352"/>
          </a:xfrm>
          <a:prstGeom prst="rect">
            <a:avLst/>
          </a:prstGeom>
          <a:solidFill>
            <a:srgbClr val="F5F9FC"/>
          </a:solidFill>
          <a:ln w="762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718A27D-224D-4B74-9357-571DAFA49DA7}"/>
              </a:ext>
            </a:extLst>
          </p:cNvPr>
          <p:cNvSpPr>
            <a:spLocks noGrp="1"/>
          </p:cNvSpPr>
          <p:nvPr/>
        </p:nvSpPr>
        <p:spPr>
          <a:xfrm>
            <a:off x="1234440" y="4736592"/>
            <a:ext cx="35204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Precision</a:t>
            </a:r>
            <a:endParaRPr sz="108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15A418E-D2F6-4CD9-B194-2CA73242C39D}"/>
              </a:ext>
            </a:extLst>
          </p:cNvPr>
          <p:cNvSpPr>
            <a:spLocks noGrp="1"/>
          </p:cNvSpPr>
          <p:nvPr/>
        </p:nvSpPr>
        <p:spPr>
          <a:xfrm>
            <a:off x="5074920" y="473659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47A1F"/>
                </a:solidFill>
                <a:latin typeface="Arial"/>
                <a:ea typeface="Arial"/>
                <a:cs typeface="Arial"/>
              </a:rPr>
              <a:t>15.4%</a:t>
            </a:r>
            <a:endParaRPr sz="12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E93EF6F-C879-4C6E-9EFF-7D33C199D1AF}"/>
              </a:ext>
            </a:extLst>
          </p:cNvPr>
          <p:cNvSpPr>
            <a:spLocks noGrp="1"/>
          </p:cNvSpPr>
          <p:nvPr/>
        </p:nvSpPr>
        <p:spPr>
          <a:xfrm>
            <a:off x="7360920" y="473659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>
                <a:solidFill>
                  <a:srgbClr val="153246"/>
                </a:solidFill>
                <a:latin typeface="Arial"/>
                <a:ea typeface="Arial"/>
                <a:cs typeface="Arial"/>
              </a:rPr>
              <a:t>90 ÷ 585</a:t>
            </a:r>
            <a:endParaRPr sz="108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9229AC7-BBDF-49DC-8A70-425C88AC2A65}"/>
              </a:ext>
            </a:extLst>
          </p:cNvPr>
          <p:cNvSpPr>
            <a:spLocks noGrp="1"/>
          </p:cNvSpPr>
          <p:nvPr/>
        </p:nvSpPr>
        <p:spPr>
          <a:xfrm>
            <a:off x="1874520" y="5870448"/>
            <a:ext cx="8458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20">
                <a:solidFill>
                  <a:srgbClr val="60798A"/>
                </a:solidFill>
                <a:latin typeface="Arial"/>
                <a:ea typeface="Arial"/>
                <a:cs typeface="Arial"/>
              </a:rPr>
              <a:t>All values are synthetic and rounded. They are selected to make the base-rate effect easy to see.</a:t>
            </a:r>
            <a:endParaRPr sz="1120"/>
          </a:p>
        </p:txBody>
      </p:sp>
      <p:pic>
        <p:nvPicPr>
          <p:cNvPr id="67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34" name="Slide Number Placeholder 0">
            <a:extLst>
              <a:ext uri="{FF2B5EF4-FFF2-40B4-BE49-F238E27FC236}">
                <a16:creationId xmlns:a16="http://schemas.microsoft.com/office/drawing/2014/main" id="{64CB685E-001F-4DD0-AC6C-82BA7D1ECA1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66C3428B-053E-6B4E-39FF-75B44F3F33F6}" type="slidenum">
              <a:rPr b="0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130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B81D99-B9FD-4EA3-9261-1E050D20FDCC}"/>
              </a:ext>
            </a:extLst>
          </p:cNvPr>
          <p:cNvSpPr>
            <a:spLocks noGrp="1"/>
          </p:cNvSpPr>
          <p:nvPr/>
        </p:nvSpPr>
        <p:spPr>
          <a:xfrm>
            <a:off x="438912" y="16459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 spc="70">
                <a:solidFill>
                  <a:srgbClr val="003B70"/>
                </a:solidFill>
                <a:latin typeface="Arial"/>
                <a:ea typeface="Arial"/>
                <a:cs typeface="Arial"/>
              </a:rPr>
              <a:t>AAI 500  |  DISCUSSION</a:t>
            </a:r>
            <a:endParaRPr sz="8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D5543C-9BF2-405D-9CFE-6B23152DDD0E}"/>
              </a:ext>
            </a:extLst>
          </p:cNvPr>
          <p:cNvSpPr>
            <a:spLocks noGrp="1"/>
          </p:cNvSpPr>
          <p:nvPr/>
        </p:nvSpPr>
        <p:spPr>
          <a:xfrm>
            <a:off x="438912" y="429768"/>
            <a:ext cx="11283696" cy="0"/>
          </a:xfrm>
          <a:prstGeom prst="line">
            <a:avLst/>
          </a:prstGeom>
          <a:noFill/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73C4035-C0F9-4526-B2FF-B2943F3DCB75}"/>
              </a:ext>
            </a:extLst>
          </p:cNvPr>
          <p:cNvSpPr>
            <a:spLocks noGrp="1"/>
          </p:cNvSpPr>
          <p:nvPr/>
        </p:nvSpPr>
        <p:spPr>
          <a:xfrm>
            <a:off x="5074920" y="1143000"/>
            <a:ext cx="2029968" cy="2029968"/>
          </a:xfrm>
          <a:prstGeom prst="ellipse">
            <a:avLst/>
          </a:prstGeom>
          <a:solidFill>
            <a:srgbClr val="DDF7F8"/>
          </a:solidFill>
          <a:ln w="25400">
            <a:solidFill>
              <a:srgbClr val="00A6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C59142-F780-47D3-A29A-E9B6DF880540}"/>
              </a:ext>
            </a:extLst>
          </p:cNvPr>
          <p:cNvSpPr>
            <a:spLocks noGrp="1"/>
          </p:cNvSpPr>
          <p:nvPr/>
        </p:nvSpPr>
        <p:spPr>
          <a:xfrm>
            <a:off x="5577840" y="1572768"/>
            <a:ext cx="1024128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4800" b="1">
                <a:solidFill>
                  <a:srgbClr val="00A6B2"/>
                </a:solidFill>
                <a:latin typeface="Arial"/>
                <a:ea typeface="Arial"/>
                <a:cs typeface="Arial"/>
              </a:rPr>
              <a:t>?</a:t>
            </a:r>
            <a:endParaRPr sz="48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F7967A-59E7-4BD0-B8E7-4ED2B9ACD67A}"/>
              </a:ext>
            </a:extLst>
          </p:cNvPr>
          <p:cNvSpPr>
            <a:spLocks noGrp="1"/>
          </p:cNvSpPr>
          <p:nvPr/>
        </p:nvSpPr>
        <p:spPr>
          <a:xfrm>
            <a:off x="3611880" y="3547872"/>
            <a:ext cx="49834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3100" b="1">
                <a:solidFill>
                  <a:srgbClr val="003B70"/>
                </a:solidFill>
                <a:latin typeface="Arial"/>
                <a:ea typeface="Arial"/>
                <a:cs typeface="Arial"/>
              </a:rPr>
              <a:t>Questions?</a:t>
            </a:r>
            <a:endParaRPr sz="31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F6C66C-0E0F-4184-81BD-1DD8FA599D9E}"/>
              </a:ext>
            </a:extLst>
          </p:cNvPr>
          <p:cNvSpPr>
            <a:spLocks noGrp="1"/>
          </p:cNvSpPr>
          <p:nvPr/>
        </p:nvSpPr>
        <p:spPr>
          <a:xfrm>
            <a:off x="1965960" y="4370832"/>
            <a:ext cx="82753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153246"/>
                </a:solidFill>
                <a:latin typeface="Arial"/>
                <a:ea typeface="Arial"/>
                <a:cs typeface="Arial"/>
              </a:rPr>
              <a:t>Which part of the decision surprised you most—and what would you test next?</a:t>
            </a:r>
            <a:endParaRPr sz="14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53D7819-3294-496C-A0B7-3087B32D432C}"/>
              </a:ext>
            </a:extLst>
          </p:cNvPr>
          <p:cNvSpPr>
            <a:spLocks noGrp="1"/>
          </p:cNvSpPr>
          <p:nvPr/>
        </p:nvSpPr>
        <p:spPr>
          <a:xfrm>
            <a:off x="4069080" y="5285232"/>
            <a:ext cx="4069080" cy="475488"/>
          </a:xfrm>
          <a:prstGeom prst="roundRect">
            <a:avLst>
              <a:gd name="adj" fmla="val 7692"/>
            </a:avLst>
          </a:prstGeom>
          <a:solidFill>
            <a:srgbClr val="071F33"/>
          </a:solidFill>
          <a:ln w="12700">
            <a:solidFill>
              <a:srgbClr val="071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0491D6-2E67-469A-9FAD-0A4FD197763A}"/>
              </a:ext>
            </a:extLst>
          </p:cNvPr>
          <p:cNvSpPr>
            <a:spLocks noGrp="1"/>
          </p:cNvSpPr>
          <p:nvPr/>
        </p:nvSpPr>
        <p:spPr>
          <a:xfrm>
            <a:off x="4297680" y="5449824"/>
            <a:ext cx="361188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Probability • Statistics • Python • Judgment</a:t>
            </a:r>
            <a:endParaRPr sz="1080"/>
          </a:p>
        </p:txBody>
      </p:sp>
      <p:pic>
        <p:nvPicPr>
          <p:cNvPr id="3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3" y="6382512"/>
            <a:ext cx="1491958" cy="347472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DD00AC1-8054-4513-AE97-C88F5BCF49E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15700" y="164592"/>
            <a:ext cx="434340" cy="182880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sz="800">
                <a:solidFill>
                  <a:srgbClr val="6E82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>
              <a:buNone/>
            </a:pPr>
            <a:fld id="{59F9B2FD-F323-2D0A-D581-D6E61055F9A8}" type="slidenum">
              <a:rPr b="0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7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2552</Words>
  <Application>Microsoft Macintosh PowerPoint</Application>
  <DocSecurity>0</DocSecurity>
  <PresentationFormat>Widescreen</PresentationFormat>
  <Paragraphs>500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/>
  <cp:keywords/>
  <dc:description/>
  <cp:lastModifiedBy>Daniel Smith</cp:lastModifiedBy>
  <cp:revision>2</cp:revision>
  <dcterms:created xsi:type="dcterms:W3CDTF">2026-09-02T01:38:11Z</dcterms:created>
  <dcterms:modified xsi:type="dcterms:W3CDTF">2026-09-02T01:50:19Z</dcterms:modified>
  <cp:category/>
</cp:coreProperties>
</file>